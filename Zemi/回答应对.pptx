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0" r:id="rId3"/>
    <p:sldId id="353" r:id="rId5"/>
    <p:sldId id="354" r:id="rId6"/>
    <p:sldId id="367" r:id="rId7"/>
    <p:sldId id="368" r:id="rId8"/>
    <p:sldId id="362" r:id="rId9"/>
    <p:sldId id="361" r:id="rId10"/>
    <p:sldId id="363" r:id="rId11"/>
    <p:sldId id="355" r:id="rId12"/>
    <p:sldId id="356" r:id="rId13"/>
    <p:sldId id="364" r:id="rId14"/>
    <p:sldId id="357" r:id="rId15"/>
    <p:sldId id="358" r:id="rId16"/>
    <p:sldId id="365" r:id="rId17"/>
    <p:sldId id="366" r:id="rId18"/>
    <p:sldId id="359" r:id="rId19"/>
    <p:sldId id="360" r:id="rId20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0000"/>
    <a:srgbClr val="FADB32"/>
    <a:srgbClr val="FCCA73"/>
    <a:srgbClr val="F59E0B"/>
    <a:srgbClr val="14B8A6"/>
    <a:srgbClr val="FFD700"/>
    <a:srgbClr val="FFB66F"/>
    <a:srgbClr val="FFE1C3"/>
    <a:srgbClr val="FABA67"/>
    <a:srgbClr val="FCF3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customXml" Target="../customXml/item3.xml"/><Relationship Id="rId25" Type="http://schemas.openxmlformats.org/officeDocument/2006/relationships/customXml" Target="../customXml/item2.xml"/><Relationship Id="rId24" Type="http://schemas.openxmlformats.org/officeDocument/2006/relationships/customXml" Target="../customXml/item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Hello everyone im d, my research is ...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cxnSp>
        <p:nvCxnSpPr>
          <p:cNvPr id="7" name="直線コネクタ 6"/>
          <p:cNvCxnSpPr/>
          <p:nvPr userDrawn="1"/>
        </p:nvCxn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6F00E456-75B8-4C92-99E8-A0CAB60115A8}" type="slidenum">
              <a:rPr lang="ja-JP" altLang="en-US" smtClean="0"/>
            </a:fld>
            <a:endParaRPr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  <a:endParaRPr kumimoji="1" lang="ja-JP" altLang="en-US"/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  <a:endParaRPr kumimoji="1" lang="ja-JP" altLang="en-US"/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312DB-8217-4BDF-B5AF-DC3A694F87D4}" type="datetimeFigureOut">
              <a:rPr kumimoji="1" lang="ja-JP" altLang="en-US" smtClean="0"/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2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jpeg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tags" Target="../tags/tag1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18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684530" y="1016635"/>
            <a:ext cx="7775575" cy="1522730"/>
          </a:xfrm>
        </p:spPr>
        <p:txBody>
          <a:bodyPr vert="horz" anchor="ctr" anchorCtr="1">
            <a:noAutofit/>
          </a:bodyPr>
          <a:lstStyle/>
          <a:p>
            <a:pPr algn="ctr"/>
            <a:r>
              <a:rPr lang="en-US" altLang="zh-CN" sz="3600"/>
              <a:t>A Vision Regression Model for Prosthetic Hand Control</a:t>
            </a:r>
            <a:endParaRPr kumimoji="1" lang="en-US" altLang="zh-CN" sz="36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84530" y="4070350"/>
            <a:ext cx="7775575" cy="155067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Saga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University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Graduate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School of Science and Engineering​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altLang="zh-CN" sz="2000" dirty="0">
                <a:solidFill>
                  <a:srgbClr val="000000"/>
                </a:solidFill>
                <a:latin typeface="+mj-lt"/>
                <a:cs typeface="+mj-lt"/>
                <a:sym typeface="+mn-ea"/>
              </a:rPr>
              <a:t>Computer Science &amp; Information Techology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 Course​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Fukuda</a:t>
            </a:r>
            <a:r>
              <a:rPr lang="en-US" sz="2000">
                <a:solidFill>
                  <a:srgbClr val="0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Laboratory</a:t>
            </a:r>
            <a:r>
              <a:rPr 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　</a:t>
            </a:r>
            <a:r>
              <a:rPr lang="en-US" altLang="ja-JP" sz="2000" dirty="0">
                <a:solidFill>
                  <a:srgbClr val="000000"/>
                </a:solidFill>
                <a:effectLst/>
                <a:latin typeface="+mj-lt"/>
                <a:cs typeface="+mj-lt"/>
                <a:sym typeface="+mn-ea"/>
              </a:rPr>
              <a:t>25742102 DI XIQING</a:t>
            </a:r>
            <a:endParaRPr lang="en-US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 rtl="0" fontAlgn="base"/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Supervisor: </a:t>
            </a:r>
            <a:r>
              <a:rPr lang="en-US" altLang="ja-JP" sz="2000">
                <a:solidFill>
                  <a:srgbClr val="000000"/>
                </a:solidFill>
                <a:effectLst/>
                <a:latin typeface="Times New Roman" panose="02020603050405020304" charset="0"/>
                <a:ea typeface="Source Han Sans JP Bold"/>
                <a:cs typeface="Times New Roman" panose="02020603050405020304" charset="0"/>
                <a:sym typeface="+mn-ea"/>
              </a:rPr>
              <a:t>Professor </a:t>
            </a:r>
            <a:r>
              <a:rPr lang="en-US" sz="2000">
                <a:solidFill>
                  <a:srgbClr val="000000"/>
                </a:solidFill>
                <a:effectLst/>
                <a:latin typeface="Times New Roman" panose="02020603050405020304" charset="0"/>
                <a:cs typeface="Times New Roman" panose="02020603050405020304" charset="0"/>
                <a:sym typeface="+mn-ea"/>
              </a:rPr>
              <a:t>Osamu Fukuda</a:t>
            </a:r>
            <a:endParaRPr lang="ja-JP" sz="2000" b="0" i="0">
              <a:solidFill>
                <a:srgbClr val="000000"/>
              </a:solidFill>
              <a:effectLst/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en-US" altLang="ja-JP" sz="2000" dirty="0">
              <a:solidFill>
                <a:srgbClr val="000000"/>
              </a:solidFill>
              <a:latin typeface="+mj-lt"/>
              <a:cs typeface="+mj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between hand–object distance and fingertip aperture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How accurately can an single-input regression </a:t>
              </a:r>
              <a:r>
                <a:rPr lang="en-US" altLang="zh-CN">
                  <a:ea typeface="SimSun" panose="02010600030101010101" pitchFamily="2" charset="-122"/>
                  <a:sym typeface="+mn-ea"/>
                </a:rPr>
                <a:t>predicted </a:t>
              </a:r>
              <a:r>
                <a:rPr lang="en-US" altLang="zh-CN">
                  <a:ea typeface="SimSun" panose="02010600030101010101" pitchFamily="2" charset="-122"/>
                </a:rPr>
                <a:t>fingertip aperture during reach-to-grasp movements?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09320"/>
            <a:ext cx="85731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During reach-to-grasp movements, finger opening and closing are coordinated with the hand’s approach to an object.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This study aims to investigate the relationship between hand–object distance and fingertip aperture, and further examine whether an single-input regression model can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predicted </a:t>
            </a:r>
            <a:r>
              <a:rPr lang="en-US" altLang="zh-CN"/>
              <a:t>fingertip aperture from hand–object distance in real time..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377190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size: 20, 25, 30, 35, 40, and 45 mm cubes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ea typeface="SimSun" panose="02010600030101010101" pitchFamily="2" charset="-122"/>
                <a:sym typeface="+mn-ea"/>
              </a:rPr>
              <a:t>Equipment : A recording device consisting of a web camera and an IMU was mounted on the participant's forearm.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participants grasping data for objects of different sizes.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19" name="图片 18" descr="5273e5566c3c504abbb8337e55c211a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492750" y="1963420"/>
            <a:ext cx="2531745" cy="4502785"/>
          </a:xfrm>
          <a:prstGeom prst="rect">
            <a:avLst/>
          </a:prstGeom>
        </p:spPr>
      </p:pic>
      <p:sp>
        <p:nvSpPr>
          <p:cNvPr id="20" name="任意多边形 19"/>
          <p:cNvSpPr/>
          <p:nvPr/>
        </p:nvSpPr>
        <p:spPr>
          <a:xfrm>
            <a:off x="6387465" y="1724025"/>
            <a:ext cx="621665" cy="833120"/>
          </a:xfrm>
          <a:custGeom>
            <a:avLst/>
            <a:gdLst>
              <a:gd name="connisteX0" fmla="*/ 9525 w 995680"/>
              <a:gd name="connsiteY0" fmla="*/ 1590040 h 1590040"/>
              <a:gd name="connisteX1" fmla="*/ 0 w 995680"/>
              <a:gd name="connsiteY1" fmla="*/ 0 h 1590040"/>
              <a:gd name="connisteX2" fmla="*/ 995680 w 995680"/>
              <a:gd name="connsiteY2" fmla="*/ 0 h 159004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995680" h="1590040">
                <a:moveTo>
                  <a:pt x="9525" y="1590040"/>
                </a:moveTo>
                <a:lnTo>
                  <a:pt x="0" y="0"/>
                </a:lnTo>
                <a:lnTo>
                  <a:pt x="995680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/>
        </p:nvSpPr>
        <p:spPr>
          <a:xfrm>
            <a:off x="6798945" y="5191125"/>
            <a:ext cx="530860" cy="1474470"/>
          </a:xfrm>
          <a:custGeom>
            <a:avLst/>
            <a:gdLst>
              <a:gd name="connisteX0" fmla="*/ 0 w 948690"/>
              <a:gd name="connsiteY0" fmla="*/ 0 h 1819910"/>
              <a:gd name="connisteX1" fmla="*/ 0 w 948690"/>
              <a:gd name="connsiteY1" fmla="*/ 1819910 h 1819910"/>
              <a:gd name="connisteX2" fmla="*/ 948690 w 948690"/>
              <a:gd name="connsiteY2" fmla="*/ 1819910 h 181991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948690" h="1819910">
                <a:moveTo>
                  <a:pt x="0" y="0"/>
                </a:moveTo>
                <a:lnTo>
                  <a:pt x="0" y="1819910"/>
                </a:lnTo>
                <a:lnTo>
                  <a:pt x="948690" y="181991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7009130" y="15576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Web Camera (30hz)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449185" y="6466205"/>
            <a:ext cx="1489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IMU 50hz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实验场景</a:t>
            </a:r>
            <a:endParaRPr 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2579" t="15949" b="21628"/>
          <a:stretch>
            <a:fillRect/>
          </a:stretch>
        </p:blipFill>
        <p:spPr>
          <a:xfrm>
            <a:off x="275590" y="2980055"/>
            <a:ext cx="3070225" cy="34969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距离与手指宽度的计算</a:t>
            </a:r>
            <a:endParaRPr 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视觉信息</a:t>
            </a:r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 Processing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75590" y="868680"/>
            <a:ext cx="74593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利用</a:t>
            </a:r>
            <a:r>
              <a:rPr lang="en-US" altLang="zh-CN"/>
              <a:t>Camera</a:t>
            </a:r>
            <a:r>
              <a:rPr lang="zh-CN" altLang="en-US">
                <a:ea typeface="SimSun" panose="02010600030101010101" pitchFamily="2" charset="-122"/>
              </a:rPr>
              <a:t>来获取物体大小和手指宽度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75590" y="1494155"/>
            <a:ext cx="7108190" cy="58356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>
                <a:ea typeface="SimSun" panose="02010600030101010101" pitchFamily="2" charset="-122"/>
              </a:rPr>
              <a:t>手指宽度</a:t>
            </a:r>
            <a:r>
              <a:rPr lang="en-US" altLang="zh-CN" sz="1600">
                <a:ea typeface="SimSun" panose="02010600030101010101" pitchFamily="2" charset="-122"/>
              </a:rPr>
              <a:t>: </a:t>
            </a:r>
            <a:r>
              <a:rPr lang="zh-CN" altLang="en-US" sz="1600">
                <a:ea typeface="SimSun" panose="02010600030101010101" pitchFamily="2" charset="-122"/>
              </a:rPr>
              <a:t>使用</a:t>
            </a:r>
            <a:r>
              <a:rPr lang="en-US" altLang="zh-CN" sz="1600">
                <a:ea typeface="SimSun" panose="02010600030101010101" pitchFamily="2" charset="-122"/>
              </a:rPr>
              <a:t> </a:t>
            </a:r>
            <a:r>
              <a:rPr lang="en-US" altLang="ja-JP" sz="1600"/>
              <a:t>MediaPipe Hands </a:t>
            </a:r>
            <a:r>
              <a:rPr lang="zh-CN" altLang="en-US" sz="1600">
                <a:ea typeface="SimSun" panose="02010600030101010101" pitchFamily="2" charset="-122"/>
              </a:rPr>
              <a:t>识别出大拇指，食指指尖节点，计算两点之间的距离</a:t>
            </a:r>
            <a:endParaRPr lang="zh-CN" altLang="en-US" sz="1600">
              <a:ea typeface="SimSun" panose="02010600030101010101" pitchFamily="2" charset="-122"/>
            </a:endParaRPr>
          </a:p>
        </p:txBody>
      </p:sp>
      <p:pic>
        <p:nvPicPr>
          <p:cNvPr id="13" name="图片 12" descr="frame_000533_object_annotate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2682240"/>
            <a:ext cx="5226685" cy="392049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75590" y="2037715"/>
            <a:ext cx="69589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物体面积：</a:t>
            </a:r>
            <a:r>
              <a:rPr lang="en-US" altLang="zh-CN"/>
              <a:t>HSV </a:t>
            </a:r>
            <a:r>
              <a:rPr lang="zh-CN" altLang="en-US"/>
              <a:t>颜色分割与轮廓筛选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IMU Acceleration Processing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  <a:sym typeface="+mn-ea"/>
            </a:endParaRPr>
          </a:p>
        </p:txBody>
      </p:sp>
      <p:pic>
        <p:nvPicPr>
          <p:cNvPr id="3" name="图片 2" descr="6a7027ea-9d08-4cfa-ab73-53e437753e59.jp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370" y="2314575"/>
            <a:ext cx="2228215" cy="2228215"/>
          </a:xfrm>
          <a:prstGeom prst="rect">
            <a:avLst/>
          </a:prstGeom>
        </p:spPr>
      </p:pic>
      <p:sp>
        <p:nvSpPr>
          <p:cNvPr id="4" name="任意多边形 3"/>
          <p:cNvSpPr/>
          <p:nvPr/>
        </p:nvSpPr>
        <p:spPr>
          <a:xfrm>
            <a:off x="2353310" y="1258570"/>
            <a:ext cx="735330" cy="4918710"/>
          </a:xfrm>
          <a:custGeom>
            <a:avLst/>
            <a:gdLst>
              <a:gd name="connisteX0" fmla="*/ 0 w 2192655"/>
              <a:gd name="connsiteY0" fmla="*/ 2047240 h 4918710"/>
              <a:gd name="connisteX1" fmla="*/ 2192655 w 2192655"/>
              <a:gd name="connsiteY1" fmla="*/ 0 h 4918710"/>
              <a:gd name="connisteX2" fmla="*/ 2083435 w 2192655"/>
              <a:gd name="connsiteY2" fmla="*/ 4918710 h 4918710"/>
              <a:gd name="connisteX3" fmla="*/ 0 w 2192655"/>
              <a:gd name="connsiteY3" fmla="*/ 2047240 h 491871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</a:cxnLst>
            <a:rect l="l" t="t" r="r" b="b"/>
            <a:pathLst>
              <a:path w="2192655" h="4918710">
                <a:moveTo>
                  <a:pt x="0" y="2047240"/>
                </a:moveTo>
                <a:lnTo>
                  <a:pt x="2192655" y="0"/>
                </a:lnTo>
                <a:lnTo>
                  <a:pt x="2083435" y="4918710"/>
                </a:lnTo>
                <a:lnTo>
                  <a:pt x="0" y="2047240"/>
                </a:lnTo>
                <a:close/>
              </a:path>
            </a:pathLst>
          </a:cu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3479165" y="1189990"/>
            <a:ext cx="316928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 sz="1600"/>
              <a:t>Keep the IMU stationary for 2s, </a:t>
            </a:r>
            <a:endParaRPr lang="en-US" altLang="ja-JP" sz="1600"/>
          </a:p>
          <a:p>
            <a:pPr algn="ctr"/>
            <a:r>
              <a:rPr lang="en-US" altLang="ja-JP" sz="1600"/>
              <a:t>estimate the zero bias.</a:t>
            </a:r>
            <a:endParaRPr lang="en-US" altLang="ja-JP" sz="1600"/>
          </a:p>
        </p:txBody>
      </p:sp>
      <p:sp>
        <p:nvSpPr>
          <p:cNvPr id="7" name="文本框 6"/>
          <p:cNvSpPr txBox="1"/>
          <p:nvPr/>
        </p:nvSpPr>
        <p:spPr>
          <a:xfrm>
            <a:off x="3479165" y="2530475"/>
            <a:ext cx="3169285" cy="58356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 sz="1600"/>
              <a:t>Subtract the e</a:t>
            </a:r>
            <a:r>
              <a:rPr lang="en-US" altLang="zh-CN" sz="1600"/>
              <a:t>ffect of gravity</a:t>
            </a:r>
            <a:r>
              <a:rPr lang="en-US" altLang="ja-JP" sz="1600"/>
              <a:t> from each acceleration sample</a:t>
            </a:r>
            <a:endParaRPr lang="en-US" altLang="ja-JP" sz="1600"/>
          </a:p>
        </p:txBody>
      </p:sp>
      <p:sp>
        <p:nvSpPr>
          <p:cNvPr id="8" name="下箭头 7"/>
          <p:cNvSpPr/>
          <p:nvPr/>
        </p:nvSpPr>
        <p:spPr>
          <a:xfrm>
            <a:off x="4479925" y="1866900"/>
            <a:ext cx="1060450" cy="570865"/>
          </a:xfrm>
          <a:prstGeom prst="downArrow">
            <a:avLst/>
          </a:pr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下箭头 1"/>
          <p:cNvSpPr/>
          <p:nvPr/>
        </p:nvSpPr>
        <p:spPr>
          <a:xfrm>
            <a:off x="4479925" y="3281045"/>
            <a:ext cx="1060450" cy="570865"/>
          </a:xfrm>
          <a:prstGeom prst="downArrow">
            <a:avLst/>
          </a:pr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3569970" y="4018915"/>
            <a:ext cx="2987675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ja-JP" sz="1600"/>
              <a:t>Define the Acceleration Direction</a:t>
            </a:r>
            <a:endParaRPr lang="en-US" altLang="ja-JP" sz="1600"/>
          </a:p>
        </p:txBody>
      </p:sp>
      <p:sp>
        <p:nvSpPr>
          <p:cNvPr id="10" name="下箭头 9"/>
          <p:cNvSpPr/>
          <p:nvPr/>
        </p:nvSpPr>
        <p:spPr>
          <a:xfrm>
            <a:off x="4533900" y="4543425"/>
            <a:ext cx="1060450" cy="570865"/>
          </a:xfrm>
          <a:prstGeom prst="downArrow">
            <a:avLst/>
          </a:pr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4" name="图片 13" descr="area_width_acceleration"/>
          <p:cNvPicPr>
            <a:picLocks noChangeAspect="1"/>
          </p:cNvPicPr>
          <p:nvPr/>
        </p:nvPicPr>
        <p:blipFill>
          <a:blip r:embed="rId2"/>
          <a:srcRect t="64722"/>
          <a:stretch>
            <a:fillRect/>
          </a:stretch>
        </p:blipFill>
        <p:spPr>
          <a:xfrm>
            <a:off x="3570605" y="5260975"/>
            <a:ext cx="2987040" cy="1495425"/>
          </a:xfrm>
          <a:prstGeom prst="rect">
            <a:avLst/>
          </a:prstGeom>
        </p:spPr>
      </p:pic>
      <p:sp>
        <p:nvSpPr>
          <p:cNvPr id="15" name="文本框 14"/>
          <p:cNvSpPr txBox="1"/>
          <p:nvPr/>
        </p:nvSpPr>
        <p:spPr>
          <a:xfrm>
            <a:off x="826770" y="4356100"/>
            <a:ext cx="1598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/>
              <a:t>WT9011DCL</a:t>
            </a:r>
            <a:endParaRPr lang="en-US" altLang="zh-CN" sz="16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滤波处理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75590" y="14941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视觉信号：3 帧中值 → </a:t>
            </a:r>
            <a:r>
              <a:rPr lang="en-US" altLang="zh-CN"/>
              <a:t>EMA 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378460" y="292544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IMU:3 Hz Butterworth </a:t>
            </a:r>
            <a:r>
              <a:rPr lang="zh-CN" altLang="en-US"/>
              <a:t>低通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8648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2">
                    <a:lumMod val="75000"/>
                    <a:lumOff val="25000"/>
                  </a:schemeClr>
                </a:solidFill>
              </a:rPr>
              <a:t>20</a:t>
            </a:r>
            <a:r>
              <a:rPr lang="en-US" altLang="zh-CN" sz="2000" b="1">
                <a:solidFill>
                  <a:schemeClr val="tx2">
                    <a:lumMod val="75000"/>
                    <a:lumOff val="25000"/>
                  </a:schemeClr>
                </a:solidFill>
              </a:rPr>
              <a:t> experiments with a 40 mm object</a:t>
            </a:r>
            <a:endParaRPr lang="en-US" altLang="zh-CN" sz="2000" b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图片 4" descr="size_4cm_three_signals_horizontal_overla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4925" y="2424430"/>
            <a:ext cx="9144000" cy="21336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383280" y="4558030"/>
            <a:ext cx="251714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apparent size </a:t>
            </a:r>
            <a:endParaRPr lang="en-US" altLang="zh-CN"/>
          </a:p>
          <a:p>
            <a:r>
              <a:rPr lang="en-US" altLang="zh-CN"/>
              <a:t>Normalized RMSE</a:t>
            </a:r>
            <a:endParaRPr lang="en-US" altLang="zh-CN"/>
          </a:p>
          <a:p>
            <a:r>
              <a:rPr lang="en-US" altLang="zh-CN"/>
              <a:t>0.0486 ± 0.0313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6457950" y="4558030"/>
            <a:ext cx="2516505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apparent size Normalized RMSE</a:t>
            </a:r>
            <a:endParaRPr lang="en-US" altLang="zh-CN"/>
          </a:p>
          <a:p>
            <a:r>
              <a:rPr lang="en-US" altLang="zh-CN"/>
              <a:t>0.0757 ± 0.0294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309245" y="4558030"/>
            <a:ext cx="2516505" cy="922020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/>
              <a:t>Fingertip aperture Normalized RMSE</a:t>
            </a:r>
            <a:endParaRPr lang="en-US" altLang="zh-CN"/>
          </a:p>
          <a:p>
            <a:pPr algn="l"/>
            <a:r>
              <a:rPr lang="en-US" altLang="zh-CN"/>
              <a:t>0.0415 ± 0.0160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309245" y="1640840"/>
            <a:ext cx="2698115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Maximum aperture timing</a:t>
            </a:r>
            <a:endParaRPr lang="zh-CN" altLang="en-US"/>
          </a:p>
          <a:p>
            <a:r>
              <a:rPr lang="en-US" altLang="zh-CN"/>
              <a:t>55.79 ± 2.45%</a:t>
            </a:r>
            <a:endParaRPr lang="en-US" altLang="zh-CN"/>
          </a:p>
        </p:txBody>
      </p:sp>
      <p:sp>
        <p:nvSpPr>
          <p:cNvPr id="14" name="文本框 13"/>
          <p:cNvSpPr txBox="1"/>
          <p:nvPr/>
        </p:nvSpPr>
        <p:spPr>
          <a:xfrm>
            <a:off x="3293110" y="1502410"/>
            <a:ext cx="269748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area at maximum aperture / final object area</a:t>
            </a:r>
            <a:endParaRPr lang="en-US" altLang="zh-CN"/>
          </a:p>
          <a:p>
            <a:r>
              <a:rPr lang="en-US" altLang="zh-CN"/>
              <a:t>59.42 ± 4.15%</a:t>
            </a:r>
            <a:endParaRPr lang="en-US" altLang="zh-CN"/>
          </a:p>
        </p:txBody>
      </p:sp>
      <p:sp>
        <p:nvSpPr>
          <p:cNvPr id="15" name="文本框 14"/>
          <p:cNvSpPr txBox="1"/>
          <p:nvPr/>
        </p:nvSpPr>
        <p:spPr>
          <a:xfrm>
            <a:off x="6457950" y="1502410"/>
            <a:ext cx="251714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Mean acceleration during opening</a:t>
            </a:r>
            <a:endParaRPr lang="en-US" altLang="zh-CN"/>
          </a:p>
          <a:p>
            <a:r>
              <a:rPr lang="en-US" altLang="zh-CN"/>
              <a:t>0.611 ± 0.139 m/s²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738495"/>
            <a:ext cx="8870950" cy="9220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The data showed high consistency across </a:t>
            </a:r>
            <a:r>
              <a:rPr lang="en-US" altLang="zh-CN">
                <a:sym typeface="+mn-ea"/>
              </a:rPr>
              <a:t>experiments, suggesting a consistent relationship among object apparent size, fingertip aperture, and hand acceleration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6225" y="956945"/>
            <a:ext cx="8522335" cy="39878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 sz="2000"/>
              <a:t>Further validation</a:t>
            </a:r>
            <a:endParaRPr lang="en-US" altLang="zh-CN" sz="2000"/>
          </a:p>
        </p:txBody>
      </p:sp>
      <p:grpSp>
        <p:nvGrpSpPr>
          <p:cNvPr id="4" name="组合 3"/>
          <p:cNvGrpSpPr/>
          <p:nvPr/>
        </p:nvGrpSpPr>
        <p:grpSpPr>
          <a:xfrm>
            <a:off x="1586230" y="4347210"/>
            <a:ext cx="1868170" cy="1159510"/>
            <a:chOff x="4230" y="2456"/>
            <a:chExt cx="2942" cy="1826"/>
          </a:xfrm>
        </p:grpSpPr>
        <p:sp>
          <p:nvSpPr>
            <p:cNvPr id="5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8" name="直接箭头连接符 7"/>
            <p:cNvCxnSpPr>
              <a:stCxn id="5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/>
          <p:cNvGrpSpPr/>
          <p:nvPr/>
        </p:nvGrpSpPr>
        <p:grpSpPr>
          <a:xfrm>
            <a:off x="1430020" y="5198110"/>
            <a:ext cx="1906905" cy="1159510"/>
            <a:chOff x="3630" y="4675"/>
            <a:chExt cx="3003" cy="1826"/>
          </a:xfrm>
        </p:grpSpPr>
        <p:sp>
          <p:nvSpPr>
            <p:cNvPr id="18" name="Google Shape;4859;p44"/>
            <p:cNvSpPr/>
            <p:nvPr/>
          </p:nvSpPr>
          <p:spPr>
            <a:xfrm>
              <a:off x="3630" y="4675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9" name="直接箭头连接符 18"/>
            <p:cNvCxnSpPr/>
            <p:nvPr/>
          </p:nvCxnSpPr>
          <p:spPr>
            <a:xfrm flipV="1">
              <a:off x="5669" y="5734"/>
              <a:ext cx="964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直接箭头连接符 23"/>
          <p:cNvCxnSpPr/>
          <p:nvPr/>
        </p:nvCxnSpPr>
        <p:spPr>
          <a:xfrm flipV="1">
            <a:off x="5765800" y="5305425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86205" y="5951855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Acceleration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539875" y="4512945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 Size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520815" y="4781550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1398270"/>
            <a:ext cx="8522970" cy="70548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movements be predicted using object apparent size and hand acceleration?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pic>
        <p:nvPicPr>
          <p:cNvPr id="31" name="图片 30" descr="QQ20261011-2047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55" y="2476500"/>
            <a:ext cx="1036320" cy="1016000"/>
          </a:xfrm>
          <a:prstGeom prst="rect">
            <a:avLst/>
          </a:prstGeom>
        </p:spPr>
      </p:pic>
      <p:sp>
        <p:nvSpPr>
          <p:cNvPr id="32" name="圆角右箭头 31"/>
          <p:cNvSpPr/>
          <p:nvPr/>
        </p:nvSpPr>
        <p:spPr>
          <a:xfrm rot="6960000">
            <a:off x="1669415" y="3329305"/>
            <a:ext cx="633730" cy="929005"/>
          </a:xfrm>
          <a:prstGeom prst="ben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868805" y="2595245"/>
            <a:ext cx="6167120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20, 30, 40 mm: 15 training experiments + 5 test experiments</a:t>
            </a:r>
            <a:endParaRPr lang="en-US" altLang="zh-CN"/>
          </a:p>
          <a:p>
            <a:r>
              <a:rPr lang="en-US" altLang="zh-CN"/>
              <a:t>25, 35, 45 mm: 5 experiments for generalization testing</a:t>
            </a:r>
            <a:endParaRPr lang="en-US" altLang="zh-CN"/>
          </a:p>
        </p:txBody>
      </p:sp>
      <p:grpSp>
        <p:nvGrpSpPr>
          <p:cNvPr id="155" name="组合 154"/>
          <p:cNvGrpSpPr/>
          <p:nvPr/>
        </p:nvGrpSpPr>
        <p:grpSpPr>
          <a:xfrm>
            <a:off x="3556635" y="4519295"/>
            <a:ext cx="2145030" cy="1884045"/>
            <a:chOff x="2243" y="1465"/>
            <a:chExt cx="8060" cy="5346"/>
          </a:xfrm>
        </p:grpSpPr>
        <p:sp>
          <p:nvSpPr>
            <p:cNvPr id="114" name="Google Shape;500;p25"/>
            <p:cNvSpPr/>
            <p:nvPr/>
          </p:nvSpPr>
          <p:spPr>
            <a:xfrm>
              <a:off x="2243" y="2689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5" name="Google Shape;503;p25"/>
            <p:cNvSpPr/>
            <p:nvPr/>
          </p:nvSpPr>
          <p:spPr>
            <a:xfrm>
              <a:off x="9455" y="3359"/>
              <a:ext cx="849" cy="87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16" name="Google Shape;510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250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7" name="Google Shape;512;p25"/>
            <p:cNvCxnSpPr>
              <a:endCxn id="115" idx="2"/>
            </p:cNvCxnSpPr>
            <p:nvPr/>
          </p:nvCxnSpPr>
          <p:spPr>
            <a:xfrm>
              <a:off x="7887" y="3166"/>
              <a:ext cx="1568" cy="63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8" name="Google Shape;514;p25"/>
            <p:cNvCxnSpPr>
              <a:endCxn id="115" idx="2"/>
            </p:cNvCxnSpPr>
            <p:nvPr/>
          </p:nvCxnSpPr>
          <p:spPr>
            <a:xfrm>
              <a:off x="7887" y="1947"/>
              <a:ext cx="1568" cy="185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9" name="Google Shape;516;p25"/>
            <p:cNvCxnSpPr>
              <a:stCxn id="120" idx="6"/>
              <a:endCxn id="124" idx="2"/>
            </p:cNvCxnSpPr>
            <p:nvPr/>
          </p:nvCxnSpPr>
          <p:spPr>
            <a:xfrm>
              <a:off x="5658" y="1947"/>
              <a:ext cx="1182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0" name="Google Shape;517;p25"/>
            <p:cNvSpPr/>
            <p:nvPr/>
          </p:nvSpPr>
          <p:spPr>
            <a:xfrm>
              <a:off x="4724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200" baseline="-25000"/>
            </a:p>
          </p:txBody>
        </p:sp>
        <p:sp>
          <p:nvSpPr>
            <p:cNvPr id="121" name="Google Shape;519;p25"/>
            <p:cNvSpPr/>
            <p:nvPr/>
          </p:nvSpPr>
          <p:spPr>
            <a:xfrm>
              <a:off x="4714" y="2684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2" name="Google Shape;520;p25"/>
            <p:cNvSpPr/>
            <p:nvPr/>
          </p:nvSpPr>
          <p:spPr>
            <a:xfrm>
              <a:off x="4724" y="390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3" name="Google Shape;521;p25"/>
            <p:cNvSpPr/>
            <p:nvPr/>
          </p:nvSpPr>
          <p:spPr>
            <a:xfrm>
              <a:off x="4724" y="5849"/>
              <a:ext cx="925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100">
                <a:solidFill>
                  <a:srgbClr val="000000"/>
                </a:solidFill>
              </a:endParaRPr>
            </a:p>
          </p:txBody>
        </p:sp>
        <p:sp>
          <p:nvSpPr>
            <p:cNvPr id="124" name="Google Shape;518;p25"/>
            <p:cNvSpPr/>
            <p:nvPr/>
          </p:nvSpPr>
          <p:spPr>
            <a:xfrm>
              <a:off x="6840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200" baseline="-25000"/>
            </a:p>
          </p:txBody>
        </p:sp>
        <p:sp>
          <p:nvSpPr>
            <p:cNvPr id="125" name="Google Shape;522;p25"/>
            <p:cNvSpPr/>
            <p:nvPr/>
          </p:nvSpPr>
          <p:spPr>
            <a:xfrm>
              <a:off x="6840" y="274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6" name="Google Shape;523;p25"/>
            <p:cNvSpPr/>
            <p:nvPr/>
          </p:nvSpPr>
          <p:spPr>
            <a:xfrm>
              <a:off x="6840" y="3946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7" name="Google Shape;524;p25"/>
            <p:cNvSpPr/>
            <p:nvPr/>
          </p:nvSpPr>
          <p:spPr>
            <a:xfrm>
              <a:off x="6840" y="5849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28" name="Google Shape;526;p25"/>
            <p:cNvCxnSpPr/>
            <p:nvPr/>
          </p:nvCxnSpPr>
          <p:spPr>
            <a:xfrm flipH="1">
              <a:off x="5186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129" name="Google Shape;530;p25"/>
            <p:cNvSpPr/>
            <p:nvPr/>
          </p:nvSpPr>
          <p:spPr>
            <a:xfrm>
              <a:off x="2243" y="5113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30" name="Google Shape;531;p25"/>
            <p:cNvCxnSpPr>
              <a:endCxn id="120" idx="2"/>
            </p:cNvCxnSpPr>
            <p:nvPr/>
          </p:nvCxnSpPr>
          <p:spPr>
            <a:xfrm rot="10800000" flipH="1">
              <a:off x="2378" y="1947"/>
              <a:ext cx="2346" cy="8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1" name="Google Shape;532;p25"/>
            <p:cNvCxnSpPr>
              <a:stCxn id="114" idx="5"/>
              <a:endCxn id="121" idx="2"/>
            </p:cNvCxnSpPr>
            <p:nvPr/>
          </p:nvCxnSpPr>
          <p:spPr>
            <a:xfrm>
              <a:off x="2350" y="2781"/>
              <a:ext cx="2365" cy="38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2" name="Google Shape;533;p25"/>
            <p:cNvCxnSpPr>
              <a:stCxn id="114" idx="5"/>
              <a:endCxn id="122" idx="2"/>
            </p:cNvCxnSpPr>
            <p:nvPr/>
          </p:nvCxnSpPr>
          <p:spPr>
            <a:xfrm>
              <a:off x="2350" y="2781"/>
              <a:ext cx="2374" cy="160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3" name="Google Shape;534;p25"/>
            <p:cNvCxnSpPr>
              <a:stCxn id="114" idx="5"/>
              <a:endCxn id="123" idx="2"/>
            </p:cNvCxnSpPr>
            <p:nvPr/>
          </p:nvCxnSpPr>
          <p:spPr>
            <a:xfrm>
              <a:off x="2350" y="2781"/>
              <a:ext cx="2374" cy="355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4" name="Google Shape;555;p25"/>
            <p:cNvCxnSpPr>
              <a:stCxn id="129" idx="5"/>
              <a:endCxn id="120" idx="2"/>
            </p:cNvCxnSpPr>
            <p:nvPr/>
          </p:nvCxnSpPr>
          <p:spPr>
            <a:xfrm rot="10800000" flipH="1">
              <a:off x="2350" y="1947"/>
              <a:ext cx="2374" cy="325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5" name="Google Shape;556;p25"/>
            <p:cNvCxnSpPr>
              <a:stCxn id="129" idx="5"/>
              <a:endCxn id="121" idx="2"/>
            </p:cNvCxnSpPr>
            <p:nvPr/>
          </p:nvCxnSpPr>
          <p:spPr>
            <a:xfrm rot="10800000" flipH="1">
              <a:off x="2350" y="3166"/>
              <a:ext cx="2365" cy="203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" name="Google Shape;557;p25"/>
            <p:cNvCxnSpPr>
              <a:stCxn id="129" idx="5"/>
              <a:endCxn id="122" idx="2"/>
            </p:cNvCxnSpPr>
            <p:nvPr/>
          </p:nvCxnSpPr>
          <p:spPr>
            <a:xfrm rot="10800000" flipH="1">
              <a:off x="2350" y="4385"/>
              <a:ext cx="2374" cy="82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" name="Google Shape;558;p25"/>
            <p:cNvCxnSpPr>
              <a:stCxn id="129" idx="5"/>
              <a:endCxn id="123" idx="2"/>
            </p:cNvCxnSpPr>
            <p:nvPr/>
          </p:nvCxnSpPr>
          <p:spPr>
            <a:xfrm>
              <a:off x="2350" y="5205"/>
              <a:ext cx="2374" cy="112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8" name="Google Shape;559;p25"/>
            <p:cNvCxnSpPr>
              <a:stCxn id="120" idx="6"/>
              <a:endCxn id="125" idx="2"/>
            </p:cNvCxnSpPr>
            <p:nvPr/>
          </p:nvCxnSpPr>
          <p:spPr>
            <a:xfrm>
              <a:off x="5658" y="1947"/>
              <a:ext cx="1182" cy="127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9" name="Google Shape;560;p25"/>
            <p:cNvCxnSpPr>
              <a:stCxn id="120" idx="6"/>
              <a:endCxn id="126" idx="2"/>
            </p:cNvCxnSpPr>
            <p:nvPr/>
          </p:nvCxnSpPr>
          <p:spPr>
            <a:xfrm>
              <a:off x="5658" y="1947"/>
              <a:ext cx="1182" cy="248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0" name="Google Shape;561;p25"/>
            <p:cNvCxnSpPr>
              <a:stCxn id="120" idx="6"/>
              <a:endCxn id="127" idx="2"/>
            </p:cNvCxnSpPr>
            <p:nvPr/>
          </p:nvCxnSpPr>
          <p:spPr>
            <a:xfrm>
              <a:off x="5658" y="1947"/>
              <a:ext cx="1182" cy="438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1" name="Google Shape;562;p25"/>
            <p:cNvCxnSpPr>
              <a:stCxn id="121" idx="6"/>
              <a:endCxn id="124" idx="2"/>
            </p:cNvCxnSpPr>
            <p:nvPr/>
          </p:nvCxnSpPr>
          <p:spPr>
            <a:xfrm rot="10800000" flipH="1">
              <a:off x="5648" y="1946"/>
              <a:ext cx="1191" cy="121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" name="Google Shape;563;p25"/>
            <p:cNvCxnSpPr>
              <a:stCxn id="121" idx="6"/>
              <a:endCxn id="125" idx="2"/>
            </p:cNvCxnSpPr>
            <p:nvPr/>
          </p:nvCxnSpPr>
          <p:spPr>
            <a:xfrm>
              <a:off x="5648" y="3166"/>
              <a:ext cx="1191" cy="5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3" name="Google Shape;564;p25"/>
            <p:cNvCxnSpPr>
              <a:stCxn id="121" idx="6"/>
              <a:endCxn id="126" idx="2"/>
            </p:cNvCxnSpPr>
            <p:nvPr/>
          </p:nvCxnSpPr>
          <p:spPr>
            <a:xfrm>
              <a:off x="5648" y="3166"/>
              <a:ext cx="1191" cy="126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" name="Google Shape;565;p25"/>
            <p:cNvCxnSpPr>
              <a:stCxn id="121" idx="6"/>
              <a:endCxn id="127" idx="2"/>
            </p:cNvCxnSpPr>
            <p:nvPr/>
          </p:nvCxnSpPr>
          <p:spPr>
            <a:xfrm>
              <a:off x="5648" y="3166"/>
              <a:ext cx="1191" cy="316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" name="Google Shape;566;p25"/>
            <p:cNvCxnSpPr>
              <a:stCxn id="122" idx="6"/>
              <a:endCxn id="124" idx="2"/>
            </p:cNvCxnSpPr>
            <p:nvPr/>
          </p:nvCxnSpPr>
          <p:spPr>
            <a:xfrm rot="10800000" flipH="1">
              <a:off x="5658" y="1947"/>
              <a:ext cx="1182" cy="243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" name="Google Shape;567;p25"/>
            <p:cNvCxnSpPr>
              <a:stCxn id="122" idx="6"/>
              <a:endCxn id="125" idx="2"/>
            </p:cNvCxnSpPr>
            <p:nvPr/>
          </p:nvCxnSpPr>
          <p:spPr>
            <a:xfrm rot="10800000" flipH="1">
              <a:off x="5658" y="3224"/>
              <a:ext cx="1182" cy="116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" name="Google Shape;568;p25"/>
            <p:cNvCxnSpPr>
              <a:stCxn id="122" idx="6"/>
              <a:endCxn id="126" idx="2"/>
            </p:cNvCxnSpPr>
            <p:nvPr/>
          </p:nvCxnSpPr>
          <p:spPr>
            <a:xfrm>
              <a:off x="5658" y="4385"/>
              <a:ext cx="1182" cy="4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" name="Google Shape;569;p25"/>
            <p:cNvCxnSpPr>
              <a:stCxn id="122" idx="6"/>
              <a:endCxn id="127" idx="2"/>
            </p:cNvCxnSpPr>
            <p:nvPr/>
          </p:nvCxnSpPr>
          <p:spPr>
            <a:xfrm>
              <a:off x="5658" y="4385"/>
              <a:ext cx="1182" cy="194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" name="Google Shape;570;p25"/>
            <p:cNvCxnSpPr>
              <a:endCxn id="124" idx="2"/>
            </p:cNvCxnSpPr>
            <p:nvPr/>
          </p:nvCxnSpPr>
          <p:spPr>
            <a:xfrm rot="10800000" flipH="1">
              <a:off x="5658" y="1947"/>
              <a:ext cx="1182" cy="444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" name="Google Shape;571;p25"/>
            <p:cNvCxnSpPr>
              <a:stCxn id="123" idx="6"/>
              <a:endCxn id="125" idx="2"/>
            </p:cNvCxnSpPr>
            <p:nvPr/>
          </p:nvCxnSpPr>
          <p:spPr>
            <a:xfrm rot="10800000" flipH="1">
              <a:off x="5649" y="3224"/>
              <a:ext cx="1191" cy="31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1" name="Google Shape;572;p25"/>
            <p:cNvCxnSpPr>
              <a:stCxn id="123" idx="6"/>
              <a:endCxn id="126" idx="2"/>
            </p:cNvCxnSpPr>
            <p:nvPr/>
          </p:nvCxnSpPr>
          <p:spPr>
            <a:xfrm rot="10800000" flipH="1">
              <a:off x="5649" y="4428"/>
              <a:ext cx="1191" cy="19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" name="Google Shape;573;p25"/>
            <p:cNvCxnSpPr>
              <a:stCxn id="123" idx="6"/>
              <a:endCxn id="127" idx="2"/>
            </p:cNvCxnSpPr>
            <p:nvPr/>
          </p:nvCxnSpPr>
          <p:spPr>
            <a:xfrm>
              <a:off x="5649" y="6331"/>
              <a:ext cx="1191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3" name="Google Shape;591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58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" name="Google Shape;593;p25"/>
            <p:cNvCxnSpPr/>
            <p:nvPr/>
          </p:nvCxnSpPr>
          <p:spPr>
            <a:xfrm flipH="1">
              <a:off x="7302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  <p:sp>
        <p:nvSpPr>
          <p:cNvPr id="156" name="文本框 155"/>
          <p:cNvSpPr txBox="1"/>
          <p:nvPr/>
        </p:nvSpPr>
        <p:spPr>
          <a:xfrm>
            <a:off x="3698240" y="4175760"/>
            <a:ext cx="2413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15-frame window MLP</a:t>
            </a:r>
            <a:endParaRPr lang="en-US" altLang="zh-CN" sz="1600" b="1">
              <a:sym typeface="+mn-ea"/>
            </a:endParaRPr>
          </a:p>
        </p:txBody>
      </p:sp>
      <p:sp>
        <p:nvSpPr>
          <p:cNvPr id="157" name="文本框 156"/>
          <p:cNvSpPr txBox="1"/>
          <p:nvPr/>
        </p:nvSpPr>
        <p:spPr>
          <a:xfrm>
            <a:off x="3454400" y="6403975"/>
            <a:ext cx="40709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2 hidden layer, each with 32 neurons.</a:t>
            </a:r>
            <a:endParaRPr lang="en-US" altLang="zh-CN" sz="1600" b="1"/>
          </a:p>
        </p:txBody>
      </p:sp>
      <p:sp>
        <p:nvSpPr>
          <p:cNvPr id="3" name="任意多边形 2"/>
          <p:cNvSpPr/>
          <p:nvPr/>
        </p:nvSpPr>
        <p:spPr>
          <a:xfrm>
            <a:off x="3592830" y="4347210"/>
            <a:ext cx="281940" cy="434975"/>
          </a:xfrm>
          <a:custGeom>
            <a:avLst/>
            <a:gdLst>
              <a:gd name="connisteX0" fmla="*/ 0 w 380365"/>
              <a:gd name="connsiteY0" fmla="*/ 887730 h 887730"/>
              <a:gd name="connisteX1" fmla="*/ 0 w 380365"/>
              <a:gd name="connsiteY1" fmla="*/ 0 h 887730"/>
              <a:gd name="connisteX2" fmla="*/ 380365 w 380365"/>
              <a:gd name="connsiteY2" fmla="*/ 0 h 88773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80365" h="887730">
                <a:moveTo>
                  <a:pt x="0" y="887730"/>
                </a:moveTo>
                <a:lnTo>
                  <a:pt x="0" y="0"/>
                </a:lnTo>
                <a:lnTo>
                  <a:pt x="380365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4" name="组合 3"/>
          <p:cNvGrpSpPr/>
          <p:nvPr/>
        </p:nvGrpSpPr>
        <p:grpSpPr>
          <a:xfrm>
            <a:off x="1148080" y="1148715"/>
            <a:ext cx="1868170" cy="1159510"/>
            <a:chOff x="4230" y="2456"/>
            <a:chExt cx="2942" cy="1826"/>
          </a:xfrm>
        </p:grpSpPr>
        <p:sp>
          <p:nvSpPr>
            <p:cNvPr id="5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8" name="直接箭头连接符 7"/>
            <p:cNvCxnSpPr>
              <a:stCxn id="5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/>
          <p:cNvGrpSpPr/>
          <p:nvPr/>
        </p:nvGrpSpPr>
        <p:grpSpPr>
          <a:xfrm>
            <a:off x="991870" y="1999615"/>
            <a:ext cx="1906905" cy="1159510"/>
            <a:chOff x="3630" y="4675"/>
            <a:chExt cx="3003" cy="1826"/>
          </a:xfrm>
        </p:grpSpPr>
        <p:sp>
          <p:nvSpPr>
            <p:cNvPr id="18" name="Google Shape;4859;p44"/>
            <p:cNvSpPr/>
            <p:nvPr/>
          </p:nvSpPr>
          <p:spPr>
            <a:xfrm>
              <a:off x="3630" y="4675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9" name="直接箭头连接符 18"/>
            <p:cNvCxnSpPr/>
            <p:nvPr/>
          </p:nvCxnSpPr>
          <p:spPr>
            <a:xfrm flipV="1">
              <a:off x="5669" y="5734"/>
              <a:ext cx="964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" name="直接箭头连接符 23"/>
          <p:cNvCxnSpPr/>
          <p:nvPr/>
        </p:nvCxnSpPr>
        <p:spPr>
          <a:xfrm flipV="1">
            <a:off x="5327650" y="2106930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948055" y="275336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Acceleration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101725" y="1314450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 Size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082665" y="1583055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grpSp>
        <p:nvGrpSpPr>
          <p:cNvPr id="155" name="组合 154"/>
          <p:cNvGrpSpPr/>
          <p:nvPr/>
        </p:nvGrpSpPr>
        <p:grpSpPr>
          <a:xfrm>
            <a:off x="3118485" y="1320800"/>
            <a:ext cx="2145030" cy="1884045"/>
            <a:chOff x="2243" y="1465"/>
            <a:chExt cx="8060" cy="5346"/>
          </a:xfrm>
        </p:grpSpPr>
        <p:sp>
          <p:nvSpPr>
            <p:cNvPr id="114" name="Google Shape;500;p25"/>
            <p:cNvSpPr/>
            <p:nvPr/>
          </p:nvSpPr>
          <p:spPr>
            <a:xfrm>
              <a:off x="2243" y="2689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5" name="Google Shape;503;p25"/>
            <p:cNvSpPr/>
            <p:nvPr/>
          </p:nvSpPr>
          <p:spPr>
            <a:xfrm>
              <a:off x="9455" y="3359"/>
              <a:ext cx="849" cy="878"/>
            </a:xfrm>
            <a:prstGeom prst="ellipse">
              <a:avLst/>
            </a:prstGeom>
            <a:solidFill>
              <a:srgbClr val="F4CCCC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16" name="Google Shape;510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250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7" name="Google Shape;512;p25"/>
            <p:cNvCxnSpPr>
              <a:endCxn id="115" idx="2"/>
            </p:cNvCxnSpPr>
            <p:nvPr/>
          </p:nvCxnSpPr>
          <p:spPr>
            <a:xfrm>
              <a:off x="7887" y="3166"/>
              <a:ext cx="1568" cy="63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8" name="Google Shape;514;p25"/>
            <p:cNvCxnSpPr>
              <a:endCxn id="115" idx="2"/>
            </p:cNvCxnSpPr>
            <p:nvPr/>
          </p:nvCxnSpPr>
          <p:spPr>
            <a:xfrm>
              <a:off x="7887" y="1947"/>
              <a:ext cx="1568" cy="185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19" name="Google Shape;516;p25"/>
            <p:cNvCxnSpPr>
              <a:stCxn id="120" idx="6"/>
              <a:endCxn id="124" idx="2"/>
            </p:cNvCxnSpPr>
            <p:nvPr/>
          </p:nvCxnSpPr>
          <p:spPr>
            <a:xfrm>
              <a:off x="5658" y="1947"/>
              <a:ext cx="1182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0" name="Google Shape;517;p25"/>
            <p:cNvSpPr/>
            <p:nvPr/>
          </p:nvSpPr>
          <p:spPr>
            <a:xfrm>
              <a:off x="4724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200" baseline="-25000"/>
            </a:p>
          </p:txBody>
        </p:sp>
        <p:sp>
          <p:nvSpPr>
            <p:cNvPr id="121" name="Google Shape;519;p25"/>
            <p:cNvSpPr/>
            <p:nvPr/>
          </p:nvSpPr>
          <p:spPr>
            <a:xfrm>
              <a:off x="4714" y="2684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2" name="Google Shape;520;p25"/>
            <p:cNvSpPr/>
            <p:nvPr/>
          </p:nvSpPr>
          <p:spPr>
            <a:xfrm>
              <a:off x="4724" y="390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r>
                <a:rPr lang="en-GB" sz="1100"/>
                <a:t> </a:t>
              </a: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3" name="Google Shape;521;p25"/>
            <p:cNvSpPr/>
            <p:nvPr/>
          </p:nvSpPr>
          <p:spPr>
            <a:xfrm>
              <a:off x="4724" y="5849"/>
              <a:ext cx="925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100">
                <a:solidFill>
                  <a:srgbClr val="000000"/>
                </a:solidFill>
              </a:endParaRPr>
            </a:p>
          </p:txBody>
        </p:sp>
        <p:sp>
          <p:nvSpPr>
            <p:cNvPr id="124" name="Google Shape;518;p25"/>
            <p:cNvSpPr/>
            <p:nvPr/>
          </p:nvSpPr>
          <p:spPr>
            <a:xfrm>
              <a:off x="6840" y="1465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200" baseline="-25000"/>
            </a:p>
          </p:txBody>
        </p:sp>
        <p:sp>
          <p:nvSpPr>
            <p:cNvPr id="125" name="Google Shape;522;p25"/>
            <p:cNvSpPr/>
            <p:nvPr/>
          </p:nvSpPr>
          <p:spPr>
            <a:xfrm>
              <a:off x="6840" y="2743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6" name="Google Shape;523;p25"/>
            <p:cNvSpPr/>
            <p:nvPr/>
          </p:nvSpPr>
          <p:spPr>
            <a:xfrm>
              <a:off x="6840" y="3946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sp>
          <p:nvSpPr>
            <p:cNvPr id="127" name="Google Shape;524;p25"/>
            <p:cNvSpPr/>
            <p:nvPr/>
          </p:nvSpPr>
          <p:spPr>
            <a:xfrm>
              <a:off x="6840" y="5849"/>
              <a:ext cx="934" cy="963"/>
            </a:xfrm>
            <a:prstGeom prst="ellipse">
              <a:avLst/>
            </a:prstGeom>
            <a:gradFill>
              <a:gsLst>
                <a:gs pos="0">
                  <a:srgbClr val="E0EDBA">
                    <a:alpha val="79216"/>
                  </a:srgbClr>
                </a:gs>
                <a:gs pos="100000">
                  <a:srgbClr val="DE87F1">
                    <a:alpha val="48235"/>
                  </a:srgbClr>
                </a:gs>
              </a:gsLst>
              <a:lin ang="13500032" scaled="0"/>
            </a:gra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 panose="020B0604020202020204"/>
                <a:buNone/>
              </a:pPr>
              <a:endParaRPr sz="1600">
                <a:solidFill>
                  <a:srgbClr val="000000"/>
                </a:solidFill>
              </a:endParaRPr>
            </a:p>
          </p:txBody>
        </p:sp>
        <p:cxnSp>
          <p:nvCxnSpPr>
            <p:cNvPr id="128" name="Google Shape;526;p25"/>
            <p:cNvCxnSpPr/>
            <p:nvPr/>
          </p:nvCxnSpPr>
          <p:spPr>
            <a:xfrm flipH="1">
              <a:off x="5186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  <p:sp>
          <p:nvSpPr>
            <p:cNvPr id="129" name="Google Shape;530;p25"/>
            <p:cNvSpPr/>
            <p:nvPr/>
          </p:nvSpPr>
          <p:spPr>
            <a:xfrm>
              <a:off x="2243" y="5113"/>
              <a:ext cx="125" cy="108"/>
            </a:xfrm>
            <a:prstGeom prst="flowChartConnector">
              <a:avLst/>
            </a:prstGeom>
            <a:solidFill>
              <a:srgbClr val="B7B7B7"/>
            </a:solidFill>
            <a:ln w="9525" cap="flat" cmpd="sng">
              <a:solidFill>
                <a:srgbClr val="595959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130" name="Google Shape;531;p25"/>
            <p:cNvCxnSpPr>
              <a:endCxn id="120" idx="2"/>
            </p:cNvCxnSpPr>
            <p:nvPr/>
          </p:nvCxnSpPr>
          <p:spPr>
            <a:xfrm rot="10800000" flipH="1">
              <a:off x="2378" y="1947"/>
              <a:ext cx="2346" cy="8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1" name="Google Shape;532;p25"/>
            <p:cNvCxnSpPr>
              <a:stCxn id="114" idx="5"/>
              <a:endCxn id="121" idx="2"/>
            </p:cNvCxnSpPr>
            <p:nvPr/>
          </p:nvCxnSpPr>
          <p:spPr>
            <a:xfrm>
              <a:off x="2350" y="2781"/>
              <a:ext cx="2365" cy="38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2" name="Google Shape;533;p25"/>
            <p:cNvCxnSpPr>
              <a:stCxn id="114" idx="5"/>
              <a:endCxn id="122" idx="2"/>
            </p:cNvCxnSpPr>
            <p:nvPr/>
          </p:nvCxnSpPr>
          <p:spPr>
            <a:xfrm>
              <a:off x="2350" y="2781"/>
              <a:ext cx="2374" cy="160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3" name="Google Shape;534;p25"/>
            <p:cNvCxnSpPr>
              <a:stCxn id="114" idx="5"/>
              <a:endCxn id="123" idx="2"/>
            </p:cNvCxnSpPr>
            <p:nvPr/>
          </p:nvCxnSpPr>
          <p:spPr>
            <a:xfrm>
              <a:off x="2350" y="2781"/>
              <a:ext cx="2374" cy="355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4" name="Google Shape;555;p25"/>
            <p:cNvCxnSpPr>
              <a:stCxn id="129" idx="5"/>
              <a:endCxn id="120" idx="2"/>
            </p:cNvCxnSpPr>
            <p:nvPr/>
          </p:nvCxnSpPr>
          <p:spPr>
            <a:xfrm rot="10800000" flipH="1">
              <a:off x="2350" y="1947"/>
              <a:ext cx="2374" cy="325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5" name="Google Shape;556;p25"/>
            <p:cNvCxnSpPr>
              <a:stCxn id="129" idx="5"/>
              <a:endCxn id="121" idx="2"/>
            </p:cNvCxnSpPr>
            <p:nvPr/>
          </p:nvCxnSpPr>
          <p:spPr>
            <a:xfrm rot="10800000" flipH="1">
              <a:off x="2350" y="3166"/>
              <a:ext cx="2365" cy="203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6" name="Google Shape;557;p25"/>
            <p:cNvCxnSpPr>
              <a:stCxn id="129" idx="5"/>
              <a:endCxn id="122" idx="2"/>
            </p:cNvCxnSpPr>
            <p:nvPr/>
          </p:nvCxnSpPr>
          <p:spPr>
            <a:xfrm rot="10800000" flipH="1">
              <a:off x="2350" y="4385"/>
              <a:ext cx="2374" cy="82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7" name="Google Shape;558;p25"/>
            <p:cNvCxnSpPr>
              <a:stCxn id="129" idx="5"/>
              <a:endCxn id="123" idx="2"/>
            </p:cNvCxnSpPr>
            <p:nvPr/>
          </p:nvCxnSpPr>
          <p:spPr>
            <a:xfrm>
              <a:off x="2350" y="5205"/>
              <a:ext cx="2374" cy="112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8" name="Google Shape;559;p25"/>
            <p:cNvCxnSpPr>
              <a:stCxn id="120" idx="6"/>
              <a:endCxn id="125" idx="2"/>
            </p:cNvCxnSpPr>
            <p:nvPr/>
          </p:nvCxnSpPr>
          <p:spPr>
            <a:xfrm>
              <a:off x="5658" y="1947"/>
              <a:ext cx="1182" cy="127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39" name="Google Shape;560;p25"/>
            <p:cNvCxnSpPr>
              <a:stCxn id="120" idx="6"/>
              <a:endCxn id="126" idx="2"/>
            </p:cNvCxnSpPr>
            <p:nvPr/>
          </p:nvCxnSpPr>
          <p:spPr>
            <a:xfrm>
              <a:off x="5658" y="1947"/>
              <a:ext cx="1182" cy="248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0" name="Google Shape;561;p25"/>
            <p:cNvCxnSpPr>
              <a:stCxn id="120" idx="6"/>
              <a:endCxn id="127" idx="2"/>
            </p:cNvCxnSpPr>
            <p:nvPr/>
          </p:nvCxnSpPr>
          <p:spPr>
            <a:xfrm>
              <a:off x="5658" y="1947"/>
              <a:ext cx="1182" cy="4384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1" name="Google Shape;562;p25"/>
            <p:cNvCxnSpPr>
              <a:stCxn id="121" idx="6"/>
              <a:endCxn id="124" idx="2"/>
            </p:cNvCxnSpPr>
            <p:nvPr/>
          </p:nvCxnSpPr>
          <p:spPr>
            <a:xfrm rot="10800000" flipH="1">
              <a:off x="5648" y="1946"/>
              <a:ext cx="1191" cy="121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2" name="Google Shape;563;p25"/>
            <p:cNvCxnSpPr>
              <a:stCxn id="121" idx="6"/>
              <a:endCxn id="125" idx="2"/>
            </p:cNvCxnSpPr>
            <p:nvPr/>
          </p:nvCxnSpPr>
          <p:spPr>
            <a:xfrm>
              <a:off x="5648" y="3166"/>
              <a:ext cx="1191" cy="59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3" name="Google Shape;564;p25"/>
            <p:cNvCxnSpPr>
              <a:stCxn id="121" idx="6"/>
              <a:endCxn id="126" idx="2"/>
            </p:cNvCxnSpPr>
            <p:nvPr/>
          </p:nvCxnSpPr>
          <p:spPr>
            <a:xfrm>
              <a:off x="5648" y="3166"/>
              <a:ext cx="1191" cy="1262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4" name="Google Shape;565;p25"/>
            <p:cNvCxnSpPr>
              <a:stCxn id="121" idx="6"/>
              <a:endCxn id="127" idx="2"/>
            </p:cNvCxnSpPr>
            <p:nvPr/>
          </p:nvCxnSpPr>
          <p:spPr>
            <a:xfrm>
              <a:off x="5648" y="3166"/>
              <a:ext cx="1191" cy="3165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5" name="Google Shape;566;p25"/>
            <p:cNvCxnSpPr>
              <a:stCxn id="122" idx="6"/>
              <a:endCxn id="124" idx="2"/>
            </p:cNvCxnSpPr>
            <p:nvPr/>
          </p:nvCxnSpPr>
          <p:spPr>
            <a:xfrm rot="10800000" flipH="1">
              <a:off x="5658" y="1947"/>
              <a:ext cx="1182" cy="2438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6" name="Google Shape;567;p25"/>
            <p:cNvCxnSpPr>
              <a:stCxn id="122" idx="6"/>
              <a:endCxn id="125" idx="2"/>
            </p:cNvCxnSpPr>
            <p:nvPr/>
          </p:nvCxnSpPr>
          <p:spPr>
            <a:xfrm rot="10800000" flipH="1">
              <a:off x="5658" y="3224"/>
              <a:ext cx="1182" cy="1161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7" name="Google Shape;568;p25"/>
            <p:cNvCxnSpPr>
              <a:stCxn id="122" idx="6"/>
              <a:endCxn id="126" idx="2"/>
            </p:cNvCxnSpPr>
            <p:nvPr/>
          </p:nvCxnSpPr>
          <p:spPr>
            <a:xfrm>
              <a:off x="5658" y="4385"/>
              <a:ext cx="1182" cy="4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8" name="Google Shape;569;p25"/>
            <p:cNvCxnSpPr>
              <a:stCxn id="122" idx="6"/>
              <a:endCxn id="127" idx="2"/>
            </p:cNvCxnSpPr>
            <p:nvPr/>
          </p:nvCxnSpPr>
          <p:spPr>
            <a:xfrm>
              <a:off x="5658" y="4385"/>
              <a:ext cx="1182" cy="1946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49" name="Google Shape;570;p25"/>
            <p:cNvCxnSpPr>
              <a:endCxn id="124" idx="2"/>
            </p:cNvCxnSpPr>
            <p:nvPr/>
          </p:nvCxnSpPr>
          <p:spPr>
            <a:xfrm rot="10800000" flipH="1">
              <a:off x="5658" y="1947"/>
              <a:ext cx="1182" cy="444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0" name="Google Shape;571;p25"/>
            <p:cNvCxnSpPr>
              <a:stCxn id="123" idx="6"/>
              <a:endCxn id="125" idx="2"/>
            </p:cNvCxnSpPr>
            <p:nvPr/>
          </p:nvCxnSpPr>
          <p:spPr>
            <a:xfrm rot="10800000" flipH="1">
              <a:off x="5649" y="3224"/>
              <a:ext cx="1191" cy="310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1" name="Google Shape;572;p25"/>
            <p:cNvCxnSpPr>
              <a:stCxn id="123" idx="6"/>
              <a:endCxn id="126" idx="2"/>
            </p:cNvCxnSpPr>
            <p:nvPr/>
          </p:nvCxnSpPr>
          <p:spPr>
            <a:xfrm rot="10800000" flipH="1">
              <a:off x="5649" y="4428"/>
              <a:ext cx="1191" cy="1903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2" name="Google Shape;573;p25"/>
            <p:cNvCxnSpPr>
              <a:stCxn id="123" idx="6"/>
              <a:endCxn id="127" idx="2"/>
            </p:cNvCxnSpPr>
            <p:nvPr/>
          </p:nvCxnSpPr>
          <p:spPr>
            <a:xfrm>
              <a:off x="5649" y="6331"/>
              <a:ext cx="1191" cy="0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3" name="Google Shape;591;p25"/>
            <p:cNvCxnSpPr>
              <a:endCxn id="115" idx="2"/>
            </p:cNvCxnSpPr>
            <p:nvPr/>
          </p:nvCxnSpPr>
          <p:spPr>
            <a:xfrm rot="10800000" flipH="1">
              <a:off x="7887" y="3798"/>
              <a:ext cx="1568" cy="587"/>
            </a:xfrm>
            <a:prstGeom prst="straightConnector1">
              <a:avLst/>
            </a:prstGeom>
            <a:noFill/>
            <a:ln w="9525" cap="flat" cmpd="sng">
              <a:solidFill>
                <a:srgbClr val="595959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54" name="Google Shape;593;p25"/>
            <p:cNvCxnSpPr/>
            <p:nvPr/>
          </p:nvCxnSpPr>
          <p:spPr>
            <a:xfrm flipH="1">
              <a:off x="7302" y="5064"/>
              <a:ext cx="9" cy="709"/>
            </a:xfrm>
            <a:prstGeom prst="straightConnector1">
              <a:avLst/>
            </a:prstGeom>
            <a:noFill/>
            <a:ln w="28575" cap="flat" cmpd="sng">
              <a:solidFill>
                <a:srgbClr val="595959"/>
              </a:solidFill>
              <a:prstDash val="dot"/>
              <a:round/>
              <a:headEnd type="none" w="med" len="med"/>
              <a:tailEnd type="none" w="med" len="med"/>
            </a:ln>
          </p:spPr>
        </p:cxnSp>
      </p:grpSp>
      <p:sp>
        <p:nvSpPr>
          <p:cNvPr id="156" name="文本框 155"/>
          <p:cNvSpPr txBox="1"/>
          <p:nvPr/>
        </p:nvSpPr>
        <p:spPr>
          <a:xfrm>
            <a:off x="3260090" y="977265"/>
            <a:ext cx="2413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15-frame window MLP</a:t>
            </a:r>
            <a:endParaRPr lang="en-US" altLang="zh-CN" sz="1600" b="1">
              <a:sym typeface="+mn-ea"/>
            </a:endParaRPr>
          </a:p>
        </p:txBody>
      </p:sp>
      <p:sp>
        <p:nvSpPr>
          <p:cNvPr id="157" name="文本框 156"/>
          <p:cNvSpPr txBox="1"/>
          <p:nvPr/>
        </p:nvSpPr>
        <p:spPr>
          <a:xfrm>
            <a:off x="3016250" y="3205480"/>
            <a:ext cx="407098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2 hidden layer, each with 32 neurons.</a:t>
            </a:r>
            <a:endParaRPr lang="en-US" altLang="zh-CN" sz="1600" b="1"/>
          </a:p>
        </p:txBody>
      </p:sp>
      <p:sp>
        <p:nvSpPr>
          <p:cNvPr id="3" name="任意多边形 2"/>
          <p:cNvSpPr/>
          <p:nvPr/>
        </p:nvSpPr>
        <p:spPr>
          <a:xfrm>
            <a:off x="3154680" y="1148715"/>
            <a:ext cx="281940" cy="434975"/>
          </a:xfrm>
          <a:custGeom>
            <a:avLst/>
            <a:gdLst>
              <a:gd name="connisteX0" fmla="*/ 0 w 380365"/>
              <a:gd name="connsiteY0" fmla="*/ 887730 h 887730"/>
              <a:gd name="connisteX1" fmla="*/ 0 w 380365"/>
              <a:gd name="connsiteY1" fmla="*/ 0 h 887730"/>
              <a:gd name="connisteX2" fmla="*/ 380365 w 380365"/>
              <a:gd name="connsiteY2" fmla="*/ 0 h 88773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80365" h="887730">
                <a:moveTo>
                  <a:pt x="0" y="887730"/>
                </a:moveTo>
                <a:lnTo>
                  <a:pt x="0" y="0"/>
                </a:lnTo>
                <a:lnTo>
                  <a:pt x="380365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任意多边形 6"/>
          <p:cNvSpPr/>
          <p:nvPr/>
        </p:nvSpPr>
        <p:spPr>
          <a:xfrm>
            <a:off x="3169285" y="3115945"/>
            <a:ext cx="1451610" cy="2346325"/>
          </a:xfrm>
          <a:custGeom>
            <a:avLst/>
            <a:gdLst>
              <a:gd name="connisteX0" fmla="*/ 0 w 2300605"/>
              <a:gd name="connsiteY0" fmla="*/ 0 h 2346325"/>
              <a:gd name="connisteX1" fmla="*/ 8890 w 2300605"/>
              <a:gd name="connsiteY1" fmla="*/ 2346325 h 2346325"/>
              <a:gd name="connisteX2" fmla="*/ 2300605 w 2300605"/>
              <a:gd name="connsiteY2" fmla="*/ 2337435 h 234632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2300605" h="2346325">
                <a:moveTo>
                  <a:pt x="0" y="0"/>
                </a:moveTo>
                <a:lnTo>
                  <a:pt x="8890" y="2346325"/>
                </a:lnTo>
                <a:lnTo>
                  <a:pt x="2300605" y="2337435"/>
                </a:lnTo>
              </a:path>
            </a:pathLst>
          </a:custGeom>
          <a:noFill/>
          <a:ln>
            <a:solidFill>
              <a:srgbClr val="14B8A6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620260" y="52533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训练目标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Standard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9" name="图片 8" descr="C:/MineApp/Code/Multimodal_Imitation_Learning/Data/Result/generalization_20261011_185104_437403/test_predictions/TRIAL_Size_4cm_20261011_145939.pngTRIAL_Size_4cm_20261011_145939"/>
          <p:cNvPicPr>
            <a:picLocks noChangeAspect="1"/>
          </p:cNvPicPr>
          <p:nvPr/>
        </p:nvPicPr>
        <p:blipFill>
          <a:blip r:embed="rId1"/>
          <a:srcRect t="18" b="18"/>
          <a:stretch>
            <a:fillRect/>
          </a:stretch>
        </p:blipFill>
        <p:spPr>
          <a:xfrm>
            <a:off x="3893820" y="4570730"/>
            <a:ext cx="5249545" cy="2249170"/>
          </a:xfrm>
          <a:prstGeom prst="rect">
            <a:avLst/>
          </a:prstGeom>
        </p:spPr>
      </p:pic>
      <p:pic>
        <p:nvPicPr>
          <p:cNvPr id="10" name="图片 9" descr="C:/MineApp/Code/Multimodal_Imitation_Learning/Data/Result/generalization_20261011_185104_437403/test_predictions/TRIAL_Size_3cm_20261007_141420.pngTRIAL_Size_3cm_20261007_141420"/>
          <p:cNvPicPr>
            <a:picLocks noChangeAspect="1"/>
          </p:cNvPicPr>
          <p:nvPr/>
        </p:nvPicPr>
        <p:blipFill>
          <a:blip r:embed="rId2"/>
          <a:srcRect t="18" b="18"/>
          <a:stretch>
            <a:fillRect/>
          </a:stretch>
        </p:blipFill>
        <p:spPr>
          <a:xfrm>
            <a:off x="3893820" y="2304415"/>
            <a:ext cx="5249545" cy="2249170"/>
          </a:xfrm>
          <a:prstGeom prst="rect">
            <a:avLst/>
          </a:prstGeom>
        </p:spPr>
      </p:pic>
      <p:pic>
        <p:nvPicPr>
          <p:cNvPr id="11" name="图片 10" descr="C:/MineApp/Code/Multimodal_Imitation_Learning/Data/Result/generalization_20261011_185104_437403/test_predictions/TRIAL_Size_2cm_20261006_193241.pngTRIAL_Size_2cm_20261006_193241"/>
          <p:cNvPicPr>
            <a:picLocks noChangeAspect="1"/>
          </p:cNvPicPr>
          <p:nvPr/>
        </p:nvPicPr>
        <p:blipFill>
          <a:blip r:embed="rId3"/>
          <a:srcRect l="28"/>
          <a:stretch>
            <a:fillRect/>
          </a:stretch>
        </p:blipFill>
        <p:spPr>
          <a:xfrm>
            <a:off x="3893185" y="53975"/>
            <a:ext cx="5250180" cy="225044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275590" y="810260"/>
            <a:ext cx="3314700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Held-out experiments at trained object sizes.</a:t>
            </a:r>
            <a:endParaRPr lang="en-US" altLang="zh-CN"/>
          </a:p>
        </p:txBody>
      </p:sp>
      <p:graphicFrame>
        <p:nvGraphicFramePr>
          <p:cNvPr id="4" name="表格 3"/>
          <p:cNvGraphicFramePr/>
          <p:nvPr/>
        </p:nvGraphicFramePr>
        <p:xfrm>
          <a:off x="197485" y="2059940"/>
          <a:ext cx="3695700" cy="1438275"/>
        </p:xfrm>
        <a:graphic>
          <a:graphicData uri="http://schemas.openxmlformats.org/drawingml/2006/table">
            <a:tbl>
              <a:tblPr/>
              <a:tblGrid>
                <a:gridCol w="1231900"/>
                <a:gridCol w="1231900"/>
                <a:gridCol w="1231900"/>
              </a:tblGrid>
              <a:tr h="0"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Object size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 sz="1350">
                          <a:sym typeface="+mn-ea"/>
                        </a:rPr>
                        <a:t>object size</a:t>
                      </a:r>
                      <a:r>
                        <a:rPr lang="en-US" altLang="zh-CN"/>
                        <a:t> only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 sz="1350">
                          <a:sym typeface="+mn-ea"/>
                        </a:rPr>
                        <a:t>object size</a:t>
                      </a:r>
                      <a:r>
                        <a:rPr lang="en-US" altLang="zh-CN"/>
                        <a:t> + Acceleration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20 mm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27.7 ± 4.3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19.7 ± 5.8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30 mm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31.3 ± 10.9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30.2 ± 11.2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40 mm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19.1 ± 1.3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40000"/>
                        </a:lnSpc>
                      </a:pPr>
                      <a:r>
                        <a:rPr lang="en-US" altLang="zh-CN"/>
                        <a:t>17.0 ± 6.4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>
            <p:custDataLst>
              <p:tags r:id="rId4"/>
            </p:custDataLst>
          </p:nvPr>
        </p:nvSpPr>
        <p:spPr>
          <a:xfrm>
            <a:off x="197485" y="3769995"/>
            <a:ext cx="3695065" cy="286448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l"/>
            <a:r>
              <a:rPr lang="en-US" altLang="zh-CN">
                <a:sym typeface="+mn-ea"/>
              </a:rPr>
              <a:t>Combining object apparent size with acceleration achieved RMSE below 20 px in selected held-out experiments.</a:t>
            </a:r>
            <a:endParaRPr lang="en-US" altLang="zh-CN">
              <a:sym typeface="+mn-ea"/>
            </a:endParaRPr>
          </a:p>
          <a:p>
            <a:pPr algn="l"/>
            <a:endParaRPr lang="en-US" altLang="zh-CN"/>
          </a:p>
          <a:p>
            <a:pPr algn="l"/>
            <a:r>
              <a:rPr lang="en-US" altLang="zh-CN"/>
              <a:t>The results suggest that fingertip aperture during natural grasping can be learned from object apparent size and acceleration.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142875" y="184721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RMSE</a:t>
            </a:r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9" name="图片 8" descr="C:/MineApp/Code/Multimodal_Imitation_Learning/generalization_20261012_111640_003207/generalization_predictions/TRIAL_Size_4p5cm_20260929_104825.pngTRIAL_Size_4p5cm_20260929_104825"/>
          <p:cNvPicPr>
            <a:picLocks noChangeAspect="1"/>
          </p:cNvPicPr>
          <p:nvPr/>
        </p:nvPicPr>
        <p:blipFill>
          <a:blip r:embed="rId1"/>
          <a:srcRect b="36"/>
          <a:stretch>
            <a:fillRect/>
          </a:stretch>
        </p:blipFill>
        <p:spPr>
          <a:xfrm>
            <a:off x="3893820" y="4570730"/>
            <a:ext cx="5249545" cy="2249170"/>
          </a:xfrm>
          <a:prstGeom prst="rect">
            <a:avLst/>
          </a:prstGeom>
        </p:spPr>
      </p:pic>
      <p:pic>
        <p:nvPicPr>
          <p:cNvPr id="10" name="图片 9" descr="C:/MineApp/Code/Multimodal_Imitation_Learning/generalization_20261012_111640_003207/generalization_predictions/TRIAL_Size_3p5cm_20261011_151707.pngTRIAL_Size_3p5cm_20261011_151707"/>
          <p:cNvPicPr>
            <a:picLocks noChangeAspect="1"/>
          </p:cNvPicPr>
          <p:nvPr/>
        </p:nvPicPr>
        <p:blipFill>
          <a:blip r:embed="rId2"/>
          <a:srcRect b="36"/>
          <a:stretch>
            <a:fillRect/>
          </a:stretch>
        </p:blipFill>
        <p:spPr>
          <a:xfrm>
            <a:off x="3893820" y="2304415"/>
            <a:ext cx="5249545" cy="2249170"/>
          </a:xfrm>
          <a:prstGeom prst="rect">
            <a:avLst/>
          </a:prstGeom>
        </p:spPr>
      </p:pic>
      <p:pic>
        <p:nvPicPr>
          <p:cNvPr id="11" name="图片 10" descr="C:/MineApp/Code/Multimodal_Imitation_Learning/generalization_20261012_111640_003207/generalization_predictions/TRIAL_Size_2p5cm_20261011_152702.pngTRIAL_Size_2p5cm_20261011_152702"/>
          <p:cNvPicPr>
            <a:picLocks noChangeAspect="1"/>
          </p:cNvPicPr>
          <p:nvPr/>
        </p:nvPicPr>
        <p:blipFill>
          <a:blip r:embed="rId3"/>
          <a:srcRect l="28"/>
          <a:stretch>
            <a:fillRect/>
          </a:stretch>
        </p:blipFill>
        <p:spPr>
          <a:xfrm>
            <a:off x="3893185" y="53975"/>
            <a:ext cx="5250180" cy="2250440"/>
          </a:xfrm>
          <a:prstGeom prst="rect">
            <a:avLst/>
          </a:prstGeom>
        </p:spPr>
      </p:pic>
      <p:graphicFrame>
        <p:nvGraphicFramePr>
          <p:cNvPr id="2" name="表格 1"/>
          <p:cNvGraphicFramePr/>
          <p:nvPr/>
        </p:nvGraphicFramePr>
        <p:xfrm>
          <a:off x="79375" y="2131695"/>
          <a:ext cx="3815715" cy="1231900"/>
        </p:xfrm>
        <a:graphic>
          <a:graphicData uri="http://schemas.openxmlformats.org/drawingml/2006/table">
            <a:tbl>
              <a:tblPr/>
              <a:tblGrid>
                <a:gridCol w="1289685"/>
                <a:gridCol w="1254125"/>
                <a:gridCol w="1271905"/>
              </a:tblGrid>
              <a:tr h="492760"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Object size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object size only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object size + acceleration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25 mm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n=7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38.8 ± 6.1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26.0 ± 9.4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35 mm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n=11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37.1 ± 11.9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20.6 ± 11.3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45 mm</a:t>
                      </a:r>
                      <a:r>
                        <a:rPr lang="zh-CN" altLang="en-US"/>
                        <a:t>（</a:t>
                      </a:r>
                      <a:r>
                        <a:rPr lang="en-US" altLang="zh-CN"/>
                        <a:t>n=20</a:t>
                      </a:r>
                      <a:r>
                        <a:rPr lang="zh-CN" altLang="en-US"/>
                        <a:t>）</a:t>
                      </a:r>
                      <a:endParaRPr lang="zh-CN" altLang="en-US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47.4 ± 13.5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lnSpc>
                          <a:spcPct val="120000"/>
                        </a:lnSpc>
                      </a:pPr>
                      <a:r>
                        <a:rPr lang="en-US" altLang="zh-CN"/>
                        <a:t>43.2 ± 9.8</a:t>
                      </a:r>
                      <a:endParaRPr lang="en-US" altLang="zh-CN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>
            <p:custDataLst>
              <p:tags r:id="rId4"/>
            </p:custDataLst>
          </p:nvPr>
        </p:nvSpPr>
        <p:spPr>
          <a:xfrm>
            <a:off x="78105" y="3557905"/>
            <a:ext cx="3816350" cy="319468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l"/>
            <a:r>
              <a:rPr lang="en-US" altLang="zh-CN"/>
              <a:t>At unseen sizes of 25 and 35 mm, selected experiments maintained RMSE around 20 px. </a:t>
            </a:r>
            <a:endParaRPr lang="en-US" altLang="zh-CN"/>
          </a:p>
          <a:p>
            <a:pPr algn="l"/>
            <a:r>
              <a:rPr lang="en-US" altLang="zh-CN"/>
              <a:t>suggesting interpolation capability.</a:t>
            </a:r>
            <a:endParaRPr lang="en-US" altLang="zh-CN"/>
          </a:p>
          <a:p>
            <a:pPr algn="l"/>
            <a:endParaRPr lang="en-US" altLang="zh-CN"/>
          </a:p>
          <a:p>
            <a:pPr algn="l"/>
            <a:r>
              <a:rPr lang="en-US" altLang="zh-CN"/>
              <a:t> At 45 mm, </a:t>
            </a:r>
            <a:endParaRPr lang="en-US" altLang="zh-CN"/>
          </a:p>
          <a:p>
            <a:pPr algn="l"/>
            <a:r>
              <a:rPr lang="en-US" altLang="zh-CN"/>
              <a:t>beyond the training size range, prediction error increased,</a:t>
            </a:r>
            <a:endParaRPr lang="en-US" altLang="zh-CN"/>
          </a:p>
          <a:p>
            <a:pPr algn="l"/>
            <a:r>
              <a:rPr lang="en-US" altLang="zh-CN"/>
              <a:t>indicating limited extrapolation capability and motivating further investigation.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275590" y="810260"/>
            <a:ext cx="3314700" cy="75565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20000"/>
              </a:lnSpc>
            </a:pPr>
            <a:r>
              <a:rPr lang="en-US" altLang="zh-CN">
                <a:sym typeface="+mn-ea"/>
              </a:rPr>
              <a:t>Held-out experiments at unseen object sizes.</a:t>
            </a:r>
            <a:endParaRPr lang="en-US" altLang="zh-CN"/>
          </a:p>
        </p:txBody>
      </p:sp>
      <p:sp>
        <p:nvSpPr>
          <p:cNvPr id="4" name="文本框 3"/>
          <p:cNvSpPr txBox="1"/>
          <p:nvPr/>
        </p:nvSpPr>
        <p:spPr>
          <a:xfrm>
            <a:off x="0" y="1897380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RMSE</a:t>
            </a:r>
            <a:endParaRPr lang="en-US" altLang="zh-CN" sz="14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529330"/>
            <a:ext cx="9144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03_phase_erro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77419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Results and Discussion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1083310"/>
            <a:ext cx="8431530" cy="2330450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The results suggest that fingertip aperture during reach-to-grasp movements can be predicted using object apparent size and hand acceleration.</a:t>
            </a:r>
            <a:endParaRPr lang="en-US" altLang="zh-CN"/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Adding hand acceleration generally improves aperture prediction compared with using object apparent size alone.</a:t>
            </a:r>
            <a:endParaRPr lang="en-US" altLang="zh-CN"/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altLang="zh-CN"/>
          </a:p>
          <a:p>
            <a:pPr marL="285750" indent="-28575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altLang="zh-CN"/>
              <a:t>The model shows generalization to unseen object sizes within the training size range. Prediction error increases beyond this range, indicating that extrapolation requires further investigation.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Experimental Error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1009650"/>
            <a:ext cx="8522970" cy="39693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>
                <a:ea typeface="SimSun" panose="02010600030101010101" pitchFamily="2" charset="-122"/>
              </a:rPr>
              <a:t>△</a:t>
            </a:r>
            <a:r>
              <a:rPr lang="en-US" altLang="zh-CN">
                <a:ea typeface="SimSun" panose="02010600030101010101" pitchFamily="2" charset="-122"/>
              </a:rPr>
              <a:t> </a:t>
            </a:r>
            <a:r>
              <a:rPr lang="en-US" altLang="zh-CN"/>
              <a:t>Equipment-related errors</a:t>
            </a:r>
            <a:endParaRPr lang="en-US" altLang="zh-CN"/>
          </a:p>
          <a:p>
            <a:r>
              <a:rPr lang="en-US" altLang="zh-CN"/>
              <a:t>- Visual measurement variability: Object apparent size and fingertip aperture are estimated using visual algorithms, which may introduce measurement fluctuations.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- IMU measurement uncertainty: Sensor noise may affect measurement accuracy.</a:t>
            </a:r>
            <a:endParaRPr lang="en-US" altLang="zh-CN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>
                <a:ea typeface="SimSun" panose="02010600030101010101" pitchFamily="2" charset="-122"/>
                <a:sym typeface="+mn-ea"/>
              </a:rPr>
              <a:t>△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 </a:t>
            </a:r>
            <a:r>
              <a:rPr lang="en-US" altLang="zh-CN"/>
              <a:t>Experiment-related variability</a:t>
            </a:r>
            <a:endParaRPr lang="en-US" altLang="zh-CN"/>
          </a:p>
          <a:p>
            <a:r>
              <a:rPr lang="en-US" altLang="zh-CN"/>
              <a:t>- Natural grasping variability: Movement speed and grasping strategy may vary between experiments.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- Object position variability: Small differences in object placement may change the reaching trajectory and visual measurements.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6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7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14B8A6"/>
          </a:solidFill>
          <a:tailEnd type="triangle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noFill/>
        <a:ln w="12700" cmpd="sng">
          <a:solidFill>
            <a:srgbClr val="F20000"/>
          </a:solidFill>
          <a:prstDash val="solid"/>
          <a:tailEnd type="arrow"/>
        </a:ln>
      </a:spPr>
      <a:bodyPr/>
      <a:lstStyle/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c8a3c59a-3bb1-4ac4-8580-9b2ba74cfe5b">
      <Terms xmlns="http://schemas.microsoft.com/office/infopath/2007/PartnerControls"/>
    </lcf76f155ced4ddcb4097134ff3c332f>
    <TaxCatchAll xmlns="56bf2a1e-b0f5-401e-a825-4d0cd333482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EEEA4EB4B1C87045B2C7B9E34AE6DFF4" ma:contentTypeVersion="19" ma:contentTypeDescription="新しいドキュメントを作成します。" ma:contentTypeScope="" ma:versionID="195f4af887e8b02337b1b142d1f847de">
  <xsd:schema xmlns:xsd="http://www.w3.org/2001/XMLSchema" xmlns:xs="http://www.w3.org/2001/XMLSchema" xmlns:p="http://schemas.microsoft.com/office/2006/metadata/properties" xmlns:ns2="c8a3c59a-3bb1-4ac4-8580-9b2ba74cfe5b" xmlns:ns3="56bf2a1e-b0f5-401e-a825-4d0cd333482d" targetNamespace="http://schemas.microsoft.com/office/2006/metadata/properties" ma:root="true" ma:fieldsID="81e6449237d2fc142489e0904e1e7166" ns2:_="" ns3:_="">
    <xsd:import namespace="c8a3c59a-3bb1-4ac4-8580-9b2ba74cfe5b"/>
    <xsd:import namespace="56bf2a1e-b0f5-401e-a825-4d0cd333482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8a3c59a-3bb1-4ac4-8580-9b2ba74cfe5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60da577d-8c11-42e1-9807-59d1f71190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bf2a1e-b0f5-401e-a825-4d0cd333482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afb7adad-3fb7-4e7a-8b83-8b41f07d25c8}" ma:internalName="TaxCatchAll" ma:showField="CatchAllData" ma:web="56bf2a1e-b0f5-401e-a825-4d0cd333482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9.xml><?xml version="1.0" encoding="utf-8"?>
<ds:datastoreItem xmlns:ds="http://schemas.openxmlformats.org/officeDocument/2006/customXml" ds:itemID="{D3FA7E84-7FC5-4C41-A4F9-8872414BB2F4}">
  <ds:schemaRefs/>
</ds:datastoreItem>
</file>

<file path=customXml/itemProps20.xml><?xml version="1.0" encoding="utf-8"?>
<ds:datastoreItem xmlns:ds="http://schemas.openxmlformats.org/officeDocument/2006/customXml" ds:itemID="{0E5148B6-4531-42C7-8EF9-49C77F467C6E}">
  <ds:schemaRefs/>
</ds:datastoreItem>
</file>

<file path=customXml/itemProps21.xml><?xml version="1.0" encoding="utf-8"?>
<ds:datastoreItem xmlns:ds="http://schemas.openxmlformats.org/officeDocument/2006/customXml" ds:itemID="{9FF3F963-4824-4617-9390-F81F48A450C9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4568</Words>
  <Application>WPS 演示</Application>
  <PresentationFormat>画面に合わせる (4:3)</PresentationFormat>
  <Paragraphs>242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32" baseType="lpstr">
      <vt:lpstr>Arial</vt:lpstr>
      <vt:lpstr>SimSun</vt:lpstr>
      <vt:lpstr>Wingdings</vt:lpstr>
      <vt:lpstr>Times New Roman</vt:lpstr>
      <vt:lpstr>Source Han Sans JP Bold</vt:lpstr>
      <vt:lpstr>Source Han Sans JP</vt:lpstr>
      <vt:lpstr>Avenir Heavy</vt:lpstr>
      <vt:lpstr>Segoe Print</vt:lpstr>
      <vt:lpstr>Times New Roman</vt:lpstr>
      <vt:lpstr>Arial</vt:lpstr>
      <vt:lpstr>Microsoft YaHei</vt:lpstr>
      <vt:lpstr>Arial Unicode MS</vt:lpstr>
      <vt:lpstr>MS PGothic</vt:lpstr>
      <vt:lpstr>Calibri</vt:lpstr>
      <vt:lpstr>Office テーマ</vt:lpstr>
      <vt:lpstr>End-to-End Multimodal Learning for Continuous Prosthetic Hand Control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24742101 石津七海</dc:creator>
  <cp:lastModifiedBy>down down down down down</cp:lastModifiedBy>
  <cp:revision>317</cp:revision>
  <dcterms:created xsi:type="dcterms:W3CDTF">2025-10-02T04:01:00Z</dcterms:created>
  <dcterms:modified xsi:type="dcterms:W3CDTF">2026-10-18T13:38:04Z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0x010100EEEA4EB4B1C87045B2C7B9E34AE6DFF4</vt:lpwstr>
  </property>
  <property fmtid="{D5CDD505-2E9C-101B-9397-08002B2CF9AE}" pid="3" name="ICV">
    <vt:lpwstr>B70015103C7249FE8210DA285DD4FDE3_12</vt:lpwstr>
  </property>
  <property fmtid="{D5CDD505-2E9C-101B-9397-08002B2CF9AE}" pid="4" name="KSOProductBuildVer">
    <vt:lpwstr>2052-12.1.0.29161</vt:lpwstr>
  </property>
</Properties>
</file>