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5" r:id="rId3"/>
    <p:sldId id="278" r:id="rId5"/>
    <p:sldId id="287" r:id="rId6"/>
    <p:sldId id="282" r:id="rId7"/>
    <p:sldId id="290" r:id="rId8"/>
    <p:sldId id="283" r:id="rId9"/>
    <p:sldId id="288" r:id="rId10"/>
    <p:sldId id="275" r:id="rId11"/>
    <p:sldId id="289" r:id="rId12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among </a:t>
              </a:r>
              <a:r>
                <a:rPr kumimoji="1" lang="en-US" altLang="zh-CN" dirty="0">
                  <a:sym typeface="+mn-ea"/>
                </a:rPr>
                <a:t>object apparent size</a:t>
              </a:r>
              <a:r>
                <a:rPr lang="en-US" altLang="zh-CN">
                  <a:sym typeface="+mn-ea"/>
                </a:rPr>
                <a:t>, fingertip aperture, and hand acceleration during reach-to-grasp movements</a:t>
              </a:r>
              <a:r>
                <a:rPr lang="en-US" altLang="zh-CN">
                  <a:ea typeface="宋体" panose="02010600030101010101" pitchFamily="2" charset="-122"/>
                </a:rPr>
                <a:t>?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宋体" panose="02010600030101010101" pitchFamily="2" charset="-122"/>
                </a:rPr>
                <a:t>Can fingertip aperture during reach-to-grasp movements be predicted using object apparent size and hand acceleration?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opening/closing and hand motion are usually coordinated naturally and unconsciously.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among </a:t>
            </a:r>
            <a:r>
              <a:rPr kumimoji="1" lang="en-US" altLang="zh-CN" dirty="0">
                <a:sym typeface="+mn-ea"/>
              </a:rPr>
              <a:t>object apparent size</a:t>
            </a:r>
            <a:r>
              <a:rPr lang="en-US" altLang="zh-CN"/>
              <a:t>, fingertip aperture, and hand acceleration during grasping, and further examine whether this information can be used to predict the fingertip aperture process.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37719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size: 20, 25, 30, 35, 40, and 45 mm cubes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Equipment : A recording device consisting of a web camera and an IMU was mounted on the participant's forearm.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participants grasping data for objects of different sizes.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19" name="图片 18" descr="5273e5566c3c504abbb8337e55c211a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92750" y="1963420"/>
            <a:ext cx="2531745" cy="4502785"/>
          </a:xfrm>
          <a:prstGeom prst="rect">
            <a:avLst/>
          </a:prstGeom>
        </p:spPr>
      </p:pic>
      <p:sp>
        <p:nvSpPr>
          <p:cNvPr id="20" name="任意多边形 19"/>
          <p:cNvSpPr/>
          <p:nvPr/>
        </p:nvSpPr>
        <p:spPr>
          <a:xfrm>
            <a:off x="6387465" y="1724025"/>
            <a:ext cx="621665" cy="833120"/>
          </a:xfrm>
          <a:custGeom>
            <a:avLst/>
            <a:gdLst>
              <a:gd name="connisteX0" fmla="*/ 9525 w 995680"/>
              <a:gd name="connsiteY0" fmla="*/ 1590040 h 1590040"/>
              <a:gd name="connisteX1" fmla="*/ 0 w 995680"/>
              <a:gd name="connsiteY1" fmla="*/ 0 h 1590040"/>
              <a:gd name="connisteX2" fmla="*/ 995680 w 995680"/>
              <a:gd name="connsiteY2" fmla="*/ 0 h 15900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95680" h="1590040">
                <a:moveTo>
                  <a:pt x="9525" y="1590040"/>
                </a:moveTo>
                <a:lnTo>
                  <a:pt x="0" y="0"/>
                </a:lnTo>
                <a:lnTo>
                  <a:pt x="995680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6798945" y="5191125"/>
            <a:ext cx="530860" cy="1474470"/>
          </a:xfrm>
          <a:custGeom>
            <a:avLst/>
            <a:gdLst>
              <a:gd name="connisteX0" fmla="*/ 0 w 948690"/>
              <a:gd name="connsiteY0" fmla="*/ 0 h 1819910"/>
              <a:gd name="connisteX1" fmla="*/ 0 w 948690"/>
              <a:gd name="connsiteY1" fmla="*/ 1819910 h 1819910"/>
              <a:gd name="connisteX2" fmla="*/ 948690 w 948690"/>
              <a:gd name="connsiteY2" fmla="*/ 1819910 h 18199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48690" h="1819910">
                <a:moveTo>
                  <a:pt x="0" y="0"/>
                </a:moveTo>
                <a:lnTo>
                  <a:pt x="0" y="1819910"/>
                </a:lnTo>
                <a:lnTo>
                  <a:pt x="948690" y="181991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009130" y="1557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 Camera (30hz)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49185" y="6466205"/>
            <a:ext cx="148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50hz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8648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  <a:r>
              <a:rPr lang="en-US" altLang="zh-CN" sz="2000" b="1">
                <a:solidFill>
                  <a:schemeClr val="tx2">
                    <a:lumMod val="75000"/>
                    <a:lumOff val="25000"/>
                  </a:schemeClr>
                </a:solidFill>
              </a:rPr>
              <a:t> experiments with a 40 mm object</a:t>
            </a:r>
            <a:endParaRPr lang="en-US" altLang="zh-CN" sz="20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 descr="size_4cm_three_signals_horizontal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925" y="2424430"/>
            <a:ext cx="9144000" cy="2133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83280" y="455803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</a:t>
            </a:r>
            <a:endParaRPr lang="en-US" altLang="zh-CN"/>
          </a:p>
          <a:p>
            <a:r>
              <a:rPr lang="en-US" altLang="zh-CN"/>
              <a:t>Normalized RMSE</a:t>
            </a:r>
            <a:endParaRPr lang="en-US" altLang="zh-CN"/>
          </a:p>
          <a:p>
            <a:r>
              <a:rPr lang="en-US" altLang="zh-CN"/>
              <a:t>0.0486 ± 0.0313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457950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Normalized RMSE</a:t>
            </a:r>
            <a:endParaRPr lang="en-US" altLang="zh-CN"/>
          </a:p>
          <a:p>
            <a:r>
              <a:rPr lang="en-US" altLang="zh-CN"/>
              <a:t>0.0757 ± 0.0294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09245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/>
              <a:t>Fingertip aperture Normalized RMSE</a:t>
            </a:r>
            <a:endParaRPr lang="en-US" altLang="zh-CN"/>
          </a:p>
          <a:p>
            <a:pPr algn="l"/>
            <a:r>
              <a:rPr lang="en-US" altLang="zh-CN"/>
              <a:t>0.0415 ± 0.0160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09245" y="1640840"/>
            <a:ext cx="2698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Maximum aperture timing</a:t>
            </a:r>
            <a:endParaRPr lang="zh-CN" altLang="en-US"/>
          </a:p>
          <a:p>
            <a:r>
              <a:rPr lang="en-US" altLang="zh-CN"/>
              <a:t>55.79 ± 2.45%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293110" y="1502410"/>
            <a:ext cx="269748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area at maximum aperture / final object area</a:t>
            </a:r>
            <a:endParaRPr lang="en-US" altLang="zh-CN"/>
          </a:p>
          <a:p>
            <a:r>
              <a:rPr lang="en-US" altLang="zh-CN"/>
              <a:t>59.42 ± 4.15%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457950" y="150241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Mean acceleration during opening</a:t>
            </a:r>
            <a:endParaRPr lang="en-US" altLang="zh-CN"/>
          </a:p>
          <a:p>
            <a:r>
              <a:rPr lang="en-US" altLang="zh-CN"/>
              <a:t>0.611 ± 0.139 m/s²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738495"/>
            <a:ext cx="8870950" cy="9220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The data showed high consistency across </a:t>
            </a:r>
            <a:r>
              <a:rPr lang="en-US" altLang="zh-CN">
                <a:sym typeface="+mn-ea"/>
              </a:rPr>
              <a:t>experiments, suggesting a consistent relationship among object apparent size, fingertip aperture, and hand acceleration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" y="956945"/>
            <a:ext cx="85223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/>
              <a:t>Further validation</a:t>
            </a:r>
            <a:endParaRPr lang="en-US" altLang="zh-CN" sz="2000"/>
          </a:p>
        </p:txBody>
      </p:sp>
      <p:grpSp>
        <p:nvGrpSpPr>
          <p:cNvPr id="4" name="组合 3"/>
          <p:cNvGrpSpPr/>
          <p:nvPr/>
        </p:nvGrpSpPr>
        <p:grpSpPr>
          <a:xfrm>
            <a:off x="1586230" y="434721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30020" y="5198110"/>
            <a:ext cx="1906905" cy="1159510"/>
            <a:chOff x="3630" y="4675"/>
            <a:chExt cx="3003" cy="1826"/>
          </a:xfrm>
        </p:grpSpPr>
        <p:sp>
          <p:nvSpPr>
            <p:cNvPr id="18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/>
        </p:nvCxnSpPr>
        <p:spPr>
          <a:xfrm flipV="1">
            <a:off x="5765800" y="5305425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386205" y="595185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39875" y="451294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520815" y="4781550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1398270"/>
            <a:ext cx="8522970" cy="705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宋体" panose="02010600030101010101" pitchFamily="2" charset="-122"/>
                <a:sym typeface="+mn-ea"/>
              </a:rPr>
              <a:t>Can fingertip aperture during reach-to-grasp movements be predicted using object apparent size and hand acceleration?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endParaRPr lang="en-US" altLang="zh-CN"/>
          </a:p>
        </p:txBody>
      </p:sp>
      <p:pic>
        <p:nvPicPr>
          <p:cNvPr id="31" name="图片 30" descr="QQ20261011-204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476500"/>
            <a:ext cx="1036320" cy="1016000"/>
          </a:xfrm>
          <a:prstGeom prst="rect">
            <a:avLst/>
          </a:prstGeom>
        </p:spPr>
      </p:pic>
      <p:sp>
        <p:nvSpPr>
          <p:cNvPr id="32" name="圆角右箭头 31"/>
          <p:cNvSpPr/>
          <p:nvPr/>
        </p:nvSpPr>
        <p:spPr>
          <a:xfrm rot="6960000">
            <a:off x="1669415" y="3329305"/>
            <a:ext cx="633730" cy="929005"/>
          </a:xfrm>
          <a:prstGeom prst="ben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8805" y="2595245"/>
            <a:ext cx="616712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20, 30, 40 mm: 15 training experiments + 5 test experiments</a:t>
            </a:r>
            <a:endParaRPr lang="en-US" altLang="zh-CN"/>
          </a:p>
          <a:p>
            <a:r>
              <a:rPr lang="en-US" altLang="zh-CN"/>
              <a:t>25, 35, 45 mm: 5 experiments for generalization testing</a:t>
            </a:r>
            <a:endParaRPr lang="en-US" altLang="zh-CN"/>
          </a:p>
        </p:txBody>
      </p:sp>
      <p:grpSp>
        <p:nvGrpSpPr>
          <p:cNvPr id="155" name="组合 154"/>
          <p:cNvGrpSpPr/>
          <p:nvPr/>
        </p:nvGrpSpPr>
        <p:grpSpPr>
          <a:xfrm>
            <a:off x="3556635" y="4519295"/>
            <a:ext cx="2145030" cy="1884045"/>
            <a:chOff x="2243" y="1465"/>
            <a:chExt cx="8060" cy="5346"/>
          </a:xfrm>
        </p:grpSpPr>
        <p:sp>
          <p:nvSpPr>
            <p:cNvPr id="114" name="Google Shape;500;p25"/>
            <p:cNvSpPr/>
            <p:nvPr/>
          </p:nvSpPr>
          <p:spPr>
            <a:xfrm>
              <a:off x="2243" y="2689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03;p25"/>
            <p:cNvSpPr/>
            <p:nvPr/>
          </p:nvSpPr>
          <p:spPr>
            <a:xfrm>
              <a:off x="9455" y="3359"/>
              <a:ext cx="849" cy="87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16" name="Google Shape;510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250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512;p25"/>
            <p:cNvCxnSpPr>
              <a:endCxn id="115" idx="2"/>
            </p:cNvCxnSpPr>
            <p:nvPr/>
          </p:nvCxnSpPr>
          <p:spPr>
            <a:xfrm>
              <a:off x="7887" y="3166"/>
              <a:ext cx="1568" cy="63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514;p25"/>
            <p:cNvCxnSpPr>
              <a:endCxn id="115" idx="2"/>
            </p:cNvCxnSpPr>
            <p:nvPr/>
          </p:nvCxnSpPr>
          <p:spPr>
            <a:xfrm>
              <a:off x="7887" y="1947"/>
              <a:ext cx="1568" cy="18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516;p25"/>
            <p:cNvCxnSpPr>
              <a:stCxn id="120" idx="6"/>
              <a:endCxn id="124" idx="2"/>
            </p:cNvCxnSpPr>
            <p:nvPr/>
          </p:nvCxnSpPr>
          <p:spPr>
            <a:xfrm>
              <a:off x="5658" y="1947"/>
              <a:ext cx="1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" name="Google Shape;517;p25"/>
            <p:cNvSpPr/>
            <p:nvPr/>
          </p:nvSpPr>
          <p:spPr>
            <a:xfrm>
              <a:off x="4724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200" baseline="-25000"/>
            </a:p>
          </p:txBody>
        </p:sp>
        <p:sp>
          <p:nvSpPr>
            <p:cNvPr id="121" name="Google Shape;519;p25"/>
            <p:cNvSpPr/>
            <p:nvPr/>
          </p:nvSpPr>
          <p:spPr>
            <a:xfrm>
              <a:off x="4714" y="2684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2" name="Google Shape;520;p25"/>
            <p:cNvSpPr/>
            <p:nvPr/>
          </p:nvSpPr>
          <p:spPr>
            <a:xfrm>
              <a:off x="4724" y="390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3" name="Google Shape;521;p25"/>
            <p:cNvSpPr/>
            <p:nvPr/>
          </p:nvSpPr>
          <p:spPr>
            <a:xfrm>
              <a:off x="4724" y="5849"/>
              <a:ext cx="925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>
                <a:solidFill>
                  <a:srgbClr val="000000"/>
                </a:solidFill>
              </a:endParaRPr>
            </a:p>
          </p:txBody>
        </p:sp>
        <p:sp>
          <p:nvSpPr>
            <p:cNvPr id="124" name="Google Shape;518;p25"/>
            <p:cNvSpPr/>
            <p:nvPr/>
          </p:nvSpPr>
          <p:spPr>
            <a:xfrm>
              <a:off x="6840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/>
            </a:p>
          </p:txBody>
        </p:sp>
        <p:sp>
          <p:nvSpPr>
            <p:cNvPr id="125" name="Google Shape;522;p25"/>
            <p:cNvSpPr/>
            <p:nvPr/>
          </p:nvSpPr>
          <p:spPr>
            <a:xfrm>
              <a:off x="6840" y="274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6" name="Google Shape;523;p25"/>
            <p:cNvSpPr/>
            <p:nvPr/>
          </p:nvSpPr>
          <p:spPr>
            <a:xfrm>
              <a:off x="6840" y="3946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7" name="Google Shape;524;p25"/>
            <p:cNvSpPr/>
            <p:nvPr/>
          </p:nvSpPr>
          <p:spPr>
            <a:xfrm>
              <a:off x="6840" y="5849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28" name="Google Shape;526;p25"/>
            <p:cNvCxnSpPr/>
            <p:nvPr/>
          </p:nvCxnSpPr>
          <p:spPr>
            <a:xfrm flipH="1">
              <a:off x="5186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530;p25"/>
            <p:cNvSpPr/>
            <p:nvPr/>
          </p:nvSpPr>
          <p:spPr>
            <a:xfrm>
              <a:off x="2243" y="5113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0" name="Google Shape;531;p25"/>
            <p:cNvCxnSpPr>
              <a:endCxn id="120" idx="2"/>
            </p:cNvCxnSpPr>
            <p:nvPr/>
          </p:nvCxnSpPr>
          <p:spPr>
            <a:xfrm rot="10800000" flipH="1">
              <a:off x="2378" y="1947"/>
              <a:ext cx="2346" cy="8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532;p25"/>
            <p:cNvCxnSpPr>
              <a:stCxn id="114" idx="5"/>
              <a:endCxn id="121" idx="2"/>
            </p:cNvCxnSpPr>
            <p:nvPr/>
          </p:nvCxnSpPr>
          <p:spPr>
            <a:xfrm>
              <a:off x="2350" y="2781"/>
              <a:ext cx="2365" cy="3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533;p25"/>
            <p:cNvCxnSpPr>
              <a:stCxn id="114" idx="5"/>
              <a:endCxn id="122" idx="2"/>
            </p:cNvCxnSpPr>
            <p:nvPr/>
          </p:nvCxnSpPr>
          <p:spPr>
            <a:xfrm>
              <a:off x="2350" y="2781"/>
              <a:ext cx="2374" cy="160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534;p25"/>
            <p:cNvCxnSpPr>
              <a:stCxn id="114" idx="5"/>
              <a:endCxn id="123" idx="2"/>
            </p:cNvCxnSpPr>
            <p:nvPr/>
          </p:nvCxnSpPr>
          <p:spPr>
            <a:xfrm>
              <a:off x="2350" y="2781"/>
              <a:ext cx="2374" cy="355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555;p25"/>
            <p:cNvCxnSpPr>
              <a:stCxn id="129" idx="5"/>
              <a:endCxn id="120" idx="2"/>
            </p:cNvCxnSpPr>
            <p:nvPr/>
          </p:nvCxnSpPr>
          <p:spPr>
            <a:xfrm rot="10800000" flipH="1">
              <a:off x="2350" y="1947"/>
              <a:ext cx="2374" cy="325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556;p25"/>
            <p:cNvCxnSpPr>
              <a:stCxn id="129" idx="5"/>
              <a:endCxn id="121" idx="2"/>
            </p:cNvCxnSpPr>
            <p:nvPr/>
          </p:nvCxnSpPr>
          <p:spPr>
            <a:xfrm rot="10800000" flipH="1">
              <a:off x="2350" y="3166"/>
              <a:ext cx="2365" cy="20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557;p25"/>
            <p:cNvCxnSpPr>
              <a:stCxn id="129" idx="5"/>
              <a:endCxn id="122" idx="2"/>
            </p:cNvCxnSpPr>
            <p:nvPr/>
          </p:nvCxnSpPr>
          <p:spPr>
            <a:xfrm rot="10800000" flipH="1">
              <a:off x="2350" y="4385"/>
              <a:ext cx="2374" cy="8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558;p25"/>
            <p:cNvCxnSpPr>
              <a:stCxn id="129" idx="5"/>
              <a:endCxn id="123" idx="2"/>
            </p:cNvCxnSpPr>
            <p:nvPr/>
          </p:nvCxnSpPr>
          <p:spPr>
            <a:xfrm>
              <a:off x="2350" y="5205"/>
              <a:ext cx="2374" cy="112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Google Shape;559;p25"/>
            <p:cNvCxnSpPr>
              <a:stCxn id="120" idx="6"/>
              <a:endCxn id="125" idx="2"/>
            </p:cNvCxnSpPr>
            <p:nvPr/>
          </p:nvCxnSpPr>
          <p:spPr>
            <a:xfrm>
              <a:off x="5658" y="1947"/>
              <a:ext cx="1182" cy="127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560;p25"/>
            <p:cNvCxnSpPr>
              <a:stCxn id="120" idx="6"/>
              <a:endCxn id="126" idx="2"/>
            </p:cNvCxnSpPr>
            <p:nvPr/>
          </p:nvCxnSpPr>
          <p:spPr>
            <a:xfrm>
              <a:off x="5658" y="1947"/>
              <a:ext cx="1182" cy="248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561;p25"/>
            <p:cNvCxnSpPr>
              <a:stCxn id="120" idx="6"/>
              <a:endCxn id="127" idx="2"/>
            </p:cNvCxnSpPr>
            <p:nvPr/>
          </p:nvCxnSpPr>
          <p:spPr>
            <a:xfrm>
              <a:off x="5658" y="1947"/>
              <a:ext cx="1182" cy="438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562;p25"/>
            <p:cNvCxnSpPr>
              <a:stCxn id="121" idx="6"/>
              <a:endCxn id="124" idx="2"/>
            </p:cNvCxnSpPr>
            <p:nvPr/>
          </p:nvCxnSpPr>
          <p:spPr>
            <a:xfrm rot="10800000" flipH="1">
              <a:off x="5648" y="1946"/>
              <a:ext cx="1191" cy="12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563;p25"/>
            <p:cNvCxnSpPr>
              <a:stCxn id="121" idx="6"/>
              <a:endCxn id="125" idx="2"/>
            </p:cNvCxnSpPr>
            <p:nvPr/>
          </p:nvCxnSpPr>
          <p:spPr>
            <a:xfrm>
              <a:off x="5648" y="3166"/>
              <a:ext cx="1191" cy="5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564;p25"/>
            <p:cNvCxnSpPr>
              <a:stCxn id="121" idx="6"/>
              <a:endCxn id="126" idx="2"/>
            </p:cNvCxnSpPr>
            <p:nvPr/>
          </p:nvCxnSpPr>
          <p:spPr>
            <a:xfrm>
              <a:off x="5648" y="3166"/>
              <a:ext cx="1191" cy="12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Google Shape;565;p25"/>
            <p:cNvCxnSpPr>
              <a:stCxn id="121" idx="6"/>
              <a:endCxn id="127" idx="2"/>
            </p:cNvCxnSpPr>
            <p:nvPr/>
          </p:nvCxnSpPr>
          <p:spPr>
            <a:xfrm>
              <a:off x="5648" y="3166"/>
              <a:ext cx="1191" cy="316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" name="Google Shape;566;p25"/>
            <p:cNvCxnSpPr>
              <a:stCxn id="122" idx="6"/>
              <a:endCxn id="124" idx="2"/>
            </p:cNvCxnSpPr>
            <p:nvPr/>
          </p:nvCxnSpPr>
          <p:spPr>
            <a:xfrm rot="10800000" flipH="1">
              <a:off x="5658" y="1947"/>
              <a:ext cx="1182" cy="243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67;p25"/>
            <p:cNvCxnSpPr>
              <a:stCxn id="122" idx="6"/>
              <a:endCxn id="125" idx="2"/>
            </p:cNvCxnSpPr>
            <p:nvPr/>
          </p:nvCxnSpPr>
          <p:spPr>
            <a:xfrm rot="10800000" flipH="1">
              <a:off x="5658" y="3224"/>
              <a:ext cx="1182" cy="11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" name="Google Shape;568;p25"/>
            <p:cNvCxnSpPr>
              <a:stCxn id="122" idx="6"/>
              <a:endCxn id="126" idx="2"/>
            </p:cNvCxnSpPr>
            <p:nvPr/>
          </p:nvCxnSpPr>
          <p:spPr>
            <a:xfrm>
              <a:off x="5658" y="4385"/>
              <a:ext cx="1182" cy="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569;p25"/>
            <p:cNvCxnSpPr>
              <a:stCxn id="122" idx="6"/>
              <a:endCxn id="127" idx="2"/>
            </p:cNvCxnSpPr>
            <p:nvPr/>
          </p:nvCxnSpPr>
          <p:spPr>
            <a:xfrm>
              <a:off x="5658" y="4385"/>
              <a:ext cx="1182" cy="194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570;p25"/>
            <p:cNvCxnSpPr>
              <a:endCxn id="124" idx="2"/>
            </p:cNvCxnSpPr>
            <p:nvPr/>
          </p:nvCxnSpPr>
          <p:spPr>
            <a:xfrm rot="10800000" flipH="1">
              <a:off x="5658" y="1947"/>
              <a:ext cx="1182" cy="44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571;p25"/>
            <p:cNvCxnSpPr>
              <a:stCxn id="123" idx="6"/>
              <a:endCxn id="125" idx="2"/>
            </p:cNvCxnSpPr>
            <p:nvPr/>
          </p:nvCxnSpPr>
          <p:spPr>
            <a:xfrm rot="10800000" flipH="1">
              <a:off x="5649" y="3224"/>
              <a:ext cx="1191" cy="31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" name="Google Shape;572;p25"/>
            <p:cNvCxnSpPr>
              <a:stCxn id="123" idx="6"/>
              <a:endCxn id="126" idx="2"/>
            </p:cNvCxnSpPr>
            <p:nvPr/>
          </p:nvCxnSpPr>
          <p:spPr>
            <a:xfrm rot="10800000" flipH="1">
              <a:off x="5649" y="4428"/>
              <a:ext cx="1191" cy="1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573;p25"/>
            <p:cNvCxnSpPr>
              <a:stCxn id="123" idx="6"/>
              <a:endCxn id="127" idx="2"/>
            </p:cNvCxnSpPr>
            <p:nvPr/>
          </p:nvCxnSpPr>
          <p:spPr>
            <a:xfrm>
              <a:off x="5649" y="6331"/>
              <a:ext cx="1191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3" name="Google Shape;591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5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593;p25"/>
            <p:cNvCxnSpPr/>
            <p:nvPr/>
          </p:nvCxnSpPr>
          <p:spPr>
            <a:xfrm flipH="1">
              <a:off x="7302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文本框 155"/>
          <p:cNvSpPr txBox="1"/>
          <p:nvPr/>
        </p:nvSpPr>
        <p:spPr>
          <a:xfrm>
            <a:off x="3336925" y="4175760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15-frame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3454400" y="6403975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</a:t>
            </a:r>
            <a:endParaRPr lang="en-US" altLang="zh-CN" sz="16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" y="956945"/>
            <a:ext cx="85223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/>
              <a:t>Further validation</a:t>
            </a:r>
            <a:endParaRPr lang="en-US" altLang="zh-CN" sz="2000"/>
          </a:p>
        </p:txBody>
      </p:sp>
      <p:grpSp>
        <p:nvGrpSpPr>
          <p:cNvPr id="4" name="组合 3"/>
          <p:cNvGrpSpPr/>
          <p:nvPr/>
        </p:nvGrpSpPr>
        <p:grpSpPr>
          <a:xfrm>
            <a:off x="1586230" y="434721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30020" y="5198110"/>
            <a:ext cx="1906905" cy="1159510"/>
            <a:chOff x="3630" y="4675"/>
            <a:chExt cx="3003" cy="1826"/>
          </a:xfrm>
        </p:grpSpPr>
        <p:sp>
          <p:nvSpPr>
            <p:cNvPr id="18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571875" y="4609465"/>
            <a:ext cx="2215515" cy="1678940"/>
            <a:chOff x="4753" y="3707"/>
            <a:chExt cx="2440" cy="1961"/>
          </a:xfrm>
        </p:grpSpPr>
        <p:sp>
          <p:nvSpPr>
            <p:cNvPr id="5342" name="Google Shape;5342;p51"/>
            <p:cNvSpPr/>
            <p:nvPr/>
          </p:nvSpPr>
          <p:spPr>
            <a:xfrm>
              <a:off x="4761" y="370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51"/>
            <p:cNvSpPr/>
            <p:nvPr/>
          </p:nvSpPr>
          <p:spPr>
            <a:xfrm>
              <a:off x="4753" y="4964"/>
              <a:ext cx="712" cy="705"/>
            </a:xfrm>
            <a:prstGeom prst="cube">
              <a:avLst>
                <a:gd name="adj" fmla="val 66940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4" name="Google Shape;5344;p51"/>
            <p:cNvSpPr/>
            <p:nvPr/>
          </p:nvSpPr>
          <p:spPr>
            <a:xfrm>
              <a:off x="6481" y="4135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4E95D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5" name="Google Shape;5345;p51"/>
            <p:cNvSpPr/>
            <p:nvPr/>
          </p:nvSpPr>
          <p:spPr>
            <a:xfrm>
              <a:off x="5984" y="463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5358" name="Google Shape;5358;p51"/>
            <p:cNvCxnSpPr>
              <a:stCxn id="5342" idx="5"/>
              <a:endCxn id="5344" idx="0"/>
            </p:cNvCxnSpPr>
            <p:nvPr/>
          </p:nvCxnSpPr>
          <p:spPr>
            <a:xfrm>
              <a:off x="5473" y="3824"/>
              <a:ext cx="1600" cy="311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9" name="Google Shape;5359;p51"/>
            <p:cNvCxnSpPr>
              <a:stCxn id="5343" idx="4"/>
              <a:endCxn id="5345" idx="3"/>
            </p:cNvCxnSpPr>
            <p:nvPr/>
          </p:nvCxnSpPr>
          <p:spPr>
            <a:xfrm rot="10800000" flipH="1">
              <a:off x="4994" y="5342"/>
              <a:ext cx="1111" cy="210"/>
            </a:xfrm>
            <a:prstGeom prst="curvedConnector2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4" name="直接箭头连接符 23"/>
          <p:cNvCxnSpPr/>
          <p:nvPr/>
        </p:nvCxnSpPr>
        <p:spPr>
          <a:xfrm flipV="1">
            <a:off x="5407660" y="5622290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386205" y="595185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39875" y="451294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162675" y="5098415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1398270"/>
            <a:ext cx="8522970" cy="705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宋体" panose="02010600030101010101" pitchFamily="2" charset="-122"/>
                <a:sym typeface="+mn-ea"/>
              </a:rPr>
              <a:t>Can fingertip aperture during reach-to-grasp movements be predicted using object apparent size and hand acceleration?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3571875" y="4231005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15-frame window MLP</a:t>
            </a:r>
            <a:endParaRPr lang="en-US" altLang="zh-CN" sz="1600" b="1">
              <a:sym typeface="+mn-ea"/>
            </a:endParaRPr>
          </a:p>
        </p:txBody>
      </p:sp>
      <p:pic>
        <p:nvPicPr>
          <p:cNvPr id="31" name="图片 30" descr="QQ20261011-204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476500"/>
            <a:ext cx="1036320" cy="1016000"/>
          </a:xfrm>
          <a:prstGeom prst="rect">
            <a:avLst/>
          </a:prstGeom>
        </p:spPr>
      </p:pic>
      <p:sp>
        <p:nvSpPr>
          <p:cNvPr id="32" name="圆角右箭头 31"/>
          <p:cNvSpPr/>
          <p:nvPr/>
        </p:nvSpPr>
        <p:spPr>
          <a:xfrm rot="6960000">
            <a:off x="1669415" y="3329305"/>
            <a:ext cx="633730" cy="929005"/>
          </a:xfrm>
          <a:prstGeom prst="ben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8805" y="2595245"/>
            <a:ext cx="616712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20, 30, 40 mm: 15 training experiments + 5 test experiments</a:t>
            </a:r>
            <a:endParaRPr lang="en-US" altLang="zh-CN"/>
          </a:p>
          <a:p>
            <a:r>
              <a:rPr lang="en-US" altLang="zh-CN"/>
              <a:t>25, 35, 45 mm: 5 experiments for generalization testing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Standard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2_111640_003207/test_predictions/TRIAL_Size_4cm_20261011_145939.pngTRIAL_Size_4cm_20261011_145939"/>
          <p:cNvPicPr>
            <a:picLocks noChangeAspect="1"/>
          </p:cNvPicPr>
          <p:nvPr/>
        </p:nvPicPr>
        <p:blipFill>
          <a:blip r:embed="rId1"/>
          <a:srcRect b="36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2_111640_003207/test_predictions/TRIAL_Size_3cm_20261012_104738.pngTRIAL_Size_3cm_20261012_104738"/>
          <p:cNvPicPr>
            <a:picLocks noChangeAspect="1"/>
          </p:cNvPicPr>
          <p:nvPr/>
        </p:nvPicPr>
        <p:blipFill>
          <a:blip r:embed="rId2"/>
          <a:srcRect t="36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2_111640_003207/test_predictions/TRIAL_Size_2cm_20261006_193241.pngTRIAL_Size_2cm_20261006_193241"/>
          <p:cNvPicPr>
            <a:picLocks noChangeAspect="1"/>
          </p:cNvPicPr>
          <p:nvPr/>
        </p:nvPicPr>
        <p:blipFill>
          <a:blip r:embed="rId3"/>
          <a:srcRect l="14" r="14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5590" y="810260"/>
            <a:ext cx="3314700" cy="9772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Held-out experiments at trained object sizes.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5 experiments per size.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/>
        </p:nvGraphicFramePr>
        <p:xfrm>
          <a:off x="197485" y="2059940"/>
          <a:ext cx="3695700" cy="1438275"/>
        </p:xfrm>
        <a:graphic>
          <a:graphicData uri="http://schemas.openxmlformats.org/drawingml/2006/table">
            <a:tbl>
              <a:tblPr/>
              <a:tblGrid>
                <a:gridCol w="1231900"/>
                <a:gridCol w="1231900"/>
                <a:gridCol w="1231900"/>
              </a:tblGrid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27.7 ± 4.3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17.7 ± 5.8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31.3 ± 10.9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30.2 ± 11.2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40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19.1 ± 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17.0 ± 6.4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197485" y="3769995"/>
            <a:ext cx="3695065" cy="2864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>
                <a:sym typeface="+mn-ea"/>
              </a:rPr>
              <a:t>Combining object apparent size with acceleration achieved RMSE below 20 px in selected held-out experiments.</a:t>
            </a:r>
            <a:endParaRPr lang="en-US" altLang="zh-CN">
              <a:sym typeface="+mn-ea"/>
            </a:endParaRPr>
          </a:p>
          <a:p>
            <a:pPr algn="l"/>
            <a:endParaRPr lang="en-US" altLang="zh-CN"/>
          </a:p>
          <a:p>
            <a:pPr algn="l"/>
            <a:r>
              <a:rPr lang="en-US" altLang="zh-CN"/>
              <a:t>The results suggest that fingertip aperture during natural grasping can be learned from object apparent size and acceleration.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2_111640_003207/generalization_predictions/TRIAL_Size_4p5cm_20260929_104825.pngTRIAL_Size_4p5cm_20260929_104825"/>
          <p:cNvPicPr>
            <a:picLocks noChangeAspect="1"/>
          </p:cNvPicPr>
          <p:nvPr/>
        </p:nvPicPr>
        <p:blipFill>
          <a:blip r:embed="rId1"/>
          <a:srcRect b="36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2_111640_003207/generalization_predictions/TRIAL_Size_3p5cm_20261011_151707.pngTRIAL_Size_3p5cm_20261011_151707"/>
          <p:cNvPicPr>
            <a:picLocks noChangeAspect="1"/>
          </p:cNvPicPr>
          <p:nvPr/>
        </p:nvPicPr>
        <p:blipFill>
          <a:blip r:embed="rId2"/>
          <a:srcRect b="36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2_111640_003207/generalization_predictions/TRIAL_Size_2p5cm_20261011_152702.pngTRIAL_Size_2p5cm_20261011_152702"/>
          <p:cNvPicPr>
            <a:picLocks noChangeAspect="1"/>
          </p:cNvPicPr>
          <p:nvPr/>
        </p:nvPicPr>
        <p:blipFill>
          <a:blip r:embed="rId3"/>
          <a:srcRect l="28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79375" y="2131695"/>
          <a:ext cx="3815715" cy="1231900"/>
        </p:xfrm>
        <a:graphic>
          <a:graphicData uri="http://schemas.openxmlformats.org/drawingml/2006/table">
            <a:tbl>
              <a:tblPr/>
              <a:tblGrid>
                <a:gridCol w="1289685"/>
                <a:gridCol w="1254125"/>
                <a:gridCol w="1271905"/>
              </a:tblGrid>
              <a:tr h="49276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n=7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38.8 ± 6.1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26.0 ± 9.4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n=11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37.1 ± 11.9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20.6 ± 11.3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n=20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47.4 ± 13.5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43.2 ± 9.8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78105" y="3557905"/>
            <a:ext cx="3816350" cy="31946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/>
              <a:t>At unseen sizes of 25 and 35 mm, selected experiments maintained RMSE around 20 px. </a:t>
            </a:r>
            <a:endParaRPr lang="en-US" altLang="zh-CN"/>
          </a:p>
          <a:p>
            <a:pPr algn="l"/>
            <a:r>
              <a:rPr lang="en-US" altLang="zh-CN"/>
              <a:t>suggesting interpolation capability.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 At 45 mm, </a:t>
            </a:r>
            <a:endParaRPr lang="en-US" altLang="zh-CN"/>
          </a:p>
          <a:p>
            <a:pPr algn="l"/>
            <a:r>
              <a:rPr lang="en-US" altLang="zh-CN"/>
              <a:t>beyond the training size range, prediction error increased,</a:t>
            </a:r>
            <a:endParaRPr lang="en-US" altLang="zh-CN"/>
          </a:p>
          <a:p>
            <a:pPr algn="l"/>
            <a:r>
              <a:rPr lang="en-US" altLang="zh-CN"/>
              <a:t>indicating limited extrapolation capability and motivating further investigation.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810260"/>
            <a:ext cx="3314700" cy="10877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Held-out experiments at unseen object sizes.</a:t>
            </a:r>
            <a:endParaRPr lang="en-US" altLang="zh-CN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5 experiments per size.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 and Discussion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1083310"/>
            <a:ext cx="8431530" cy="23304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results suggest that fingertip aperture during reach-to-grasp movements can be predicted using object apparent size and hand acceleration.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Adding hand acceleration generally improves aperture prediction compared with using object apparent size alone.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model shows generalization to unseen object sizes within the training size range. Prediction error increases beyond this range, indicating that extrapolation requires further investigation.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Error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09650"/>
            <a:ext cx="85229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△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/>
              <a:t>Equipment-related errors</a:t>
            </a:r>
            <a:endParaRPr lang="en-US" altLang="zh-CN"/>
          </a:p>
          <a:p>
            <a:r>
              <a:rPr lang="en-US" altLang="zh-CN"/>
              <a:t>- Visual measurement variability: Object apparent size and fingertip aperture are estimated using visual algorithms, which may introduce measurement fluctuations.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IMU measurement uncertainty: Sensor noise may affect measurement accuracy.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ea typeface="宋体" panose="02010600030101010101" pitchFamily="2" charset="-122"/>
                <a:sym typeface="+mn-ea"/>
              </a:rPr>
              <a:t>△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/>
              <a:t>Experiment-related variability</a:t>
            </a:r>
            <a:endParaRPr lang="en-US" altLang="zh-CN"/>
          </a:p>
          <a:p>
            <a:r>
              <a:rPr lang="en-US" altLang="zh-CN"/>
              <a:t>- Natural grasping variability: Movement speed and grasping strategy may vary between experiments.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Object position variability: Small differences in object placement may change the reaching trajectory and visual measurements.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9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4208</Words>
  <Application>WPS 演示</Application>
  <PresentationFormat>Converted Presentation</PresentationFormat>
  <Paragraphs>197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</vt:lpstr>
      <vt:lpstr>Avenir Heavy</vt:lpstr>
      <vt:lpstr>Segoe Print</vt:lpstr>
      <vt:lpstr>Times New Roman</vt:lpstr>
      <vt:lpstr>Times New Roman</vt:lpstr>
      <vt:lpstr>微软雅黑</vt:lpstr>
      <vt:lpstr>Arial Unicode MS</vt:lpstr>
      <vt:lpstr>MS PGothic</vt:lpstr>
      <vt:lpstr>Consolas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16</cp:revision>
  <dcterms:created xsi:type="dcterms:W3CDTF">2026-09-29T07:20:00Z</dcterms:created>
  <dcterms:modified xsi:type="dcterms:W3CDTF">2026-10-13T23:27:04Z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FB3ACDAA4AF54148BE5074B4117C330D_12</vt:lpwstr>
  </property>
</Properties>
</file>