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0" r:id="rId3"/>
    <p:sldId id="385" r:id="rId5"/>
    <p:sldId id="386" r:id="rId6"/>
    <p:sldId id="380" r:id="rId7"/>
    <p:sldId id="353" r:id="rId8"/>
    <p:sldId id="369" r:id="rId9"/>
    <p:sldId id="371" r:id="rId10"/>
    <p:sldId id="388" r:id="rId11"/>
    <p:sldId id="387" r:id="rId12"/>
    <p:sldId id="354" r:id="rId13"/>
    <p:sldId id="355" r:id="rId14"/>
    <p:sldId id="373" r:id="rId15"/>
    <p:sldId id="392" r:id="rId16"/>
    <p:sldId id="374" r:id="rId17"/>
    <p:sldId id="390" r:id="rId18"/>
    <p:sldId id="389" r:id="rId19"/>
    <p:sldId id="359" r:id="rId20"/>
    <p:sldId id="381" r:id="rId2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DBF5"/>
    <a:srgbClr val="87B7E7"/>
    <a:srgbClr val="256DB7"/>
    <a:srgbClr val="32CA32"/>
    <a:srgbClr val="99A9FA"/>
    <a:srgbClr val="ECA7A7"/>
    <a:srgbClr val="EDF4FB"/>
    <a:srgbClr val="2C2C2C"/>
    <a:srgbClr val="6A6A6A"/>
    <a:srgbClr val="84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ustomXml" Target="../customXml/item3.xml"/><Relationship Id="rId26" Type="http://schemas.openxmlformats.org/officeDocument/2006/relationships/customXml" Target="../customXml/item2.xml"/><Relationship Id="rId25" Type="http://schemas.openxmlformats.org/officeDocument/2006/relationships/customXml" Target="../customXml/item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good morning everyone im d, my research is ...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Prosthetic hands aim to restore hand function after upper-limb loss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Although prosthetic hands have advanced rapidly</a:t>
            </a:r>
            <a:br>
              <a:rPr lang="zh-CN" altLang="en-US">
                <a:sym typeface="+mn-ea"/>
              </a:rPr>
            </a:b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In ..., The user need to do </a:t>
            </a:r>
            <a:r>
              <a:rPr lang="en-US" altLang="zh-CN">
                <a:sym typeface="+mn-ea"/>
              </a:rPr>
              <a:t>Conscious selection and adjustment. increases cognitive load and Learning costs.</a:t>
            </a:r>
            <a:endParaRPr lang="en-US" altLang="zh-CN"/>
          </a:p>
          <a:p>
            <a:r>
              <a:rPr lang="en-US" altLang="zh-CN"/>
              <a:t>If combined with this mechanism, let the system handle some functions.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develop the system to let the system control grasp force. the system first learn the force of user grasp, and then the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Control of wrist orientation was delegated to the system. Reduced the users manual operations. user only need to </a:t>
            </a:r>
            <a:r>
              <a:rPr lang="en-US" altLang="zh-CN">
                <a:sym typeface="+mn-ea"/>
              </a:rPr>
              <a:t>controls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opening and closing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So in my research, I would like to build on the fact that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这是系统架构，由</a:t>
            </a:r>
            <a:r>
              <a:rPr lang="en-US" altLang="zh-CN"/>
              <a:t>Camera</a:t>
            </a:r>
            <a:r>
              <a:rPr lang="zh-CN" altLang="en-US"/>
              <a:t>获取手与目标的距离，输入进模型中，当前使用的是，预测</a:t>
            </a:r>
            <a:r>
              <a:rPr lang="en-US" altLang="zh-CN"/>
              <a:t>Fingertip Apeature。</a:t>
            </a:r>
            <a:r>
              <a:rPr lang="zh-CN" altLang="en-US"/>
              <a:t>当有错误情况时，用户再通过</a:t>
            </a:r>
            <a:r>
              <a:rPr lang="en-US" altLang="zh-CN"/>
              <a:t>EMG</a:t>
            </a:r>
            <a:r>
              <a:rPr lang="zh-CN" altLang="en-US"/>
              <a:t>信号，进行微调。</a:t>
            </a:r>
            <a:endParaRPr lang="zh-CN" altLang="en-US"/>
          </a:p>
          <a:p>
            <a:r>
              <a:rPr lang="en-US" altLang="zh-CN"/>
              <a:t>and achieve control of the robotic hand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visual part will use two variable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both units was px, in future will convert to millimeters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he input is a vector of distance from current frame and previous four frames。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camera is mounted about 750 mm above the workspace.</a:t>
            </a:r>
            <a:endParaRPr lang="en-US" altLang="zh-CN"/>
          </a:p>
          <a:p>
            <a:r>
              <a:rPr lang="en-US" altLang="zh-CN"/>
              <a:t>the hand initial position is 30mm away in front of the cube。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Each trial consists of one natural reach-to-grasp movement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this is the demonstration video</a:t>
            </a:r>
            <a:endParaRPr lang="en-US" altLang="zh-CN"/>
          </a:p>
          <a:p>
            <a:r>
              <a:rPr lang="en-US" altLang="zh-CN"/>
              <a:t>We used three cubes as experimental conditions: a 20 mm red cube, a 30 mm blue cube, and a 40 mm black cube.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is dataset 30 trials 20mm cube, overlaid the fingertip aperture and the distance curve。both </a:t>
            </a:r>
            <a:r>
              <a:rPr lang="en-US" altLang="zh-CN">
                <a:sym typeface="+mn-ea"/>
              </a:rPr>
              <a:t>curve</a:t>
            </a:r>
            <a:r>
              <a:rPr lang="en-US" altLang="zh-CN"/>
              <a:t> show similar pattern。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key event were also consistent，during the reach to grasp，the finger first open then close。reach maximum aperture at about 44.32 percent。when the distance was about 134.77pixel。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To evaluate how accurately the model predicts fingertip aperture, we first conducted offline validation using nine trials per cube size, for a total of 27 trials.</a:t>
            </a:r>
            <a:endParaRPr lang="en-US" altLang="zh-CN"/>
          </a:p>
          <a:p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r>
              <a:rPr lang="en-US" altLang="zh-CN"/>
              <a:t>These results indicate relatively small prediction errors.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grasping process can be divided into three phases: Initial,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Grasping </a:t>
            </a:r>
            <a:r>
              <a:rPr lang="en-US" altLang="zh-CN"/>
              <a:t>, and Hold. Fingertip aperture remains stable during the Initial and Hold phases,  it is changing during the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Grasping </a:t>
            </a:r>
            <a:r>
              <a:rPr lang="en-US" altLang="zh-CN"/>
              <a:t>phase.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  <a:sym typeface="+mn-ea"/>
              </a:rPr>
              <a:t>so Predicting aperture is  more challenging in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Grasping Phase</a:t>
            </a:r>
            <a:br>
              <a:rPr lang="en-US" altLang="zh-CN"/>
            </a:br>
            <a:r>
              <a:rPr lang="en-US" altLang="zh-CN"/>
              <a:t>this phase is an important measure of the models capability. However, all three phases are important to prosthetic hand control.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F00E456-75B8-4C92-99E8-A0CAB60115A8}" type="slidenum">
              <a:rPr lang="ja-JP" altLang="en-US" smtClean="0"/>
            </a:fld>
            <a:endParaRPr lang="ja-JP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image" Target="../media/image9.jpeg"/><Relationship Id="rId5" Type="http://schemas.openxmlformats.org/officeDocument/2006/relationships/tags" Target="../tags/tag26.xml"/><Relationship Id="rId4" Type="http://schemas.openxmlformats.org/officeDocument/2006/relationships/image" Target="../media/image8.jpe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4.xml"/><Relationship Id="rId5" Type="http://schemas.openxmlformats.org/officeDocument/2006/relationships/image" Target="../media/image13.png"/><Relationship Id="rId4" Type="http://schemas.openxmlformats.org/officeDocument/2006/relationships/tags" Target="../tags/tag33.xml"/><Relationship Id="rId3" Type="http://schemas.openxmlformats.org/officeDocument/2006/relationships/image" Target="../media/image12.png"/><Relationship Id="rId2" Type="http://schemas.openxmlformats.org/officeDocument/2006/relationships/tags" Target="../tags/tag3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7.xml"/><Relationship Id="rId5" Type="http://schemas.openxmlformats.org/officeDocument/2006/relationships/image" Target="../media/image15.png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7.png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23215" y="1016635"/>
            <a:ext cx="8390255" cy="1468755"/>
          </a:xfrm>
        </p:spPr>
        <p:txBody>
          <a:bodyPr vert="horz" anchor="ctr" anchorCtr="1">
            <a:noAutofit/>
          </a:bodyPr>
          <a:lstStyle/>
          <a:p>
            <a:pPr algn="ctr"/>
            <a:r>
              <a:rPr lang="en-US" altLang="zh-CN" sz="3600"/>
              <a:t>A Vision-Based Regression Model for</a:t>
            </a:r>
            <a:br>
              <a:rPr lang="en-US" altLang="zh-CN" sz="3600"/>
            </a:br>
            <a:r>
              <a:rPr lang="en-US" altLang="zh-CN" sz="3600"/>
              <a:t> Semi-Autonomous Prosthetic Hand Control</a:t>
            </a:r>
            <a:endParaRPr lang="en-US" altLang="zh-CN" sz="360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4530" y="4070350"/>
            <a:ext cx="7775575" cy="1550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Saga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University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Graduate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School of Science and Engineering​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altLang="zh-CN" sz="2000" dirty="0">
                <a:solidFill>
                  <a:srgbClr val="000000"/>
                </a:solidFill>
                <a:latin typeface="+mj-lt"/>
                <a:cs typeface="+mj-lt"/>
                <a:sym typeface="+mn-ea"/>
              </a:rPr>
              <a:t>Computer Science &amp; Information Techology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Course​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Fukuda</a:t>
            </a:r>
            <a:r>
              <a:rPr lang="en-US" sz="20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Laboratory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　</a:t>
            </a:r>
            <a:r>
              <a:rPr lang="en-US" altLang="ja-JP" sz="2000" dirty="0">
                <a:solidFill>
                  <a:srgbClr val="000000"/>
                </a:solidFill>
                <a:effectLst/>
                <a:latin typeface="+mj-lt"/>
                <a:cs typeface="+mj-lt"/>
                <a:sym typeface="+mn-ea"/>
              </a:rPr>
              <a:t>25742102 DI XIQING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Supervisor: </a:t>
            </a:r>
            <a:r>
              <a:rPr lang="en-US" alt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Professor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Osamu Fukuda</a:t>
            </a:r>
            <a:endParaRPr lang="ja-JP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ja-JP" sz="200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圆角矩形 8"/>
          <p:cNvSpPr/>
          <p:nvPr/>
        </p:nvSpPr>
        <p:spPr>
          <a:xfrm>
            <a:off x="5071110" y="4693920"/>
            <a:ext cx="3035300" cy="1835785"/>
          </a:xfrm>
          <a:prstGeom prst="roundRect">
            <a:avLst>
              <a:gd name="adj" fmla="val 3459"/>
            </a:avLst>
          </a:prstGeom>
          <a:solidFill>
            <a:srgbClr val="ECA7A7"/>
          </a:solidFill>
          <a:ln w="6350" cmpd="sng">
            <a:noFill/>
            <a:prstDash val="solid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0980" y="226695"/>
            <a:ext cx="8717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Background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6240" y="1289745"/>
            <a:ext cx="3707765" cy="76200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ja-JP" sz="2400">
                <a:solidFill>
                  <a:srgbClr val="FF0000"/>
                </a:solidFill>
              </a:rPr>
              <a:t>57.7 million</a:t>
            </a:r>
            <a:r>
              <a:rPr lang="en-US" altLang="ja-JP" sz="1600"/>
              <a:t>  </a:t>
            </a:r>
            <a:r>
              <a:rPr lang="en-US" altLang="ja-JP"/>
              <a:t>people </a:t>
            </a:r>
            <a:r>
              <a:rPr lang="en-US" altLang="zh-CN"/>
              <a:t>worldwide</a:t>
            </a:r>
            <a:endParaRPr lang="en-US" altLang="zh-CN"/>
          </a:p>
          <a:p>
            <a:pPr algn="ctr"/>
            <a:r>
              <a:rPr lang="en-US" altLang="zh-CN"/>
              <a:t>have</a:t>
            </a:r>
            <a:r>
              <a:rPr lang="en-US" altLang="ja-JP"/>
              <a:t> </a:t>
            </a:r>
            <a:r>
              <a:rPr lang="en-US" altLang="zh-CN"/>
              <a:t>traumatic</a:t>
            </a:r>
            <a:r>
              <a:rPr lang="en-US" altLang="ja-JP"/>
              <a:t> </a:t>
            </a:r>
            <a:r>
              <a:rPr lang="en-US" altLang="zh-CN"/>
              <a:t>limb amputation </a:t>
            </a:r>
            <a:r>
              <a:rPr lang="en-US" altLang="ja-JP">
                <a:sym typeface="+mn-ea"/>
              </a:rPr>
              <a:t>[1]</a:t>
            </a:r>
            <a:endParaRPr lang="en-US" altLang="zh-CN"/>
          </a:p>
        </p:txBody>
      </p:sp>
      <p:pic>
        <p:nvPicPr>
          <p:cNvPr id="7" name="图片 6" descr="upper-limb-with-prostheti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2765" y="669925"/>
            <a:ext cx="3764280" cy="25095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46125" y="2308225"/>
            <a:ext cx="3007995" cy="76136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zh-CN">
                <a:sym typeface="+mn-ea"/>
              </a:rPr>
              <a:t>Prosthetic hands have advanced rapidly</a:t>
            </a:r>
            <a:endParaRPr lang="en-US" altLang="zh-CN"/>
          </a:p>
        </p:txBody>
      </p:sp>
      <p:pic>
        <p:nvPicPr>
          <p:cNvPr id="3" name="图片 2" descr="UAMS-Prosthesis-1699x9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4194175"/>
            <a:ext cx="4039235" cy="24237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71745" y="4303395"/>
            <a:ext cx="32791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Main Reason</a:t>
            </a:r>
            <a:endParaRPr lang="en-US" altLang="zh-CN"/>
          </a:p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28650" y="3456305"/>
            <a:ext cx="75971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dirty="0">
                <a:sym typeface="+mn-ea"/>
              </a:rPr>
              <a:t>But the rejection rate of prosthetic hands is as high as </a:t>
            </a:r>
            <a:r>
              <a:rPr lang="en-US" altLang="ja-JP" sz="2400">
                <a:solidFill>
                  <a:srgbClr val="FF0000"/>
                </a:solidFill>
                <a:sym typeface="+mn-ea"/>
              </a:rPr>
              <a:t>44%</a:t>
            </a:r>
            <a:r>
              <a:rPr lang="en-US" altLang="zh-CN" dirty="0">
                <a:sym typeface="+mn-ea"/>
              </a:rPr>
              <a:t> [2].</a:t>
            </a:r>
            <a:endParaRPr lang="en-US" altLang="zh-CN" dirty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71110" y="4935220"/>
            <a:ext cx="3007995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3200"/>
              <a:t>High </a:t>
            </a:r>
            <a:endParaRPr lang="en-US" altLang="zh-CN" sz="3200"/>
          </a:p>
          <a:p>
            <a:pPr algn="ctr"/>
            <a:r>
              <a:rPr lang="en-US" altLang="zh-CN" sz="3200"/>
              <a:t>Cognitive Load </a:t>
            </a:r>
            <a:r>
              <a:rPr lang="en-US" altLang="zh-CN"/>
              <a:t>[3] </a:t>
            </a:r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圆角矩形 43"/>
          <p:cNvSpPr/>
          <p:nvPr/>
        </p:nvSpPr>
        <p:spPr>
          <a:xfrm>
            <a:off x="1624965" y="5600065"/>
            <a:ext cx="5910580" cy="1022985"/>
          </a:xfrm>
          <a:prstGeom prst="roundRect">
            <a:avLst>
              <a:gd name="adj" fmla="val 3459"/>
            </a:avLst>
          </a:prstGeom>
          <a:solidFill>
            <a:srgbClr val="99A9FA"/>
          </a:solidFill>
          <a:ln w="6350" cmpd="sng">
            <a:noFill/>
            <a:prstDash val="solid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0980" y="226695"/>
            <a:ext cx="8717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Background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0980" y="3978275"/>
            <a:ext cx="43503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Conventional Prosthetic Hand:</a:t>
            </a:r>
            <a:endParaRPr lang="en-US" altLang="zh-CN"/>
          </a:p>
          <a:p>
            <a:pPr algn="ctr"/>
            <a:r>
              <a:rPr lang="en-US" altLang="zh-CN"/>
              <a:t>Conscious selection and adjustment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4909820" y="3978275"/>
            <a:ext cx="41840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Natural Grasping : </a:t>
            </a:r>
            <a:endParaRPr lang="en-US" altLang="zh-CN"/>
          </a:p>
          <a:p>
            <a:pPr algn="ctr"/>
            <a:r>
              <a:rPr lang="en-US" altLang="zh-CN"/>
              <a:t>Automatic adjustments during grasping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1624330" y="5734685"/>
            <a:ext cx="5911215" cy="7683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10000"/>
              </a:lnSpc>
            </a:pPr>
            <a:r>
              <a:rPr lang="en-US" altLang="zh-CN" sz="2000">
                <a:sym typeface="+mn-ea"/>
              </a:rPr>
              <a:t>Semi-autonomous</a:t>
            </a:r>
            <a:r>
              <a:rPr lang="en-US" altLang="zh-CN" sz="2000"/>
              <a:t> control may reduce the need for constant user attention.</a:t>
            </a:r>
            <a:endParaRPr lang="en-US" altLang="zh-CN" sz="2000"/>
          </a:p>
        </p:txBody>
      </p:sp>
      <p:pic>
        <p:nvPicPr>
          <p:cNvPr id="29" name="图片 28" descr="man-watching-tv_jpg"/>
          <p:cNvPicPr>
            <a:picLocks noChangeAspect="1"/>
          </p:cNvPicPr>
          <p:nvPr/>
        </p:nvPicPr>
        <p:blipFill>
          <a:blip r:embed="rId1"/>
          <a:srcRect t="706"/>
          <a:stretch>
            <a:fillRect/>
          </a:stretch>
        </p:blipFill>
        <p:spPr>
          <a:xfrm>
            <a:off x="5164455" y="991235"/>
            <a:ext cx="3675380" cy="2806065"/>
          </a:xfrm>
          <a:prstGeom prst="rect">
            <a:avLst/>
          </a:prstGeom>
        </p:spPr>
      </p:pic>
      <p:pic>
        <p:nvPicPr>
          <p:cNvPr id="3" name="图片 2" descr="蓝色机械手开放与握拳图标(2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8360000">
            <a:off x="238125" y="1913255"/>
            <a:ext cx="1041400" cy="813435"/>
          </a:xfrm>
          <a:prstGeom prst="rect">
            <a:avLst/>
          </a:prstGeom>
        </p:spPr>
      </p:pic>
      <p:pic>
        <p:nvPicPr>
          <p:cNvPr id="7" name="图片 6" descr="蓝色机械手开放与握拳图标(1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18420000">
            <a:off x="1753870" y="1072515"/>
            <a:ext cx="1078230" cy="1058545"/>
          </a:xfrm>
          <a:prstGeom prst="rect">
            <a:avLst/>
          </a:prstGeom>
        </p:spPr>
      </p:pic>
      <p:pic>
        <p:nvPicPr>
          <p:cNvPr id="15" name="图片 14" descr="蓝色机械手夹握姿态矢量插画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78200" y="1687195"/>
            <a:ext cx="937260" cy="1078865"/>
          </a:xfrm>
          <a:prstGeom prst="rect">
            <a:avLst/>
          </a:prstGeom>
        </p:spPr>
      </p:pic>
      <p:pic>
        <p:nvPicPr>
          <p:cNvPr id="30" name="图片 29" descr="ChatGPT 图像 2026年10月26日 15_07_0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315" y="2531745"/>
            <a:ext cx="1428750" cy="1265555"/>
          </a:xfrm>
          <a:prstGeom prst="rect">
            <a:avLst/>
          </a:prstGeom>
        </p:spPr>
      </p:pic>
      <p:cxnSp>
        <p:nvCxnSpPr>
          <p:cNvPr id="38" name="直接连接符 37"/>
          <p:cNvCxnSpPr>
            <a:stCxn id="3" idx="2"/>
          </p:cNvCxnSpPr>
          <p:nvPr/>
        </p:nvCxnSpPr>
        <p:spPr>
          <a:xfrm>
            <a:off x="1088390" y="2531745"/>
            <a:ext cx="725170" cy="192405"/>
          </a:xfrm>
          <a:prstGeom prst="line">
            <a:avLst/>
          </a:prstGeom>
          <a:noFill/>
          <a:ln w="25400" cmpd="sng">
            <a:solidFill>
              <a:schemeClr val="tx1"/>
            </a:solidFill>
            <a:prstDash val="solid"/>
            <a:tailEnd type="none"/>
          </a:ln>
        </p:spPr>
      </p:cxnSp>
      <p:cxnSp>
        <p:nvCxnSpPr>
          <p:cNvPr id="39" name="直接连接符 38"/>
          <p:cNvCxnSpPr>
            <a:endCxn id="30" idx="0"/>
          </p:cNvCxnSpPr>
          <p:nvPr/>
        </p:nvCxnSpPr>
        <p:spPr>
          <a:xfrm>
            <a:off x="2164715" y="2211705"/>
            <a:ext cx="54610" cy="320040"/>
          </a:xfrm>
          <a:prstGeom prst="line">
            <a:avLst/>
          </a:prstGeom>
          <a:noFill/>
          <a:ln w="25400" cmpd="sng">
            <a:solidFill>
              <a:schemeClr val="tx1"/>
            </a:solidFill>
            <a:prstDash val="solid"/>
            <a:tailEnd type="none"/>
          </a:ln>
        </p:spPr>
      </p:cxnSp>
      <p:cxnSp>
        <p:nvCxnSpPr>
          <p:cNvPr id="40" name="直接连接符 39"/>
          <p:cNvCxnSpPr/>
          <p:nvPr/>
        </p:nvCxnSpPr>
        <p:spPr>
          <a:xfrm flipV="1">
            <a:off x="2667635" y="2616835"/>
            <a:ext cx="710565" cy="116840"/>
          </a:xfrm>
          <a:prstGeom prst="line">
            <a:avLst/>
          </a:prstGeom>
          <a:noFill/>
          <a:ln w="25400" cmpd="sng">
            <a:solidFill>
              <a:schemeClr val="tx1"/>
            </a:solidFill>
            <a:prstDash val="solid"/>
            <a:tailEnd type="none"/>
          </a:ln>
        </p:spPr>
      </p:cxnSp>
      <p:cxnSp>
        <p:nvCxnSpPr>
          <p:cNvPr id="42" name="曲线连接符 41"/>
          <p:cNvCxnSpPr/>
          <p:nvPr/>
        </p:nvCxnSpPr>
        <p:spPr>
          <a:xfrm>
            <a:off x="2350770" y="4723130"/>
            <a:ext cx="1285875" cy="777240"/>
          </a:xfrm>
          <a:prstGeom prst="curvedConnector3">
            <a:avLst>
              <a:gd name="adj1" fmla="val 50025"/>
            </a:avLst>
          </a:prstGeom>
          <a:noFill/>
          <a:ln w="25400" cmpd="sng">
            <a:solidFill>
              <a:schemeClr val="tx1"/>
            </a:solidFill>
            <a:prstDash val="solid"/>
            <a:tailEnd type="none"/>
          </a:ln>
        </p:spPr>
      </p:cxnSp>
      <p:cxnSp>
        <p:nvCxnSpPr>
          <p:cNvPr id="43" name="曲线连接符 42"/>
          <p:cNvCxnSpPr/>
          <p:nvPr/>
        </p:nvCxnSpPr>
        <p:spPr>
          <a:xfrm rot="10800000" flipV="1">
            <a:off x="5645785" y="4804410"/>
            <a:ext cx="1399540" cy="695960"/>
          </a:xfrm>
          <a:prstGeom prst="curvedConnector3">
            <a:avLst>
              <a:gd name="adj1" fmla="val 49955"/>
            </a:avLst>
          </a:prstGeom>
          <a:noFill/>
          <a:ln w="25400" cmpd="sng">
            <a:solidFill>
              <a:schemeClr val="tx1"/>
            </a:solidFill>
            <a:prstDash val="solid"/>
            <a:tailEnd type="none"/>
          </a:ln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15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Related</a:t>
            </a:r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 Work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02260" y="900430"/>
          <a:ext cx="8581390" cy="4487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875"/>
                <a:gridCol w="1374775"/>
                <a:gridCol w="1745615"/>
                <a:gridCol w="2107565"/>
                <a:gridCol w="1940560"/>
              </a:tblGrid>
              <a:tr h="8070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Author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Title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Objective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Method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Result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109029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Thomas et al.</a:t>
                      </a:r>
                      <a:r>
                        <a:rPr lang="en-US" altLang="ja-JP" sz="1350">
                          <a:sym typeface="+mn-ea"/>
                        </a:rPr>
                        <a:t>[4]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Haptic shared control improves neural efficiency during myoelectric prosthesis use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Help users grasp fragile objects: too little force causes slipping, while too much can crush the object, requiring precise grip-force control.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The system first records the user’s grip force during a successful grasp and learns the target force. During subsequent grasps, it automatically regulates grip force, while the user only needs to trigger grasping.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ea typeface="SimSun" panose="02010600030101010101" pitchFamily="2" charset="-122"/>
                        </a:rPr>
                        <a:t>The shared control method not only improved grasping performance but also demonstrated higher neural efficiency, as measured by prefrontal cortex activity.</a:t>
                      </a:r>
                      <a:endParaRPr lang="en-US" altLang="zh-CN">
                        <a:ea typeface="SimSun" panose="02010600030101010101" pitchFamily="2" charset="-122"/>
                      </a:endParaRPr>
                    </a:p>
                  </a:txBody>
                  <a:tcPr/>
                </a:tc>
              </a:tr>
              <a:tr h="807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Vasile et al.</a:t>
                      </a:r>
                      <a:r>
                        <a:rPr lang="en-US" altLang="ja-JP" sz="1350">
                          <a:sym typeface="+mn-ea"/>
                        </a:rPr>
                        <a:t>[5]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Continuous wrist control on the hannes prosthesis a vision-based shared autonomy framework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Help users orient the prosthetic wrist during grasping, reducing the need for manual adjustments and compensatory body movements.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Using visual information, the system automatically adjusts wrist orientation during grasping, while the user controls finger opening and closing.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ea typeface="SimSun" panose="02010600030101010101" pitchFamily="2" charset="-122"/>
                        </a:rPr>
                        <a:t>The system was deployed on the Hannes prosthesis and operated at 15 Hz, demonstrating continuous wrist adjustment during approach and automatic wrist positioning before grasping.</a:t>
                      </a:r>
                      <a:endParaRPr lang="en-US" altLang="zh-CN">
                        <a:ea typeface="SimSun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302260" y="5578475"/>
            <a:ext cx="8507730" cy="777875"/>
          </a:xfrm>
          <a:prstGeom prst="roundRect">
            <a:avLst>
              <a:gd name="adj" fmla="val 3484"/>
            </a:avLst>
          </a:prstGeom>
          <a:solidFill>
            <a:srgbClr val="F4E8CF"/>
          </a:solidFill>
          <a:ln w="19050">
            <a:noFill/>
            <a:prstDash val="solid"/>
          </a:ln>
        </p:spPr>
        <p:txBody>
          <a:bodyPr/>
          <a:p>
            <a:pPr algn="l">
              <a:lnSpc>
                <a:spcPct val="110000"/>
              </a:lnSpc>
            </a:pPr>
            <a:r>
              <a:rPr lang="en-US" altLang="zh-CN">
                <a:sym typeface="+mn-ea"/>
              </a:rPr>
              <a:t>Semi-Autonomous</a:t>
            </a:r>
            <a:r>
              <a:rPr lang="en-US" altLang="zh-CN">
                <a:ea typeface="SimSun" panose="02010600030101010101" pitchFamily="2" charset="-122"/>
              </a:rPr>
              <a:t> control allows the system to handle part of the movement while preserving user control, offering a potential way to reduce the user’s congnitive load.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79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/>
              <a:t>Research Objective </a:t>
            </a:r>
            <a:r>
              <a:rPr lang="en-US" altLang="zh-CN" sz="3200" b="1" dirty="0">
                <a:sym typeface="Avenir Heavy"/>
              </a:rPr>
              <a:t>&amp; Question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96" name="组合 95"/>
          <p:cNvGrpSpPr/>
          <p:nvPr>
            <p:custDataLst>
              <p:tags r:id="rId1"/>
            </p:custDataLst>
          </p:nvPr>
        </p:nvGrpSpPr>
        <p:grpSpPr>
          <a:xfrm>
            <a:off x="219075" y="2793365"/>
            <a:ext cx="8630920" cy="1087120"/>
            <a:chOff x="348" y="7526"/>
            <a:chExt cx="13592" cy="2928"/>
          </a:xfrm>
        </p:grpSpPr>
        <p:grpSp>
          <p:nvGrpSpPr>
            <p:cNvPr id="90" name="组合 89"/>
            <p:cNvGrpSpPr/>
            <p:nvPr>
              <p:custDataLst>
                <p:tags r:id="rId2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92" name="Shape 2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93" name="Shape 2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4" name="Text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1</a:t>
                </a:r>
                <a:endParaRPr lang="en-US" altLang="zh-CN" b="1" dirty="0"/>
              </a:p>
            </p:txBody>
          </p:sp>
        </p:grpSp>
        <p:sp>
          <p:nvSpPr>
            <p:cNvPr id="95" name="文本框 94"/>
            <p:cNvSpPr txBox="1"/>
            <p:nvPr>
              <p:custDataLst>
                <p:tags r:id="rId6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sym typeface="+mn-ea"/>
                </a:rPr>
                <a:t>Is there a consistent relationship between hand–object distance and fingertip aperture during reach-to-grasp movements</a:t>
              </a:r>
              <a:r>
                <a:rPr lang="en-US" altLang="zh-CN">
                  <a:ea typeface="SimSun" panose="02010600030101010101" pitchFamily="2" charset="-122"/>
                </a:rPr>
                <a:t>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214630" y="4135120"/>
            <a:ext cx="8630920" cy="1060450"/>
            <a:chOff x="348" y="7526"/>
            <a:chExt cx="13592" cy="2928"/>
          </a:xfrm>
        </p:grpSpPr>
        <p:grpSp>
          <p:nvGrpSpPr>
            <p:cNvPr id="4" name="组合 3"/>
            <p:cNvGrpSpPr/>
            <p:nvPr>
              <p:custDataLst>
                <p:tags r:id="rId8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7" name="Shape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8" name="Shape 2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" name="Text 2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2</a:t>
                </a:r>
                <a:endParaRPr lang="en-US" altLang="zh-CN" b="1" dirty="0"/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12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sym typeface="+mn-ea"/>
                </a:rPr>
                <a:t>How accurately can</a:t>
              </a:r>
              <a:r>
                <a:rPr lang="en-US" altLang="zh-CN">
                  <a:ea typeface="SimSun" panose="02010600030101010101" pitchFamily="2" charset="-122"/>
                </a:rPr>
                <a:t> a regression model </a:t>
              </a:r>
              <a:r>
                <a:rPr lang="en-US" altLang="zh-CN">
                  <a:ea typeface="SimSun" panose="02010600030101010101" pitchFamily="2" charset="-122"/>
                  <a:sym typeface="+mn-ea"/>
                </a:rPr>
                <a:t>predict </a:t>
              </a:r>
              <a:r>
                <a:rPr lang="en-US" altLang="zh-CN">
                  <a:ea typeface="SimSun" panose="02010600030101010101" pitchFamily="2" charset="-122"/>
                </a:rPr>
                <a:t>fingertip aperture </a:t>
              </a:r>
              <a:r>
                <a:rPr lang="en-US" altLang="zh-CN">
                  <a:sym typeface="+mn-ea"/>
                </a:rPr>
                <a:t>from hand–object distance</a:t>
              </a:r>
              <a:r>
                <a:rPr lang="en-US" altLang="zh-CN">
                  <a:ea typeface="SimSun" panose="02010600030101010101" pitchFamily="2" charset="-122"/>
                </a:rPr>
                <a:t> during reach-to-grasp movements?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0510" y="797560"/>
            <a:ext cx="8573135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Based on the relationship between hand–object distance and fingertip aperture during natural grasping,</a:t>
            </a:r>
            <a:endParaRPr lang="en-US" altLang="zh-CN"/>
          </a:p>
          <a:p>
            <a:pPr>
              <a:lnSpc>
                <a:spcPct val="120000"/>
              </a:lnSpc>
            </a:pPr>
            <a:endParaRPr lang="en-US" altLang="zh-CN"/>
          </a:p>
          <a:p>
            <a:pPr>
              <a:lnSpc>
                <a:spcPct val="120000"/>
              </a:lnSpc>
            </a:pPr>
            <a:r>
              <a:rPr lang="en-US" altLang="zh-CN"/>
              <a:t>This study aims to use visual sensors to identify objects and measure hand–object distance to assist prosthetic hand </a:t>
            </a:r>
            <a:r>
              <a:rPr lang="en-US" altLang="zh-CN">
                <a:sym typeface="+mn-ea"/>
              </a:rPr>
              <a:t>grasping</a:t>
            </a:r>
            <a:r>
              <a:rPr lang="en-US" altLang="zh-CN"/>
              <a:t>.</a:t>
            </a:r>
            <a:endParaRPr lang="en-US" altLang="zh-CN"/>
          </a:p>
        </p:txBody>
      </p:sp>
      <p:grpSp>
        <p:nvGrpSpPr>
          <p:cNvPr id="14" name="组合 13"/>
          <p:cNvGrpSpPr/>
          <p:nvPr>
            <p:custDataLst>
              <p:tags r:id="rId13"/>
            </p:custDataLst>
          </p:nvPr>
        </p:nvGrpSpPr>
        <p:grpSpPr>
          <a:xfrm rot="0">
            <a:off x="219710" y="5567045"/>
            <a:ext cx="8631555" cy="1080770"/>
            <a:chOff x="790" y="4952"/>
            <a:chExt cx="3791" cy="2929"/>
          </a:xfrm>
        </p:grpSpPr>
        <p:grpSp>
          <p:nvGrpSpPr>
            <p:cNvPr id="15" name="组合 14"/>
            <p:cNvGrpSpPr/>
            <p:nvPr/>
          </p:nvGrpSpPr>
          <p:grpSpPr>
            <a:xfrm>
              <a:off x="790" y="4952"/>
              <a:ext cx="3791" cy="2929"/>
              <a:chOff x="334" y="5920"/>
              <a:chExt cx="5673" cy="2929"/>
            </a:xfrm>
          </p:grpSpPr>
          <p:sp>
            <p:nvSpPr>
              <p:cNvPr id="16" name="Shape 2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4" y="6936"/>
                <a:ext cx="5672" cy="1913"/>
              </a:xfrm>
              <a:prstGeom prst="rect">
                <a:avLst/>
              </a:prstGeom>
              <a:solidFill>
                <a:srgbClr val="F59E0B">
                  <a:alpha val="10000"/>
                </a:srgbClr>
              </a:solidFill>
              <a:ln w="19050">
                <a:solidFill>
                  <a:srgbClr val="F59E0B"/>
                </a:solidFill>
                <a:prstDash val="solid"/>
              </a:ln>
            </p:spPr>
          </p:sp>
          <p:sp>
            <p:nvSpPr>
              <p:cNvPr id="17" name="Shape 26"/>
              <p:cNvSpPr/>
              <p:nvPr>
                <p:custDataLst>
                  <p:tags r:id="rId15"/>
                </p:custDataLst>
              </p:nvPr>
            </p:nvSpPr>
            <p:spPr>
              <a:xfrm>
                <a:off x="335" y="5920"/>
                <a:ext cx="5672" cy="1016"/>
              </a:xfrm>
              <a:prstGeom prst="rect">
                <a:avLst/>
              </a:prstGeom>
              <a:solidFill>
                <a:srgbClr val="F59E0B"/>
              </a:solidFill>
              <a:ln w="19050">
                <a:solidFill>
                  <a:srgbClr val="F59E0B"/>
                </a:solidFill>
                <a:prstDash val="soli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8" name="Text 27"/>
            <p:cNvSpPr/>
            <p:nvPr>
              <p:custDataLst>
                <p:tags r:id="rId16"/>
              </p:custDataLst>
            </p:nvPr>
          </p:nvSpPr>
          <p:spPr>
            <a:xfrm>
              <a:off x="790" y="4952"/>
              <a:ext cx="3790" cy="10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b="1" dirty="0">
                  <a:sym typeface="+mn-ea"/>
                </a:rPr>
                <a:t>RQ</a:t>
              </a:r>
              <a:r>
                <a:rPr lang="en-US" altLang="zh-CN" b="1" dirty="0">
                  <a:sym typeface="Avenir Heavy"/>
                </a:rPr>
                <a:t>3</a:t>
              </a:r>
              <a:endParaRPr lang="en-US" altLang="zh-CN" b="1" dirty="0"/>
            </a:p>
          </p:txBody>
        </p:sp>
      </p:grp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219710" y="5941695"/>
            <a:ext cx="8629650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ea typeface="SimSun" panose="02010600030101010101" pitchFamily="2" charset="-122"/>
              </a:rPr>
              <a:t>Can using the model to assist control reduce the cognitive load on prosthetic hand users?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anose="02020603050405020304"/>
                <a:sym typeface="+mn-ea"/>
              </a:rPr>
              <a:t>System Architecture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97885" y="3538220"/>
            <a:ext cx="1952625" cy="1384935"/>
          </a:xfrm>
          <a:prstGeom prst="rect">
            <a:avLst/>
          </a:prstGeom>
          <a:noFill/>
          <a:ln w="25400" cmpd="sng">
            <a:solidFill>
              <a:srgbClr val="F59E0B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Card1BG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23520" y="3329940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p/>
        </p:txBody>
      </p:sp>
      <p:sp>
        <p:nvSpPr>
          <p:cNvPr id="13" name="Card1Text"/>
          <p:cNvSpPr txBox="1"/>
          <p:nvPr>
            <p:custDataLst>
              <p:tags r:id="rId2"/>
            </p:custDataLst>
          </p:nvPr>
        </p:nvSpPr>
        <p:spPr>
          <a:xfrm>
            <a:off x="311150" y="3329940"/>
            <a:ext cx="1270635" cy="254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Camera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pic>
        <p:nvPicPr>
          <p:cNvPr id="14" name="CameraIm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11785" y="3583940"/>
            <a:ext cx="1270000" cy="1270000"/>
          </a:xfrm>
          <a:prstGeom prst="rect">
            <a:avLst/>
          </a:prstGeom>
        </p:spPr>
      </p:pic>
      <p:sp>
        <p:nvSpPr>
          <p:cNvPr id="15" name="Shape 15"/>
          <p:cNvSpPr/>
          <p:nvPr/>
        </p:nvSpPr>
        <p:spPr>
          <a:xfrm>
            <a:off x="1908000" y="4147185"/>
            <a:ext cx="1188000" cy="0"/>
          </a:xfrm>
          <a:prstGeom prst="line">
            <a:avLst/>
          </a:prstGeom>
          <a:noFill/>
          <a:ln w="6350" cmpd="sng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Card1BG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641090" y="3907155"/>
            <a:ext cx="1450975" cy="619760"/>
          </a:xfrm>
          <a:prstGeom prst="roundRect">
            <a:avLst>
              <a:gd name="adj" fmla="val 0"/>
            </a:avLst>
          </a:prstGeom>
          <a:solidFill>
            <a:srgbClr val="C0DBF5"/>
          </a:solidFill>
          <a:ln w="19050">
            <a:noFill/>
          </a:ln>
        </p:spPr>
        <p:txBody>
          <a:bodyPr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MLP</a:t>
            </a:r>
            <a:endParaRPr lang="en-US" altLang="zh-CN">
              <a:sym typeface="+mn-ea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5553525" y="4147185"/>
            <a:ext cx="1080000" cy="635"/>
          </a:xfrm>
          <a:prstGeom prst="line">
            <a:avLst/>
          </a:prstGeom>
          <a:noFill/>
          <a:ln w="6350" cmpd="sng">
            <a:solidFill>
              <a:schemeClr val="tx1"/>
            </a:solidFill>
            <a:prstDash val="solid"/>
            <a:tailEnd type="triangle"/>
          </a:ln>
        </p:spPr>
      </p:sp>
      <p:grpSp>
        <p:nvGrpSpPr>
          <p:cNvPr id="33" name="组合 32"/>
          <p:cNvGrpSpPr/>
          <p:nvPr/>
        </p:nvGrpSpPr>
        <p:grpSpPr>
          <a:xfrm>
            <a:off x="6884670" y="3091180"/>
            <a:ext cx="1952625" cy="2098675"/>
            <a:chOff x="10677" y="2145"/>
            <a:chExt cx="3075" cy="3305"/>
          </a:xfrm>
        </p:grpSpPr>
        <p:sp>
          <p:nvSpPr>
            <p:cNvPr id="19" name="HandCardBG"/>
            <p:cNvSpPr>
              <a:spLocks noGrp="1"/>
            </p:cNvSpPr>
            <p:nvPr/>
          </p:nvSpPr>
          <p:spPr>
            <a:xfrm>
              <a:off x="10677" y="2145"/>
              <a:ext cx="3075" cy="3305"/>
            </a:xfrm>
            <a:prstGeom prst="roundRect">
              <a:avLst>
                <a:gd name="adj" fmla="val 0"/>
              </a:avLst>
            </a:prstGeom>
            <a:solidFill>
              <a:srgbClr val="EEF3F8"/>
            </a:solidFill>
            <a:ln w="28575">
              <a:solidFill>
                <a:srgbClr val="1E3A5F"/>
              </a:solidFill>
            </a:ln>
          </p:spPr>
          <p:txBody>
            <a:bodyPr/>
            <a:p>
              <a:pPr algn="ctr"/>
              <a:r>
                <a:rPr lang="en-US"/>
                <a:t>Robotic Hand</a:t>
              </a:r>
              <a:endParaRPr lang="en-US"/>
            </a:p>
          </p:txBody>
        </p:sp>
        <p:pic>
          <p:nvPicPr>
            <p:cNvPr id="24" name="HandIm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823" y="2713"/>
              <a:ext cx="2779" cy="2520"/>
            </a:xfrm>
            <a:prstGeom prst="rect">
              <a:avLst/>
            </a:prstGeom>
          </p:spPr>
        </p:pic>
      </p:grpSp>
      <p:sp>
        <p:nvSpPr>
          <p:cNvPr id="34" name="文本框 33"/>
          <p:cNvSpPr txBox="1"/>
          <p:nvPr/>
        </p:nvSpPr>
        <p:spPr>
          <a:xfrm>
            <a:off x="3742690" y="3082925"/>
            <a:ext cx="1292860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ja-JP"/>
              <a:t>Model</a:t>
            </a:r>
            <a:endParaRPr lang="en-US" altLang="ja-JP"/>
          </a:p>
        </p:txBody>
      </p:sp>
      <p:sp>
        <p:nvSpPr>
          <p:cNvPr id="200" name="Card1BG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13995" y="1222375"/>
            <a:ext cx="1450975" cy="135699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p/>
        </p:txBody>
      </p:sp>
      <p:pic>
        <p:nvPicPr>
          <p:cNvPr id="202" name="EMGIm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02260" y="1476375"/>
            <a:ext cx="1270000" cy="1082040"/>
          </a:xfrm>
          <a:prstGeom prst="rect">
            <a:avLst/>
          </a:prstGeom>
        </p:spPr>
      </p:pic>
      <p:sp>
        <p:nvSpPr>
          <p:cNvPr id="203" name="Card1Text"/>
          <p:cNvSpPr txBox="1"/>
          <p:nvPr>
            <p:custDataLst>
              <p:tags r:id="rId10"/>
            </p:custDataLst>
          </p:nvPr>
        </p:nvSpPr>
        <p:spPr>
          <a:xfrm>
            <a:off x="302260" y="1221740"/>
            <a:ext cx="1270635" cy="2171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EMG Sensor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09420" y="3583940"/>
            <a:ext cx="145034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ja-JP" sz="1600"/>
              <a:t>Hand–Object</a:t>
            </a:r>
            <a:endParaRPr lang="en-US" altLang="ja-JP" sz="1600"/>
          </a:p>
          <a:p>
            <a:pPr algn="ctr"/>
            <a:r>
              <a:rPr lang="en-US" altLang="ja-JP" sz="1600"/>
              <a:t> Distance</a:t>
            </a:r>
            <a:endParaRPr lang="en-US" altLang="ja-JP" sz="1600"/>
          </a:p>
        </p:txBody>
      </p:sp>
      <p:sp>
        <p:nvSpPr>
          <p:cNvPr id="37" name="Shape 15"/>
          <p:cNvSpPr/>
          <p:nvPr/>
        </p:nvSpPr>
        <p:spPr>
          <a:xfrm rot="5400000">
            <a:off x="3305810" y="5261610"/>
            <a:ext cx="504190" cy="635"/>
          </a:xfrm>
          <a:prstGeom prst="line">
            <a:avLst/>
          </a:prstGeom>
          <a:noFill/>
          <a:ln w="12700" cmpd="sng">
            <a:solidFill>
              <a:srgbClr val="F59E0B"/>
            </a:solidFill>
            <a:prstDash val="lgDash"/>
            <a:tailEnd type="triangle"/>
          </a:ln>
        </p:spPr>
      </p:sp>
      <p:sp>
        <p:nvSpPr>
          <p:cNvPr id="38" name="Shape 15"/>
          <p:cNvSpPr/>
          <p:nvPr/>
        </p:nvSpPr>
        <p:spPr>
          <a:xfrm rot="5400000" flipV="1">
            <a:off x="4921885" y="5257800"/>
            <a:ext cx="504190" cy="8890"/>
          </a:xfrm>
          <a:prstGeom prst="line">
            <a:avLst/>
          </a:prstGeom>
          <a:noFill/>
          <a:ln w="12700" cmpd="sng">
            <a:solidFill>
              <a:srgbClr val="F59E0B"/>
            </a:solidFill>
            <a:prstDash val="lgDash"/>
            <a:tailEnd type="triangle"/>
          </a:ln>
        </p:spPr>
      </p:sp>
      <p:sp>
        <p:nvSpPr>
          <p:cNvPr id="40" name="Shape 15"/>
          <p:cNvSpPr/>
          <p:nvPr/>
        </p:nvSpPr>
        <p:spPr>
          <a:xfrm>
            <a:off x="1989455" y="1970405"/>
            <a:ext cx="1152000" cy="635"/>
          </a:xfrm>
          <a:prstGeom prst="line">
            <a:avLst/>
          </a:prstGeom>
          <a:noFill/>
          <a:ln w="6350" cmpd="sng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1" name="Card1BG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359150" y="1660525"/>
            <a:ext cx="1450975" cy="528320"/>
          </a:xfrm>
          <a:prstGeom prst="roundRect">
            <a:avLst>
              <a:gd name="adj" fmla="val 0"/>
            </a:avLst>
          </a:prstGeom>
          <a:solidFill>
            <a:srgbClr val="C0DBF5"/>
          </a:solidFill>
          <a:ln w="19050">
            <a:noFill/>
          </a:ln>
        </p:spPr>
        <p:txBody>
          <a:bodyPr anchor="ctr" anchorCtr="0"/>
          <a:p>
            <a:pPr algn="ctr"/>
            <a:r>
              <a:rPr lang="en-US" altLang="zh-CN"/>
              <a:t>Model</a:t>
            </a:r>
            <a:endParaRPr lang="en-US" altLang="zh-CN"/>
          </a:p>
        </p:txBody>
      </p:sp>
      <p:sp>
        <p:nvSpPr>
          <p:cNvPr id="46" name="文本框 45"/>
          <p:cNvSpPr txBox="1"/>
          <p:nvPr/>
        </p:nvSpPr>
        <p:spPr>
          <a:xfrm>
            <a:off x="1908175" y="1350010"/>
            <a:ext cx="88074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ja-JP" sz="1600"/>
              <a:t>EMG Signal</a:t>
            </a:r>
            <a:endParaRPr lang="en-US" altLang="ja-JP" sz="1600"/>
          </a:p>
        </p:txBody>
      </p:sp>
      <p:sp>
        <p:nvSpPr>
          <p:cNvPr id="47" name="文本框 46"/>
          <p:cNvSpPr txBox="1"/>
          <p:nvPr/>
        </p:nvSpPr>
        <p:spPr>
          <a:xfrm>
            <a:off x="4991735" y="1476058"/>
            <a:ext cx="5080000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1600">
                <a:sym typeface="+mn-ea"/>
              </a:rPr>
              <a:t>Fingertip Apeature </a:t>
            </a:r>
            <a:r>
              <a:rPr lang="en-US" altLang="ja-JP" sz="1600"/>
              <a:t>Fine-Adjustment Commands</a:t>
            </a:r>
            <a:endParaRPr lang="en-US" altLang="ja-JP" sz="1600"/>
          </a:p>
        </p:txBody>
      </p:sp>
      <p:sp>
        <p:nvSpPr>
          <p:cNvPr id="49" name="任意多边形 48"/>
          <p:cNvSpPr/>
          <p:nvPr/>
        </p:nvSpPr>
        <p:spPr>
          <a:xfrm>
            <a:off x="5035550" y="1933575"/>
            <a:ext cx="1586865" cy="1604010"/>
          </a:xfrm>
          <a:custGeom>
            <a:avLst/>
            <a:gdLst>
              <a:gd name="connisteX0" fmla="*/ 0 w 1059815"/>
              <a:gd name="connsiteY0" fmla="*/ 0 h 2518410"/>
              <a:gd name="connisteX1" fmla="*/ 1042035 w 1059815"/>
              <a:gd name="connsiteY1" fmla="*/ 0 h 2518410"/>
              <a:gd name="connisteX2" fmla="*/ 1059815 w 1059815"/>
              <a:gd name="connsiteY2" fmla="*/ 2518410 h 25184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059815" h="2518410">
                <a:moveTo>
                  <a:pt x="0" y="0"/>
                </a:moveTo>
                <a:lnTo>
                  <a:pt x="1042035" y="0"/>
                </a:lnTo>
                <a:lnTo>
                  <a:pt x="1059815" y="2518410"/>
                </a:lnTo>
              </a:path>
            </a:pathLst>
          </a:custGeom>
          <a:noFill/>
          <a:ln w="6350" cmpd="sng">
            <a:solidFill>
              <a:schemeClr val="tx1"/>
            </a:solidFill>
            <a:prstDash val="solid"/>
            <a:tailEnd type="triangle"/>
          </a:ln>
        </p:spPr>
        <p:txBody>
          <a:bodyPr/>
          <a:p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5469890" y="3522345"/>
            <a:ext cx="1163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Fingertip</a:t>
            </a:r>
            <a:endParaRPr lang="en-US" altLang="zh-CN"/>
          </a:p>
          <a:p>
            <a:pPr algn="ctr"/>
            <a:r>
              <a:rPr lang="en-US" altLang="zh-CN"/>
              <a:t>Apeature</a:t>
            </a:r>
            <a:endParaRPr lang="en-US" altLang="zh-CN"/>
          </a:p>
        </p:txBody>
      </p:sp>
      <p:sp>
        <p:nvSpPr>
          <p:cNvPr id="51" name="Card1BG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259330" y="5695315"/>
            <a:ext cx="4555490" cy="89408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endParaRPr lang="en-US" altLang="zh-CN"/>
          </a:p>
          <a:p>
            <a:pPr algn="ctr"/>
            <a:r>
              <a:rPr lang="en-US" altLang="zh-CN"/>
              <a:t>Comparing Different Models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2259330" y="5725160"/>
            <a:ext cx="4556125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400"/>
              <a:t>Planned work: </a:t>
            </a:r>
            <a:endParaRPr lang="en-US" altLang="ja-JP" sz="14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Visual Processing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pic>
        <p:nvPicPr>
          <p:cNvPr id="14" name="图片 13" descr="10月20日(1)"/>
          <p:cNvPicPr>
            <a:picLocks noChangeAspect="1"/>
          </p:cNvPicPr>
          <p:nvPr/>
        </p:nvPicPr>
        <p:blipFill>
          <a:blip r:embed="rId1"/>
          <a:srcRect l="10347" r="10146" b="7276"/>
          <a:stretch>
            <a:fillRect/>
          </a:stretch>
        </p:blipFill>
        <p:spPr>
          <a:xfrm>
            <a:off x="3799840" y="1682115"/>
            <a:ext cx="5107305" cy="446722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75590" y="755015"/>
            <a:ext cx="852233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2C2C2C"/>
                </a:solidFill>
              </a:rPr>
              <a:t>The camera is fixed in the world coordinate frame and provides a top-down view.</a:t>
            </a:r>
            <a:endParaRPr lang="en-US" altLang="zh-CN" sz="1600">
              <a:solidFill>
                <a:srgbClr val="2C2C2C"/>
              </a:solidFill>
            </a:endParaRPr>
          </a:p>
          <a:p>
            <a:r>
              <a:rPr lang="en-US" altLang="ja-JP" sz="1600">
                <a:solidFill>
                  <a:srgbClr val="2C2C2C"/>
                </a:solidFill>
              </a:rPr>
              <a:t>MediaPipe and </a:t>
            </a:r>
            <a:r>
              <a:rPr lang="en-US" altLang="zh-CN" sz="1600">
                <a:solidFill>
                  <a:srgbClr val="2C2C2C"/>
                </a:solidFill>
              </a:rPr>
              <a:t>OpenCV</a:t>
            </a:r>
            <a:r>
              <a:rPr lang="en-US" altLang="ja-JP" sz="1600">
                <a:solidFill>
                  <a:srgbClr val="2C2C2C"/>
                </a:solidFill>
              </a:rPr>
              <a:t> </a:t>
            </a:r>
            <a:r>
              <a:rPr lang="en-US" altLang="zh-CN" sz="1600">
                <a:solidFill>
                  <a:srgbClr val="2C2C2C"/>
                </a:solidFill>
              </a:rPr>
              <a:t>are</a:t>
            </a:r>
            <a:r>
              <a:rPr lang="en-US" altLang="ja-JP" sz="1600">
                <a:solidFill>
                  <a:srgbClr val="2C2C2C"/>
                </a:solidFill>
              </a:rPr>
              <a:t> used to detect hand landmarks and cube.</a:t>
            </a:r>
            <a:endParaRPr lang="en-US" altLang="ja-JP" sz="1600">
              <a:solidFill>
                <a:srgbClr val="2C2C2C"/>
              </a:solidFill>
            </a:endParaRPr>
          </a:p>
        </p:txBody>
      </p:sp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275590" y="1682115"/>
            <a:ext cx="3422015" cy="1365885"/>
          </a:xfrm>
          <a:prstGeom prst="roundRect">
            <a:avLst>
              <a:gd name="adj" fmla="val 3484"/>
            </a:avLst>
          </a:prstGeom>
          <a:solidFill>
            <a:srgbClr val="EDF4FB"/>
          </a:solidFill>
          <a:ln w="19050">
            <a:noFill/>
            <a:prstDash val="solid"/>
          </a:ln>
        </p:spPr>
        <p:txBody>
          <a:bodyPr/>
          <a:p>
            <a:pPr algn="l">
              <a:lnSpc>
                <a:spcPct val="110000"/>
              </a:lnSpc>
            </a:pPr>
            <a:r>
              <a:rPr lang="en-US" altLang="zh-CN">
                <a:ea typeface="SimSun" panose="02010600030101010101" pitchFamily="2" charset="-122"/>
              </a:rPr>
              <a:t>      Hand–Object Distance</a:t>
            </a: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400">
                <a:solidFill>
                  <a:srgbClr val="424242"/>
                </a:solidFill>
                <a:ea typeface="SimSun" panose="02010600030101010101" pitchFamily="2" charset="-122"/>
              </a:rPr>
              <a:t>Distance from the fingertip midpoint to the object center.</a:t>
            </a:r>
            <a:endParaRPr lang="en-US" altLang="zh-CN" sz="1400">
              <a:solidFill>
                <a:srgbClr val="424242"/>
              </a:solidFill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1400">
                <a:solidFill>
                  <a:srgbClr val="6A6A6A"/>
                </a:solidFill>
                <a:ea typeface="SimSun" panose="02010600030101010101" pitchFamily="2" charset="-122"/>
              </a:rPr>
              <a:t>Pixels (px)</a:t>
            </a:r>
            <a:endParaRPr lang="en-US" altLang="zh-CN" sz="1400">
              <a:solidFill>
                <a:srgbClr val="6A6A6A"/>
              </a:solidFill>
              <a:ea typeface="SimSun" panose="02010600030101010101" pitchFamily="2" charset="-122"/>
            </a:endParaRPr>
          </a:p>
        </p:txBody>
      </p:sp>
      <p:pic>
        <p:nvPicPr>
          <p:cNvPr id="2" name="图片 1" descr="icons8-数字-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85" y="1760855"/>
            <a:ext cx="275590" cy="275590"/>
          </a:xfrm>
          <a:prstGeom prst="rect">
            <a:avLst/>
          </a:prstGeom>
        </p:spPr>
      </p:pic>
      <p:sp>
        <p:nvSpPr>
          <p:cNvPr id="3" name="Shape 26"/>
          <p:cNvSpPr/>
          <p:nvPr>
            <p:custDataLst>
              <p:tags r:id="rId4"/>
            </p:custDataLst>
          </p:nvPr>
        </p:nvSpPr>
        <p:spPr>
          <a:xfrm>
            <a:off x="275590" y="3312795"/>
            <a:ext cx="3422015" cy="1365885"/>
          </a:xfrm>
          <a:prstGeom prst="roundRect">
            <a:avLst>
              <a:gd name="adj" fmla="val 3484"/>
            </a:avLst>
          </a:prstGeom>
          <a:solidFill>
            <a:srgbClr val="EDF4FB"/>
          </a:solidFill>
          <a:ln w="19050">
            <a:noFill/>
            <a:prstDash val="solid"/>
          </a:ln>
        </p:spPr>
        <p:txBody>
          <a:bodyPr/>
          <a:p>
            <a:pPr algn="l">
              <a:lnSpc>
                <a:spcPct val="110000"/>
              </a:lnSpc>
            </a:pPr>
            <a:r>
              <a:rPr lang="en-US" altLang="zh-CN">
                <a:ea typeface="SimSun" panose="02010600030101010101" pitchFamily="2" charset="-122"/>
              </a:rPr>
              <a:t>      Fingertip Aperture</a:t>
            </a: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400">
                <a:solidFill>
                  <a:srgbClr val="424242"/>
                </a:solidFill>
                <a:ea typeface="SimSun" panose="02010600030101010101" pitchFamily="2" charset="-122"/>
              </a:rPr>
              <a:t>Distance between the thumb and index fingertips.</a:t>
            </a:r>
            <a:endParaRPr lang="en-US" altLang="zh-CN" sz="1400">
              <a:solidFill>
                <a:srgbClr val="424242"/>
              </a:solidFill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1400">
                <a:solidFill>
                  <a:srgbClr val="6A6A6A"/>
                </a:solidFill>
                <a:ea typeface="SimSun" panose="02010600030101010101" pitchFamily="2" charset="-122"/>
              </a:rPr>
              <a:t>Pixels (px)</a:t>
            </a:r>
            <a:endParaRPr lang="en-US" altLang="zh-CN" sz="1400">
              <a:solidFill>
                <a:srgbClr val="6A6A6A"/>
              </a:solidFill>
              <a:ea typeface="SimSun" panose="02010600030101010101" pitchFamily="2" charset="-122"/>
            </a:endParaRPr>
          </a:p>
        </p:txBody>
      </p:sp>
      <p:pic>
        <p:nvPicPr>
          <p:cNvPr id="4" name="图片 3" descr="C:/Users/Di/Desktop/icons8-实心圈2-96.pngicons8-实心圈2-96"/>
          <p:cNvPicPr>
            <a:picLocks noChangeAspect="1"/>
          </p:cNvPicPr>
          <p:nvPr/>
        </p:nvPicPr>
        <p:blipFill>
          <a:blip r:embed="rId5"/>
          <a:srcRect t="115" b="115"/>
          <a:stretch>
            <a:fillRect/>
          </a:stretch>
        </p:blipFill>
        <p:spPr>
          <a:xfrm>
            <a:off x="400685" y="3391535"/>
            <a:ext cx="275590" cy="27559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sp>
        <p:nvSpPr>
          <p:cNvPr id="51" name="Card1BG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75590" y="5369560"/>
            <a:ext cx="3422650" cy="89408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endParaRPr lang="en-US" altLang="zh-CN"/>
          </a:p>
          <a:p>
            <a:pPr algn="l"/>
            <a:r>
              <a:rPr lang="en-US" altLang="zh-CN">
                <a:sym typeface="+mn-ea"/>
              </a:rPr>
              <a:t>the units: [</a:t>
            </a:r>
            <a:r>
              <a:rPr lang="en-US" altLang="zh-CN"/>
              <a:t>px</a:t>
            </a:r>
            <a:r>
              <a:rPr lang="en-US" altLang="zh-CN">
                <a:sym typeface="+mn-ea"/>
              </a:rPr>
              <a:t>]</a:t>
            </a:r>
            <a:r>
              <a:rPr lang="en-US" altLang="zh-CN"/>
              <a:t> converting  to [mm]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275590" y="5399405"/>
            <a:ext cx="3422650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400"/>
              <a:t>Planned work: </a:t>
            </a:r>
            <a:endParaRPr lang="en-US" altLang="ja-JP" sz="1400"/>
          </a:p>
        </p:txBody>
      </p:sp>
      <p:sp>
        <p:nvSpPr>
          <p:cNvPr id="38" name="Shape 15"/>
          <p:cNvSpPr/>
          <p:nvPr/>
        </p:nvSpPr>
        <p:spPr>
          <a:xfrm rot="16200000" flipV="1">
            <a:off x="283555" y="5008445"/>
            <a:ext cx="504190" cy="0"/>
          </a:xfrm>
          <a:prstGeom prst="line">
            <a:avLst/>
          </a:prstGeom>
          <a:noFill/>
          <a:ln w="12700" cmpd="sng">
            <a:solidFill>
              <a:srgbClr val="F59E0B"/>
            </a:solidFill>
            <a:prstDash val="lgDash"/>
            <a:tailEnd type="triangle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Google Shape;4859;p44"/>
          <p:cNvSpPr/>
          <p:nvPr/>
        </p:nvSpPr>
        <p:spPr>
          <a:xfrm>
            <a:off x="198755" y="2265680"/>
            <a:ext cx="1410335" cy="901065"/>
          </a:xfrm>
          <a:prstGeom prst="cube">
            <a:avLst>
              <a:gd name="adj" fmla="val 8683"/>
            </a:avLst>
          </a:prstGeom>
          <a:solidFill>
            <a:schemeClr val="accent6">
              <a:lumMod val="60000"/>
              <a:lumOff val="4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" name="直接箭头连接符 7"/>
          <p:cNvCxnSpPr>
            <a:stCxn id="5" idx="4"/>
          </p:cNvCxnSpPr>
          <p:nvPr/>
        </p:nvCxnSpPr>
        <p:spPr>
          <a:xfrm flipV="1">
            <a:off x="1530985" y="2745740"/>
            <a:ext cx="1656000" cy="9525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5985510" y="2707005"/>
            <a:ext cx="789305" cy="9525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45415" y="2357120"/>
            <a:ext cx="15455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Hand–Object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Distance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 rot="0">
            <a:off x="6857365" y="2065020"/>
            <a:ext cx="1643380" cy="1045845"/>
            <a:chOff x="9310" y="4361"/>
            <a:chExt cx="2242" cy="1344"/>
          </a:xfrm>
        </p:grpSpPr>
        <p:sp>
          <p:nvSpPr>
            <p:cNvPr id="4861" name="Google Shape;4861;p44"/>
            <p:cNvSpPr/>
            <p:nvPr/>
          </p:nvSpPr>
          <p:spPr>
            <a:xfrm>
              <a:off x="9310" y="4361"/>
              <a:ext cx="2192" cy="1344"/>
            </a:xfrm>
            <a:prstGeom prst="cube">
              <a:avLst>
                <a:gd name="adj" fmla="val 21848"/>
              </a:avLst>
            </a:prstGeom>
            <a:solidFill>
              <a:srgbClr val="09CDA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10" y="4688"/>
              <a:ext cx="2242" cy="82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Fingertip </a:t>
              </a:r>
              <a:endParaRPr lang="en-US" altLang="zh-CN" sz="1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Aperture</a:t>
              </a:r>
              <a:endParaRPr lang="en-US" altLang="ja-JP" sz="1600"/>
            </a:p>
          </p:txBody>
        </p:sp>
      </p:grpSp>
      <p:grpSp>
        <p:nvGrpSpPr>
          <p:cNvPr id="155" name="组合 154"/>
          <p:cNvGrpSpPr/>
          <p:nvPr/>
        </p:nvGrpSpPr>
        <p:grpSpPr>
          <a:xfrm rot="0">
            <a:off x="3434715" y="1743710"/>
            <a:ext cx="2476500" cy="2308225"/>
            <a:chOff x="2243" y="1465"/>
            <a:chExt cx="8060" cy="5346"/>
          </a:xfrm>
        </p:grpSpPr>
        <p:sp>
          <p:nvSpPr>
            <p:cNvPr id="114" name="Google Shape;500;p25"/>
            <p:cNvSpPr/>
            <p:nvPr/>
          </p:nvSpPr>
          <p:spPr>
            <a:xfrm>
              <a:off x="2243" y="2689"/>
              <a:ext cx="125" cy="108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03;p25"/>
            <p:cNvSpPr/>
            <p:nvPr/>
          </p:nvSpPr>
          <p:spPr>
            <a:xfrm>
              <a:off x="9455" y="3359"/>
              <a:ext cx="849" cy="878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cxnSp>
          <p:nvCxnSpPr>
            <p:cNvPr id="116" name="Google Shape;510;p25"/>
            <p:cNvCxnSpPr>
              <a:endCxn id="115" idx="2"/>
            </p:cNvCxnSpPr>
            <p:nvPr/>
          </p:nvCxnSpPr>
          <p:spPr>
            <a:xfrm rot="10800000" flipH="1">
              <a:off x="7887" y="3798"/>
              <a:ext cx="1568" cy="250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Google Shape;512;p25"/>
            <p:cNvCxnSpPr>
              <a:endCxn id="115" idx="2"/>
            </p:cNvCxnSpPr>
            <p:nvPr/>
          </p:nvCxnSpPr>
          <p:spPr>
            <a:xfrm>
              <a:off x="7887" y="3166"/>
              <a:ext cx="1568" cy="63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8" name="Google Shape;514;p25"/>
            <p:cNvCxnSpPr>
              <a:endCxn id="115" idx="2"/>
            </p:cNvCxnSpPr>
            <p:nvPr/>
          </p:nvCxnSpPr>
          <p:spPr>
            <a:xfrm>
              <a:off x="7887" y="1947"/>
              <a:ext cx="1568" cy="185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9" name="Google Shape;516;p25"/>
            <p:cNvCxnSpPr>
              <a:stCxn id="120" idx="6"/>
              <a:endCxn id="124" idx="2"/>
            </p:cNvCxnSpPr>
            <p:nvPr/>
          </p:nvCxnSpPr>
          <p:spPr>
            <a:xfrm>
              <a:off x="5658" y="1947"/>
              <a:ext cx="1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0" name="Google Shape;517;p25"/>
            <p:cNvSpPr/>
            <p:nvPr/>
          </p:nvSpPr>
          <p:spPr>
            <a:xfrm>
              <a:off x="4724" y="1465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200" baseline="-25000"/>
            </a:p>
          </p:txBody>
        </p:sp>
        <p:sp>
          <p:nvSpPr>
            <p:cNvPr id="121" name="Google Shape;519;p25"/>
            <p:cNvSpPr/>
            <p:nvPr/>
          </p:nvSpPr>
          <p:spPr>
            <a:xfrm>
              <a:off x="4714" y="2684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2" name="Google Shape;520;p25"/>
            <p:cNvSpPr/>
            <p:nvPr/>
          </p:nvSpPr>
          <p:spPr>
            <a:xfrm>
              <a:off x="4724" y="3903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3" name="Google Shape;521;p25"/>
            <p:cNvSpPr/>
            <p:nvPr/>
          </p:nvSpPr>
          <p:spPr>
            <a:xfrm>
              <a:off x="4724" y="5849"/>
              <a:ext cx="925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100">
                <a:solidFill>
                  <a:srgbClr val="000000"/>
                </a:solidFill>
              </a:endParaRPr>
            </a:p>
          </p:txBody>
        </p:sp>
        <p:sp>
          <p:nvSpPr>
            <p:cNvPr id="124" name="Google Shape;518;p25"/>
            <p:cNvSpPr/>
            <p:nvPr/>
          </p:nvSpPr>
          <p:spPr>
            <a:xfrm>
              <a:off x="6840" y="1465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200" baseline="-25000"/>
            </a:p>
          </p:txBody>
        </p:sp>
        <p:sp>
          <p:nvSpPr>
            <p:cNvPr id="125" name="Google Shape;522;p25"/>
            <p:cNvSpPr/>
            <p:nvPr/>
          </p:nvSpPr>
          <p:spPr>
            <a:xfrm>
              <a:off x="6840" y="2743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6" name="Google Shape;523;p25"/>
            <p:cNvSpPr/>
            <p:nvPr/>
          </p:nvSpPr>
          <p:spPr>
            <a:xfrm>
              <a:off x="6840" y="3946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7" name="Google Shape;524;p25"/>
            <p:cNvSpPr/>
            <p:nvPr/>
          </p:nvSpPr>
          <p:spPr>
            <a:xfrm>
              <a:off x="6840" y="5849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cxnSp>
          <p:nvCxnSpPr>
            <p:cNvPr id="128" name="Google Shape;526;p25"/>
            <p:cNvCxnSpPr/>
            <p:nvPr/>
          </p:nvCxnSpPr>
          <p:spPr>
            <a:xfrm flipH="1">
              <a:off x="5186" y="5064"/>
              <a:ext cx="9" cy="709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129" name="Google Shape;530;p25"/>
            <p:cNvSpPr/>
            <p:nvPr/>
          </p:nvSpPr>
          <p:spPr>
            <a:xfrm>
              <a:off x="2243" y="5113"/>
              <a:ext cx="125" cy="108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130" name="Google Shape;531;p25"/>
            <p:cNvCxnSpPr>
              <a:endCxn id="120" idx="2"/>
            </p:cNvCxnSpPr>
            <p:nvPr/>
          </p:nvCxnSpPr>
          <p:spPr>
            <a:xfrm rot="10800000" flipH="1">
              <a:off x="2378" y="1947"/>
              <a:ext cx="2346" cy="8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1" name="Google Shape;532;p25"/>
            <p:cNvCxnSpPr>
              <a:stCxn id="114" idx="5"/>
              <a:endCxn id="121" idx="2"/>
            </p:cNvCxnSpPr>
            <p:nvPr/>
          </p:nvCxnSpPr>
          <p:spPr>
            <a:xfrm>
              <a:off x="2350" y="2781"/>
              <a:ext cx="2365" cy="38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2" name="Google Shape;533;p25"/>
            <p:cNvCxnSpPr>
              <a:stCxn id="114" idx="5"/>
              <a:endCxn id="122" idx="2"/>
            </p:cNvCxnSpPr>
            <p:nvPr/>
          </p:nvCxnSpPr>
          <p:spPr>
            <a:xfrm>
              <a:off x="2350" y="2781"/>
              <a:ext cx="2374" cy="160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Google Shape;534;p25"/>
            <p:cNvCxnSpPr>
              <a:stCxn id="114" idx="5"/>
              <a:endCxn id="123" idx="2"/>
            </p:cNvCxnSpPr>
            <p:nvPr/>
          </p:nvCxnSpPr>
          <p:spPr>
            <a:xfrm>
              <a:off x="2350" y="2781"/>
              <a:ext cx="2374" cy="355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" name="Google Shape;555;p25"/>
            <p:cNvCxnSpPr>
              <a:stCxn id="129" idx="5"/>
              <a:endCxn id="120" idx="2"/>
            </p:cNvCxnSpPr>
            <p:nvPr/>
          </p:nvCxnSpPr>
          <p:spPr>
            <a:xfrm rot="10800000" flipH="1">
              <a:off x="2350" y="1947"/>
              <a:ext cx="2374" cy="325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5" name="Google Shape;556;p25"/>
            <p:cNvCxnSpPr>
              <a:stCxn id="129" idx="5"/>
              <a:endCxn id="121" idx="2"/>
            </p:cNvCxnSpPr>
            <p:nvPr/>
          </p:nvCxnSpPr>
          <p:spPr>
            <a:xfrm rot="10800000" flipH="1">
              <a:off x="2350" y="3166"/>
              <a:ext cx="2365" cy="203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" name="Google Shape;557;p25"/>
            <p:cNvCxnSpPr>
              <a:stCxn id="129" idx="5"/>
              <a:endCxn id="122" idx="2"/>
            </p:cNvCxnSpPr>
            <p:nvPr/>
          </p:nvCxnSpPr>
          <p:spPr>
            <a:xfrm rot="10800000" flipH="1">
              <a:off x="2350" y="4385"/>
              <a:ext cx="2374" cy="82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Google Shape;558;p25"/>
            <p:cNvCxnSpPr>
              <a:stCxn id="129" idx="5"/>
              <a:endCxn id="123" idx="2"/>
            </p:cNvCxnSpPr>
            <p:nvPr/>
          </p:nvCxnSpPr>
          <p:spPr>
            <a:xfrm>
              <a:off x="2350" y="5205"/>
              <a:ext cx="2374" cy="112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8" name="Google Shape;559;p25"/>
            <p:cNvCxnSpPr>
              <a:stCxn id="120" idx="6"/>
              <a:endCxn id="125" idx="2"/>
            </p:cNvCxnSpPr>
            <p:nvPr/>
          </p:nvCxnSpPr>
          <p:spPr>
            <a:xfrm>
              <a:off x="5658" y="1947"/>
              <a:ext cx="1182" cy="127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9" name="Google Shape;560;p25"/>
            <p:cNvCxnSpPr>
              <a:stCxn id="120" idx="6"/>
              <a:endCxn id="126" idx="2"/>
            </p:cNvCxnSpPr>
            <p:nvPr/>
          </p:nvCxnSpPr>
          <p:spPr>
            <a:xfrm>
              <a:off x="5658" y="1947"/>
              <a:ext cx="1182" cy="248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0" name="Google Shape;561;p25"/>
            <p:cNvCxnSpPr>
              <a:stCxn id="120" idx="6"/>
              <a:endCxn id="127" idx="2"/>
            </p:cNvCxnSpPr>
            <p:nvPr/>
          </p:nvCxnSpPr>
          <p:spPr>
            <a:xfrm>
              <a:off x="5658" y="1947"/>
              <a:ext cx="1182" cy="438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" name="Google Shape;562;p25"/>
            <p:cNvCxnSpPr>
              <a:stCxn id="121" idx="6"/>
              <a:endCxn id="124" idx="2"/>
            </p:cNvCxnSpPr>
            <p:nvPr/>
          </p:nvCxnSpPr>
          <p:spPr>
            <a:xfrm rot="10800000" flipH="1">
              <a:off x="5648" y="1946"/>
              <a:ext cx="1191" cy="121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" name="Google Shape;563;p25"/>
            <p:cNvCxnSpPr>
              <a:stCxn id="121" idx="6"/>
              <a:endCxn id="125" idx="2"/>
            </p:cNvCxnSpPr>
            <p:nvPr/>
          </p:nvCxnSpPr>
          <p:spPr>
            <a:xfrm>
              <a:off x="5648" y="3166"/>
              <a:ext cx="1191" cy="5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3" name="Google Shape;564;p25"/>
            <p:cNvCxnSpPr>
              <a:stCxn id="121" idx="6"/>
              <a:endCxn id="126" idx="2"/>
            </p:cNvCxnSpPr>
            <p:nvPr/>
          </p:nvCxnSpPr>
          <p:spPr>
            <a:xfrm>
              <a:off x="5648" y="3166"/>
              <a:ext cx="1191" cy="126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" name="Google Shape;565;p25"/>
            <p:cNvCxnSpPr>
              <a:stCxn id="121" idx="6"/>
              <a:endCxn id="127" idx="2"/>
            </p:cNvCxnSpPr>
            <p:nvPr/>
          </p:nvCxnSpPr>
          <p:spPr>
            <a:xfrm>
              <a:off x="5648" y="3166"/>
              <a:ext cx="1191" cy="316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5" name="Google Shape;566;p25"/>
            <p:cNvCxnSpPr>
              <a:stCxn id="122" idx="6"/>
              <a:endCxn id="124" idx="2"/>
            </p:cNvCxnSpPr>
            <p:nvPr/>
          </p:nvCxnSpPr>
          <p:spPr>
            <a:xfrm rot="10800000" flipH="1">
              <a:off x="5658" y="1947"/>
              <a:ext cx="1182" cy="243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" name="Google Shape;567;p25"/>
            <p:cNvCxnSpPr>
              <a:stCxn id="122" idx="6"/>
              <a:endCxn id="125" idx="2"/>
            </p:cNvCxnSpPr>
            <p:nvPr/>
          </p:nvCxnSpPr>
          <p:spPr>
            <a:xfrm rot="10800000" flipH="1">
              <a:off x="5658" y="3224"/>
              <a:ext cx="1182" cy="116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7" name="Google Shape;568;p25"/>
            <p:cNvCxnSpPr>
              <a:stCxn id="122" idx="6"/>
              <a:endCxn id="126" idx="2"/>
            </p:cNvCxnSpPr>
            <p:nvPr/>
          </p:nvCxnSpPr>
          <p:spPr>
            <a:xfrm>
              <a:off x="5658" y="4385"/>
              <a:ext cx="1182" cy="4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8" name="Google Shape;569;p25"/>
            <p:cNvCxnSpPr>
              <a:stCxn id="122" idx="6"/>
              <a:endCxn id="127" idx="2"/>
            </p:cNvCxnSpPr>
            <p:nvPr/>
          </p:nvCxnSpPr>
          <p:spPr>
            <a:xfrm>
              <a:off x="5658" y="4385"/>
              <a:ext cx="1182" cy="194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9" name="Google Shape;570;p25"/>
            <p:cNvCxnSpPr>
              <a:endCxn id="124" idx="2"/>
            </p:cNvCxnSpPr>
            <p:nvPr/>
          </p:nvCxnSpPr>
          <p:spPr>
            <a:xfrm rot="10800000" flipH="1">
              <a:off x="5658" y="1947"/>
              <a:ext cx="1182" cy="444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0" name="Google Shape;571;p25"/>
            <p:cNvCxnSpPr>
              <a:stCxn id="123" idx="6"/>
              <a:endCxn id="125" idx="2"/>
            </p:cNvCxnSpPr>
            <p:nvPr/>
          </p:nvCxnSpPr>
          <p:spPr>
            <a:xfrm rot="10800000" flipH="1">
              <a:off x="5649" y="3224"/>
              <a:ext cx="1191" cy="310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1" name="Google Shape;572;p25"/>
            <p:cNvCxnSpPr>
              <a:stCxn id="123" idx="6"/>
              <a:endCxn id="126" idx="2"/>
            </p:cNvCxnSpPr>
            <p:nvPr/>
          </p:nvCxnSpPr>
          <p:spPr>
            <a:xfrm rot="10800000" flipH="1">
              <a:off x="5649" y="4428"/>
              <a:ext cx="1191" cy="19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2" name="Google Shape;573;p25"/>
            <p:cNvCxnSpPr>
              <a:stCxn id="123" idx="6"/>
              <a:endCxn id="127" idx="2"/>
            </p:cNvCxnSpPr>
            <p:nvPr/>
          </p:nvCxnSpPr>
          <p:spPr>
            <a:xfrm>
              <a:off x="5649" y="6331"/>
              <a:ext cx="1191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3" name="Google Shape;591;p25"/>
            <p:cNvCxnSpPr>
              <a:endCxn id="115" idx="2"/>
            </p:cNvCxnSpPr>
            <p:nvPr/>
          </p:nvCxnSpPr>
          <p:spPr>
            <a:xfrm rot="10800000" flipH="1">
              <a:off x="7887" y="3798"/>
              <a:ext cx="1568" cy="58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4" name="Google Shape;593;p25"/>
            <p:cNvCxnSpPr/>
            <p:nvPr/>
          </p:nvCxnSpPr>
          <p:spPr>
            <a:xfrm flipH="1">
              <a:off x="7302" y="5064"/>
              <a:ext cx="9" cy="709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156" name="文本框 155"/>
          <p:cNvSpPr txBox="1"/>
          <p:nvPr/>
        </p:nvSpPr>
        <p:spPr>
          <a:xfrm>
            <a:off x="3085465" y="1264285"/>
            <a:ext cx="3195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5-frame temporal window MLP</a:t>
            </a:r>
            <a:endParaRPr lang="en-US" altLang="zh-CN" sz="1600" b="1">
              <a:sym typeface="+mn-ea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2465705" y="4052570"/>
            <a:ext cx="47002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2 hidden layer, each with 32 neurons.</a:t>
            </a:r>
            <a:endParaRPr lang="en-US" altLang="zh-CN" sz="1600" b="1"/>
          </a:p>
        </p:txBody>
      </p:sp>
      <p:grpSp>
        <p:nvGrpSpPr>
          <p:cNvPr id="13" name="组合 12"/>
          <p:cNvGrpSpPr/>
          <p:nvPr/>
        </p:nvGrpSpPr>
        <p:grpSpPr>
          <a:xfrm>
            <a:off x="1018540" y="4828540"/>
            <a:ext cx="1847215" cy="905510"/>
            <a:chOff x="1296" y="8244"/>
            <a:chExt cx="2909" cy="1426"/>
          </a:xfrm>
        </p:grpSpPr>
        <p:sp>
          <p:nvSpPr>
            <p:cNvPr id="7" name="圆角矩形 6"/>
            <p:cNvSpPr/>
            <p:nvPr/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E3E3E3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297" y="8391"/>
              <a:ext cx="2908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solidFill>
                    <a:srgbClr val="6A6A6A"/>
                  </a:solidFill>
                </a:rPr>
                <a:t>Loss Function</a:t>
              </a:r>
              <a:endParaRPr lang="en-US" altLang="zh-CN" sz="1600">
                <a:solidFill>
                  <a:srgbClr val="6A6A6A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97" y="8901"/>
              <a:ext cx="290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MAE</a:t>
              </a:r>
              <a:endParaRPr lang="en-US" altLang="zh-CN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535680" y="4855210"/>
            <a:ext cx="1847215" cy="906145"/>
            <a:chOff x="1296" y="8244"/>
            <a:chExt cx="2909" cy="1427"/>
          </a:xfrm>
        </p:grpSpPr>
        <p:sp>
          <p:nvSpPr>
            <p:cNvPr id="15" name="圆角矩形 14"/>
            <p:cNvSpPr/>
            <p:nvPr/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E3E3E3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97" y="8391"/>
              <a:ext cx="2908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solidFill>
                    <a:srgbClr val="6A6A6A"/>
                  </a:solidFill>
                </a:rPr>
                <a:t>Preprocessing</a:t>
              </a:r>
              <a:endParaRPr lang="en-US" altLang="zh-CN" sz="1600">
                <a:solidFill>
                  <a:srgbClr val="6A6A6A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97" y="8901"/>
              <a:ext cx="290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Normalization</a:t>
              </a:r>
              <a:endParaRPr lang="en-US" altLang="zh-CN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076315" y="4855210"/>
            <a:ext cx="1847215" cy="906145"/>
            <a:chOff x="1296" y="8244"/>
            <a:chExt cx="2909" cy="1427"/>
          </a:xfrm>
        </p:grpSpPr>
        <p:sp>
          <p:nvSpPr>
            <p:cNvPr id="19" name="圆角矩形 18"/>
            <p:cNvSpPr/>
            <p:nvPr/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E3E3E3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97" y="8391"/>
              <a:ext cx="2908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solidFill>
                    <a:srgbClr val="6A6A6A"/>
                  </a:solidFill>
                </a:rPr>
                <a:t>Training Data</a:t>
              </a:r>
              <a:endParaRPr lang="en-US" altLang="zh-CN" sz="1600">
                <a:solidFill>
                  <a:srgbClr val="6A6A6A"/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297" y="8901"/>
              <a:ext cx="290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30 trials</a:t>
              </a:r>
              <a:endParaRPr lang="en-US" altLang="zh-CN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457950" y="5924551"/>
            <a:ext cx="2057400" cy="365125"/>
          </a:xfrm>
        </p:spPr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09090" y="2379345"/>
            <a:ext cx="20567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600"/>
              <a:t>[dₜ₋₄, dₜ₋₃, dₜ₋₂, dₜ₋₁, dₜ]</a:t>
            </a:r>
            <a:endParaRPr lang="en-US" altLang="ja-JP" sz="1600"/>
          </a:p>
        </p:txBody>
      </p:sp>
      <p:sp>
        <p:nvSpPr>
          <p:cNvPr id="9" name="文本框 8"/>
          <p:cNvSpPr txBox="1"/>
          <p:nvPr/>
        </p:nvSpPr>
        <p:spPr>
          <a:xfrm>
            <a:off x="6280785" y="2357120"/>
            <a:ext cx="238061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600"/>
              <a:t>âₜ</a:t>
            </a:r>
            <a:endParaRPr lang="en-US" altLang="ja-JP" sz="1600"/>
          </a:p>
        </p:txBody>
      </p:sp>
      <p:cxnSp>
        <p:nvCxnSpPr>
          <p:cNvPr id="23" name="Google Shape;526;p25"/>
          <p:cNvCxnSpPr/>
          <p:nvPr/>
        </p:nvCxnSpPr>
        <p:spPr>
          <a:xfrm flipH="1">
            <a:off x="3476010" y="2658829"/>
            <a:ext cx="2765" cy="306123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Experimental Setup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0855" y="998855"/>
            <a:ext cx="9027795" cy="5362575"/>
            <a:chOff x="182" y="1685"/>
            <a:chExt cx="14217" cy="844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l="2579" t="15949" b="21628"/>
            <a:stretch>
              <a:fillRect/>
            </a:stretch>
          </p:blipFill>
          <p:spPr>
            <a:xfrm>
              <a:off x="2759" y="2616"/>
              <a:ext cx="6597" cy="7514"/>
            </a:xfrm>
            <a:prstGeom prst="rect">
              <a:avLst/>
            </a:prstGeom>
          </p:spPr>
        </p:pic>
        <p:sp>
          <p:nvSpPr>
            <p:cNvPr id="8" name="任意多边形 7"/>
            <p:cNvSpPr/>
            <p:nvPr/>
          </p:nvSpPr>
          <p:spPr>
            <a:xfrm>
              <a:off x="1531" y="9014"/>
              <a:ext cx="1644" cy="17"/>
            </a:xfrm>
            <a:custGeom>
              <a:avLst/>
              <a:gdLst>
                <a:gd name="connisteX0" fmla="*/ 2532380 w 2532380"/>
                <a:gd name="connsiteY0" fmla="*/ 0 h 10795"/>
                <a:gd name="connisteX1" fmla="*/ 0 w 2532380"/>
                <a:gd name="connsiteY1" fmla="*/ 10795 h 107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532380" h="10795">
                  <a:moveTo>
                    <a:pt x="2532380" y="0"/>
                  </a:moveTo>
                  <a:lnTo>
                    <a:pt x="0" y="10795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1531" y="2891"/>
              <a:ext cx="1644" cy="17"/>
            </a:xfrm>
            <a:custGeom>
              <a:avLst/>
              <a:gdLst>
                <a:gd name="connisteX0" fmla="*/ 2532380 w 2532380"/>
                <a:gd name="connsiteY0" fmla="*/ 0 h 10795"/>
                <a:gd name="connisteX1" fmla="*/ 0 w 2532380"/>
                <a:gd name="connsiteY1" fmla="*/ 10795 h 107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532380" h="10795">
                  <a:moveTo>
                    <a:pt x="2532380" y="0"/>
                  </a:moveTo>
                  <a:lnTo>
                    <a:pt x="0" y="10795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1494" y="2908"/>
              <a:ext cx="35" cy="6066"/>
            </a:xfrm>
            <a:custGeom>
              <a:avLst/>
              <a:gdLst>
                <a:gd name="connisteX0" fmla="*/ 0 w 22225"/>
                <a:gd name="connsiteY0" fmla="*/ 0 h 2347595"/>
                <a:gd name="connisteX1" fmla="*/ 22225 w 22225"/>
                <a:gd name="connsiteY1" fmla="*/ 2347595 h 23475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2225" h="2347595">
                  <a:moveTo>
                    <a:pt x="0" y="0"/>
                  </a:moveTo>
                  <a:lnTo>
                    <a:pt x="22225" y="2347595"/>
                  </a:lnTo>
                </a:path>
              </a:pathLst>
            </a:custGeom>
            <a:noFill/>
            <a:ln w="12700" cmpd="sng">
              <a:solidFill>
                <a:schemeClr val="accent1">
                  <a:shade val="50000"/>
                </a:schemeClr>
              </a:solidFill>
              <a:prstDash val="lgDash"/>
              <a:tailEnd type="non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2" y="5470"/>
              <a:ext cx="2113" cy="6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750mm</a:t>
              </a:r>
              <a:endParaRPr lang="en-US" altLang="zh-CN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580" y="1685"/>
              <a:ext cx="1006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An overhead web camera</a:t>
              </a:r>
              <a:r>
                <a:rPr lang="en-US" altLang="zh-CN"/>
                <a:t> captures visual data.</a:t>
              </a:r>
              <a:endParaRPr lang="en-US" altLang="zh-CN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5641" y="9395"/>
              <a:ext cx="3798" cy="34"/>
            </a:xfrm>
            <a:custGeom>
              <a:avLst/>
              <a:gdLst>
                <a:gd name="connisteX0" fmla="*/ 0 w 3412490"/>
                <a:gd name="connsiteY0" fmla="*/ 0 h 21590"/>
                <a:gd name="connisteX1" fmla="*/ 3412490 w 3412490"/>
                <a:gd name="connsiteY1" fmla="*/ 21590 h 2159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3412490" h="21590">
                  <a:moveTo>
                    <a:pt x="0" y="0"/>
                  </a:moveTo>
                  <a:lnTo>
                    <a:pt x="3412490" y="21590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553" y="8974"/>
              <a:ext cx="484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ea typeface="SimSun" panose="02010600030101010101" pitchFamily="2" charset="-122"/>
                </a:rPr>
                <a:t>Initial hand position.</a:t>
              </a:r>
              <a:br>
                <a:rPr lang="en-US" altLang="zh-CN">
                  <a:ea typeface="SimSun" panose="02010600030101010101" pitchFamily="2" charset="-122"/>
                </a:rPr>
              </a:br>
              <a:r>
                <a:rPr lang="en-US" altLang="zh-CN">
                  <a:ea typeface="SimSun" panose="02010600030101010101" pitchFamily="2" charset="-122"/>
                </a:rPr>
                <a:t>30 mm from the object.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212" y="8659"/>
              <a:ext cx="4703" cy="6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30mm</a:t>
              </a:r>
              <a:endParaRPr lang="en-US" altLang="zh-CN"/>
            </a:p>
          </p:txBody>
        </p:sp>
        <p:cxnSp>
          <p:nvCxnSpPr>
            <p:cNvPr id="2" name="直接箭头连接符 1"/>
            <p:cNvCxnSpPr/>
            <p:nvPr/>
          </p:nvCxnSpPr>
          <p:spPr>
            <a:xfrm flipV="1">
              <a:off x="5076" y="8659"/>
              <a:ext cx="228" cy="542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prstDash val="dash"/>
              <a:headEnd type="arrow"/>
              <a:tailEnd type="arrow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" name="任意多边形 2"/>
            <p:cNvSpPr/>
            <p:nvPr/>
          </p:nvSpPr>
          <p:spPr>
            <a:xfrm>
              <a:off x="3435" y="1900"/>
              <a:ext cx="18" cy="907"/>
            </a:xfrm>
            <a:custGeom>
              <a:avLst/>
              <a:gdLst>
                <a:gd name="connisteX0" fmla="*/ 11430 w 11430"/>
                <a:gd name="connsiteY0" fmla="*/ 427355 h 427355"/>
                <a:gd name="connisteX1" fmla="*/ 0 w 11430"/>
                <a:gd name="connsiteY1" fmla="*/ 0 h 42735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1430" h="427355">
                  <a:moveTo>
                    <a:pt x="11430" y="42735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Data Collection</a:t>
            </a:r>
            <a:endParaRPr lang="zh-CN" altLang="en-US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2094230"/>
            <a:ext cx="5217160" cy="27203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90000"/>
              </a:lnSpc>
            </a:pPr>
            <a:r>
              <a:rPr lang="en-US" altLang="zh-CN">
                <a:sym typeface="+mn-ea"/>
              </a:rPr>
              <a:t>Task: Natural reach-to-grasp movement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Initial hand position: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>
                <a:sym typeface="+mn-ea"/>
              </a:rPr>
              <a:t>Object</a:t>
            </a:r>
            <a:r>
              <a:rPr lang="en-US" altLang="zh-CN"/>
              <a:t> position: 30 mm from the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Object types: 20mm red cube, 30mm blue cube, </a:t>
            </a:r>
            <a:r>
              <a:rPr lang="en-US" altLang="zh-CN">
                <a:sym typeface="+mn-ea"/>
              </a:rPr>
              <a:t>and </a:t>
            </a:r>
            <a:r>
              <a:rPr lang="en-US" altLang="zh-CN"/>
              <a:t>40 mm black cube.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1"/>
            </p:custDataLst>
          </p:nvPr>
        </p:nvSpPr>
        <p:spPr>
          <a:xfrm>
            <a:off x="275590" y="963930"/>
            <a:ext cx="8522970" cy="3886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Collect grasping movement data from participants using cubes of different sizes.</a:t>
            </a:r>
            <a:endParaRPr lang="en-US" altLang="zh-CN">
              <a:sym typeface="+mn-ea"/>
            </a:endParaRPr>
          </a:p>
          <a:p>
            <a:pPr algn="ctr"/>
            <a:endParaRPr lang="en-US" altLang="zh-CN"/>
          </a:p>
        </p:txBody>
      </p:sp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275590" y="1724025"/>
            <a:ext cx="3247390" cy="457200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r>
              <a:rPr lang="en-US" altLang="zh-CN" sz="2400">
                <a:sym typeface="+mn-ea"/>
              </a:rPr>
              <a:t>Experimental Conditions</a:t>
            </a:r>
            <a:endParaRPr lang="zh-CN" altLang="en-US" sz="2400"/>
          </a:p>
        </p:txBody>
      </p:sp>
      <p:pic>
        <p:nvPicPr>
          <p:cNvPr id="4" name="10月20日 (1)(1)">
            <a:hlinkClick r:id="" action="ppaction://media"/>
            <a:hlinkHover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01945" y="1601470"/>
            <a:ext cx="3467735" cy="5138420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sp>
        <p:nvSpPr>
          <p:cNvPr id="51" name="Card1BG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75590" y="5462270"/>
            <a:ext cx="4871720" cy="89408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endParaRPr lang="en-US" altLang="zh-CN"/>
          </a:p>
          <a:p>
            <a:pPr algn="l"/>
            <a:r>
              <a:rPr lang="en-US" altLang="zh-CN"/>
              <a:t>Add three speed conditions: fast, normal, and slow.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275590" y="5492115"/>
            <a:ext cx="3422650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400"/>
              <a:t>Planned work: </a:t>
            </a:r>
            <a:endParaRPr lang="en-US" altLang="ja-JP" sz="1400"/>
          </a:p>
        </p:txBody>
      </p:sp>
      <p:sp>
        <p:nvSpPr>
          <p:cNvPr id="38" name="Shape 15"/>
          <p:cNvSpPr/>
          <p:nvPr/>
        </p:nvSpPr>
        <p:spPr>
          <a:xfrm rot="16200000" flipV="1">
            <a:off x="283555" y="5101155"/>
            <a:ext cx="504190" cy="0"/>
          </a:xfrm>
          <a:prstGeom prst="line">
            <a:avLst/>
          </a:prstGeom>
          <a:noFill/>
          <a:ln w="12700" cmpd="sng">
            <a:solidFill>
              <a:srgbClr val="F59E0B"/>
            </a:solidFill>
            <a:prstDash val="lgDash"/>
            <a:tailEnd type="triangle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/Users/Di/Desktop/crop45_normalized_overlay_horizontal.pngcrop45_normalized_overlay_horizontal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5590" y="1975485"/>
            <a:ext cx="8522970" cy="2840990"/>
          </a:xfrm>
          <a:prstGeom prst="rect">
            <a:avLst/>
          </a:prstGeom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Relationship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245" y="712470"/>
            <a:ext cx="8454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C7051C"/>
                </a:solidFill>
              </a:rPr>
              <a:t>30</a:t>
            </a:r>
            <a:r>
              <a:rPr lang="en-US" altLang="zh-CN" sz="2000" b="1">
                <a:solidFill>
                  <a:srgbClr val="C7051C"/>
                </a:solidFill>
              </a:rPr>
              <a:t> trial with a 20 mm cube</a:t>
            </a:r>
            <a:endParaRPr lang="en-US" altLang="zh-CN" sz="2000" b="1">
              <a:solidFill>
                <a:srgbClr val="C7051C"/>
              </a:solidFill>
            </a:endParaRPr>
          </a:p>
        </p:txBody>
      </p:sp>
      <p:sp>
        <p:nvSpPr>
          <p:cNvPr id="28" name="Shape 25"/>
          <p:cNvSpPr/>
          <p:nvPr>
            <p:custDataLst>
              <p:tags r:id="rId2"/>
            </p:custDataLst>
          </p:nvPr>
        </p:nvSpPr>
        <p:spPr>
          <a:xfrm>
            <a:off x="104140" y="5684520"/>
            <a:ext cx="8870950" cy="76390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>
              <a:lnSpc>
                <a:spcPct val="110000"/>
              </a:lnSpc>
            </a:pPr>
            <a:r>
              <a:rPr lang="en-US" altLang="zh-CN">
                <a:sym typeface="+mn-ea"/>
              </a:rPr>
              <a:t>The data showed high consistency, suggesting a consistent relationship </a:t>
            </a:r>
            <a:r>
              <a:rPr lang="en-US" altLang="zh-CN">
                <a:sym typeface="+mn-ea"/>
              </a:rPr>
              <a:t>between hand–object distance and fingertip aperture</a:t>
            </a:r>
            <a:r>
              <a:rPr lang="en-US" altLang="zh-CN">
                <a:sym typeface="+mn-ea"/>
              </a:rPr>
              <a:t> during reach-to-grasp movements.</a:t>
            </a:r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75590" y="1430020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/>
              <a:t>Maximum Aperture Timing</a:t>
            </a:r>
            <a:endParaRPr lang="zh-CN" altLang="en-US"/>
          </a:p>
          <a:p>
            <a:pPr algn="ctr"/>
            <a:r>
              <a:rPr lang="en-US" altLang="zh-CN">
                <a:solidFill>
                  <a:srgbClr val="9E4802"/>
                </a:solidFill>
              </a:rPr>
              <a:t>44.32 ± 2.37%</a:t>
            </a:r>
            <a:endParaRPr lang="en-US" altLang="zh-CN">
              <a:solidFill>
                <a:srgbClr val="9E4802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679315" y="1430020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ja-JP">
                <a:sym typeface="+mn-ea"/>
              </a:rPr>
              <a:t>Distance at Maximum Aperture (px)</a:t>
            </a:r>
            <a:endParaRPr lang="en-US" altLang="ja-JP">
              <a:sym typeface="+mn-ea"/>
            </a:endParaRPr>
          </a:p>
          <a:p>
            <a:pPr algn="ctr"/>
            <a:r>
              <a:rPr lang="en-US" altLang="zh-CN">
                <a:solidFill>
                  <a:srgbClr val="9E4802"/>
                </a:solidFill>
                <a:sym typeface="+mn-ea"/>
              </a:rPr>
              <a:t>134.77</a:t>
            </a:r>
            <a:r>
              <a:rPr lang="en-US" altLang="zh-CN">
                <a:solidFill>
                  <a:srgbClr val="9E4802"/>
                </a:solidFill>
                <a:sym typeface="+mn-ea"/>
              </a:rPr>
              <a:t> ± </a:t>
            </a:r>
            <a:r>
              <a:rPr lang="en-US" altLang="zh-CN">
                <a:solidFill>
                  <a:srgbClr val="9E4802"/>
                </a:solidFill>
                <a:sym typeface="+mn-ea"/>
              </a:rPr>
              <a:t>16.17</a:t>
            </a:r>
            <a:endParaRPr lang="en-US" altLang="zh-CN">
              <a:solidFill>
                <a:srgbClr val="9E4802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3540" y="4728845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/>
              <a:t>Fingertip Aperture Normalized RMSE</a:t>
            </a:r>
            <a:endParaRPr lang="en-US" altLang="zh-CN"/>
          </a:p>
          <a:p>
            <a:pPr algn="ctr"/>
            <a:r>
              <a:rPr lang="en-US" altLang="zh-CN">
                <a:solidFill>
                  <a:srgbClr val="9E4802"/>
                </a:solidFill>
              </a:rPr>
              <a:t>5.30% ± 1.86%</a:t>
            </a:r>
            <a:endParaRPr lang="en-US" altLang="zh-CN">
              <a:solidFill>
                <a:srgbClr val="9E480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9315" y="4728845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/>
              <a:t>Hand–Object Distance Normalized RMSE</a:t>
            </a:r>
            <a:endParaRPr lang="en-US" altLang="zh-CN"/>
          </a:p>
          <a:p>
            <a:pPr algn="ctr"/>
            <a:r>
              <a:rPr lang="en-US" altLang="zh-CN">
                <a:solidFill>
                  <a:srgbClr val="9E4802"/>
                </a:solidFill>
              </a:rPr>
              <a:t>2.26% ± 1.12%</a:t>
            </a:r>
            <a:endParaRPr lang="en-US" altLang="zh-CN">
              <a:solidFill>
                <a:srgbClr val="9E480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Offline Validation – Overall Performance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0515" y="737870"/>
            <a:ext cx="8523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6A6A6A"/>
                </a:solidFill>
              </a:rPr>
              <a:t>27 validation trials across three cube sizes (9 trials per size)</a:t>
            </a:r>
            <a:endParaRPr lang="en-US" altLang="zh-CN" sz="1600">
              <a:solidFill>
                <a:srgbClr val="6A6A6A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01625" y="1187450"/>
            <a:ext cx="2421890" cy="1184910"/>
            <a:chOff x="475" y="1870"/>
            <a:chExt cx="3814" cy="1866"/>
          </a:xfrm>
        </p:grpSpPr>
        <p:grpSp>
          <p:nvGrpSpPr>
            <p:cNvPr id="13" name="组合 12"/>
            <p:cNvGrpSpPr/>
            <p:nvPr>
              <p:custDataLst>
                <p:tags r:id="rId1"/>
              </p:custDataLst>
            </p:nvPr>
          </p:nvGrpSpPr>
          <p:grpSpPr>
            <a:xfrm>
              <a:off x="475" y="1870"/>
              <a:ext cx="3814" cy="1867"/>
              <a:chOff x="1286" y="8225"/>
              <a:chExt cx="2919" cy="1446"/>
            </a:xfrm>
          </p:grpSpPr>
          <p:sp>
            <p:nvSpPr>
              <p:cNvPr id="7" name="圆角矩形 6"/>
              <p:cNvSpPr/>
              <p:nvPr>
                <p:custDataLst>
                  <p:tags r:id="rId2"/>
                </p:custDataLst>
              </p:nvPr>
            </p:nvSpPr>
            <p:spPr>
              <a:xfrm>
                <a:off x="1296" y="8244"/>
                <a:ext cx="2909" cy="1427"/>
              </a:xfrm>
              <a:prstGeom prst="roundRect">
                <a:avLst>
                  <a:gd name="adj" fmla="val 2873"/>
                </a:avLst>
              </a:prstGeom>
              <a:solidFill>
                <a:srgbClr val="EEF3F8"/>
              </a:solidFill>
              <a:ln>
                <a:noFill/>
                <a:tailEnd type="triangle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286" y="8225"/>
                <a:ext cx="2907" cy="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MAE</a:t>
                </a:r>
                <a:endParaRPr lang="en-US" altLang="zh-CN"/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07" y="8676"/>
                <a:ext cx="2886" cy="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800"/>
                  <a:t>3.85</a:t>
                </a:r>
                <a:endParaRPr lang="en-US" altLang="zh-CN" sz="2800"/>
              </a:p>
            </p:txBody>
          </p:sp>
        </p:grpSp>
        <p:sp>
          <p:nvSpPr>
            <p:cNvPr id="24" name="文本框 23"/>
            <p:cNvSpPr txBox="1"/>
            <p:nvPr>
              <p:custDataLst>
                <p:tags r:id="rId5"/>
              </p:custDataLst>
            </p:nvPr>
          </p:nvSpPr>
          <p:spPr>
            <a:xfrm>
              <a:off x="475" y="3175"/>
              <a:ext cx="3798" cy="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px</a:t>
              </a:r>
              <a:endParaRPr lang="en-US" altLang="zh-CN" sz="140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384000" y="1193165"/>
            <a:ext cx="2421890" cy="1185545"/>
            <a:chOff x="5443" y="1879"/>
            <a:chExt cx="3814" cy="1867"/>
          </a:xfrm>
        </p:grpSpPr>
        <p:sp>
          <p:nvSpPr>
            <p:cNvPr id="28" name="圆角矩形 27"/>
            <p:cNvSpPr/>
            <p:nvPr>
              <p:custDataLst>
                <p:tags r:id="rId6"/>
              </p:custDataLst>
            </p:nvPr>
          </p:nvSpPr>
          <p:spPr>
            <a:xfrm>
              <a:off x="5456" y="1904"/>
              <a:ext cx="3801" cy="1842"/>
            </a:xfrm>
            <a:prstGeom prst="roundRect">
              <a:avLst>
                <a:gd name="adj" fmla="val 2873"/>
              </a:avLst>
            </a:prstGeom>
            <a:solidFill>
              <a:srgbClr val="EEF9F5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>
              <p:custDataLst>
                <p:tags r:id="rId7"/>
              </p:custDataLst>
            </p:nvPr>
          </p:nvSpPr>
          <p:spPr>
            <a:xfrm>
              <a:off x="5443" y="1879"/>
              <a:ext cx="379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RMSE</a:t>
              </a:r>
              <a:endParaRPr lang="en-US" altLang="zh-CN"/>
            </a:p>
          </p:txBody>
        </p:sp>
        <p:sp>
          <p:nvSpPr>
            <p:cNvPr id="30" name="文本框 29"/>
            <p:cNvSpPr txBox="1"/>
            <p:nvPr>
              <p:custDataLst>
                <p:tags r:id="rId8"/>
              </p:custDataLst>
            </p:nvPr>
          </p:nvSpPr>
          <p:spPr>
            <a:xfrm>
              <a:off x="5470" y="2461"/>
              <a:ext cx="3771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2800"/>
                <a:t>5.52</a:t>
              </a:r>
              <a:endParaRPr lang="en-US" altLang="zh-CN" sz="2800"/>
            </a:p>
          </p:txBody>
        </p:sp>
        <p:sp>
          <p:nvSpPr>
            <p:cNvPr id="31" name="文本框 30"/>
            <p:cNvSpPr txBox="1"/>
            <p:nvPr>
              <p:custDataLst>
                <p:tags r:id="rId9"/>
              </p:custDataLst>
            </p:nvPr>
          </p:nvSpPr>
          <p:spPr>
            <a:xfrm>
              <a:off x="5443" y="3184"/>
              <a:ext cx="3798" cy="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px</a:t>
              </a:r>
              <a:endParaRPr lang="en-US" altLang="zh-CN" sz="1400"/>
            </a:p>
          </p:txBody>
        </p: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 rot="0">
            <a:off x="6443980" y="1188085"/>
            <a:ext cx="2421890" cy="1185545"/>
            <a:chOff x="1286" y="8225"/>
            <a:chExt cx="2919" cy="1446"/>
          </a:xfrm>
        </p:grpSpPr>
        <p:sp>
          <p:nvSpPr>
            <p:cNvPr id="34" name="圆角矩形 33"/>
            <p:cNvSpPr/>
            <p:nvPr>
              <p:custDataLst>
                <p:tags r:id="rId11"/>
              </p:custDataLst>
            </p:nvPr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F9EEF9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12"/>
              </p:custDataLst>
            </p:nvPr>
          </p:nvSpPr>
          <p:spPr>
            <a:xfrm>
              <a:off x="1286" y="8225"/>
              <a:ext cx="2907" cy="4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R²</a:t>
              </a:r>
              <a:endParaRPr lang="en-US" altLang="zh-CN"/>
            </a:p>
          </p:txBody>
        </p:sp>
        <p:sp>
          <p:nvSpPr>
            <p:cNvPr id="36" name="文本框 35"/>
            <p:cNvSpPr txBox="1"/>
            <p:nvPr>
              <p:custDataLst>
                <p:tags r:id="rId13"/>
              </p:custDataLst>
            </p:nvPr>
          </p:nvSpPr>
          <p:spPr>
            <a:xfrm>
              <a:off x="1307" y="8676"/>
              <a:ext cx="2886" cy="6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2800"/>
                <a:t>0.956</a:t>
              </a:r>
              <a:endParaRPr lang="en-US" altLang="zh-CN" sz="2800"/>
            </a:p>
          </p:txBody>
        </p:sp>
      </p:grpSp>
      <p:pic>
        <p:nvPicPr>
          <p:cNvPr id="39" name="图片 38" descr="05_window5_metrics_mean_s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265" y="2826385"/>
            <a:ext cx="8896985" cy="355981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download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2347595"/>
            <a:ext cx="9144000" cy="4191000"/>
          </a:xfrm>
          <a:prstGeom prst="rect">
            <a:avLst/>
          </a:prstGeom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Offline Validation – Phase-Wise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966595" y="1802130"/>
            <a:ext cx="18415" cy="3913505"/>
          </a:xfrm>
          <a:prstGeom prst="line">
            <a:avLst/>
          </a:prstGeom>
          <a:noFill/>
          <a:ln w="12700" cmpd="sng">
            <a:solidFill>
              <a:srgbClr val="FF0000"/>
            </a:solidFill>
            <a:prstDash val="lgDash"/>
            <a:tailEnd type="none"/>
          </a:ln>
        </p:spPr>
      </p:cxnSp>
      <p:cxnSp>
        <p:nvCxnSpPr>
          <p:cNvPr id="9" name="直接连接符 8"/>
          <p:cNvCxnSpPr/>
          <p:nvPr/>
        </p:nvCxnSpPr>
        <p:spPr>
          <a:xfrm flipV="1">
            <a:off x="7961630" y="1802130"/>
            <a:ext cx="18415" cy="3913505"/>
          </a:xfrm>
          <a:prstGeom prst="line">
            <a:avLst/>
          </a:prstGeom>
          <a:noFill/>
          <a:ln w="12700" cmpd="sng">
            <a:solidFill>
              <a:srgbClr val="FF0000"/>
            </a:solidFill>
            <a:prstDash val="lgDash"/>
            <a:tailEnd type="none"/>
          </a:ln>
        </p:spPr>
      </p:cxnSp>
      <p:sp>
        <p:nvSpPr>
          <p:cNvPr id="10" name="文本框 9"/>
          <p:cNvSpPr txBox="1"/>
          <p:nvPr/>
        </p:nvSpPr>
        <p:spPr>
          <a:xfrm>
            <a:off x="635" y="925830"/>
            <a:ext cx="2083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ea typeface="SimSun" panose="02010600030101010101" pitchFamily="2" charset="-122"/>
              </a:rPr>
              <a:t>Initial Phase (stable)</a:t>
            </a:r>
            <a:endParaRPr lang="en-US">
              <a:ea typeface="SimSun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9260" y="1294130"/>
            <a:ext cx="1143635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1600">
                <a:solidFill>
                  <a:srgbClr val="6E6E6E"/>
                </a:solidFill>
              </a:rPr>
              <a:t>10 frames</a:t>
            </a:r>
            <a:endParaRPr lang="en-US" altLang="zh-CN" sz="1600">
              <a:solidFill>
                <a:srgbClr val="6E6E6E"/>
              </a:solidFill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2293620" y="1160145"/>
            <a:ext cx="658495" cy="253365"/>
          </a:xfrm>
          <a:prstGeom prst="rightArrow">
            <a:avLst>
              <a:gd name="adj1" fmla="val 50000"/>
              <a:gd name="adj2" fmla="val 86215"/>
            </a:avLst>
          </a:prstGeom>
          <a:solidFill>
            <a:srgbClr val="00B050"/>
          </a:solidFill>
          <a:ln>
            <a:noFill/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255645" y="925830"/>
            <a:ext cx="2669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ea typeface="SimSun" panose="02010600030101010101" pitchFamily="2" charset="-122"/>
              </a:rPr>
              <a:t>Grasping Phase (changing)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6311900" y="1160145"/>
            <a:ext cx="658495" cy="253365"/>
          </a:xfrm>
          <a:prstGeom prst="rightArrow">
            <a:avLst>
              <a:gd name="adj1" fmla="val 50000"/>
              <a:gd name="adj2" fmla="val 86215"/>
            </a:avLst>
          </a:prstGeom>
          <a:solidFill>
            <a:srgbClr val="00B050"/>
          </a:solidFill>
          <a:ln>
            <a:noFill/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673475" y="1288415"/>
            <a:ext cx="1612900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en-US" altLang="zh-CN" sz="1600">
                <a:solidFill>
                  <a:srgbClr val="6E6E6E"/>
                </a:solidFill>
              </a:rPr>
              <a:t>Variable duration</a:t>
            </a:r>
            <a:endParaRPr lang="en-US" altLang="zh-CN" sz="1600">
              <a:solidFill>
                <a:srgbClr val="6E6E6E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60895" y="925830"/>
            <a:ext cx="1919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ea typeface="SimSun" panose="02010600030101010101" pitchFamily="2" charset="-122"/>
              </a:rPr>
              <a:t>Hold Phase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(stable)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44715" y="1288415"/>
            <a:ext cx="1612900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en-US" altLang="zh-CN" sz="1600">
                <a:solidFill>
                  <a:srgbClr val="6E6E6E"/>
                </a:solidFill>
                <a:sym typeface="+mn-ea"/>
              </a:rPr>
              <a:t>10 frames</a:t>
            </a:r>
            <a:endParaRPr lang="en-US" altLang="zh-CN" sz="1600">
              <a:solidFill>
                <a:srgbClr val="6E6E6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Offline Validation – Phase-Wise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5590" y="931545"/>
            <a:ext cx="762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  <a:sym typeface="+mn-ea"/>
              </a:rPr>
              <a:t>Grasping Phase (changing) : Predicting aperture is  more challenging.</a:t>
            </a:r>
            <a:endParaRPr lang="en-US" altLang="zh-CN"/>
          </a:p>
        </p:txBody>
      </p:sp>
      <p:pic>
        <p:nvPicPr>
          <p:cNvPr id="3" name="图片 2" descr="06_overall_phase_errors_window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030" y="1843405"/>
            <a:ext cx="7070090" cy="4860925"/>
          </a:xfrm>
          <a:prstGeom prst="rect">
            <a:avLst/>
          </a:prstGeom>
        </p:spPr>
      </p:pic>
      <p:sp>
        <p:nvSpPr>
          <p:cNvPr id="5" name="上箭头 4"/>
          <p:cNvSpPr/>
          <p:nvPr/>
        </p:nvSpPr>
        <p:spPr>
          <a:xfrm rot="8460000">
            <a:off x="3138170" y="2391410"/>
            <a:ext cx="799465" cy="1100455"/>
          </a:xfrm>
          <a:prstGeom prst="up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Effect of Temporal Window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40665" y="5895340"/>
            <a:ext cx="8556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Comparison between predicted and ground-truth curves, In the red-highlighted region, the model without a temporal window shows poor prediction performance.</a:t>
            </a:r>
            <a:endParaRPr lang="en-US" altLang="zh-CN" sz="1400"/>
          </a:p>
        </p:txBody>
      </p:sp>
      <p:sp>
        <p:nvSpPr>
          <p:cNvPr id="33" name="文本框 32"/>
          <p:cNvSpPr txBox="1"/>
          <p:nvPr/>
        </p:nvSpPr>
        <p:spPr>
          <a:xfrm>
            <a:off x="275590" y="792000"/>
            <a:ext cx="8522970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Without a temporal window : The model learns only the mapping between distance and fingertip aperture, resulting in larger errors during rapid changes.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With a temporal window : The model can utilize short-term motion context to read temporal trends, improving prediction accuracy.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pic>
        <p:nvPicPr>
          <p:cNvPr id="3" name="图片 2" descr="download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68220"/>
            <a:ext cx="9144000" cy="3448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Real-Time Experiment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5895" y="5847715"/>
            <a:ext cx="87928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The model achieved an R² above 0.89 in 8 out of 9 real-time trials, demonstrating promising prediction performance.</a:t>
            </a:r>
            <a:endParaRPr lang="en-US" altLang="zh-CN" sz="1600"/>
          </a:p>
        </p:txBody>
      </p:sp>
      <p:sp>
        <p:nvSpPr>
          <p:cNvPr id="3" name="文本框 2"/>
          <p:cNvSpPr txBox="1"/>
          <p:nvPr/>
        </p:nvSpPr>
        <p:spPr>
          <a:xfrm>
            <a:off x="320675" y="810260"/>
            <a:ext cx="852297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Three cubes of different colors and sizes were presented in random order, with three trials per cube.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pic>
        <p:nvPicPr>
          <p:cNvPr id="7" name="图片 6" descr="download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" y="2672715"/>
            <a:ext cx="8791575" cy="317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Summary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文本框 5"/>
          <p:cNvSpPr>
            <a:spLocks noGrp="1"/>
          </p:cNvSpPr>
          <p:nvPr/>
        </p:nvSpPr>
        <p:spPr>
          <a:xfrm>
            <a:off x="275590" y="3515160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Future Work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457950" y="6057266"/>
            <a:ext cx="2057400" cy="365125"/>
          </a:xfrm>
        </p:spPr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5590" y="876300"/>
            <a:ext cx="766254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/>
              <a:t>Demonstrated a consistent relationship between hand–object distance and fingertip aperture during reach-to-grasp movements.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Developed a regression model that accurately predicts continuous fingertip aperture from hand–object distance.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Developed a real-time system that automatically selects the model based on cube type and predicts fingertip aperture in real time.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75590" y="4305935"/>
            <a:ext cx="7662545" cy="203009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/>
              <a:t>Conduct grasping experiments </a:t>
            </a:r>
            <a:r>
              <a:rPr lang="en-US" altLang="zh-CN"/>
              <a:t>under more conditions</a:t>
            </a:r>
            <a:r>
              <a:rPr lang="en-US" altLang="ja-JP"/>
              <a:t>.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Test Different Models.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/>
              <a:t>Recruit additional participants to evaluate the model's generalization ability.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Integrate the system into the prosthetic hand system.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192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902970"/>
            <a:ext cx="8529955" cy="5400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[1] </a:t>
            </a:r>
            <a:r>
              <a:rPr lang="en-US" altLang="zh-CN" sz="1600" dirty="0">
                <a:sym typeface="+mn-ea"/>
              </a:rPr>
              <a:t>McDonald C L, Westcott-McCoy S, Weaver M R, et al. Global prevalence of traumatic non-fatal limb amputation[J]. Prosthetics and orthotics international, 2021, 45(2): 105-114.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[2] </a:t>
            </a:r>
            <a:r>
              <a:rPr lang="en-US" altLang="zh-CN" sz="1600">
                <a:sym typeface="+mn-ea"/>
              </a:rPr>
              <a:t>Salminger, S., Stino, H., Pichler, L. H., Gstoettner, C., Sturma, A., Mayer, J. A., ... &amp; Aszmann, O. C. (2022). Current rates of prosthetic usage in upper-limb amputees–have innovations had an impact on device acceptance?. Disability and rehabilitation, 44(14), 3708-3713.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[3] </a:t>
            </a:r>
            <a:r>
              <a:rPr lang="en-US" altLang="zh-CN" sz="1600">
                <a:sym typeface="+mn-ea"/>
              </a:rPr>
              <a:t>Lalle, A., Migliore, S., Stevenson, J., Bell, E., Pradeep, M., Gunnell, D., ... &amp; Manero II, A. (2026). Multigesture Electromyographic Control Complexity in Upper Limb Prostheses Actuated via Single Sensor Input Contraction Magnitude: Qualitative Study for Evaluating Performance and Cognitive Load. JMIR Rehabilitation and Assistive Technologies, 13(1), e88528.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[4] </a:t>
            </a:r>
            <a:r>
              <a:rPr lang="en-US" altLang="zh-CN" sz="1600">
                <a:sym typeface="+mn-ea"/>
              </a:rPr>
              <a:t>Thomas, N., Miller, A. J., Ayaz, H., &amp; Brown, J. D. (2023). Haptic shared control improves neural efficiency during myoelectric prosthesis use. Scientific reports, 13(1), 484.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[5] </a:t>
            </a:r>
            <a:r>
              <a:rPr lang="en-US" altLang="zh-CN" sz="1600">
                <a:sym typeface="+mn-ea"/>
              </a:rPr>
              <a:t>Vasile F, Maiettini E, Pasquale G, et al. Continuous wrist control on the hannes prosthesis: A vision-based shared autonomy framework[C]//2025 IEEE International Conference on Robotics and Automation (ICRA). IEEE, 2025: 15107-15113.</a:t>
            </a:r>
            <a:endParaRPr lang="en-US" altLang="zh-CN" sz="160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1048705897327,&quot;left&quot;:22.8,&quot;top&quot;:69.85,&quot;width&quot;:681.05}"/>
</p:tagLst>
</file>

<file path=ppt/tags/tag2.xml><?xml version="1.0" encoding="utf-8"?>
<p:tagLst xmlns:p="http://schemas.openxmlformats.org/presentationml/2006/main">
  <p:tag name="KSO_WM_DIAGRAM_VIRTUALLY_FRAME" val="{&quot;height&quot;:352.1048705897327,&quot;left&quot;:22.8,&quot;top&quot;:69.85,&quot;width&quot;:681.05}"/>
</p:tagLst>
</file>

<file path=ppt/tags/tag3.xml><?xml version="1.0" encoding="utf-8"?>
<p:tagLst xmlns:p="http://schemas.openxmlformats.org/presentationml/2006/main">
  <p:tag name="KSO_WM_DIAGRAM_VIRTUALLY_FRAME" val="{&quot;height&quot;:352.1048705897327,&quot;left&quot;:22.8,&quot;top&quot;:69.85,&quot;width&quot;:681.05}"/>
</p:tagLst>
</file>

<file path=ppt/tags/tag4.xml><?xml version="1.0" encoding="utf-8"?>
<p:tagLst xmlns:p="http://schemas.openxmlformats.org/presentationml/2006/main">
  <p:tag name="TABLE_ENDDRAG_ORIGIN_RECT" val="669*295"/>
  <p:tag name="TABLE_ENDDRAG_RECT" val="23*91*669*295"/>
</p:tagLst>
</file>

<file path=ppt/tags/tag5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6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7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8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9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0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1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2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3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4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5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6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7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8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9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20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21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22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23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4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5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6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7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8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9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0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1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2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33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34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5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6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37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9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0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1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2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3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4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5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6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7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8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9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50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51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mpd="sng">
          <a:solidFill>
            <a:schemeClr val="tx1"/>
          </a:solidFill>
          <a:prstDash val="solid"/>
          <a:tailEnd type="none"/>
        </a:ln>
      </a:spPr>
      <a:bodyPr/>
      <a:lstStyle/>
    </a:spDef>
    <a:lnDef>
      <a:spPr>
        <a:noFill/>
        <a:ln w="12700" cmpd="sng">
          <a:solidFill>
            <a:schemeClr val="tx1"/>
          </a:solidFill>
          <a:prstDash val="solid"/>
          <a:tailEnd type="none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195f4af887e8b02337b1b142d1f847de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81e6449237d2fc142489e0904e1e716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52.xml><?xml version="1.0" encoding="utf-8"?>
<ds:datastoreItem xmlns:ds="http://schemas.openxmlformats.org/officeDocument/2006/customXml" ds:itemID="{D3FA7E84-7FC5-4C41-A4F9-8872414BB2F4}">
  <ds:schemaRefs/>
</ds:datastoreItem>
</file>

<file path=customXml/itemProps53.xml><?xml version="1.0" encoding="utf-8"?>
<ds:datastoreItem xmlns:ds="http://schemas.openxmlformats.org/officeDocument/2006/customXml" ds:itemID="{0E5148B6-4531-42C7-8EF9-49C77F467C6E}">
  <ds:schemaRefs/>
</ds:datastoreItem>
</file>

<file path=customXml/itemProps54.xml><?xml version="1.0" encoding="utf-8"?>
<ds:datastoreItem xmlns:ds="http://schemas.openxmlformats.org/officeDocument/2006/customXml" ds:itemID="{9FF3F963-4824-4617-9390-F81F48A450C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7211</Words>
  <Application>WPS 演示</Application>
  <PresentationFormat>画面に合わせる (4:3)</PresentationFormat>
  <Paragraphs>330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SimSun</vt:lpstr>
      <vt:lpstr>Wingdings</vt:lpstr>
      <vt:lpstr>Times New Roman</vt:lpstr>
      <vt:lpstr>Source Han Sans JP Bold</vt:lpstr>
      <vt:lpstr>Source Han Sans JP</vt:lpstr>
      <vt:lpstr>Avenir Heavy</vt:lpstr>
      <vt:lpstr>Segoe Print</vt:lpstr>
      <vt:lpstr>Times New Roman</vt:lpstr>
      <vt:lpstr>Calibri</vt:lpstr>
      <vt:lpstr>Arial</vt:lpstr>
      <vt:lpstr>Wingdings</vt:lpstr>
      <vt:lpstr>Microsoft YaHei</vt:lpstr>
      <vt:lpstr>Arial Unicode MS</vt:lpstr>
      <vt:lpstr>MS PGothic</vt:lpstr>
      <vt:lpstr>Calibri Light</vt:lpstr>
      <vt:lpstr>Calibri</vt:lpstr>
      <vt:lpstr>Office テーマ</vt:lpstr>
      <vt:lpstr>A Vision-Based Regression Model for  Semi-Autonomous Prosthetic Hand Control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24742101 石津七海</dc:creator>
  <cp:lastModifiedBy>down down down down down</cp:lastModifiedBy>
  <cp:revision>378</cp:revision>
  <dcterms:created xsi:type="dcterms:W3CDTF">2025-10-02T04:01:00Z</dcterms:created>
  <dcterms:modified xsi:type="dcterms:W3CDTF">2026-10-27T11:46:33Z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ICV">
    <vt:lpwstr>B70015103C7249FE8210DA285DD4FDE3_12</vt:lpwstr>
  </property>
  <property fmtid="{D5CDD505-2E9C-101B-9397-08002B2CF9AE}" pid="4" name="KSOProductBuildVer">
    <vt:lpwstr>2052-12.1.0.29161</vt:lpwstr>
  </property>
</Properties>
</file>