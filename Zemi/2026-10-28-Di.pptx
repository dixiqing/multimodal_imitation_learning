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mp4" ContentType="video/mp4"/>
  <Default Extension="rels" ContentType="application/vnd.openxmlformats-package.relationship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82" r:id="rId5"/>
    <p:sldId id="380" r:id="rId6"/>
    <p:sldId id="353" r:id="rId7"/>
    <p:sldId id="369" r:id="rId8"/>
    <p:sldId id="370" r:id="rId9"/>
    <p:sldId id="371" r:id="rId10"/>
    <p:sldId id="354" r:id="rId11"/>
    <p:sldId id="355" r:id="rId12"/>
    <p:sldId id="372" r:id="rId13"/>
    <p:sldId id="373" r:id="rId14"/>
    <p:sldId id="383" r:id="rId15"/>
    <p:sldId id="374" r:id="rId16"/>
    <p:sldId id="376" r:id="rId17"/>
    <p:sldId id="377" r:id="rId18"/>
    <p:sldId id="359" r:id="rId19"/>
    <p:sldId id="381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4FB"/>
    <a:srgbClr val="2C2C2C"/>
    <a:srgbClr val="6A6A6A"/>
    <a:srgbClr val="848484"/>
    <a:srgbClr val="5D5D5D"/>
    <a:srgbClr val="424242"/>
    <a:srgbClr val="F4E8CF"/>
    <a:srgbClr val="C31111"/>
    <a:srgbClr val="8B1010"/>
    <a:srgbClr val="F9EE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1" Type="http://schemas.openxmlformats.org/officeDocument/2006/relationships/notesSlide" Target="../notesSlides/notesSlide2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9" Type="http://schemas.openxmlformats.org/officeDocument/2006/relationships/tags" Target="../tags/tag14.xml"/><Relationship Id="rId18" Type="http://schemas.openxmlformats.org/officeDocument/2006/relationships/tags" Target="../tags/tag13.xml"/><Relationship Id="rId17" Type="http://schemas.openxmlformats.org/officeDocument/2006/relationships/image" Target="../media/image5.png"/><Relationship Id="rId16" Type="http://schemas.openxmlformats.org/officeDocument/2006/relationships/tags" Target="../tags/tag12.xml"/><Relationship Id="rId15" Type="http://schemas.openxmlformats.org/officeDocument/2006/relationships/image" Target="../media/image4.png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tags" Target="../tags/tag30.xml"/><Relationship Id="rId3" Type="http://schemas.openxmlformats.org/officeDocument/2006/relationships/image" Target="../media/image9.png"/><Relationship Id="rId2" Type="http://schemas.openxmlformats.org/officeDocument/2006/relationships/tags" Target="../tags/tag29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56.xml"/><Relationship Id="rId8" Type="http://schemas.openxmlformats.org/officeDocument/2006/relationships/tags" Target="../tags/tag55.xml"/><Relationship Id="rId7" Type="http://schemas.openxmlformats.org/officeDocument/2006/relationships/tags" Target="../tags/tag54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6" Type="http://schemas.openxmlformats.org/officeDocument/2006/relationships/notesSlide" Target="../notesSlides/notesSlide12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60.xml"/><Relationship Id="rId12" Type="http://schemas.openxmlformats.org/officeDocument/2006/relationships/tags" Target="../tags/tag59.xml"/><Relationship Id="rId11" Type="http://schemas.openxmlformats.org/officeDocument/2006/relationships/tags" Target="../tags/tag58.xml"/><Relationship Id="rId10" Type="http://schemas.openxmlformats.org/officeDocument/2006/relationships/tags" Target="../tags/tag57.xml"/><Relationship Id="rId1" Type="http://schemas.openxmlformats.org/officeDocument/2006/relationships/tags" Target="../tags/tag4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522730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Fingertip Aperture Prediction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[1] </a:t>
            </a:r>
            <a:r>
              <a:rPr lang="en-US" altLang="zh-CN" sz="1200">
                <a:sym typeface="+mn-ea"/>
              </a:rPr>
              <a:t>V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sconez, J. P., Barona L</a:t>
            </a:r>
            <a:r>
              <a:rPr lang="en-US" altLang="en-US" sz="1200">
                <a:sym typeface="+mn-ea"/>
              </a:rPr>
              <a:t>ó</a:t>
            </a:r>
            <a:r>
              <a:rPr lang="en-US" altLang="zh-CN" sz="1200">
                <a:sym typeface="+mn-ea"/>
              </a:rPr>
              <a:t>pez, L. I., Valdivieso Caraguay, </a:t>
            </a:r>
            <a:r>
              <a:rPr lang="en-US" altLang="en-US" sz="1200">
                <a:sym typeface="+mn-ea"/>
              </a:rPr>
              <a:t>Á. </a:t>
            </a:r>
            <a:r>
              <a:rPr lang="en-US" altLang="zh-CN" sz="1200">
                <a:sym typeface="+mn-ea"/>
              </a:rPr>
              <a:t>L., &amp; Benalc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200"/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[2] </a:t>
            </a:r>
            <a:r>
              <a:rPr lang="en-US" altLang="zh-CN" sz="1200">
                <a:sym typeface="+mn-ea"/>
              </a:rPr>
              <a:t>Zandigohar, M., Han, M., Sharif, M., G</a:t>
            </a:r>
            <a:r>
              <a:rPr lang="en-US" altLang="en-US" sz="1200">
                <a:sym typeface="+mn-ea"/>
              </a:rPr>
              <a:t>ü</a:t>
            </a:r>
            <a:r>
              <a:rPr lang="en-US" altLang="zh-CN" sz="12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200"/>
          </a:p>
        </p:txBody>
      </p:sp>
      <p:pic>
        <p:nvPicPr>
          <p:cNvPr id="4" name="图片 3" descr="蓝色机械手开放与握拳图标(1)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alphaModFix amt="41000"/>
          </a:blip>
          <a:stretch>
            <a:fillRect/>
          </a:stretch>
        </p:blipFill>
        <p:spPr>
          <a:xfrm rot="18480000">
            <a:off x="3766185" y="3822065"/>
            <a:ext cx="1563370" cy="1139825"/>
          </a:xfrm>
          <a:prstGeom prst="rect">
            <a:avLst/>
          </a:prstGeom>
        </p:spPr>
      </p:pic>
      <p:pic>
        <p:nvPicPr>
          <p:cNvPr id="5" name="图片 4" descr="蓝色机械手开放与握拳图标(2)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 rot="18360000">
            <a:off x="873125" y="3923030"/>
            <a:ext cx="1510665" cy="876300"/>
          </a:xfrm>
          <a:prstGeom prst="rect">
            <a:avLst/>
          </a:prstGeom>
        </p:spPr>
      </p:pic>
      <p:pic>
        <p:nvPicPr>
          <p:cNvPr id="12" name="图片 11" descr="蓝色机械手夹握姿态矢量插画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012940" y="3604895"/>
            <a:ext cx="1009015" cy="1564005"/>
          </a:xfrm>
          <a:prstGeom prst="rect">
            <a:avLst/>
          </a:prstGeom>
        </p:spPr>
      </p:pic>
      <p:sp>
        <p:nvSpPr>
          <p:cNvPr id="13" name="上箭头 12"/>
          <p:cNvSpPr/>
          <p:nvPr>
            <p:custDataLst>
              <p:tags r:id="rId7"/>
            </p:custDataLst>
          </p:nvPr>
        </p:nvSpPr>
        <p:spPr>
          <a:xfrm rot="5400000">
            <a:off x="2910205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上箭头 13"/>
          <p:cNvSpPr/>
          <p:nvPr>
            <p:custDataLst>
              <p:tags r:id="rId8"/>
            </p:custDataLst>
          </p:nvPr>
        </p:nvSpPr>
        <p:spPr>
          <a:xfrm rot="5400000">
            <a:off x="5798820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2558415" y="3506470"/>
            <a:ext cx="3990975" cy="1831340"/>
          </a:xfrm>
          <a:prstGeom prst="rect">
            <a:avLst/>
          </a:prstGeom>
          <a:noFill/>
          <a:ln w="25400" cmpd="sng">
            <a:solidFill>
              <a:srgbClr val="F59E0B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0"/>
            </p:custDataLst>
          </p:nvPr>
        </p:nvSpPr>
        <p:spPr>
          <a:xfrm>
            <a:off x="744220" y="3425190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1</a:t>
            </a:r>
            <a:endParaRPr lang="en-US" altLang="zh-CN">
              <a:sym typeface="+mn-ea"/>
            </a:endParaRPr>
          </a:p>
        </p:txBody>
      </p:sp>
      <p:sp>
        <p:nvSpPr>
          <p:cNvPr id="21" name="文本框 20"/>
          <p:cNvSpPr txBox="1"/>
          <p:nvPr>
            <p:custDataLst>
              <p:tags r:id="rId11"/>
            </p:custDataLst>
          </p:nvPr>
        </p:nvSpPr>
        <p:spPr>
          <a:xfrm>
            <a:off x="6680835" y="3399155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2</a:t>
            </a:r>
            <a:endParaRPr lang="en-US" altLang="zh-CN"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359025" y="5340985"/>
            <a:ext cx="4562475" cy="306705"/>
          </a:xfrm>
          <a:prstGeom prst="rect">
            <a:avLst/>
          </a:prstGeom>
        </p:spPr>
        <p:txBody>
          <a:bodyPr>
            <a:spAutoFit/>
          </a:bodyPr>
          <a:p>
            <a:pPr algn="ctr"/>
            <a:r>
              <a:rPr lang="en-US" altLang="ja-JP" sz="1400"/>
              <a:t>The Process of Natural Human Grasping</a:t>
            </a:r>
            <a:endParaRPr lang="en-US" altLang="ja-JP" sz="1400"/>
          </a:p>
        </p:txBody>
      </p:sp>
      <p:sp>
        <p:nvSpPr>
          <p:cNvPr id="24" name="灯片编号占位符 2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文本框 7"/>
          <p:cNvSpPr txBox="1"/>
          <p:nvPr>
            <p:custDataLst>
              <p:tags r:id="rId12"/>
            </p:custDataLst>
          </p:nvPr>
        </p:nvSpPr>
        <p:spPr>
          <a:xfrm>
            <a:off x="289560" y="2406650"/>
            <a:ext cx="3990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cs typeface="+mn-lt"/>
              </a:rPr>
              <a:t>Limited representation of continuous finger movements</a:t>
            </a:r>
            <a:endParaRPr lang="en-US" altLang="zh-CN">
              <a:cs typeface="+mn-lt"/>
            </a:endParaRPr>
          </a:p>
        </p:txBody>
      </p:sp>
      <p:sp>
        <p:nvSpPr>
          <p:cNvPr id="9" name="文本框 8"/>
          <p:cNvSpPr txBox="1"/>
          <p:nvPr>
            <p:custDataLst>
              <p:tags r:id="rId13"/>
            </p:custDataLst>
          </p:nvPr>
        </p:nvSpPr>
        <p:spPr>
          <a:xfrm>
            <a:off x="5120640" y="2406650"/>
            <a:ext cx="38182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Suitable for continuous </a:t>
            </a:r>
            <a:r>
              <a:rPr lang="en-US" altLang="zh-CN">
                <a:cs typeface="+mn-lt"/>
                <a:sym typeface="+mn-ea"/>
              </a:rPr>
              <a:t>finger movements</a:t>
            </a:r>
            <a:r>
              <a:rPr lang="en-US" altLang="zh-CN"/>
              <a:t> prediction</a:t>
            </a:r>
            <a:endParaRPr lang="en-US" altLang="zh-CN"/>
          </a:p>
        </p:txBody>
      </p:sp>
      <p:pic>
        <p:nvPicPr>
          <p:cNvPr id="10" name="图片 9" descr="regression_no_text_transparent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5848985" y="1090295"/>
            <a:ext cx="2286635" cy="1316355"/>
          </a:xfrm>
          <a:prstGeom prst="rect">
            <a:avLst/>
          </a:prstGeom>
        </p:spPr>
      </p:pic>
      <p:pic>
        <p:nvPicPr>
          <p:cNvPr id="11" name="图片 10" descr="classification_no_text_transparent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216025" y="1090295"/>
            <a:ext cx="2286000" cy="1316355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829945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Classification</a:t>
            </a:r>
            <a:endParaRPr lang="en-US" altLang="zh-CN"/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5467350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Regression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 Work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02260" y="1036085"/>
          <a:ext cx="8509000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250"/>
                <a:gridCol w="2127250"/>
                <a:gridCol w="2127250"/>
                <a:gridCol w="2127250"/>
              </a:tblGrid>
              <a:tr h="8070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Author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Title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Objective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Method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10902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Mangalam et al.</a:t>
                      </a:r>
                      <a:r>
                        <a:rPr lang="en-US" altLang="ja-JP" sz="1350">
                          <a:sym typeface="+mn-ea"/>
                        </a:rPr>
                        <a:t>[3]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Control of aperture closure during reach-to-grasp movements in 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immersive haptic-free virtual reality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factors determine when humans transition from finger opening to closing during object grasping.</a:t>
                      </a:r>
                      <a:endParaRPr lang="zh-CN" altLang="en-US">
                        <a:ea typeface="SimSun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Analyze how aperture, hand velocity, and acceleration at the key event - closure onset relate to hand–object distance.</a:t>
                      </a:r>
                      <a:endParaRPr lang="en-US" altLang="zh-CN"/>
                    </a:p>
                  </a:txBody>
                  <a:tcPr/>
                </a:tc>
              </a:tr>
              <a:tr h="8070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Coats et al.</a:t>
                      </a:r>
                      <a:r>
                        <a:rPr lang="en-US" altLang="ja-JP" sz="1350">
                          <a:sym typeface="+mn-ea"/>
                        </a:rPr>
                        <a:t>[4]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Predicting the Duration of Reach-to-Grasp Movements to Objects with Asymmetric Contact Surfaces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how grasping conditions affect movement duration.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Manipulate target distance and fingertip contact surface sizes, and analyze movement time and maximum grip aperture.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303530" y="4349115"/>
            <a:ext cx="8507730" cy="777875"/>
          </a:xfrm>
          <a:prstGeom prst="roundRect">
            <a:avLst>
              <a:gd name="adj" fmla="val 3484"/>
            </a:avLst>
          </a:prstGeom>
          <a:solidFill>
            <a:srgbClr val="F4E8CF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These studies demonstrate that reach-to-grasp movements involve multiple interacting variables.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[3] </a:t>
            </a:r>
            <a:r>
              <a:rPr lang="en-US" altLang="zh-CN" sz="12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2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[4] </a:t>
            </a:r>
            <a:r>
              <a:rPr lang="en-US" altLang="zh-CN" sz="12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200"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SimSun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SimSun" panose="02010600030101010101" pitchFamily="2" charset="-122"/>
                </a:rPr>
                <a:t>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87425"/>
            <a:ext cx="8573135" cy="14198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/>
              <a:t>This study aims to investigate the relationship between hand–object distance and fingertip aperture </a:t>
            </a:r>
            <a:r>
              <a:rPr lang="en-US" altLang="zh-CN">
                <a:sym typeface="+mn-ea"/>
              </a:rPr>
              <a:t>during reach-to-grasp movements.</a:t>
            </a: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And further examine whether a regression model can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SimSun" panose="02010600030101010101" pitchFamily="2" charset="-122"/>
                </a:rPr>
                <a:t>Initial hand position.</a:t>
              </a:r>
              <a:br>
                <a:rPr lang="en-US" altLang="zh-CN">
                  <a:ea typeface="SimSun" panose="02010600030101010101" pitchFamily="2" charset="-122"/>
                </a:rPr>
              </a:br>
              <a:r>
                <a:rPr lang="en-US" altLang="zh-CN">
                  <a:ea typeface="SimSun" panose="02010600030101010101" pitchFamily="2" charset="-122"/>
                </a:rPr>
                <a:t>30 mm from the object.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742950"/>
            <a:ext cx="3048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ja-JP" sz="1600">
                <a:solidFill>
                  <a:srgbClr val="2C2C2C"/>
                </a:solidFill>
              </a:rPr>
              <a:t>Camera View:</a:t>
            </a:r>
            <a:endParaRPr lang="en-US" altLang="ja-JP" sz="1600">
              <a:solidFill>
                <a:srgbClr val="2C2C2C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18235" y="1344295"/>
            <a:ext cx="6907530" cy="5180965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799840" y="1682115"/>
            <a:ext cx="5107305" cy="4467225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275590" y="873760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solidFill>
                  <a:srgbClr val="2C2C2C"/>
                </a:solidFill>
              </a:rPr>
              <a:t>MediaPipe and </a:t>
            </a:r>
            <a:r>
              <a:rPr lang="en-US" altLang="zh-CN" sz="1600">
                <a:solidFill>
                  <a:srgbClr val="2C2C2C"/>
                </a:solidFill>
              </a:rPr>
              <a:t>OpenCV</a:t>
            </a:r>
            <a:r>
              <a:rPr lang="en-US" altLang="ja-JP" sz="1600">
                <a:solidFill>
                  <a:srgbClr val="2C2C2C"/>
                </a:solidFill>
              </a:rPr>
              <a:t> is used to detect hand landmarks and cube</a:t>
            </a:r>
            <a:endParaRPr lang="en-US" altLang="ja-JP" sz="1600">
              <a:solidFill>
                <a:srgbClr val="2C2C2C"/>
              </a:solidFill>
            </a:endParaRPr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68211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Hand–Object Distance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from the fingertip midpoint to the object center.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2" name="图片 1" descr="icons8-数字-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85" y="1760855"/>
            <a:ext cx="275590" cy="275590"/>
          </a:xfrm>
          <a:prstGeom prst="rect">
            <a:avLst/>
          </a:prstGeom>
        </p:spPr>
      </p:pic>
      <p:sp>
        <p:nvSpPr>
          <p:cNvPr id="3" name="Shape 26"/>
          <p:cNvSpPr/>
          <p:nvPr>
            <p:custDataLst>
              <p:tags r:id="rId4"/>
            </p:custDataLst>
          </p:nvPr>
        </p:nvSpPr>
        <p:spPr>
          <a:xfrm>
            <a:off x="275590" y="331279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Fingertip Aperture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between the thumb and index fingertips.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4" name="图片 3" descr="C:/Users/Di/Desktop/icons8-实心圈2-96.pngicons8-实心圈2-96"/>
          <p:cNvPicPr>
            <a:picLocks noChangeAspect="1"/>
          </p:cNvPicPr>
          <p:nvPr/>
        </p:nvPicPr>
        <p:blipFill>
          <a:blip r:embed="rId5"/>
          <a:srcRect t="115" b="115"/>
          <a:stretch>
            <a:fillRect/>
          </a:stretch>
        </p:blipFill>
        <p:spPr>
          <a:xfrm>
            <a:off x="400685" y="3391535"/>
            <a:ext cx="275590" cy="275590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7203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Object</a:t>
            </a:r>
            <a:r>
              <a:rPr lang="en-US" altLang="zh-CN"/>
              <a:t>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Object types: 20mm red cube, 30mm blue cube,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black cube.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(px)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134.77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 ± 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16.17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 : 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2916000"/>
            <a:ext cx="8792210" cy="2930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75895" y="5847715"/>
            <a:ext cx="879284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/>
              <a:t>The model achieved an R² above 0.89 in 8 out of 9 real-time trials, demonstrating promising prediction performance.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320675" y="810260"/>
            <a:ext cx="8522970" cy="1753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/>
              <a:t>Procedure:</a:t>
            </a:r>
            <a:endParaRPr lang="en-US" altLang="ja-JP"/>
          </a:p>
          <a:p>
            <a:r>
              <a:rPr lang="en-US" altLang="zh-CN"/>
              <a:t>Three cubes of different colors and sizes were presented in random order, with three trials per cube.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system identified the target cube and automatically selected the corresponding trained model for real-time prediction.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381424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75590" y="876300"/>
            <a:ext cx="7662545" cy="230695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Demonstrated a consistent relationship between hand–object distance and fingertip aperture during reach-to-grasp movements.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regression model that accurately predicts continuous fingertip aperture from hand–object distance.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real-time system that automatically selects the appropriate trained model and predicts fingertip aperture in real time.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4605020"/>
            <a:ext cx="7662545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Conduct grasping experiments with a wider variety of objects.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Recruit additional participants to evaluate the model's generalization ability.</a:t>
            </a:r>
            <a:endParaRPr lang="en-US" altLang="ja-JP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75590" y="226695"/>
            <a:ext cx="819213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02970"/>
            <a:ext cx="8529955" cy="39255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[1] </a:t>
            </a:r>
            <a:r>
              <a:rPr lang="en-US" altLang="zh-CN" sz="1600">
                <a:sym typeface="+mn-ea"/>
              </a:rPr>
              <a:t>V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sconez, J. P., Barona L</a:t>
            </a:r>
            <a:r>
              <a:rPr lang="en-US" altLang="en-US" sz="1600">
                <a:sym typeface="+mn-ea"/>
              </a:rPr>
              <a:t>ó</a:t>
            </a:r>
            <a:r>
              <a:rPr lang="en-US" altLang="zh-CN" sz="1600">
                <a:sym typeface="+mn-ea"/>
              </a:rPr>
              <a:t>pez, L. I., Valdivieso Caraguay, </a:t>
            </a:r>
            <a:r>
              <a:rPr lang="en-US" altLang="en-US" sz="1600">
                <a:sym typeface="+mn-ea"/>
              </a:rPr>
              <a:t>Á. </a:t>
            </a:r>
            <a:r>
              <a:rPr lang="en-US" altLang="zh-CN" sz="1600">
                <a:sym typeface="+mn-ea"/>
              </a:rPr>
              <a:t>L., &amp; Benalc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[2] </a:t>
            </a:r>
            <a:r>
              <a:rPr lang="en-US" altLang="zh-CN" sz="1600">
                <a:sym typeface="+mn-ea"/>
              </a:rPr>
              <a:t>Zandigohar, M., Han, M., Sharif, M., G</a:t>
            </a:r>
            <a:r>
              <a:rPr lang="en-US" altLang="en-US" sz="1600">
                <a:sym typeface="+mn-ea"/>
              </a:rPr>
              <a:t>ü</a:t>
            </a:r>
            <a:r>
              <a:rPr lang="en-US" altLang="zh-CN" sz="16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[3] </a:t>
            </a:r>
            <a:r>
              <a:rPr lang="en-US" altLang="zh-CN" sz="16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[4] </a:t>
            </a:r>
            <a:r>
              <a:rPr lang="en-US" altLang="zh-CN" sz="16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600"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5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6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7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8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9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0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5.xml><?xml version="1.0" encoding="utf-8"?>
<p:tagLst xmlns:p="http://schemas.openxmlformats.org/presentationml/2006/main">
  <p:tag name="TABLE_ENDDRAG_ORIGIN_RECT" val="669*295"/>
  <p:tag name="TABLE_ENDDRAG_RECT" val="23*91*669*295"/>
</p:tagLst>
</file>

<file path=ppt/tags/tag1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8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1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61.xml><?xml version="1.0" encoding="utf-8"?>
<ds:datastoreItem xmlns:ds="http://schemas.openxmlformats.org/officeDocument/2006/customXml" ds:itemID="{D3FA7E84-7FC5-4C41-A4F9-8872414BB2F4}">
  <ds:schemaRefs/>
</ds:datastoreItem>
</file>

<file path=customXml/itemProps62.xml><?xml version="1.0" encoding="utf-8"?>
<ds:datastoreItem xmlns:ds="http://schemas.openxmlformats.org/officeDocument/2006/customXml" ds:itemID="{0E5148B6-4531-42C7-8EF9-49C77F467C6E}">
  <ds:schemaRefs/>
</ds:datastoreItem>
</file>

<file path=customXml/itemProps63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6560</Words>
  <Application>WPS 演示</Application>
  <PresentationFormat>画面に合わせる (4:3)</PresentationFormat>
  <Paragraphs>285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Segoe Print</vt:lpstr>
      <vt:lpstr>Times New Roman</vt:lpstr>
      <vt:lpstr>Arial</vt:lpstr>
      <vt:lpstr>Wingdings</vt:lpstr>
      <vt:lpstr>Microsoft YaHei</vt:lpstr>
      <vt:lpstr>Arial Unicode MS</vt:lpstr>
      <vt:lpstr>MS PGothic</vt:lpstr>
      <vt:lpstr>Calibri</vt:lpstr>
      <vt:lpstr>Calibri Light</vt:lpstr>
      <vt:lpstr>Office テーマ</vt:lpstr>
      <vt:lpstr>A Vision Regression Model for Fingertip Aperture Prediction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341</cp:revision>
  <dcterms:created xsi:type="dcterms:W3CDTF">2025-10-02T04:01:00Z</dcterms:created>
  <dcterms:modified xsi:type="dcterms:W3CDTF">2026-10-23T05:13:00Z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