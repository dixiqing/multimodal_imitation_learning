
<file path=[Content_Types].xml><?xml version="1.0" encoding="utf-8"?>
<Types xmlns="http://schemas.openxmlformats.org/package/2006/content-types">
  <Default Extension="png" ContentType="image/png"/>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1" r:id="rId3"/>
    <p:sldId id="267" r:id="rId5"/>
    <p:sldId id="268" r:id="rId6"/>
    <p:sldId id="266" r:id="rId7"/>
    <p:sldId id="257" r:id="rId8"/>
    <p:sldId id="264" r:id="rId9"/>
    <p:sldId id="263" r:id="rId10"/>
    <p:sldId id="265" r:id="rId11"/>
    <p:sldId id="258" r:id="rId12"/>
    <p:sldId id="259" r:id="rId13"/>
    <p:sldId id="260" r:id="rId14"/>
  </p:sld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p:sp>
        <p:nvSpPr>
          <p:cNvPr id="2" name="タイトル 1"/>
          <p:cNvSpPr>
            <a:spLocks noGrp="1"/>
          </p:cNvSpPr>
          <p:nvPr>
            <p:ph type="ctrTitle"/>
          </p:nvPr>
        </p:nvSpPr>
        <p:spPr>
          <a:xfrm>
            <a:off x="1143000" y="1122363"/>
            <a:ext cx="6858000" cy="2387600"/>
          </a:xfrm>
        </p:spPr>
        <p:txBody>
          <a:bodyPr anchor="b"/>
          <a:lstStyle>
            <a:lvl1pPr algn="ctr">
              <a:buNone/>
              <a:defRPr sz="4500"/>
            </a:lvl1pPr>
          </a:lstStyle>
          <a:p>
            <a:r>
              <a:t>マスター タイトルの書式設定</a:t>
            </a:r>
          </a:p>
        </p:txBody>
      </p:sp>
      <p:sp>
        <p:nvSpPr>
          <p:cNvPr id="3" name="字幕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t>マスター サブタイトルの書式設定</a:t>
            </a:r>
          </a:p>
        </p:txBody>
      </p:sp>
      <p:sp>
        <p:nvSpPr>
          <p:cNvPr id="4" name="日付プレースホルダー 3"/>
          <p:cNvSpPr>
            <a:spLocks noGrp="1"/>
          </p:cNvSpPr>
          <p:nvPr>
            <p:ph type="dt" idx="10"/>
          </p:nvPr>
        </p:nvSpPr>
        <p:spPr/>
        <p:txBody>
          <a:bodyPr/>
          <a:lstStyle/>
          <a:p/>
        </p:txBody>
      </p:sp>
      <p:sp>
        <p:nvSpPr>
          <p:cNvPr id="5" name="フッター プレースホルダー 4"/>
          <p:cNvSpPr>
            <a:spLocks noGrp="1"/>
          </p:cNvSpPr>
          <p:nvPr>
            <p:ph type="ftr" idx="11"/>
          </p:nvPr>
        </p:nvSpPr>
        <p:spPr/>
        <p:txBody>
          <a:bodyPr/>
          <a:lstStyle/>
          <a:p/>
        </p:txBody>
      </p:sp>
      <p:sp>
        <p:nvSpPr>
          <p:cNvPr id="6" name="スライド番号プレースホルダー 5"/>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p:sp>
        <p:nvSpPr>
          <p:cNvPr id="2" name="タイトル 1"/>
          <p:cNvSpPr>
            <a:spLocks noGrp="1"/>
          </p:cNvSpPr>
          <p:nvPr>
            <p:ph type="title"/>
          </p:nvPr>
        </p:nvSpPr>
        <p:spPr/>
        <p:txBody>
          <a:bodyPr/>
          <a:lstStyle/>
          <a:p>
            <a:r>
              <a:t>マスター タイトルの書式設定</a:t>
            </a:r>
          </a:p>
        </p:txBody>
      </p:sp>
      <p:sp>
        <p:nvSpPr>
          <p:cNvPr id="3" name="コンテンツ プレースホルダー 2"/>
          <p:cNvSpPr>
            <a:spLocks noGrp="1"/>
          </p:cNvSpPr>
          <p:nvPr>
            <p:ph idx="1"/>
          </p:nvPr>
        </p:nvSpPr>
        <p:spPr/>
        <p:txBody>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日付プレースホルダー 3"/>
          <p:cNvSpPr>
            <a:spLocks noGrp="1"/>
          </p:cNvSpPr>
          <p:nvPr>
            <p:ph type="dt" idx="10"/>
          </p:nvPr>
        </p:nvSpPr>
        <p:spPr/>
        <p:txBody>
          <a:bodyPr/>
          <a:lstStyle/>
          <a:p/>
        </p:txBody>
      </p:sp>
      <p:sp>
        <p:nvSpPr>
          <p:cNvPr id="5" name="フッター プレースホルダー 4"/>
          <p:cNvSpPr>
            <a:spLocks noGrp="1"/>
          </p:cNvSpPr>
          <p:nvPr>
            <p:ph type="ftr" idx="11"/>
          </p:nvPr>
        </p:nvSpPr>
        <p:spPr/>
        <p:txBody>
          <a:bodyPr/>
          <a:lstStyle/>
          <a:p/>
        </p:txBody>
      </p:sp>
      <p:sp>
        <p:nvSpPr>
          <p:cNvPr id="6" name="スライド番号プレースホルダー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p:sp>
        <p:nvSpPr>
          <p:cNvPr id="2" name="タイトル 1"/>
          <p:cNvSpPr>
            <a:spLocks noGrp="1"/>
          </p:cNvSpPr>
          <p:nvPr>
            <p:ph type="title"/>
          </p:nvPr>
        </p:nvSpPr>
        <p:spPr>
          <a:xfrm>
            <a:off x="623888" y="1709739"/>
            <a:ext cx="7886700" cy="2852737"/>
          </a:xfrm>
        </p:spPr>
        <p:txBody>
          <a:bodyPr anchor="b"/>
          <a:lstStyle>
            <a:lvl1pPr>
              <a:buNone/>
              <a:defRPr sz="4500"/>
            </a:lvl1pPr>
          </a:lstStyle>
          <a:p>
            <a:r>
              <a:t>マスター タイトルの書式設定</a:t>
            </a:r>
          </a:p>
        </p:txBody>
      </p:sp>
      <p:sp>
        <p:nvSpPr>
          <p:cNvPr id="3" name="テキスト プレースホルダー 2"/>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buNone/>
            </a:pPr>
            <a:r>
              <a:t>マスター テキストの書式設定</a:t>
            </a:r>
          </a:p>
        </p:txBody>
      </p:sp>
      <p:sp>
        <p:nvSpPr>
          <p:cNvPr id="4" name="日付プレースホルダー 3"/>
          <p:cNvSpPr>
            <a:spLocks noGrp="1"/>
          </p:cNvSpPr>
          <p:nvPr>
            <p:ph type="dt" idx="10"/>
          </p:nvPr>
        </p:nvSpPr>
        <p:spPr/>
        <p:txBody>
          <a:bodyPr/>
          <a:lstStyle/>
          <a:p/>
        </p:txBody>
      </p:sp>
      <p:sp>
        <p:nvSpPr>
          <p:cNvPr id="5" name="フッター プレースホルダー 4"/>
          <p:cNvSpPr>
            <a:spLocks noGrp="1"/>
          </p:cNvSpPr>
          <p:nvPr>
            <p:ph type="ftr" idx="11"/>
          </p:nvPr>
        </p:nvSpPr>
        <p:spPr/>
        <p:txBody>
          <a:bodyPr/>
          <a:lstStyle/>
          <a:p/>
        </p:txBody>
      </p:sp>
      <p:sp>
        <p:nvSpPr>
          <p:cNvPr id="6" name="スライド番号プレースホルダー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p:sp>
        <p:nvSpPr>
          <p:cNvPr id="2" name="タイトル 1"/>
          <p:cNvSpPr>
            <a:spLocks noGrp="1"/>
          </p:cNvSpPr>
          <p:nvPr>
            <p:ph type="title"/>
          </p:nvPr>
        </p:nvSpPr>
        <p:spPr/>
        <p:txBody>
          <a:bodyPr/>
          <a:lstStyle/>
          <a:p>
            <a:r>
              <a:t>マスター タイトルの書式設定</a:t>
            </a:r>
          </a:p>
        </p:txBody>
      </p:sp>
      <p:sp>
        <p:nvSpPr>
          <p:cNvPr id="3" name="コンテンツ プレースホルダー 2"/>
          <p:cNvSpPr>
            <a:spLocks noGrp="1"/>
          </p:cNvSpPr>
          <p:nvPr>
            <p:ph idx="1"/>
          </p:nvPr>
        </p:nvSpPr>
        <p:spPr>
          <a:xfrm>
            <a:off x="628650" y="1825625"/>
            <a:ext cx="3886200" cy="4351338"/>
          </a:xfrm>
        </p:spPr>
        <p:txBody>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コンテンツ プレースホルダー 3"/>
          <p:cNvSpPr>
            <a:spLocks noGrp="1"/>
          </p:cNvSpPr>
          <p:nvPr>
            <p:ph idx="2"/>
          </p:nvPr>
        </p:nvSpPr>
        <p:spPr>
          <a:xfrm>
            <a:off x="4629150" y="1825625"/>
            <a:ext cx="3886200" cy="4351338"/>
          </a:xfrm>
        </p:spPr>
        <p:txBody>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5" name="日付プレースホルダー 4"/>
          <p:cNvSpPr>
            <a:spLocks noGrp="1"/>
          </p:cNvSpPr>
          <p:nvPr>
            <p:ph type="dt" idx="10"/>
          </p:nvPr>
        </p:nvSpPr>
        <p:spPr/>
        <p:txBody>
          <a:bodyPr/>
          <a:lstStyle/>
          <a:p/>
        </p:txBody>
      </p:sp>
      <p:sp>
        <p:nvSpPr>
          <p:cNvPr id="6" name="フッター プレースホルダー 5"/>
          <p:cNvSpPr>
            <a:spLocks noGrp="1"/>
          </p:cNvSpPr>
          <p:nvPr>
            <p:ph type="ftr" idx="11"/>
          </p:nvPr>
        </p:nvSpPr>
        <p:spPr/>
        <p:txBody>
          <a:bodyPr/>
          <a:lstStyle/>
          <a:p/>
        </p:txBody>
      </p:sp>
      <p:sp>
        <p:nvSpPr>
          <p:cNvPr id="7" name="スライド番号プレースホルダー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p:sp>
        <p:nvSpPr>
          <p:cNvPr id="2" name="タイトル 1"/>
          <p:cNvSpPr>
            <a:spLocks noGrp="1"/>
          </p:cNvSpPr>
          <p:nvPr>
            <p:ph type="title"/>
          </p:nvPr>
        </p:nvSpPr>
        <p:spPr>
          <a:xfrm>
            <a:off x="629841" y="365126"/>
            <a:ext cx="7886700" cy="1325563"/>
          </a:xfrm>
        </p:spPr>
        <p:txBody>
          <a:bodyPr/>
          <a:lstStyle/>
          <a:p>
            <a:r>
              <a:t>マスター タイトルの書式設定</a:t>
            </a:r>
          </a:p>
        </p:txBody>
      </p:sp>
      <p:sp>
        <p:nvSpPr>
          <p:cNvPr id="3" name="テキスト プレースホルダー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マスター テキストの書式設定</a:t>
            </a:r>
          </a:p>
        </p:txBody>
      </p:sp>
      <p:sp>
        <p:nvSpPr>
          <p:cNvPr id="4" name="コンテンツ プレースホルダー 3"/>
          <p:cNvSpPr>
            <a:spLocks noGrp="1"/>
          </p:cNvSpPr>
          <p:nvPr>
            <p:ph idx="2"/>
          </p:nvPr>
        </p:nvSpPr>
        <p:spPr>
          <a:xfrm>
            <a:off x="629842" y="2505075"/>
            <a:ext cx="3868340" cy="3684588"/>
          </a:xfrm>
        </p:spPr>
        <p:txBody>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5" name="テキスト プレースホルダー 4"/>
          <p:cNvSpPr>
            <a:spLocks noGrp="1"/>
          </p:cNvSpPr>
          <p:nvPr>
            <p:ph type="body"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マスター テキストの書式設定</a:t>
            </a:r>
          </a:p>
        </p:txBody>
      </p:sp>
      <p:sp>
        <p:nvSpPr>
          <p:cNvPr id="6" name="コンテンツ プレースホルダー 5"/>
          <p:cNvSpPr>
            <a:spLocks noGrp="1"/>
          </p:cNvSpPr>
          <p:nvPr>
            <p:ph idx="4"/>
          </p:nvPr>
        </p:nvSpPr>
        <p:spPr>
          <a:xfrm>
            <a:off x="4629150" y="2505075"/>
            <a:ext cx="3887391" cy="3684588"/>
          </a:xfrm>
        </p:spPr>
        <p:txBody>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7" name="日付プレースホルダー 6"/>
          <p:cNvSpPr>
            <a:spLocks noGrp="1"/>
          </p:cNvSpPr>
          <p:nvPr>
            <p:ph type="dt" idx="10"/>
          </p:nvPr>
        </p:nvSpPr>
        <p:spPr/>
        <p:txBody>
          <a:bodyPr/>
          <a:lstStyle/>
          <a:p/>
        </p:txBody>
      </p:sp>
      <p:sp>
        <p:nvSpPr>
          <p:cNvPr id="8" name="フッター プレースホルダー 7"/>
          <p:cNvSpPr>
            <a:spLocks noGrp="1"/>
          </p:cNvSpPr>
          <p:nvPr>
            <p:ph type="ftr" idx="11"/>
          </p:nvPr>
        </p:nvSpPr>
        <p:spPr/>
        <p:txBody>
          <a:bodyPr/>
          <a:lstStyle/>
          <a:p/>
        </p:txBody>
      </p:sp>
      <p:sp>
        <p:nvSpPr>
          <p:cNvPr id="9" name="スライド番号プレースホルダー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p:sp>
        <p:nvSpPr>
          <p:cNvPr id="2" name="タイトル 1"/>
          <p:cNvSpPr>
            <a:spLocks noGrp="1"/>
          </p:cNvSpPr>
          <p:nvPr>
            <p:ph type="title"/>
          </p:nvPr>
        </p:nvSpPr>
        <p:spPr>
          <a:xfrm>
            <a:off x="205954" y="94797"/>
            <a:ext cx="7886700" cy="488889"/>
          </a:xfrm>
        </p:spPr>
        <p:txBody>
          <a:bodyPr>
            <a:normAutofit/>
          </a:bodyPr>
          <a:lstStyle>
            <a:lvl1pPr>
              <a:buNone/>
              <a:defRPr sz="2800"/>
            </a:lvl1pPr>
          </a:lstStyle>
          <a:p>
            <a:r>
              <a:t>マスター タイトルの書式設定</a:t>
            </a:r>
          </a:p>
        </p:txBody>
      </p:sp>
      <p:sp>
        <p:nvSpPr>
          <p:cNvPr id="3" name="日付プレースホルダー 2"/>
          <p:cNvSpPr>
            <a:spLocks noGrp="1"/>
          </p:cNvSpPr>
          <p:nvPr>
            <p:ph type="dt" idx="10"/>
          </p:nvPr>
        </p:nvSpPr>
        <p:spPr/>
        <p:txBody>
          <a:bodyPr/>
          <a:lstStyle/>
          <a:p/>
        </p:txBody>
      </p:sp>
      <p:sp>
        <p:nvSpPr>
          <p:cNvPr id="4" name="フッター プレースホルダー 3"/>
          <p:cNvSpPr>
            <a:spLocks noGrp="1"/>
          </p:cNvSpPr>
          <p:nvPr>
            <p:ph type="ftr" idx="11"/>
          </p:nvPr>
        </p:nvSpPr>
        <p:spPr/>
        <p:txBody>
          <a:bodyPr/>
          <a:lstStyle/>
          <a:p/>
        </p:txBody>
      </p:sp>
      <p:sp>
        <p:nvSpPr>
          <p:cNvPr id="7" name="直線コネクタ 6"/>
          <p:cNvSpPr>
            <a:spLocks noGrp="1"/>
          </p:cNvSpPr>
          <p:nvPr/>
        </p:nvSpPr>
        <p:spPr>
          <a:xfrm>
            <a:off x="171450" y="94086"/>
            <a:ext cx="0" cy="489600"/>
          </a:xfrm>
          <a:prstGeom prst="line">
            <a:avLst/>
          </a:prstGeom>
          <a:ln w="57150">
            <a:solidFill>
              <a:schemeClr val="accent1">
                <a:lumMod val="75000"/>
              </a:schemeClr>
            </a:solidFill>
          </a:ln>
        </p:spPr>
        <p:style>
          <a:lnRef idx="2">
            <a:schemeClr val="accent1"/>
          </a:lnRef>
          <a:fillRef idx="0">
            <a:schemeClr val="accent1"/>
          </a:fillRef>
          <a:effectRef idx="1">
            <a:schemeClr val="accent1"/>
          </a:effectRef>
          <a:fontRef idx="minor">
            <a:schemeClr val="tx1"/>
          </a:fontRef>
        </p:style>
      </p:sp>
      <p:sp>
        <p:nvSpPr>
          <p:cNvPr id="5" name="スライド番号プレースホルダー 4"/>
          <p:cNvSpPr>
            <a:spLocks noGrp="1"/>
          </p:cNvSpPr>
          <p:nvPr>
            <p:ph type="sldNum" idx="12"/>
          </p:nvPr>
        </p:nvSpPr>
        <p:spPr>
          <a:xfrm>
            <a:off x="7063954" y="6574305"/>
            <a:ext cx="2057400" cy="365125"/>
          </a:xfrm>
        </p:spPr>
        <p:txBody>
          <a:bodyPr/>
          <a:lstStyle>
            <a:lvl1pPr>
              <a:buNone/>
              <a:defRPr sz="1400">
                <a:solidFill>
                  <a:schemeClr val="accent1">
                    <a:lumMod val="75000"/>
                  </a:schemeClr>
                </a:solidFill>
              </a:defRPr>
            </a:lvl1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p:sp>
        <p:nvSpPr>
          <p:cNvPr id="2" name="日付プレースホルダー 1"/>
          <p:cNvSpPr>
            <a:spLocks noGrp="1"/>
          </p:cNvSpPr>
          <p:nvPr>
            <p:ph type="dt" idx="10"/>
          </p:nvPr>
        </p:nvSpPr>
        <p:spPr/>
        <p:txBody>
          <a:bodyPr/>
          <a:lstStyle/>
          <a:p/>
        </p:txBody>
      </p:sp>
      <p:sp>
        <p:nvSpPr>
          <p:cNvPr id="3" name="フッター プレースホルダー 2"/>
          <p:cNvSpPr>
            <a:spLocks noGrp="1"/>
          </p:cNvSpPr>
          <p:nvPr>
            <p:ph type="ftr" idx="11"/>
          </p:nvPr>
        </p:nvSpPr>
        <p:spPr/>
        <p:txBody>
          <a:bodyPr/>
          <a:lstStyle/>
          <a:p/>
        </p:txBody>
      </p:sp>
      <p:sp>
        <p:nvSpPr>
          <p:cNvPr id="4" name="スライド番号プレースホルダー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p:sp>
        <p:nvSpPr>
          <p:cNvPr id="2" name="タイトル 1"/>
          <p:cNvSpPr>
            <a:spLocks noGrp="1"/>
          </p:cNvSpPr>
          <p:nvPr>
            <p:ph type="title"/>
          </p:nvPr>
        </p:nvSpPr>
        <p:spPr>
          <a:xfrm>
            <a:off x="629841" y="457200"/>
            <a:ext cx="2949178" cy="1600200"/>
          </a:xfrm>
        </p:spPr>
        <p:txBody>
          <a:bodyPr anchor="b"/>
          <a:lstStyle>
            <a:lvl1pPr>
              <a:buNone/>
              <a:defRPr sz="2400"/>
            </a:lvl1pPr>
          </a:lstStyle>
          <a:p>
            <a:r>
              <a:t>マスター タイトルの書式設定</a:t>
            </a:r>
          </a:p>
        </p:txBody>
      </p:sp>
      <p:sp>
        <p:nvSpPr>
          <p:cNvPr id="3" name="コンテンツ プレースホルダー 2"/>
          <p:cNvSpPr>
            <a:spLocks noGrp="1"/>
          </p:cNvSpPr>
          <p:nvPr>
            <p:ph idx="1"/>
          </p:nvPr>
        </p:nvSpPr>
        <p:spPr>
          <a:xfrm>
            <a:off x="3887391" y="987426"/>
            <a:ext cx="4629150" cy="4873625"/>
          </a:xfrm>
        </p:spPr>
        <p:txBody>
          <a:bodyPr/>
          <a:lstStyle>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テキスト プレースホルダー 3"/>
          <p:cNvSpPr>
            <a:spLocks noGrp="1"/>
          </p:cNvSpPr>
          <p:nvPr>
            <p:ph type="body"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マスター テキストの書式設定</a:t>
            </a:r>
          </a:p>
        </p:txBody>
      </p:sp>
      <p:sp>
        <p:nvSpPr>
          <p:cNvPr id="5" name="日付プレースホルダー 4"/>
          <p:cNvSpPr>
            <a:spLocks noGrp="1"/>
          </p:cNvSpPr>
          <p:nvPr>
            <p:ph type="dt" idx="10"/>
          </p:nvPr>
        </p:nvSpPr>
        <p:spPr/>
        <p:txBody>
          <a:bodyPr/>
          <a:lstStyle/>
          <a:p/>
        </p:txBody>
      </p:sp>
      <p:sp>
        <p:nvSpPr>
          <p:cNvPr id="6" name="フッター プレースホルダー 5"/>
          <p:cNvSpPr>
            <a:spLocks noGrp="1"/>
          </p:cNvSpPr>
          <p:nvPr>
            <p:ph type="ftr" idx="11"/>
          </p:nvPr>
        </p:nvSpPr>
        <p:spPr/>
        <p:txBody>
          <a:bodyPr/>
          <a:lstStyle/>
          <a:p/>
        </p:txBody>
      </p:sp>
      <p:sp>
        <p:nvSpPr>
          <p:cNvPr id="7" name="スライド番号プレースホルダー 6"/>
          <p:cNvSpPr>
            <a:spLocks noGrp="1"/>
          </p:cNvSpPr>
          <p:nvPr>
            <p:ph type="sldNum" idx="1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p:sp>
        <p:nvSpPr>
          <p:cNvPr id="2" name="タイトル 1"/>
          <p:cNvSpPr>
            <a:spLocks noGrp="1"/>
          </p:cNvSpPr>
          <p:nvPr>
            <p:ph type="title"/>
          </p:nvPr>
        </p:nvSpPr>
        <p:spPr>
          <a:xfrm>
            <a:off x="629841" y="457200"/>
            <a:ext cx="2949178" cy="1600200"/>
          </a:xfrm>
        </p:spPr>
        <p:txBody>
          <a:bodyPr anchor="b"/>
          <a:lstStyle>
            <a:lvl1pPr>
              <a:buNone/>
              <a:defRPr sz="2400"/>
            </a:lvl1pPr>
          </a:lstStyle>
          <a:p>
            <a:r>
              <a:t>マスター タイトルの書式設定</a:t>
            </a:r>
          </a:p>
        </p:txBody>
      </p:sp>
      <p:sp>
        <p:nvSpPr>
          <p:cNvPr id="3" name="図プレースホルダー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p:txBody>
      </p:sp>
      <p:sp>
        <p:nvSpPr>
          <p:cNvPr id="4" name="テキスト プレースホルダー 3"/>
          <p:cNvSpPr>
            <a:spLocks noGrp="1"/>
          </p:cNvSpPr>
          <p:nvPr>
            <p:ph type="body"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マスター テキストの書式設定</a:t>
            </a:r>
          </a:p>
        </p:txBody>
      </p:sp>
      <p:sp>
        <p:nvSpPr>
          <p:cNvPr id="5" name="日付プレースホルダー 4"/>
          <p:cNvSpPr>
            <a:spLocks noGrp="1"/>
          </p:cNvSpPr>
          <p:nvPr>
            <p:ph type="dt" idx="10"/>
          </p:nvPr>
        </p:nvSpPr>
        <p:spPr/>
        <p:txBody>
          <a:bodyPr/>
          <a:lstStyle/>
          <a:p/>
        </p:txBody>
      </p:sp>
      <p:sp>
        <p:nvSpPr>
          <p:cNvPr id="6" name="フッター プレースホルダー 5"/>
          <p:cNvSpPr>
            <a:spLocks noGrp="1"/>
          </p:cNvSpPr>
          <p:nvPr>
            <p:ph type="ftr" idx="11"/>
          </p:nvPr>
        </p:nvSpPr>
        <p:spPr/>
        <p:txBody>
          <a:bodyPr/>
          <a:lstStyle/>
          <a:p/>
        </p:txBody>
      </p:sp>
      <p:sp>
        <p:nvSpPr>
          <p:cNvPr id="7" name="スライド番号プレースホルダー 6"/>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p:sp>
        <p:nvSpPr>
          <p:cNvPr id="2" name="タイトル 1"/>
          <p:cNvSpPr>
            <a:spLocks noGrp="1"/>
          </p:cNvSpPr>
          <p:nvPr>
            <p:ph type="title"/>
          </p:nvPr>
        </p:nvSpPr>
        <p:spPr/>
        <p:txBody>
          <a:bodyPr/>
          <a:lstStyle/>
          <a:p>
            <a:r>
              <a:t>マスター タイトルの書式設定</a:t>
            </a:r>
          </a:p>
        </p:txBody>
      </p:sp>
      <p:sp>
        <p:nvSpPr>
          <p:cNvPr id="3" name="縦書きテキスト プレースホルダー 2"/>
          <p:cNvSpPr>
            <a:spLocks noGrp="1"/>
          </p:cNvSpPr>
          <p:nvPr>
            <p:ph type="body" idx="1"/>
          </p:nvPr>
        </p:nvSpPr>
        <p:spPr/>
        <p:txBody>
          <a:bodyPr vert="eaVert"/>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日付プレースホルダー 3"/>
          <p:cNvSpPr>
            <a:spLocks noGrp="1"/>
          </p:cNvSpPr>
          <p:nvPr>
            <p:ph type="dt" idx="10"/>
          </p:nvPr>
        </p:nvSpPr>
        <p:spPr/>
        <p:txBody>
          <a:bodyPr/>
          <a:lstStyle/>
          <a:p/>
        </p:txBody>
      </p:sp>
      <p:sp>
        <p:nvSpPr>
          <p:cNvPr id="5" name="フッター プレースホルダー 4"/>
          <p:cNvSpPr>
            <a:spLocks noGrp="1"/>
          </p:cNvSpPr>
          <p:nvPr>
            <p:ph type="ftr" idx="11"/>
          </p:nvPr>
        </p:nvSpPr>
        <p:spPr/>
        <p:txBody>
          <a:bodyPr/>
          <a:lstStyle/>
          <a:p/>
        </p:txBody>
      </p:sp>
      <p:sp>
        <p:nvSpPr>
          <p:cNvPr id="6" name="スライド番号プレースホルダー 5"/>
          <p:cNvSpPr>
            <a:spLocks noGrp="1"/>
          </p:cNvSpPr>
          <p:nvPr>
            <p:ph type="sldNum" idx="12"/>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p:sp>
        <p:nvSpPr>
          <p:cNvPr id="2" name="縦書きタイトル 1"/>
          <p:cNvSpPr>
            <a:spLocks noGrp="1"/>
          </p:cNvSpPr>
          <p:nvPr>
            <p:ph type="title"/>
          </p:nvPr>
        </p:nvSpPr>
        <p:spPr>
          <a:xfrm>
            <a:off x="6543675" y="365125"/>
            <a:ext cx="1971675" cy="5811838"/>
          </a:xfrm>
        </p:spPr>
        <p:txBody>
          <a:bodyPr vert="eaVert"/>
          <a:lstStyle/>
          <a:p>
            <a:r>
              <a:t>マスター タイトルの書式設定</a:t>
            </a:r>
          </a:p>
        </p:txBody>
      </p:sp>
      <p:sp>
        <p:nvSpPr>
          <p:cNvPr id="3" name="縦書きテキスト プレースホルダー 2"/>
          <p:cNvSpPr>
            <a:spLocks noGrp="1"/>
          </p:cNvSpPr>
          <p:nvPr>
            <p:ph type="body" idx="1"/>
          </p:nvPr>
        </p:nvSpPr>
        <p:spPr>
          <a:xfrm>
            <a:off x="628650" y="365125"/>
            <a:ext cx="5800725" cy="5811838"/>
          </a:xfrm>
        </p:spPr>
        <p:txBody>
          <a:bodyPr vert="eaVert"/>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日付プレースホルダー 3"/>
          <p:cNvSpPr>
            <a:spLocks noGrp="1"/>
          </p:cNvSpPr>
          <p:nvPr>
            <p:ph type="dt" idx="10"/>
          </p:nvPr>
        </p:nvSpPr>
        <p:spPr/>
        <p:txBody>
          <a:bodyPr/>
          <a:lstStyle/>
          <a:p/>
        </p:txBody>
      </p:sp>
      <p:sp>
        <p:nvSpPr>
          <p:cNvPr id="5" name="フッター プレースホルダー 4"/>
          <p:cNvSpPr>
            <a:spLocks noGrp="1"/>
          </p:cNvSpPr>
          <p:nvPr>
            <p:ph type="ftr" idx="11"/>
          </p:nvPr>
        </p:nvSpPr>
        <p:spPr/>
        <p:txBody>
          <a:bodyPr/>
          <a:lstStyle/>
          <a:p/>
        </p:txBody>
      </p:sp>
      <p:sp>
        <p:nvSpPr>
          <p:cNvPr id="6" name="スライド番号プレースホルダー 5"/>
          <p:cNvSpPr>
            <a:spLocks noGrp="1"/>
          </p:cNvSpPr>
          <p:nvPr>
            <p:ph type="sldNum" idx="12"/>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タイトル プレースホルダー 1"/>
          <p:cNvSpPr>
            <a:spLocks noGrp="1"/>
          </p:cNvSpPr>
          <p:nvPr>
            <p:ph type="title"/>
          </p:nvPr>
        </p:nvSpPr>
        <p:spPr>
          <a:xfrm>
            <a:off x="628650" y="365126"/>
            <a:ext cx="7886700" cy="1325563"/>
          </a:xfrm>
          <a:prstGeom prst="rect">
            <a:avLst/>
          </a:prstGeom>
        </p:spPr>
        <p:txBody>
          <a:bodyPr vert="horz" lIns="91440" tIns="45720" rIns="91440" bIns="45720" anchor="ctr">
            <a:normAutofit/>
          </a:bodyPr>
          <a:lstStyle/>
          <a:p>
            <a:r>
              <a:t>マスター タイトルの書式設定</a:t>
            </a:r>
          </a:p>
        </p:txBody>
      </p:sp>
      <p:sp>
        <p:nvSpPr>
          <p:cNvPr id="3" name="テキスト プレースホルダー 2"/>
          <p:cNvSpPr>
            <a:spLocks noGrp="1"/>
          </p:cNvSpPr>
          <p:nvPr>
            <p:ph type="body" idx="1"/>
          </p:nvPr>
        </p:nvSpPr>
        <p:spPr>
          <a:xfrm>
            <a:off x="628650" y="1825625"/>
            <a:ext cx="7886700" cy="4351338"/>
          </a:xfrm>
          <a:prstGeom prst="rect">
            <a:avLst/>
          </a:prstGeom>
        </p:spPr>
        <p:txBody>
          <a:bodyPr vert="horz" lIns="91440" tIns="45720" rIns="91440" bIns="45720">
            <a:normAutofit/>
          </a:bodyPr>
          <a:lstStyle/>
          <a:p>
            <a:pPr lvl="0">
              <a:buNone/>
            </a:pPr>
            <a:r>
              <a:t>マスター テキストの書式設定</a:t>
            </a:r>
          </a:p>
          <a:p>
            <a:pPr lvl="1">
              <a:buNone/>
            </a:pPr>
            <a:r>
              <a:t>第 </a:t>
            </a:r>
            <a:r>
              <a:t>2 </a:t>
            </a:r>
            <a:r>
              <a:t>レベル</a:t>
            </a:r>
          </a:p>
          <a:p>
            <a:pPr lvl="2">
              <a:buNone/>
            </a:pPr>
            <a:r>
              <a:t>第 </a:t>
            </a:r>
            <a:r>
              <a:t>3 </a:t>
            </a:r>
            <a:r>
              <a:t>レベル</a:t>
            </a:r>
          </a:p>
          <a:p>
            <a:pPr lvl="3">
              <a:buNone/>
            </a:pPr>
            <a:r>
              <a:t>第 </a:t>
            </a:r>
            <a:r>
              <a:t>4 </a:t>
            </a:r>
            <a:r>
              <a:t>レベル</a:t>
            </a:r>
          </a:p>
          <a:p>
            <a:pPr lvl="4">
              <a:buNone/>
            </a:pPr>
            <a:r>
              <a:t>第 </a:t>
            </a:r>
            <a:r>
              <a:t>5 </a:t>
            </a:r>
            <a:r>
              <a:t>レベル</a:t>
            </a:r>
          </a:p>
        </p:txBody>
      </p:sp>
      <p:sp>
        <p:nvSpPr>
          <p:cNvPr id="4" name="日付プレースホルダー 3"/>
          <p:cNvSpPr>
            <a:spLocks noGrp="1"/>
          </p:cNvSpPr>
          <p:nvPr>
            <p:ph type="dt" idx="2"/>
          </p:nvPr>
        </p:nvSpPr>
        <p:spPr>
          <a:xfrm>
            <a:off x="628650" y="6356351"/>
            <a:ext cx="2057400" cy="365125"/>
          </a:xfrm>
          <a:prstGeom prst="rect">
            <a:avLst/>
          </a:prstGeom>
        </p:spPr>
        <p:txBody>
          <a:bodyPr vert="horz" lIns="91440" tIns="45720" rIns="91440" bIns="45720" anchor="ctr"/>
          <a:lstStyle>
            <a:lvl1pPr algn="l">
              <a:buNone/>
              <a:defRPr sz="900">
                <a:solidFill>
                  <a:schemeClr val="tx1">
                    <a:tint val="82000"/>
                  </a:schemeClr>
                </a:solidFill>
              </a:defRPr>
            </a:lvl1pPr>
          </a:lstStyle>
          <a:p/>
        </p:txBody>
      </p:sp>
      <p:sp>
        <p:nvSpPr>
          <p:cNvPr id="5" name="フッター プレースホルダー 4"/>
          <p:cNvSpPr>
            <a:spLocks noGrp="1"/>
          </p:cNvSpPr>
          <p:nvPr>
            <p:ph type="ftr" idx="3"/>
          </p:nvPr>
        </p:nvSpPr>
        <p:spPr>
          <a:xfrm>
            <a:off x="3028950" y="6356351"/>
            <a:ext cx="3086100" cy="365125"/>
          </a:xfrm>
          <a:prstGeom prst="rect">
            <a:avLst/>
          </a:prstGeom>
        </p:spPr>
        <p:txBody>
          <a:bodyPr vert="horz" lIns="91440" tIns="45720" rIns="91440" bIns="45720" anchor="ctr"/>
          <a:lstStyle>
            <a:lvl1pPr algn="ctr">
              <a:buNone/>
              <a:defRPr sz="900">
                <a:solidFill>
                  <a:schemeClr val="tx1">
                    <a:tint val="82000"/>
                  </a:schemeClr>
                </a:solidFill>
              </a:defRPr>
            </a:lvl1pPr>
          </a:lstStyle>
          <a:p/>
        </p:txBody>
      </p:sp>
      <p:sp>
        <p:nvSpPr>
          <p:cNvPr id="6" name="スライド番号プレースホルダー 5"/>
          <p:cNvSpPr>
            <a:spLocks noGrp="1"/>
          </p:cNvSpPr>
          <p:nvPr>
            <p:ph type="sldNum" idx="4"/>
          </p:nvPr>
        </p:nvSpPr>
        <p:spPr>
          <a:xfrm>
            <a:off x="6457950" y="6356351"/>
            <a:ext cx="2057400" cy="365125"/>
          </a:xfrm>
          <a:prstGeom prst="rect">
            <a:avLst/>
          </a:prstGeom>
        </p:spPr>
        <p:txBody>
          <a:bodyPr vert="horz" lIns="91440" tIns="45720" rIns="91440" bIns="45720" anchor="ctr"/>
          <a:lstStyle>
            <a:lvl1pPr algn="r">
              <a:buNone/>
              <a:defRPr sz="900">
                <a:solidFill>
                  <a:schemeClr val="tx1">
                    <a:tint val="82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a:lnSpc>
          <a:spcPct val="90000"/>
        </a:lnSpc>
        <a:spcBef>
          <a:spcPct val="0"/>
        </a:spcBef>
        <a:buNone/>
        <a:defRPr sz="3300" kern="1200">
          <a:solidFill>
            <a:schemeClr val="tx1"/>
          </a:solidFill>
          <a:latin typeface="+mj-lt"/>
          <a:ea typeface="+mj-lt"/>
          <a:cs typeface="+mj-lt"/>
        </a:defRPr>
      </a:lvl1pPr>
    </p:titleStyle>
    <p:bodyStyle>
      <a:lvl1pPr marL="171450" indent="-171450" algn="l" defTabSz="685800">
        <a:lnSpc>
          <a:spcPct val="90000"/>
        </a:lnSpc>
        <a:spcBef>
          <a:spcPts val="750"/>
        </a:spcBef>
        <a:buFont typeface="Arial" panose="020B0604020202020204"/>
        <a:buChar char="•"/>
        <a:defRPr sz="2100" kern="1200">
          <a:solidFill>
            <a:schemeClr val="tx1"/>
          </a:solidFill>
          <a:latin typeface="+mn-lt"/>
          <a:ea typeface="+mn-lt"/>
          <a:cs typeface="+mn-lt"/>
        </a:defRPr>
      </a:lvl1pPr>
      <a:lvl2pPr marL="514350" indent="-171450" algn="l" defTabSz="685800">
        <a:lnSpc>
          <a:spcPct val="90000"/>
        </a:lnSpc>
        <a:spcBef>
          <a:spcPts val="375"/>
        </a:spcBef>
        <a:buFont typeface="Arial" panose="020B0604020202020204"/>
        <a:buChar char="•"/>
        <a:defRPr sz="1800" kern="1200">
          <a:solidFill>
            <a:schemeClr val="tx1"/>
          </a:solidFill>
          <a:latin typeface="+mn-lt"/>
          <a:ea typeface="+mn-lt"/>
          <a:cs typeface="+mn-lt"/>
        </a:defRPr>
      </a:lvl2pPr>
      <a:lvl3pPr marL="857250" indent="-171450" algn="l" defTabSz="685800">
        <a:lnSpc>
          <a:spcPct val="90000"/>
        </a:lnSpc>
        <a:spcBef>
          <a:spcPts val="375"/>
        </a:spcBef>
        <a:buFont typeface="Arial" panose="020B0604020202020204"/>
        <a:buChar char="•"/>
        <a:defRPr sz="1500" kern="1200">
          <a:solidFill>
            <a:schemeClr val="tx1"/>
          </a:solidFill>
          <a:latin typeface="+mn-lt"/>
          <a:ea typeface="+mn-lt"/>
          <a:cs typeface="+mn-lt"/>
        </a:defRPr>
      </a:lvl3pPr>
      <a:lvl4pPr marL="12001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4pPr>
      <a:lvl5pPr marL="15430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5pPr>
      <a:lvl6pPr marL="18859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6pPr>
      <a:lvl7pPr marL="22288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7pPr>
      <a:lvl8pPr marL="25717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8pPr>
      <a:lvl9pPr marL="29146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7.png"/><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180975" y="295275"/>
            <a:ext cx="7477125" cy="42957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QQ20261005-232928"/>
          <p:cNvPicPr>
            <a:picLocks noChangeAspect="1"/>
          </p:cNvPicPr>
          <p:nvPr/>
        </p:nvPicPr>
        <p:blipFill>
          <a:blip r:embed="rId1"/>
          <a:stretch>
            <a:fillRect/>
          </a:stretch>
        </p:blipFill>
        <p:spPr>
          <a:xfrm>
            <a:off x="90805" y="389255"/>
            <a:ext cx="7606665" cy="53301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38430" y="289560"/>
            <a:ext cx="8686800" cy="3619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 name="图片 6"/>
          <p:cNvPicPr>
            <a:picLocks noChangeAspect="1"/>
          </p:cNvPicPr>
          <p:nvPr/>
        </p:nvPicPr>
        <p:blipFill>
          <a:blip r:embed="rId1"/>
          <a:stretch>
            <a:fillRect/>
          </a:stretch>
        </p:blipFill>
        <p:spPr>
          <a:xfrm>
            <a:off x="0" y="885825"/>
            <a:ext cx="5246370" cy="5321935"/>
          </a:xfrm>
          <a:prstGeom prst="rect">
            <a:avLst/>
          </a:prstGeom>
        </p:spPr>
      </p:pic>
      <p:sp>
        <p:nvSpPr>
          <p:cNvPr id="6" name="文本框 5"/>
          <p:cNvSpPr>
            <a:spLocks noGrp="1"/>
          </p:cNvSpPr>
          <p:nvPr/>
        </p:nvSpPr>
        <p:spPr>
          <a:xfrm>
            <a:off x="275590" y="226695"/>
            <a:ext cx="8522970" cy="583565"/>
          </a:xfrm>
          <a:prstGeom prst="rect">
            <a:avLst/>
          </a:prstGeom>
          <a:noFill/>
        </p:spPr>
        <p:txBody>
          <a:bodyPr wrap="square">
            <a:spAutoFit/>
          </a:bodyPr>
          <a:lstStyle/>
          <a:p>
            <a:r>
              <a:rPr sz="3200" b="1">
                <a:latin typeface="Times New Roman" panose="02020603050405020304"/>
                <a:ea typeface="Times New Roman" panose="02020603050405020304"/>
                <a:cs typeface="Times New Roman" panose="02020603050405020304"/>
              </a:rPr>
              <a:t>Data Collection</a:t>
            </a:r>
            <a:endParaRPr sz="3200" b="1">
              <a:latin typeface="Times New Roman" panose="02020603050405020304"/>
              <a:ea typeface="Times New Roman" panose="02020603050405020304"/>
              <a:cs typeface="Times New Roman" panose="02020603050405020304"/>
            </a:endParaRPr>
          </a:p>
        </p:txBody>
      </p:sp>
      <p:sp>
        <p:nvSpPr>
          <p:cNvPr id="3" name="文本框 2"/>
          <p:cNvSpPr>
            <a:spLocks noGrp="1"/>
          </p:cNvSpPr>
          <p:nvPr/>
        </p:nvSpPr>
        <p:spPr>
          <a:xfrm>
            <a:off x="4658360" y="635000"/>
            <a:ext cx="4303395" cy="579755"/>
          </a:xfrm>
          <a:prstGeom prst="rect">
            <a:avLst/>
          </a:prstGeom>
          <a:noFill/>
        </p:spPr>
        <p:txBody>
          <a:bodyPr wrap="square" anchor="t">
            <a:noAutofit/>
          </a:bodyPr>
          <a:lstStyle/>
          <a:p>
            <a:r>
              <a:rPr sz="2000"/>
              <a:t>I Optimized the Experimental Workflow</a:t>
            </a:r>
            <a:endParaRPr sz="2000"/>
          </a:p>
        </p:txBody>
      </p:sp>
      <p:sp>
        <p:nvSpPr>
          <p:cNvPr id="4" name="文本框 3"/>
          <p:cNvSpPr>
            <a:spLocks noGrp="1"/>
          </p:cNvSpPr>
          <p:nvPr/>
        </p:nvSpPr>
        <p:spPr>
          <a:xfrm>
            <a:off x="5337810" y="1085215"/>
            <a:ext cx="3806190" cy="992505"/>
          </a:xfrm>
          <a:prstGeom prst="rect">
            <a:avLst/>
          </a:prstGeom>
          <a:noFill/>
        </p:spPr>
        <p:txBody>
          <a:bodyPr wrap="square">
            <a:noAutofit/>
          </a:bodyPr>
          <a:lstStyle/>
          <a:p>
            <a:pPr marL="285750" indent="-285750">
              <a:buFont typeface="Arial" panose="020B0604020202020204" pitchFamily="34" charset="0"/>
              <a:buChar char="•"/>
            </a:pPr>
            <a:r>
              <a:t>Controlled grasping time, </a:t>
            </a:r>
          </a:p>
          <a:p>
            <a:pPr marL="285750" indent="-285750">
              <a:buFont typeface="Arial" panose="020B0604020202020204" pitchFamily="34" charset="0"/>
              <a:buChar char="•"/>
            </a:pPr>
            <a:r>
              <a:t>grasping behavior, </a:t>
            </a:r>
          </a:p>
          <a:p>
            <a:pPr marL="285750" indent="-285750">
              <a:buFont typeface="Arial" panose="020B0604020202020204" pitchFamily="34" charset="0"/>
              <a:buChar char="•"/>
            </a:pPr>
            <a:r>
              <a:t>the timing of opening and closing.</a:t>
            </a:r>
          </a:p>
        </p:txBody>
      </p:sp>
      <p:pic>
        <p:nvPicPr>
          <p:cNvPr id="12" name="图片 4"/>
          <p:cNvPicPr>
            <a:picLocks noChangeAspect="1"/>
          </p:cNvPicPr>
          <p:nvPr/>
        </p:nvPicPr>
        <p:blipFill>
          <a:blip r:embed="rId2"/>
          <a:stretch>
            <a:fillRect/>
          </a:stretch>
        </p:blipFill>
        <p:spPr>
          <a:xfrm>
            <a:off x="4571365" y="4194810"/>
            <a:ext cx="4303395" cy="2421255"/>
          </a:xfrm>
          <a:prstGeom prst="rect">
            <a:avLst/>
          </a:prstGeom>
        </p:spPr>
      </p:pic>
      <p:sp>
        <p:nvSpPr>
          <p:cNvPr id="2" name="文本框 1"/>
          <p:cNvSpPr txBox="1"/>
          <p:nvPr/>
        </p:nvSpPr>
        <p:spPr>
          <a:xfrm>
            <a:off x="5338445" y="2522220"/>
            <a:ext cx="3701415" cy="1095375"/>
          </a:xfrm>
          <a:prstGeom prst="rect">
            <a:avLst/>
          </a:prstGeom>
          <a:noFill/>
        </p:spPr>
        <p:txBody>
          <a:bodyPr wrap="square" rtlCol="0">
            <a:noAutofit/>
          </a:bodyPr>
          <a:p>
            <a:r>
              <a:rPr lang="en-US">
                <a:sym typeface="+mn-ea"/>
              </a:rPr>
              <a:t>#.But t</a:t>
            </a:r>
            <a:r>
              <a:rPr>
                <a:sym typeface="+mn-ea"/>
              </a:rPr>
              <a:t>he recognition algorithm causes fluctuations in the calculated object area and finger width.</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275590" y="226695"/>
            <a:ext cx="8522970" cy="583565"/>
          </a:xfrm>
          <a:prstGeom prst="rect">
            <a:avLst/>
          </a:prstGeom>
          <a:noFill/>
        </p:spPr>
        <p:txBody>
          <a:bodyPr wrap="square">
            <a:spAutoFit/>
          </a:bodyPr>
          <a:lstStyle/>
          <a:p>
            <a:r>
              <a:rPr sz="3200" b="1">
                <a:latin typeface="Times New Roman" panose="02020603050405020304"/>
                <a:ea typeface="Times New Roman" panose="02020603050405020304"/>
                <a:cs typeface="Times New Roman" panose="02020603050405020304"/>
              </a:rPr>
              <a:t>Data Collection</a:t>
            </a:r>
            <a:endParaRPr sz="3200" b="1">
              <a:latin typeface="Times New Roman" panose="02020603050405020304"/>
              <a:ea typeface="Times New Roman" panose="02020603050405020304"/>
              <a:cs typeface="Times New Roman" panose="02020603050405020304"/>
            </a:endParaRPr>
          </a:p>
        </p:txBody>
      </p:sp>
      <p:sp>
        <p:nvSpPr>
          <p:cNvPr id="5" name="文本框 4"/>
          <p:cNvSpPr txBox="1"/>
          <p:nvPr/>
        </p:nvSpPr>
        <p:spPr>
          <a:xfrm>
            <a:off x="275590" y="1026160"/>
            <a:ext cx="3048000" cy="368300"/>
          </a:xfrm>
          <a:prstGeom prst="rect">
            <a:avLst/>
          </a:prstGeom>
          <a:noFill/>
        </p:spPr>
        <p:txBody>
          <a:bodyPr wrap="square" rtlCol="0">
            <a:spAutoFit/>
          </a:bodyPr>
          <a:p>
            <a:r>
              <a:rPr lang="zh-CN" altLang="en-US"/>
              <a:t>参与者做自然抓取动作</a:t>
            </a:r>
            <a:endParaRPr lang="zh-CN" altLang="en-US"/>
          </a:p>
        </p:txBody>
      </p:sp>
      <p:sp>
        <p:nvSpPr>
          <p:cNvPr id="7" name="文本框 6"/>
          <p:cNvSpPr txBox="1"/>
          <p:nvPr/>
        </p:nvSpPr>
        <p:spPr>
          <a:xfrm>
            <a:off x="275590" y="3934460"/>
            <a:ext cx="3048000" cy="368300"/>
          </a:xfrm>
          <a:prstGeom prst="rect">
            <a:avLst/>
          </a:prstGeom>
          <a:noFill/>
        </p:spPr>
        <p:txBody>
          <a:bodyPr wrap="square" rtlCol="0">
            <a:spAutoFit/>
          </a:bodyPr>
          <a:p>
            <a:r>
              <a:rPr lang="zh-CN" altLang="en-US"/>
              <a:t>设备</a:t>
            </a:r>
            <a:endParaRPr lang="zh-CN" altLang="en-US"/>
          </a:p>
        </p:txBody>
      </p:sp>
      <p:pic>
        <p:nvPicPr>
          <p:cNvPr id="10" name="图片 9" descr="5273e5566c3c504abbb8337e55c211a5"/>
          <p:cNvPicPr>
            <a:picLocks noChangeAspect="1"/>
          </p:cNvPicPr>
          <p:nvPr/>
        </p:nvPicPr>
        <p:blipFill>
          <a:blip r:embed="rId1"/>
          <a:stretch>
            <a:fillRect/>
          </a:stretch>
        </p:blipFill>
        <p:spPr>
          <a:xfrm rot="5400000">
            <a:off x="1221105" y="3357245"/>
            <a:ext cx="2431415" cy="4322445"/>
          </a:xfrm>
          <a:prstGeom prst="rect">
            <a:avLst/>
          </a:prstGeom>
        </p:spPr>
      </p:pic>
      <p:sp>
        <p:nvSpPr>
          <p:cNvPr id="11" name="任意多边形 10"/>
          <p:cNvSpPr/>
          <p:nvPr/>
        </p:nvSpPr>
        <p:spPr>
          <a:xfrm>
            <a:off x="1047750" y="4037330"/>
            <a:ext cx="4891405" cy="826770"/>
          </a:xfrm>
          <a:custGeom>
            <a:avLst/>
            <a:gdLst>
              <a:gd name="connisteX0" fmla="*/ 8890 w 4891405"/>
              <a:gd name="connsiteY0" fmla="*/ 826770 h 826770"/>
              <a:gd name="connisteX1" fmla="*/ 0 w 4891405"/>
              <a:gd name="connsiteY1" fmla="*/ 0 h 826770"/>
              <a:gd name="connisteX2" fmla="*/ 4891405 w 4891405"/>
              <a:gd name="connsiteY2" fmla="*/ 0 h 826770"/>
            </a:gdLst>
            <a:ahLst/>
            <a:cxnLst>
              <a:cxn ang="0">
                <a:pos x="connisteX0" y="connsiteY0"/>
              </a:cxn>
              <a:cxn ang="0">
                <a:pos x="connisteX1" y="connsiteY1"/>
              </a:cxn>
              <a:cxn ang="0">
                <a:pos x="connisteX2" y="connsiteY2"/>
              </a:cxn>
            </a:cxnLst>
            <a:rect l="l" t="t" r="r" b="b"/>
            <a:pathLst>
              <a:path w="4891405" h="826770">
                <a:moveTo>
                  <a:pt x="8890" y="826770"/>
                </a:moveTo>
                <a:lnTo>
                  <a:pt x="0" y="0"/>
                </a:lnTo>
                <a:lnTo>
                  <a:pt x="4891405" y="0"/>
                </a:lnTo>
              </a:path>
            </a:pathLst>
          </a:cu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任意多边形 13"/>
          <p:cNvSpPr/>
          <p:nvPr/>
        </p:nvSpPr>
        <p:spPr>
          <a:xfrm>
            <a:off x="3167380" y="4431665"/>
            <a:ext cx="2771775" cy="826770"/>
          </a:xfrm>
          <a:custGeom>
            <a:avLst/>
            <a:gdLst>
              <a:gd name="connisteX0" fmla="*/ 8890 w 4891405"/>
              <a:gd name="connsiteY0" fmla="*/ 826770 h 826770"/>
              <a:gd name="connisteX1" fmla="*/ 0 w 4891405"/>
              <a:gd name="connsiteY1" fmla="*/ 0 h 826770"/>
              <a:gd name="connisteX2" fmla="*/ 4891405 w 4891405"/>
              <a:gd name="connsiteY2" fmla="*/ 0 h 826770"/>
            </a:gdLst>
            <a:ahLst/>
            <a:cxnLst>
              <a:cxn ang="0">
                <a:pos x="connisteX0" y="connsiteY0"/>
              </a:cxn>
              <a:cxn ang="0">
                <a:pos x="connisteX1" y="connsiteY1"/>
              </a:cxn>
              <a:cxn ang="0">
                <a:pos x="connisteX2" y="connsiteY2"/>
              </a:cxn>
            </a:cxnLst>
            <a:rect l="l" t="t" r="r" b="b"/>
            <a:pathLst>
              <a:path w="4891405" h="826770">
                <a:moveTo>
                  <a:pt x="8890" y="826770"/>
                </a:moveTo>
                <a:lnTo>
                  <a:pt x="0" y="0"/>
                </a:lnTo>
                <a:lnTo>
                  <a:pt x="4891405" y="0"/>
                </a:lnTo>
              </a:path>
            </a:pathLst>
          </a:cu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6017260" y="4063365"/>
            <a:ext cx="3048635" cy="368300"/>
          </a:xfrm>
          <a:prstGeom prst="rect">
            <a:avLst/>
          </a:prstGeom>
          <a:noFill/>
        </p:spPr>
        <p:txBody>
          <a:bodyPr wrap="square" rtlCol="0">
            <a:spAutoFit/>
          </a:bodyPr>
          <a:p>
            <a:r>
              <a:rPr lang="zh-CN" altLang="en-US"/>
              <a:t>摄像头</a:t>
            </a:r>
            <a:r>
              <a:rPr lang="en-US" altLang="zh-CN"/>
              <a:t>(30hz)+IMU</a:t>
            </a:r>
            <a:r>
              <a:rPr lang="zh-CN" altLang="en-US">
                <a:ea typeface="宋体" panose="02010600030101010101" pitchFamily="2" charset="-122"/>
              </a:rPr>
              <a:t>（</a:t>
            </a:r>
            <a:r>
              <a:rPr lang="en-US" altLang="zh-CN">
                <a:ea typeface="宋体" panose="02010600030101010101" pitchFamily="2" charset="-122"/>
              </a:rPr>
              <a:t>50hz</a:t>
            </a:r>
            <a:r>
              <a:rPr lang="zh-CN" altLang="en-US">
                <a:ea typeface="宋体" panose="02010600030101010101" pitchFamily="2" charset="-122"/>
              </a:rPr>
              <a:t>）</a:t>
            </a:r>
            <a:endParaRPr lang="zh-CN" altLang="en-US">
              <a:ea typeface="宋体" panose="02010600030101010101" pitchFamily="2" charset="-122"/>
            </a:endParaRPr>
          </a:p>
        </p:txBody>
      </p:sp>
      <p:cxnSp>
        <p:nvCxnSpPr>
          <p:cNvPr id="16" name="直接连接符 15"/>
          <p:cNvCxnSpPr/>
          <p:nvPr/>
        </p:nvCxnSpPr>
        <p:spPr>
          <a:xfrm>
            <a:off x="3841750" y="5586730"/>
            <a:ext cx="1966595" cy="17145"/>
          </a:xfrm>
          <a:prstGeom prst="line">
            <a:avLst/>
          </a:prstGeom>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5939155" y="5403850"/>
            <a:ext cx="1550670" cy="368300"/>
          </a:xfrm>
          <a:prstGeom prst="rect">
            <a:avLst/>
          </a:prstGeom>
          <a:noFill/>
        </p:spPr>
        <p:txBody>
          <a:bodyPr wrap="square" rtlCol="0">
            <a:spAutoFit/>
          </a:bodyPr>
          <a:p>
            <a:r>
              <a:rPr lang="zh-CN" altLang="en-US"/>
              <a:t>绑在前臂上</a:t>
            </a:r>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275590" y="226695"/>
            <a:ext cx="8522970" cy="583565"/>
          </a:xfrm>
          <a:prstGeom prst="rect">
            <a:avLst/>
          </a:prstGeom>
          <a:noFill/>
        </p:spPr>
        <p:txBody>
          <a:bodyPr wrap="square">
            <a:spAutoFit/>
          </a:bodyPr>
          <a:lstStyle/>
          <a:p>
            <a:r>
              <a:rPr sz="3200" b="1">
                <a:latin typeface="Times New Roman" panose="02020603050405020304"/>
                <a:ea typeface="Times New Roman" panose="02020603050405020304"/>
                <a:cs typeface="Times New Roman" panose="02020603050405020304"/>
              </a:rPr>
              <a:t>Data </a:t>
            </a:r>
            <a:r>
              <a:rPr lang="en-US" sz="3200" b="1">
                <a:latin typeface="Times New Roman" panose="02020603050405020304"/>
                <a:ea typeface="Times New Roman" panose="02020603050405020304"/>
                <a:cs typeface="Times New Roman" panose="02020603050405020304"/>
              </a:rPr>
              <a:t>Analyze</a:t>
            </a:r>
            <a:endParaRPr lang="en-US" sz="3200" b="1">
              <a:latin typeface="Times New Roman" panose="02020603050405020304"/>
              <a:ea typeface="Times New Roman" panose="02020603050405020304"/>
              <a:cs typeface="Times New Roman" panose="02020603050405020304"/>
            </a:endParaRPr>
          </a:p>
        </p:txBody>
      </p:sp>
      <p:sp>
        <p:nvSpPr>
          <p:cNvPr id="7" name="文本框 6"/>
          <p:cNvSpPr txBox="1"/>
          <p:nvPr/>
        </p:nvSpPr>
        <p:spPr>
          <a:xfrm>
            <a:off x="275590" y="876300"/>
            <a:ext cx="8522335" cy="337185"/>
          </a:xfrm>
          <a:prstGeom prst="rect">
            <a:avLst/>
          </a:prstGeom>
        </p:spPr>
        <p:txBody>
          <a:bodyPr wrap="square">
            <a:spAutoFit/>
          </a:bodyPr>
          <a:p>
            <a:r>
              <a:rPr lang="zh-CN" altLang="en-US" sz="1600"/>
              <a:t>在 </a:t>
            </a:r>
            <a:r>
              <a:rPr lang="en-US" altLang="zh-CN" sz="1600"/>
              <a:t>reach-to-grasp </a:t>
            </a:r>
            <a:r>
              <a:rPr lang="zh-CN" altLang="en-US" sz="1600"/>
              <a:t>过程中，视觉信息、手部运动和手指开合在时间上是什么关系？</a:t>
            </a:r>
            <a:endParaRPr lang="zh-CN" altLang="en-US" sz="16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275590" y="226695"/>
            <a:ext cx="8522970" cy="583565"/>
          </a:xfrm>
          <a:prstGeom prst="rect">
            <a:avLst/>
          </a:prstGeom>
          <a:noFill/>
        </p:spPr>
        <p:txBody>
          <a:bodyPr wrap="square">
            <a:spAutoFit/>
          </a:bodyPr>
          <a:lstStyle/>
          <a:p>
            <a:r>
              <a:rPr sz="3200" b="1">
                <a:latin typeface="Times New Roman" panose="02020603050405020304"/>
                <a:ea typeface="Times New Roman" panose="02020603050405020304"/>
                <a:cs typeface="Times New Roman" panose="02020603050405020304"/>
              </a:rPr>
              <a:t>Data Collection</a:t>
            </a:r>
            <a:endParaRPr sz="3200" b="1">
              <a:latin typeface="Times New Roman" panose="02020603050405020304"/>
              <a:ea typeface="Times New Roman" panose="02020603050405020304"/>
              <a:cs typeface="Times New Roman" panose="02020603050405020304"/>
            </a:endParaRPr>
          </a:p>
        </p:txBody>
      </p:sp>
      <p:sp>
        <p:nvSpPr>
          <p:cNvPr id="2" name="文本框 1"/>
          <p:cNvSpPr txBox="1"/>
          <p:nvPr/>
        </p:nvSpPr>
        <p:spPr>
          <a:xfrm>
            <a:off x="4914265" y="73660"/>
            <a:ext cx="3048000" cy="368300"/>
          </a:xfrm>
          <a:prstGeom prst="rect">
            <a:avLst/>
          </a:prstGeom>
          <a:noFill/>
        </p:spPr>
        <p:txBody>
          <a:bodyPr wrap="square" rtlCol="0">
            <a:spAutoFit/>
          </a:bodyPr>
          <a:p>
            <a:r>
              <a:rPr lang="zh-CN" altLang="en-US"/>
              <a:t>物体种类</a:t>
            </a:r>
            <a:endParaRPr lang="zh-CN" altLang="en-US"/>
          </a:p>
        </p:txBody>
      </p:sp>
      <p:pic>
        <p:nvPicPr>
          <p:cNvPr id="12" name="图片 4"/>
          <p:cNvPicPr>
            <a:picLocks noChangeAspect="1"/>
          </p:cNvPicPr>
          <p:nvPr/>
        </p:nvPicPr>
        <p:blipFill>
          <a:blip r:embed="rId1"/>
          <a:stretch>
            <a:fillRect/>
          </a:stretch>
        </p:blipFill>
        <p:spPr>
          <a:xfrm>
            <a:off x="4979035" y="810260"/>
            <a:ext cx="3520440" cy="1980565"/>
          </a:xfrm>
          <a:prstGeom prst="rect">
            <a:avLst/>
          </a:prstGeom>
        </p:spPr>
      </p:pic>
      <p:sp>
        <p:nvSpPr>
          <p:cNvPr id="3" name="文本框 2"/>
          <p:cNvSpPr txBox="1"/>
          <p:nvPr/>
        </p:nvSpPr>
        <p:spPr>
          <a:xfrm>
            <a:off x="4914265" y="441960"/>
            <a:ext cx="3048000" cy="368300"/>
          </a:xfrm>
          <a:prstGeom prst="rect">
            <a:avLst/>
          </a:prstGeom>
          <a:noFill/>
        </p:spPr>
        <p:txBody>
          <a:bodyPr wrap="square" rtlCol="0">
            <a:spAutoFit/>
          </a:bodyPr>
          <a:p>
            <a:r>
              <a:rPr lang="en-US" altLang="zh-CN"/>
              <a:t>3</a:t>
            </a:r>
            <a:r>
              <a:rPr lang="zh-CN" altLang="en-US">
                <a:ea typeface="宋体" panose="02010600030101010101" pitchFamily="2" charset="-122"/>
              </a:rPr>
              <a:t>种</a:t>
            </a:r>
            <a:endParaRPr lang="zh-CN" altLang="en-US">
              <a:ea typeface="宋体" panose="02010600030101010101" pitchFamily="2" charset="-122"/>
            </a:endParaRPr>
          </a:p>
        </p:txBody>
      </p:sp>
      <p:sp>
        <p:nvSpPr>
          <p:cNvPr id="4" name="文本框 3"/>
          <p:cNvSpPr txBox="1"/>
          <p:nvPr/>
        </p:nvSpPr>
        <p:spPr>
          <a:xfrm>
            <a:off x="4827270" y="2994660"/>
            <a:ext cx="3048000" cy="368300"/>
          </a:xfrm>
          <a:prstGeom prst="rect">
            <a:avLst/>
          </a:prstGeom>
          <a:noFill/>
        </p:spPr>
        <p:txBody>
          <a:bodyPr wrap="square" rtlCol="0">
            <a:spAutoFit/>
          </a:bodyPr>
          <a:p>
            <a:r>
              <a:rPr lang="zh-CN" altLang="en-US">
                <a:ea typeface="宋体" panose="02010600030101010101" pitchFamily="2" charset="-122"/>
              </a:rPr>
              <a:t>实验场景</a:t>
            </a:r>
            <a:endParaRPr lang="zh-CN" altLang="en-US">
              <a:ea typeface="宋体" panose="02010600030101010101" pitchFamily="2" charset="-122"/>
            </a:endParaRPr>
          </a:p>
        </p:txBody>
      </p:sp>
      <p:sp>
        <p:nvSpPr>
          <p:cNvPr id="9" name="文本框 8"/>
          <p:cNvSpPr txBox="1"/>
          <p:nvPr/>
        </p:nvSpPr>
        <p:spPr>
          <a:xfrm>
            <a:off x="188595" y="4268470"/>
            <a:ext cx="8411210" cy="368300"/>
          </a:xfrm>
          <a:prstGeom prst="rect">
            <a:avLst/>
          </a:prstGeom>
          <a:noFill/>
        </p:spPr>
        <p:txBody>
          <a:bodyPr wrap="square" rtlCol="0">
            <a:spAutoFit/>
          </a:bodyPr>
          <a:p>
            <a:r>
              <a:rPr lang="zh-CN" altLang="en-US"/>
              <a:t>受验者初始状态手臂自然垂直放下，物体放置于手</a:t>
            </a:r>
            <a:r>
              <a:rPr lang="en-US" altLang="zh-CN"/>
              <a:t>30cm</a:t>
            </a:r>
            <a:r>
              <a:rPr lang="zh-CN" altLang="en-US">
                <a:ea typeface="宋体" panose="02010600030101010101" pitchFamily="2" charset="-122"/>
              </a:rPr>
              <a:t>远处，做自然抓取动作</a:t>
            </a:r>
            <a:endParaRPr lang="zh-CN" altLang="en-US">
              <a:ea typeface="宋体" panose="02010600030101010101" pitchFamily="2" charset="-122"/>
            </a:endParaRPr>
          </a:p>
        </p:txBody>
      </p:sp>
      <p:pic>
        <p:nvPicPr>
          <p:cNvPr id="8" name="10月4日">
            <a:hlinkClick r:id="" action="ppaction://media"/>
          </p:cNvPr>
          <p:cNvPicPr/>
          <p:nvPr>
            <a:videoFile r:link="rId2"/>
            <p:extLst>
              <p:ext uri="{DAA4B4D4-6D71-4841-9C94-3DE7FCFB9230}">
                <p14:media xmlns:p14="http://schemas.microsoft.com/office/powerpoint/2010/main" r:embed="rId3"/>
              </p:ext>
            </p:extLst>
          </p:nvPr>
        </p:nvPicPr>
        <p:blipFill>
          <a:blip r:embed="rId4"/>
          <a:stretch>
            <a:fillRect/>
          </a:stretch>
        </p:blipFill>
        <p:spPr>
          <a:xfrm>
            <a:off x="371475" y="4795520"/>
            <a:ext cx="4993005" cy="2324100"/>
          </a:xfrm>
          <a:prstGeom prst="rect">
            <a:avLst/>
          </a:prstGeom>
        </p:spPr>
      </p:pic>
      <p:sp>
        <p:nvSpPr>
          <p:cNvPr id="5" name="文本框 4"/>
          <p:cNvSpPr txBox="1"/>
          <p:nvPr/>
        </p:nvSpPr>
        <p:spPr>
          <a:xfrm>
            <a:off x="5452110" y="5184140"/>
            <a:ext cx="1433830" cy="337185"/>
          </a:xfrm>
          <a:prstGeom prst="rect">
            <a:avLst/>
          </a:prstGeom>
        </p:spPr>
        <p:txBody>
          <a:bodyPr wrap="square">
            <a:spAutoFit/>
          </a:bodyPr>
          <a:p>
            <a:pPr algn="ctr"/>
            <a:r>
              <a:rPr lang="en-US" altLang="zh-CN" sz="1600"/>
              <a:t>reach-to-grasp</a:t>
            </a:r>
            <a:endParaRPr lang="en-US" altLang="zh-CN" sz="1600"/>
          </a:p>
        </p:txBody>
      </p:sp>
    </p:spTree>
  </p:cSld>
  <p:clrMapOvr>
    <a:masterClrMapping/>
  </p:clrMapOvr>
  <p:timing>
    <p:tnLst>
      <p:par>
        <p:cTn id="1" dur="indefinite" restart="never" nodeType="tmRoot">
          <p:childTnLst>
            <p:video fullScrn="0">
              <p:cMediaNode>
                <p:cTn id="2" fill="hold" display="1">
                  <p:stCondLst>
                    <p:cond delay="indefinite"/>
                  </p:stCondLst>
                </p:cTn>
                <p:tgtEl>
                  <p:spTgt spid="8"/>
                </p:tgtEl>
              </p:cMediaNode>
            </p:video>
            <p:seq concurrent="1" nextAc="seek">
              <p:cTn id="3" restart="whenNotActive" fill="hold" evtFilter="cancelBubble" nodeType="interactiveSeq">
                <p:stCondLst>
                  <p:cond evt="onClick" delay="0">
                    <p:tgtEl>
                      <p:spTgt spid="8"/>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275590" y="226695"/>
            <a:ext cx="8522970" cy="583565"/>
          </a:xfrm>
          <a:prstGeom prst="rect">
            <a:avLst/>
          </a:prstGeom>
          <a:noFill/>
        </p:spPr>
        <p:txBody>
          <a:bodyPr wrap="square">
            <a:spAutoFit/>
          </a:bodyPr>
          <a:lstStyle/>
          <a:p>
            <a:r>
              <a:rPr sz="3200" b="1">
                <a:latin typeface="Times New Roman" panose="02020603050405020304"/>
                <a:ea typeface="Times New Roman" panose="02020603050405020304"/>
                <a:cs typeface="Times New Roman" panose="02020603050405020304"/>
              </a:rPr>
              <a:t>Data </a:t>
            </a:r>
            <a:r>
              <a:rPr lang="en-US" sz="3200" b="1">
                <a:latin typeface="Times New Roman" panose="02020603050405020304"/>
                <a:ea typeface="Times New Roman" panose="02020603050405020304"/>
                <a:cs typeface="Times New Roman" panose="02020603050405020304"/>
              </a:rPr>
              <a:t>Analyze</a:t>
            </a:r>
            <a:endParaRPr lang="en-US" sz="3200" b="1">
              <a:latin typeface="Times New Roman" panose="02020603050405020304"/>
              <a:ea typeface="Times New Roman" panose="02020603050405020304"/>
              <a:cs typeface="Times New Roman" panose="02020603050405020304"/>
            </a:endParaRPr>
          </a:p>
        </p:txBody>
      </p:sp>
      <p:graphicFrame>
        <p:nvGraphicFramePr>
          <p:cNvPr id="2" name="表格 1"/>
          <p:cNvGraphicFramePr/>
          <p:nvPr>
            <p:custDataLst>
              <p:tags r:id="rId1"/>
            </p:custDataLst>
          </p:nvPr>
        </p:nvGraphicFramePr>
        <p:xfrm>
          <a:off x="275590" y="2519045"/>
          <a:ext cx="8522970" cy="1990090"/>
        </p:xfrm>
        <a:graphic>
          <a:graphicData uri="http://schemas.openxmlformats.org/drawingml/2006/table">
            <a:tbl>
              <a:tblPr/>
              <a:tblGrid>
                <a:gridCol w="4261485"/>
                <a:gridCol w="4261485"/>
              </a:tblGrid>
              <a:tr h="398145">
                <a:tc>
                  <a:txBody>
                    <a:bodyPr/>
                    <a:p>
                      <a:r>
                        <a:rPr lang="zh-CN" altLang="en-US" sz="1100"/>
                        <a:t>事件</a:t>
                      </a:r>
                      <a:endParaRPr lang="zh-CN" altLang="en-US" sz="1100"/>
                    </a:p>
                  </a:txBody>
                  <a:tcPr marL="0" marR="0" marT="0" marB="0" anchor="ctr" anchorCtr="0">
                    <a:lnL>
                      <a:noFill/>
                    </a:lnL>
                    <a:lnR>
                      <a:noFill/>
                    </a:lnR>
                    <a:lnT>
                      <a:noFill/>
                    </a:lnT>
                    <a:lnB>
                      <a:noFill/>
                    </a:lnB>
                    <a:noFill/>
                  </a:tcPr>
                </a:tc>
                <a:tc>
                  <a:txBody>
                    <a:bodyPr/>
                    <a:p>
                      <a:r>
                        <a:rPr lang="zh-CN" altLang="en-US" sz="1100"/>
                        <a:t>定义</a:t>
                      </a:r>
                      <a:endParaRPr lang="zh-CN" altLang="en-US" sz="1100"/>
                    </a:p>
                  </a:txBody>
                  <a:tcPr marL="0" marR="0" marT="0" marB="0" anchor="ctr" anchorCtr="0">
                    <a:lnL>
                      <a:noFill/>
                    </a:lnL>
                    <a:lnR>
                      <a:noFill/>
                    </a:lnR>
                    <a:lnT>
                      <a:noFill/>
                    </a:lnT>
                    <a:lnB>
                      <a:noFill/>
                    </a:lnB>
                    <a:noFill/>
                  </a:tcPr>
                </a:tc>
              </a:tr>
              <a:tr h="424180">
                <a:tc>
                  <a:txBody>
                    <a:bodyPr/>
                    <a:p>
                      <a:r>
                        <a:rPr lang="en-US" altLang="zh-CN" sz="1100"/>
                        <a:t>T1 Movement onset</a:t>
                      </a:r>
                      <a:endParaRPr lang="en-US" altLang="zh-CN" sz="1100"/>
                    </a:p>
                  </a:txBody>
                  <a:tcPr marL="0" marR="0" marT="0" marB="0" anchor="ctr" anchorCtr="0">
                    <a:lnL>
                      <a:noFill/>
                    </a:lnL>
                    <a:lnR>
                      <a:noFill/>
                    </a:lnR>
                    <a:lnT>
                      <a:noFill/>
                    </a:lnT>
                    <a:lnB>
                      <a:noFill/>
                    </a:lnB>
                    <a:noFill/>
                  </a:tcPr>
                </a:tc>
                <a:tc>
                  <a:txBody>
                    <a:bodyPr/>
                    <a:p>
                      <a:r>
                        <a:rPr lang="en-US" altLang="zh-CN" sz="1100"/>
                        <a:t>IMU </a:t>
                      </a:r>
                      <a:r>
                        <a:rPr lang="zh-CN" altLang="en-US" sz="1100"/>
                        <a:t>速度明显超过静止基线，表示手开始运动</a:t>
                      </a:r>
                      <a:endParaRPr lang="zh-CN" altLang="en-US" sz="1100"/>
                    </a:p>
                  </a:txBody>
                  <a:tcPr marL="0" marR="0" marT="0" marB="0" anchor="ctr" anchorCtr="0">
                    <a:lnL>
                      <a:noFill/>
                    </a:lnL>
                    <a:lnR>
                      <a:noFill/>
                    </a:lnR>
                    <a:lnT>
                      <a:noFill/>
                    </a:lnT>
                    <a:lnB>
                      <a:noFill/>
                    </a:lnB>
                    <a:noFill/>
                  </a:tcPr>
                </a:tc>
              </a:tr>
              <a:tr h="389255">
                <a:tc>
                  <a:txBody>
                    <a:bodyPr/>
                    <a:p>
                      <a:r>
                        <a:rPr lang="en-US" altLang="zh-CN" sz="1100"/>
                        <a:t>T2 Maximum aperture</a:t>
                      </a:r>
                      <a:endParaRPr lang="en-US" altLang="zh-CN" sz="1100"/>
                    </a:p>
                  </a:txBody>
                  <a:tcPr marL="0" marR="0" marT="0" marB="0" anchor="ctr" anchorCtr="0">
                    <a:lnL>
                      <a:noFill/>
                    </a:lnL>
                    <a:lnR>
                      <a:noFill/>
                    </a:lnR>
                    <a:lnT>
                      <a:noFill/>
                    </a:lnT>
                    <a:lnB>
                      <a:noFill/>
                    </a:lnB>
                    <a:noFill/>
                  </a:tcPr>
                </a:tc>
                <a:tc>
                  <a:txBody>
                    <a:bodyPr/>
                    <a:p>
                      <a:r>
                        <a:rPr lang="zh-CN" altLang="en-US" sz="1100"/>
                        <a:t>手指开口达到最大值</a:t>
                      </a:r>
                      <a:endParaRPr lang="zh-CN" altLang="en-US" sz="1100"/>
                    </a:p>
                  </a:txBody>
                  <a:tcPr marL="0" marR="0" marT="0" marB="0" anchor="ctr" anchorCtr="0">
                    <a:lnL>
                      <a:noFill/>
                    </a:lnL>
                    <a:lnR>
                      <a:noFill/>
                    </a:lnR>
                    <a:lnT>
                      <a:noFill/>
                    </a:lnT>
                    <a:lnB>
                      <a:noFill/>
                    </a:lnB>
                    <a:noFill/>
                  </a:tcPr>
                </a:tc>
              </a:tr>
              <a:tr h="389255">
                <a:tc>
                  <a:txBody>
                    <a:bodyPr/>
                    <a:p>
                      <a:r>
                        <a:rPr lang="en-US" altLang="zh-CN" sz="1100"/>
                        <a:t>T3 Closure half-point</a:t>
                      </a:r>
                      <a:endParaRPr lang="en-US" altLang="zh-CN" sz="1100"/>
                    </a:p>
                  </a:txBody>
                  <a:tcPr marL="0" marR="0" marT="0" marB="0" anchor="ctr" anchorCtr="0">
                    <a:lnL>
                      <a:noFill/>
                    </a:lnL>
                    <a:lnR>
                      <a:noFill/>
                    </a:lnR>
                    <a:lnT>
                      <a:noFill/>
                    </a:lnT>
                    <a:lnB>
                      <a:noFill/>
                    </a:lnB>
                    <a:noFill/>
                  </a:tcPr>
                </a:tc>
                <a:tc>
                  <a:txBody>
                    <a:bodyPr/>
                    <a:p>
                      <a:r>
                        <a:rPr lang="zh-CN" altLang="en-US" sz="1100"/>
                        <a:t>从最大开口开始，闭合幅度达到 </a:t>
                      </a:r>
                      <a:r>
                        <a:rPr lang="en-US" altLang="zh-CN" sz="1100"/>
                        <a:t>50%</a:t>
                      </a:r>
                      <a:endParaRPr lang="en-US" altLang="zh-CN" sz="1100"/>
                    </a:p>
                  </a:txBody>
                  <a:tcPr marL="0" marR="0" marT="0" marB="0" anchor="ctr" anchorCtr="0">
                    <a:lnL>
                      <a:noFill/>
                    </a:lnL>
                    <a:lnR>
                      <a:noFill/>
                    </a:lnR>
                    <a:lnT>
                      <a:noFill/>
                    </a:lnT>
                    <a:lnB>
                      <a:noFill/>
                    </a:lnB>
                    <a:noFill/>
                  </a:tcPr>
                </a:tc>
              </a:tr>
              <a:tr h="389255">
                <a:tc>
                  <a:txBody>
                    <a:bodyPr/>
                    <a:p>
                      <a:r>
                        <a:rPr lang="en-US" altLang="zh-CN" sz="1100"/>
                        <a:t>T4 Movement/grasp endpoint</a:t>
                      </a:r>
                      <a:endParaRPr lang="en-US" altLang="zh-CN" sz="1100"/>
                    </a:p>
                  </a:txBody>
                  <a:tcPr marL="0" marR="0" marT="0" marB="0" anchor="ctr" anchorCtr="0">
                    <a:lnL>
                      <a:noFill/>
                    </a:lnL>
                    <a:lnR>
                      <a:noFill/>
                    </a:lnR>
                    <a:lnT>
                      <a:noFill/>
                    </a:lnT>
                    <a:lnB>
                      <a:noFill/>
                    </a:lnB>
                    <a:noFill/>
                  </a:tcPr>
                </a:tc>
                <a:tc>
                  <a:txBody>
                    <a:bodyPr/>
                    <a:p>
                      <a:r>
                        <a:rPr lang="zh-CN" altLang="en-US" sz="1100"/>
                        <a:t>当前实验记录的最后有效时刻</a:t>
                      </a:r>
                      <a:endParaRPr lang="zh-CN" altLang="en-US" sz="1100"/>
                    </a:p>
                  </a:txBody>
                  <a:tcPr marL="0" marR="0" marT="0" marB="0" anchor="ctr" anchorCtr="0">
                    <a:lnL>
                      <a:noFill/>
                    </a:lnL>
                    <a:lnR>
                      <a:noFill/>
                    </a:lnR>
                    <a:lnT>
                      <a:noFill/>
                    </a:lnT>
                    <a:lnB>
                      <a:noFill/>
                    </a:lnB>
                    <a:noFill/>
                  </a:tcPr>
                </a:tc>
              </a:tr>
            </a:tbl>
          </a:graphicData>
        </a:graphic>
      </p:graphicFrame>
      <p:sp>
        <p:nvSpPr>
          <p:cNvPr id="3" name="文本框 2"/>
          <p:cNvSpPr txBox="1"/>
          <p:nvPr/>
        </p:nvSpPr>
        <p:spPr>
          <a:xfrm>
            <a:off x="172085" y="1463675"/>
            <a:ext cx="8522335" cy="1142365"/>
          </a:xfrm>
          <a:prstGeom prst="rect">
            <a:avLst/>
          </a:prstGeom>
        </p:spPr>
        <p:txBody>
          <a:bodyPr wrap="square">
            <a:noAutofit/>
          </a:bodyPr>
          <a:p>
            <a:r>
              <a:rPr lang="en-US" altLang="zh-CN" sz="1600"/>
              <a:t>Temporal analysis </a:t>
            </a:r>
            <a:r>
              <a:rPr lang="zh-CN" altLang="en-US" sz="1600"/>
              <a:t>可以先告诉读者：</a:t>
            </a:r>
            <a:endParaRPr lang="zh-CN" altLang="en-US" sz="1600"/>
          </a:p>
          <a:p>
            <a:r>
              <a:rPr lang="en-US" altLang="zh-CN" sz="1600"/>
              <a:t>Object Area</a:t>
            </a:r>
            <a:r>
              <a:rPr lang="zh-CN" altLang="en-US" sz="1600"/>
              <a:t>、</a:t>
            </a:r>
            <a:r>
              <a:rPr lang="en-US" altLang="zh-CN" sz="1600"/>
              <a:t>Hand Speed</a:t>
            </a:r>
            <a:r>
              <a:rPr lang="zh-CN" altLang="en-US" sz="1600"/>
              <a:t>、</a:t>
            </a:r>
            <a:r>
              <a:rPr lang="en-US" altLang="zh-CN" sz="1600"/>
              <a:t>Finger Aperture </a:t>
            </a:r>
            <a:r>
              <a:rPr lang="zh-CN" altLang="en-US" sz="1600"/>
              <a:t>并不是三条完全无关的曲线，它们在抓取过程中存在规律性的时序关系。</a:t>
            </a:r>
            <a:endParaRPr lang="zh-CN" altLang="en-US" sz="1600"/>
          </a:p>
        </p:txBody>
      </p:sp>
      <p:sp>
        <p:nvSpPr>
          <p:cNvPr id="4" name="文本框 3"/>
          <p:cNvSpPr txBox="1"/>
          <p:nvPr/>
        </p:nvSpPr>
        <p:spPr>
          <a:xfrm>
            <a:off x="275590" y="4989195"/>
            <a:ext cx="8246745" cy="583565"/>
          </a:xfrm>
          <a:prstGeom prst="rect">
            <a:avLst/>
          </a:prstGeom>
        </p:spPr>
        <p:txBody>
          <a:bodyPr wrap="square">
            <a:spAutoFit/>
          </a:bodyPr>
          <a:p>
            <a:r>
              <a:rPr lang="zh-CN" altLang="en-US" sz="1600"/>
              <a:t>然后你后面再说：</a:t>
            </a:r>
            <a:endParaRPr lang="zh-CN" altLang="en-US" sz="1600"/>
          </a:p>
          <a:p>
            <a:r>
              <a:rPr lang="zh-CN" altLang="en-US" sz="1600"/>
              <a:t>因此，我们尝试把 </a:t>
            </a:r>
            <a:r>
              <a:rPr lang="en-US" altLang="zh-CN" sz="1600"/>
              <a:t>visual information </a:t>
            </a:r>
            <a:r>
              <a:rPr lang="zh-CN" altLang="en-US" sz="1600"/>
              <a:t>和 </a:t>
            </a:r>
            <a:r>
              <a:rPr lang="en-US" altLang="zh-CN" sz="1600"/>
              <a:t>hand-motion information </a:t>
            </a:r>
            <a:r>
              <a:rPr lang="zh-CN" altLang="en-US" sz="1600"/>
              <a:t>一起作为模型输入。</a:t>
            </a:r>
            <a:endParaRPr lang="zh-CN" altLang="en-US" sz="1600"/>
          </a:p>
        </p:txBody>
      </p:sp>
      <p:sp>
        <p:nvSpPr>
          <p:cNvPr id="5" name="文本框 4"/>
          <p:cNvSpPr txBox="1"/>
          <p:nvPr/>
        </p:nvSpPr>
        <p:spPr>
          <a:xfrm>
            <a:off x="240030" y="995045"/>
            <a:ext cx="8454390" cy="337185"/>
          </a:xfrm>
          <a:prstGeom prst="rect">
            <a:avLst/>
          </a:prstGeom>
        </p:spPr>
        <p:txBody>
          <a:bodyPr wrap="square">
            <a:spAutoFit/>
          </a:bodyPr>
          <a:p>
            <a:r>
              <a:rPr lang="en-US" altLang="zh-CN" sz="1600"/>
              <a:t>Object Area + Hand Motion </a:t>
            </a:r>
            <a:r>
              <a:rPr lang="zh-CN" altLang="en-US" sz="1600"/>
              <a:t>是否能更好地预测 </a:t>
            </a:r>
            <a:r>
              <a:rPr lang="en-US" altLang="zh-CN" sz="1600"/>
              <a:t>Finger Aperture</a:t>
            </a:r>
            <a:r>
              <a:rPr lang="zh-CN" altLang="en-US" sz="1600"/>
              <a:t>？</a:t>
            </a:r>
            <a:endParaRPr lang="zh-CN" altLang="en-US" sz="16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275590" y="226695"/>
            <a:ext cx="8522970" cy="583565"/>
          </a:xfrm>
          <a:prstGeom prst="rect">
            <a:avLst/>
          </a:prstGeom>
          <a:noFill/>
        </p:spPr>
        <p:txBody>
          <a:bodyPr wrap="square">
            <a:spAutoFit/>
          </a:bodyPr>
          <a:lstStyle/>
          <a:p>
            <a:r>
              <a:rPr sz="3200" b="1">
                <a:latin typeface="Times New Roman" panose="02020603050405020304"/>
                <a:ea typeface="Times New Roman" panose="02020603050405020304"/>
                <a:cs typeface="Times New Roman" panose="02020603050405020304"/>
              </a:rPr>
              <a:t>Model and Test Results</a:t>
            </a:r>
            <a:endParaRPr sz="3200" b="1">
              <a:latin typeface="Times New Roman" panose="02020603050405020304"/>
              <a:ea typeface="Times New Roman" panose="02020603050405020304"/>
              <a:cs typeface="Times New Roman" panose="02020603050405020304"/>
            </a:endParaRPr>
          </a:p>
        </p:txBody>
      </p:sp>
      <p:pic>
        <p:nvPicPr>
          <p:cNvPr id="19" name="图片 6"/>
          <p:cNvPicPr>
            <a:picLocks noChangeAspect="1"/>
          </p:cNvPicPr>
          <p:nvPr/>
        </p:nvPicPr>
        <p:blipFill>
          <a:blip r:embed="rId1"/>
          <a:stretch>
            <a:fillRect/>
          </a:stretch>
        </p:blipFill>
        <p:spPr>
          <a:xfrm>
            <a:off x="4706620" y="0"/>
            <a:ext cx="4437380" cy="2218690"/>
          </a:xfrm>
          <a:prstGeom prst="rect">
            <a:avLst/>
          </a:prstGeom>
        </p:spPr>
      </p:pic>
      <p:sp>
        <p:nvSpPr>
          <p:cNvPr id="8" name="文本框 7"/>
          <p:cNvSpPr>
            <a:spLocks noGrp="1"/>
          </p:cNvSpPr>
          <p:nvPr/>
        </p:nvSpPr>
        <p:spPr>
          <a:xfrm>
            <a:off x="275590" y="810260"/>
            <a:ext cx="5143500" cy="398780"/>
          </a:xfrm>
          <a:prstGeom prst="rect">
            <a:avLst/>
          </a:prstGeom>
          <a:noFill/>
        </p:spPr>
        <p:txBody>
          <a:bodyPr wrap="square" anchor="t">
            <a:spAutoFit/>
          </a:bodyPr>
          <a:lstStyle/>
          <a:p>
            <a:r>
              <a:rPr lang="en-US" sz="2000"/>
              <a:t>Model: </a:t>
            </a:r>
            <a:r>
              <a:rPr sz="2000"/>
              <a:t>15-Frame Time-Window MLP</a:t>
            </a:r>
            <a:endParaRPr sz="2000"/>
          </a:p>
        </p:txBody>
      </p:sp>
      <p:pic>
        <p:nvPicPr>
          <p:cNvPr id="21" name="图片 8"/>
          <p:cNvPicPr>
            <a:picLocks noChangeAspect="1"/>
          </p:cNvPicPr>
          <p:nvPr/>
        </p:nvPicPr>
        <p:blipFill>
          <a:blip r:embed="rId2"/>
          <a:stretch>
            <a:fillRect/>
          </a:stretch>
        </p:blipFill>
        <p:spPr>
          <a:xfrm>
            <a:off x="4706620" y="4438015"/>
            <a:ext cx="4436110" cy="2218690"/>
          </a:xfrm>
          <a:prstGeom prst="rect">
            <a:avLst/>
          </a:prstGeom>
        </p:spPr>
      </p:pic>
      <p:pic>
        <p:nvPicPr>
          <p:cNvPr id="22" name="图片 10"/>
          <p:cNvPicPr>
            <a:picLocks noChangeAspect="1"/>
          </p:cNvPicPr>
          <p:nvPr/>
        </p:nvPicPr>
        <p:blipFill>
          <a:blip r:embed="rId3"/>
          <a:stretch>
            <a:fillRect/>
          </a:stretch>
        </p:blipFill>
        <p:spPr>
          <a:xfrm>
            <a:off x="4706620" y="2218690"/>
            <a:ext cx="4437380" cy="2219325"/>
          </a:xfrm>
          <a:prstGeom prst="rect">
            <a:avLst/>
          </a:prstGeom>
        </p:spPr>
      </p:pic>
      <p:pic>
        <p:nvPicPr>
          <p:cNvPr id="23" name="图片 11"/>
          <p:cNvPicPr>
            <a:picLocks noChangeAspect="1"/>
          </p:cNvPicPr>
          <p:nvPr/>
        </p:nvPicPr>
        <p:blipFill>
          <a:blip r:embed="rId4"/>
          <a:stretch>
            <a:fillRect/>
          </a:stretch>
        </p:blipFill>
        <p:spPr>
          <a:xfrm>
            <a:off x="0" y="3882390"/>
            <a:ext cx="4624070" cy="2774315"/>
          </a:xfrm>
          <a:prstGeom prst="rect">
            <a:avLst/>
          </a:prstGeom>
        </p:spPr>
      </p:pic>
      <p:sp>
        <p:nvSpPr>
          <p:cNvPr id="13" name="文本框 12"/>
          <p:cNvSpPr>
            <a:spLocks noGrp="1"/>
          </p:cNvSpPr>
          <p:nvPr/>
        </p:nvSpPr>
        <p:spPr>
          <a:xfrm>
            <a:off x="186690" y="3502025"/>
            <a:ext cx="4437380" cy="368300"/>
          </a:xfrm>
          <a:prstGeom prst="rect">
            <a:avLst/>
          </a:prstGeom>
          <a:noFill/>
        </p:spPr>
        <p:txBody>
          <a:bodyPr wrap="square">
            <a:spAutoFit/>
          </a:bodyPr>
          <a:lstStyle/>
          <a:p>
            <a:r>
              <a:t>Test </a:t>
            </a:r>
            <a:r>
              <a:rPr>
                <a:sym typeface="+mn-ea"/>
              </a:rPr>
              <a:t>dataset</a:t>
            </a:r>
            <a:r>
              <a:t>: 3 Object Sizes, 3 </a:t>
            </a:r>
            <a:r>
              <a:rPr lang="en-US"/>
              <a:t>t</a:t>
            </a:r>
            <a:r>
              <a:t>rials </a:t>
            </a:r>
            <a:r>
              <a:rPr lang="en-US"/>
              <a:t>e</a:t>
            </a:r>
            <a:r>
              <a:t>ach</a:t>
            </a:r>
          </a:p>
        </p:txBody>
      </p:sp>
      <p:sp>
        <p:nvSpPr>
          <p:cNvPr id="5" name="文本框 4"/>
          <p:cNvSpPr txBox="1"/>
          <p:nvPr/>
        </p:nvSpPr>
        <p:spPr>
          <a:xfrm>
            <a:off x="186690" y="3068955"/>
            <a:ext cx="4437380" cy="433705"/>
          </a:xfrm>
          <a:prstGeom prst="rect">
            <a:avLst/>
          </a:prstGeom>
          <a:noFill/>
        </p:spPr>
        <p:txBody>
          <a:bodyPr wrap="square" rtlCol="0">
            <a:noAutofit/>
          </a:bodyPr>
          <a:p>
            <a:r>
              <a:rPr>
                <a:sym typeface="+mn-ea"/>
              </a:rPr>
              <a:t>Training dataset: </a:t>
            </a:r>
            <a:r>
              <a:rPr>
                <a:sym typeface="+mn-ea"/>
              </a:rPr>
              <a:t>3 Object Sizes,</a:t>
            </a:r>
            <a:r>
              <a:rPr lang="en-US">
                <a:sym typeface="+mn-ea"/>
              </a:rPr>
              <a:t> </a:t>
            </a:r>
            <a:r>
              <a:rPr>
                <a:sym typeface="+mn-ea"/>
              </a:rPr>
              <a:t>10 trials </a:t>
            </a:r>
            <a:r>
              <a:rPr lang="en-US">
                <a:sym typeface="+mn-ea"/>
              </a:rPr>
              <a:t>e</a:t>
            </a:r>
            <a:r>
              <a:rPr>
                <a:sym typeface="+mn-ea"/>
              </a:rPr>
              <a:t>ach</a:t>
            </a:r>
            <a:endParaRPr>
              <a:sym typeface="+mn-ea"/>
            </a:endParaRPr>
          </a:p>
          <a:p>
            <a:endParaRPr lang="zh-CN" altLang="en-US"/>
          </a:p>
        </p:txBody>
      </p:sp>
      <p:sp>
        <p:nvSpPr>
          <p:cNvPr id="2" name="文本框 1"/>
          <p:cNvSpPr txBox="1"/>
          <p:nvPr/>
        </p:nvSpPr>
        <p:spPr>
          <a:xfrm>
            <a:off x="275590" y="1144270"/>
            <a:ext cx="3048000" cy="368300"/>
          </a:xfrm>
          <a:prstGeom prst="rect">
            <a:avLst/>
          </a:prstGeom>
          <a:noFill/>
        </p:spPr>
        <p:txBody>
          <a:bodyPr wrap="square" rtlCol="0">
            <a:spAutoFit/>
          </a:bodyPr>
          <a:p>
            <a:r>
              <a:rPr lang="en-US" altLang="zh-CN"/>
              <a:t>Three Input Modes:</a:t>
            </a:r>
            <a:endParaRPr lang="zh-CN" altLang="en-US">
              <a:ea typeface="宋体" panose="02010600030101010101" pitchFamily="2" charset="-122"/>
            </a:endParaRPr>
          </a:p>
        </p:txBody>
      </p:sp>
      <p:sp>
        <p:nvSpPr>
          <p:cNvPr id="3" name="文本框 2"/>
          <p:cNvSpPr txBox="1"/>
          <p:nvPr/>
        </p:nvSpPr>
        <p:spPr>
          <a:xfrm>
            <a:off x="1382395" y="1449070"/>
            <a:ext cx="3242310" cy="922020"/>
          </a:xfrm>
          <a:prstGeom prst="rect">
            <a:avLst/>
          </a:prstGeom>
        </p:spPr>
        <p:txBody>
          <a:bodyPr wrap="square">
            <a:spAutoFit/>
          </a:bodyPr>
          <a:p>
            <a:pPr marL="285750" indent="-285750">
              <a:buFont typeface="Arial" panose="020B0604020202020204" pitchFamily="34" charset="0"/>
              <a:buChar char="•"/>
            </a:pPr>
            <a:r>
              <a:rPr lang="en-US" altLang="zh-CN"/>
              <a:t>Object Area</a:t>
            </a:r>
            <a:endParaRPr lang="en-US" altLang="zh-CN"/>
          </a:p>
          <a:p>
            <a:pPr marL="285750" indent="-285750">
              <a:buFont typeface="Arial" panose="020B0604020202020204" pitchFamily="34" charset="0"/>
              <a:buChar char="•"/>
            </a:pPr>
            <a:r>
              <a:rPr lang="en-US" altLang="zh-CN"/>
              <a:t>Object Area + Velocity</a:t>
            </a:r>
            <a:endParaRPr lang="en-US" altLang="zh-CN"/>
          </a:p>
          <a:p>
            <a:pPr marL="285750" indent="-285750">
              <a:buFont typeface="Arial" panose="020B0604020202020204" pitchFamily="34" charset="0"/>
              <a:buChar char="•"/>
            </a:pPr>
            <a:r>
              <a:rPr lang="en-US" altLang="zh-CN"/>
              <a:t>Object Area + Acceleration</a:t>
            </a:r>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275590" y="226695"/>
            <a:ext cx="8522970" cy="583565"/>
          </a:xfrm>
          <a:prstGeom prst="rect">
            <a:avLst/>
          </a:prstGeom>
          <a:noFill/>
        </p:spPr>
        <p:txBody>
          <a:bodyPr wrap="square">
            <a:spAutoFit/>
          </a:bodyPr>
          <a:lstStyle/>
          <a:p>
            <a:r>
              <a:rPr sz="3200" b="1">
                <a:latin typeface="Times New Roman" panose="02020603050405020304"/>
                <a:ea typeface="Times New Roman" panose="02020603050405020304"/>
                <a:cs typeface="Times New Roman" panose="02020603050405020304"/>
              </a:rPr>
              <a:t>Main Issue</a:t>
            </a:r>
            <a:endParaRPr sz="3200" b="1">
              <a:latin typeface="Times New Roman" panose="02020603050405020304"/>
              <a:ea typeface="Times New Roman" panose="02020603050405020304"/>
              <a:cs typeface="Times New Roman" panose="02020603050405020304"/>
            </a:endParaRPr>
          </a:p>
        </p:txBody>
      </p:sp>
      <p:sp>
        <p:nvSpPr>
          <p:cNvPr id="8" name="文本框 7"/>
          <p:cNvSpPr>
            <a:spLocks noGrp="1"/>
          </p:cNvSpPr>
          <p:nvPr/>
        </p:nvSpPr>
        <p:spPr>
          <a:xfrm>
            <a:off x="275590" y="810260"/>
            <a:ext cx="8295640" cy="584200"/>
          </a:xfrm>
          <a:prstGeom prst="rect">
            <a:avLst/>
          </a:prstGeom>
          <a:noFill/>
        </p:spPr>
        <p:txBody>
          <a:bodyPr wrap="square">
            <a:noAutofit/>
          </a:bodyPr>
          <a:lstStyle/>
          <a:p>
            <a:r>
              <a:t>The remaining issue</a:t>
            </a:r>
            <a:r>
              <a:rPr lang="en-US"/>
              <a:t> still</a:t>
            </a:r>
            <a:r>
              <a:t> is the real-time integrated velocity from the IMU. I tried several program adjustments, but </a:t>
            </a:r>
            <a:r>
              <a:rPr lang="en-US"/>
              <a:t>that still have some problem</a:t>
            </a:r>
            <a:r>
              <a:t>.</a:t>
            </a:r>
          </a:p>
        </p:txBody>
      </p:sp>
      <p:pic>
        <p:nvPicPr>
          <p:cNvPr id="3" name="图片 2"/>
          <p:cNvPicPr/>
          <p:nvPr/>
        </p:nvPicPr>
        <p:blipFill>
          <a:blip r:embed="rId1"/>
          <a:stretch>
            <a:fillRect/>
          </a:stretch>
        </p:blipFill>
        <p:spPr>
          <a:xfrm>
            <a:off x="275590" y="1752600"/>
            <a:ext cx="8523605" cy="4724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275590" y="226695"/>
            <a:ext cx="8522970" cy="583565"/>
          </a:xfrm>
          <a:prstGeom prst="rect">
            <a:avLst/>
          </a:prstGeom>
          <a:noFill/>
        </p:spPr>
        <p:txBody>
          <a:bodyPr wrap="square">
            <a:spAutoFit/>
          </a:bodyPr>
          <a:lstStyle/>
          <a:p>
            <a:r>
              <a:rPr lang="en-US" altLang="zh-CN" sz="3200" b="1">
                <a:latin typeface="Times New Roman" panose="02020603050405020304"/>
                <a:ea typeface="Times New Roman" panose="02020603050405020304"/>
                <a:cs typeface="Times New Roman" panose="02020603050405020304"/>
              </a:rPr>
              <a:t>My </a:t>
            </a:r>
            <a:r>
              <a:rPr sz="3200" b="1">
                <a:latin typeface="Times New Roman" panose="02020603050405020304"/>
                <a:ea typeface="Times New Roman" panose="02020603050405020304"/>
                <a:cs typeface="Times New Roman" panose="02020603050405020304"/>
                <a:sym typeface="+mn-ea"/>
              </a:rPr>
              <a:t>Research</a:t>
            </a:r>
            <a:r>
              <a:rPr lang="en-US" altLang="zh-CN" sz="3200" b="1">
                <a:latin typeface="Times New Roman" panose="02020603050405020304"/>
                <a:ea typeface="Times New Roman" panose="02020603050405020304"/>
                <a:cs typeface="Times New Roman" panose="02020603050405020304"/>
              </a:rPr>
              <a:t> Proposal</a:t>
            </a:r>
            <a:endParaRPr lang="en-US" altLang="zh-CN" sz="3200" b="1">
              <a:latin typeface="Times New Roman" panose="02020603050405020304"/>
              <a:ea typeface="Times New Roman" panose="02020603050405020304"/>
              <a:cs typeface="Times New Roman" panose="02020603050405020304"/>
            </a:endParaRPr>
          </a:p>
        </p:txBody>
      </p:sp>
      <p:sp>
        <p:nvSpPr>
          <p:cNvPr id="8" name="文本框 7"/>
          <p:cNvSpPr>
            <a:spLocks noGrp="1"/>
          </p:cNvSpPr>
          <p:nvPr/>
        </p:nvSpPr>
        <p:spPr>
          <a:xfrm>
            <a:off x="275590" y="882015"/>
            <a:ext cx="8295640" cy="5372100"/>
          </a:xfrm>
          <a:prstGeom prst="rect">
            <a:avLst/>
          </a:prstGeom>
          <a:noFill/>
        </p:spPr>
        <p:txBody>
          <a:bodyPr wrap="square">
            <a:noAutofit/>
          </a:bodyPr>
          <a:lstStyle/>
          <a:p>
            <a:r>
              <a:t>Although the current offline data contain some errors, the predicted curves show the natural pattern of grasping: opening and then closing. </a:t>
            </a:r>
          </a:p>
          <a:p>
            <a:endParaRPr lang="en-US" altLang="zh-CN"/>
          </a:p>
          <a:p>
            <a:r>
              <a:rPr lang="en-US" altLang="zh-CN"/>
              <a:t>Therefore, I would like to ask whether it would be possible to change the validation method of this study from real-time validation to offline validation.</a:t>
            </a:r>
            <a:br>
              <a:rPr lang="en-US" altLang="zh-CN"/>
            </a:br>
            <a:endParaRPr lang="en-US" altLang="zh-CN"/>
          </a:p>
          <a:p>
            <a:r>
              <a:rPr lang="en-US" altLang="zh-CN"/>
              <a:t>I would like to revise the focus of this study to investigate whether adding IMU data, such as hand velocity or acceleration, can better reproduce the natural grasping pattern of the human hand. The performance of using only object area will be compared with that of using object area combined with IMU data.</a:t>
            </a:r>
            <a:endParaRPr lang="en-US" altLang="zh-CN"/>
          </a:p>
          <a:p>
            <a:endParaRPr lang="en-US" altLang="zh-CN"/>
          </a:p>
          <a:p>
            <a:r>
              <a:rPr lang="en-US" altLang="zh-CN"/>
              <a:t>If so, I like to further optimize the training process to reduce prediction errors and make the predicted curves fit the actual data more closely. And invit other participants to validate the proposed method.</a:t>
            </a:r>
            <a:endParaRPr lang="en-US" altLang="zh-CN"/>
          </a:p>
        </p:txBody>
      </p:sp>
    </p:spTree>
  </p:cSld>
  <p:clrMapOvr>
    <a:masterClrMapping/>
  </p:clrMapOvr>
</p:sld>
</file>

<file path=ppt/tags/tag1.xml><?xml version="1.0" encoding="utf-8"?>
<p:tagLst xmlns:p="http://schemas.openxmlformats.org/presentationml/2006/main">
  <p:tag name="TABLE_ENDDRAG_ORIGIN_RECT" val="671*156"/>
  <p:tag name="TABLE_ENDDRAG_RECT" val="21*198*671*156"/>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PS">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PS">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2002</Words>
  <Application>WPS 演示</Application>
  <PresentationFormat>Converted Presentation</PresentationFormat>
  <Paragraphs>94</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宋体</vt:lpstr>
      <vt:lpstr>Wingdings</vt:lpstr>
      <vt:lpstr>Arial</vt:lpstr>
      <vt:lpstr>Times New Roman</vt:lpstr>
      <vt:lpstr>微软雅黑</vt:lpstr>
      <vt:lpstr>Arial Unicode MS</vt:lpstr>
      <vt:lpstr>MS PGothic</vt:lpstr>
      <vt:lpstr>Office テーマ</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down down down down down</cp:lastModifiedBy>
  <cp:revision>4</cp:revision>
  <dcterms:created xsi:type="dcterms:W3CDTF">2026-09-29T07:20:00Z</dcterms:created>
  <dcterms:modified xsi:type="dcterms:W3CDTF">2026-10-05T15:37:43Z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FB3ACDAA4AF54148BE5074B4117C330D_12</vt:lpwstr>
  </property>
</Properties>
</file>