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37" r:id="rId3"/>
    <p:sldId id="345" r:id="rId5"/>
    <p:sldId id="329" r:id="rId6"/>
    <p:sldId id="346" r:id="rId7"/>
    <p:sldId id="347" r:id="rId8"/>
    <p:sldId id="348" r:id="rId9"/>
    <p:sldId id="354" r:id="rId10"/>
    <p:sldId id="351" r:id="rId11"/>
    <p:sldId id="352" r:id="rId12"/>
    <p:sldId id="353" r:id="rId13"/>
    <p:sldId id="355" r:id="rId14"/>
    <p:sldId id="356" r:id="rId1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E6E"/>
    <a:srgbClr val="F59E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" d="1"/>
          <a:sy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45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フッター プレースホルダー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スライド番号プレースホルダー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buNone/>
              <a:defRPr sz="28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フッター プレースホルダー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直線コネクタ 6"/>
          <p:cNvSpPr>
            <a:spLocks noGrp="1"/>
          </p:cNvSpPr>
          <p:nvPr/>
        </p:nv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5" name="スライド番号プレースホルダー 4"/>
          <p:cNvSpPr>
            <a:spLocks noGrp="1"/>
          </p:cNvSpPr>
          <p:nvPr>
            <p:ph type="sldNum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/>
      <p:sp>
        <p:nvSpPr>
          <p:cNvPr id="2" name="日付プレースホルダー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フッター プレースホルダー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スライド番号プレースホルダー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2400"/>
            </a:lvl1pPr>
          </a:lstStyle>
          <a:p>
            <a:r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/>
        </p:txBody>
      </p:sp>
      <p:sp>
        <p:nvSpPr>
          <p:cNvPr id="4" name="テキスト プレースホルダー 3"/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>
              <a:buNone/>
            </a:pPr>
            <a:r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フッター プレースホルダー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スライド番号プレースホルダー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/>
      <p:sp>
        <p:nvSpPr>
          <p:cNvPr id="2" name="縦書きタイトル 1"/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マスター テキストの書式設定</a:t>
            </a:r>
          </a:p>
          <a:p>
            <a:pPr lvl="1">
              <a:buNone/>
            </a:pPr>
            <a:r>
              <a:t>第 </a:t>
            </a:r>
            <a:r>
              <a:t>2 </a:t>
            </a:r>
            <a:r>
              <a:t>レベル</a:t>
            </a:r>
          </a:p>
          <a:p>
            <a:pPr lvl="2">
              <a:buNone/>
            </a:pPr>
            <a:r>
              <a:t>第 </a:t>
            </a:r>
            <a:r>
              <a:t>3 </a:t>
            </a:r>
            <a:r>
              <a:t>レベル</a:t>
            </a:r>
          </a:p>
          <a:p>
            <a:pPr lvl="3">
              <a:buNone/>
            </a:pPr>
            <a:r>
              <a:t>第 </a:t>
            </a:r>
            <a:r>
              <a:t>4 </a:t>
            </a:r>
            <a:r>
              <a:t>レベル</a:t>
            </a:r>
          </a:p>
          <a:p>
            <a:pPr lvl="4">
              <a:buNone/>
            </a:pPr>
            <a:r>
              <a:t>第 </a:t>
            </a:r>
            <a:r>
              <a:t>5 </a:t>
            </a:r>
            <a:r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5" name="フッター プレースホルダー 4"/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  <p:sp>
        <p:nvSpPr>
          <p:cNvPr id="6" name="スライド番号プレースホルダー 5"/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171450" indent="-171450" algn="l" defTabSz="685800">
        <a:lnSpc>
          <a:spcPct val="90000"/>
        </a:lnSpc>
        <a:spcBef>
          <a:spcPts val="750"/>
        </a:spcBef>
        <a:buFont typeface="Arial" panose="020B0604020202020204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marL="5143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8572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marL="12001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5430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8859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2288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5717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914650" indent="-171450" algn="l" defTabSz="685800">
        <a:lnSpc>
          <a:spcPct val="90000"/>
        </a:lnSpc>
        <a:spcBef>
          <a:spcPts val="375"/>
        </a:spcBef>
        <a:buFont typeface="Arial" panose="020B0604020202020204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distance_aperture_overl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545" y="445135"/>
            <a:ext cx="6889750" cy="3091815"/>
          </a:xfrm>
          <a:prstGeom prst="rect">
            <a:avLst/>
          </a:prstGeom>
        </p:spPr>
      </p:pic>
      <p:pic>
        <p:nvPicPr>
          <p:cNvPr id="6" name="图片 5" descr="download (6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545" y="3740150"/>
            <a:ext cx="7015480" cy="29235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98120" y="1593850"/>
            <a:ext cx="3048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ym typeface="+mn-ea"/>
              </a:rPr>
              <a:t>Different Speed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Overlaid curves</a:t>
            </a:r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8120" y="4879340"/>
            <a:ext cx="3048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Different </a:t>
            </a:r>
            <a:r>
              <a:rPr lang="en-US" altLang="zh-CN">
                <a:sym typeface="+mn-ea"/>
              </a:rPr>
              <a:t>Initial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Hand Position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Overlaid curves</a:t>
            </a:r>
            <a:endParaRPr lang="en-US" altLang="zh-CN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19730"/>
            <a:ext cx="9144000" cy="3429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7175" y="408940"/>
            <a:ext cx="87566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ea typeface="SimSun" panose="02010600030101010101" pitchFamily="2" charset="-122"/>
                <a:sym typeface="+mn-ea"/>
              </a:rPr>
              <a:t>All models perform well with different approach speeds.</a:t>
            </a:r>
            <a:endParaRPr lang="en-US" altLang="zh-CN" sz="2400">
              <a:ea typeface="SimSun" panose="0201060003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Red_2cm_20261028_1407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365" y="3124835"/>
            <a:ext cx="7621905" cy="311785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36345" y="467995"/>
            <a:ext cx="69881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ym typeface="+mn-ea"/>
              </a:rPr>
              <a:t>Prediction Example : </a:t>
            </a:r>
            <a:r>
              <a:rPr lang="en-US" altLang="zh-CN" sz="2400"/>
              <a:t>Fast Speed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Red_2cm_20261028_1410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15" y="3168015"/>
            <a:ext cx="7557770" cy="30911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2480" y="431800"/>
            <a:ext cx="75577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ym typeface="+mn-ea"/>
              </a:rPr>
              <a:t>Prediction Example : </a:t>
            </a:r>
            <a:r>
              <a:rPr lang="en-US" altLang="zh-CN" sz="2400"/>
              <a:t>Normal Speed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Red_2cm_20261028_1412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115" y="3312795"/>
            <a:ext cx="7557770" cy="30911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47090" y="467995"/>
            <a:ext cx="7503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ym typeface="+mn-ea"/>
              </a:rPr>
              <a:t>Prediction Example : </a:t>
            </a:r>
            <a:r>
              <a:rPr lang="en-US" altLang="zh-CN" sz="2400"/>
              <a:t>Slow Speed</a:t>
            </a:r>
            <a:endParaRPr lang="en-US" altLang="zh-CN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57175" y="336550"/>
            <a:ext cx="87566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/>
              <a:t>The function approximation performs poorly with different initial hand positions.</a:t>
            </a:r>
            <a:endParaRPr lang="en-US" altLang="zh-CN" sz="2400"/>
          </a:p>
        </p:txBody>
      </p:sp>
      <p:pic>
        <p:nvPicPr>
          <p:cNvPr id="2" name="图片 1" descr="test_model_comparison_short_label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18790"/>
            <a:ext cx="9144000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71905" y="467995"/>
            <a:ext cx="65995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/>
              <a:t>Prediction Example : Initial Hand Position = 100 px</a:t>
            </a:r>
            <a:endParaRPr lang="en-US" altLang="zh-CN" sz="2400"/>
          </a:p>
        </p:txBody>
      </p:sp>
      <p:pic>
        <p:nvPicPr>
          <p:cNvPr id="5" name="图片 4" descr="near_2_Blue_3cm_20261028_161549_to_1p1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1040" y="1346835"/>
            <a:ext cx="7741920" cy="516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127125" y="467995"/>
            <a:ext cx="73152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ym typeface="+mn-ea"/>
              </a:rPr>
              <a:t>Prediction Example : Initial Hand Position = 100 px</a:t>
            </a:r>
            <a:endParaRPr lang="en-US" altLang="zh-CN" sz="2400"/>
          </a:p>
        </p:txBody>
      </p:sp>
      <p:pic>
        <p:nvPicPr>
          <p:cNvPr id="2" name="图片 1" descr="near_1_Blue_3cm_20261028_161557_to_1p1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0405" y="1524635"/>
            <a:ext cx="7741920" cy="5161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99210" y="467995"/>
            <a:ext cx="6635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ym typeface="+mn-ea"/>
              </a:rPr>
              <a:t>Prediction Example : Initial Hand Position = 250 px</a:t>
            </a:r>
            <a:endParaRPr lang="en-US" altLang="zh-CN" sz="2400"/>
          </a:p>
        </p:txBody>
      </p:sp>
      <p:pic>
        <p:nvPicPr>
          <p:cNvPr id="3" name="图片 2" descr="far_1_Blue_3cm_20261028_1614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1320" y="2830195"/>
            <a:ext cx="5801995" cy="386778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3719830" y="3921760"/>
            <a:ext cx="2301240" cy="1902460"/>
          </a:xfrm>
          <a:prstGeom prst="rect">
            <a:avLst/>
          </a:pr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99210" y="1510030"/>
            <a:ext cx="756348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The function approximation predicts two peaks during the grasping phase in all trials. </a:t>
            </a:r>
            <a:endParaRPr lang="en-US" altLang="zh-CN">
              <a:ea typeface="SimSun" panose="02010600030101010101" pitchFamily="2" charset="-122"/>
            </a:endParaRPr>
          </a:p>
          <a:p>
            <a:r>
              <a:rPr lang="en-US" altLang="zh-CN">
                <a:ea typeface="SimSun" panose="02010600030101010101" pitchFamily="2" charset="-122"/>
              </a:rPr>
              <a:t>This may be because the two initial-distance conditions correspond to different apertures at the same distance, leading to fitting errors.</a:t>
            </a:r>
            <a:endParaRPr lang="en-US" altLang="zh-CN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ar_2_Blue_3cm_20261028_1614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2720" y="2399030"/>
            <a:ext cx="6259195" cy="417322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99210" y="440690"/>
            <a:ext cx="663575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400">
                <a:sym typeface="+mn-ea"/>
              </a:rPr>
              <a:t>Prediction Example : Initial Hand Position = 250 px</a:t>
            </a:r>
            <a:endParaRPr lang="en-US" altLang="zh-CN" sz="2400"/>
          </a:p>
        </p:txBody>
      </p:sp>
      <p:sp>
        <p:nvSpPr>
          <p:cNvPr id="5" name="矩形 4"/>
          <p:cNvSpPr/>
          <p:nvPr/>
        </p:nvSpPr>
        <p:spPr>
          <a:xfrm>
            <a:off x="3366770" y="3660140"/>
            <a:ext cx="2680970" cy="2164080"/>
          </a:xfrm>
          <a:prstGeom prst="rect">
            <a:avLst/>
          </a:prstGeom>
          <a:noFill/>
          <a:ln>
            <a:solidFill>
              <a:srgbClr val="FF0000"/>
            </a:solidFill>
            <a:tailEnd type="oval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349885" y="443865"/>
            <a:ext cx="839279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Real-time experiments:</a:t>
            </a:r>
            <a:endParaRPr lang="en-US" altLang="zh-CN">
              <a:ea typeface="SimSun" panose="02010600030101010101" pitchFamily="2" charset="-122"/>
            </a:endParaRPr>
          </a:p>
          <a:p>
            <a:r>
              <a:rPr lang="en-US" altLang="zh-CN">
                <a:ea typeface="SimSun" panose="02010600030101010101" pitchFamily="2" charset="-122"/>
              </a:rPr>
              <a:t>Five grasping trials for each of two initial distances (approximately 100 px and 250 px).</a:t>
            </a:r>
            <a:endParaRPr lang="en-US" altLang="zh-CN">
              <a:ea typeface="SimSun" panose="02010600030101010101" pitchFamily="2" charset="-122"/>
            </a:endParaRPr>
          </a:p>
          <a:p>
            <a:endParaRPr lang="en-US" altLang="zh-CN"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ea typeface="SimSun" panose="02010600030101010101" pitchFamily="2" charset="-122"/>
              </a:rPr>
              <a:t>The full-history LSTM still shows prediction issues. </a:t>
            </a:r>
            <a:endParaRPr lang="en-US" altLang="zh-CN"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ea typeface="SimSun" panose="02010600030101010101" pitchFamily="2" charset="-122"/>
              </a:rPr>
              <a:t>The function approximation produces large errors.</a:t>
            </a:r>
            <a:endParaRPr lang="en-US" altLang="zh-CN">
              <a:ea typeface="SimSun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>
                <a:ea typeface="SimSun" panose="02010600030101010101" pitchFamily="2" charset="-122"/>
              </a:rPr>
              <a:t>The 5-frame LSTM has higher prediction errors than the 5-frame MLP.</a:t>
            </a:r>
            <a:endParaRPr lang="en-US" altLang="zh-CN">
              <a:ea typeface="SimSun" panose="02010600030101010101" pitchFamily="2" charset="-122"/>
            </a:endParaRPr>
          </a:p>
        </p:txBody>
      </p:sp>
      <p:pic>
        <p:nvPicPr>
          <p:cNvPr id="6" name="图片 5" descr="download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" y="3374390"/>
            <a:ext cx="9144000" cy="304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/>
          <p:nvPr/>
        </p:nvPicPr>
        <p:blipFill>
          <a:blip r:embed="rId1"/>
          <a:stretch>
            <a:fillRect/>
          </a:stretch>
        </p:blipFill>
        <p:spPr>
          <a:xfrm>
            <a:off x="321945" y="3227705"/>
            <a:ext cx="8500110" cy="31191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22580" y="395605"/>
            <a:ext cx="849947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>
                <a:sym typeface="+mn-ea"/>
              </a:rPr>
              <a:t>Realtime Prediction Example : Initial Hand Position = 250 px</a:t>
            </a:r>
            <a:endParaRPr lang="en-US" altLang="zh-CN" sz="2400">
              <a:sym typeface="+mn-ea"/>
            </a:endParaRPr>
          </a:p>
        </p:txBody>
      </p:sp>
      <p:cxnSp>
        <p:nvCxnSpPr>
          <p:cNvPr id="5" name="直接连接符 4"/>
          <p:cNvCxnSpPr/>
          <p:nvPr/>
        </p:nvCxnSpPr>
        <p:spPr>
          <a:xfrm flipV="1">
            <a:off x="1169035" y="2454275"/>
            <a:ext cx="0" cy="3197860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969645" y="1905000"/>
            <a:ext cx="52870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The program starts while the hand remains stationary.</a:t>
            </a:r>
            <a:endParaRPr lang="en-US" altLang="zh-CN">
              <a:ea typeface="SimSun" panose="02010600030101010101" pitchFamily="2" charset="-122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5345430" y="2780665"/>
            <a:ext cx="553085" cy="534670"/>
          </a:xfrm>
          <a:custGeom>
            <a:avLst/>
            <a:gdLst>
              <a:gd name="connisteX0" fmla="*/ 9525 w 553085"/>
              <a:gd name="connsiteY0" fmla="*/ 534670 h 534670"/>
              <a:gd name="connisteX1" fmla="*/ 0 w 553085"/>
              <a:gd name="connsiteY1" fmla="*/ 0 h 534670"/>
              <a:gd name="connisteX2" fmla="*/ 553085 w 553085"/>
              <a:gd name="connsiteY2" fmla="*/ 8890 h 53467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553085" h="534670">
                <a:moveTo>
                  <a:pt x="9525" y="534670"/>
                </a:moveTo>
                <a:lnTo>
                  <a:pt x="0" y="0"/>
                </a:lnTo>
                <a:lnTo>
                  <a:pt x="553085" y="8890"/>
                </a:lnTo>
              </a:path>
            </a:pathLst>
          </a:custGeom>
          <a:noFill/>
          <a:ln>
            <a:solidFill>
              <a:schemeClr val="tx1">
                <a:lumMod val="85000"/>
                <a:lumOff val="15000"/>
              </a:schemeClr>
            </a:solidFill>
            <a:tailEnd type="non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898515" y="259969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Error Evaluation Region</a:t>
            </a:r>
            <a:endParaRPr lang="en-US" altLang="zh-CN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1739265" y="3052445"/>
            <a:ext cx="407670" cy="652145"/>
          </a:xfrm>
          <a:prstGeom prst="line">
            <a:avLst/>
          </a:prstGeom>
          <a:ln w="12700" cmpd="sng">
            <a:solidFill>
              <a:schemeClr val="tx1"/>
            </a:solidFill>
            <a:prstDash val="soli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1738630" y="2454275"/>
            <a:ext cx="345630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ea typeface="SimSun" panose="02010600030101010101" pitchFamily="2" charset="-122"/>
              </a:rPr>
              <a:t>The </a:t>
            </a:r>
            <a:r>
              <a:rPr lang="en-US" altLang="zh-CN">
                <a:ea typeface="SimSun" panose="02010600030101010101" pitchFamily="2" charset="-122"/>
                <a:sym typeface="+mn-ea"/>
              </a:rPr>
              <a:t>full-history </a:t>
            </a:r>
            <a:r>
              <a:rPr lang="en-US" altLang="zh-CN">
                <a:ea typeface="SimSun" panose="02010600030101010101" pitchFamily="2" charset="-122"/>
              </a:rPr>
              <a:t>LSTM prediction rises to its maximum in start </a:t>
            </a:r>
            <a:endParaRPr lang="en-US" altLang="zh-CN"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tx1">
              <a:lumMod val="85000"/>
              <a:lumOff val="15000"/>
            </a:schemeClr>
          </a:solidFill>
          <a:tailEnd type="oval"/>
        </a:ln>
      </a:spPr>
      <a:bodyPr rtlCol="0" anchor="ctr"/>
      <a:lstStyle>
        <a:defPPr algn="ctr">
          <a:defRPr lang="zh-CN" altLang="en-US"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  <a:lnDef>
      <a:spPr>
        <a:ln w="12700" cmpd="sng">
          <a:solidFill>
            <a:schemeClr val="tx1"/>
          </a:solidFill>
          <a:prstDash val="solid"/>
        </a:ln>
      </a:spPr>
      <a:bodyPr/>
      <a:lstStyle/>
      <a:style>
        <a:lnRef idx="0">
          <a:schemeClr val="accent1"/>
        </a:lnRef>
        <a:fillRef idx="0">
          <a:srgbClr val="FFFFFF"/>
        </a:fillRef>
        <a:effectRef idx="0">
          <a:srgbClr val="FFFFFF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1214</Words>
  <Application>WPS 演示</Application>
  <PresentationFormat>Converted Presentation</PresentationFormat>
  <Paragraphs>43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MS PGothic</vt:lpstr>
      <vt:lpstr>Wingdings</vt:lpstr>
      <vt:lpstr>Office テーマ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down down down down down</cp:lastModifiedBy>
  <cp:revision>70</cp:revision>
  <dcterms:created xsi:type="dcterms:W3CDTF">2026-09-29T07:20:00Z</dcterms:created>
  <dcterms:modified xsi:type="dcterms:W3CDTF">2026-10-28T10:48:04Z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FB3ACDAA4AF54148BE5074B4117C330D_12</vt:lpwstr>
  </property>
</Properties>
</file>