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78" r:id="rId5"/>
    <p:sldId id="277" r:id="rId6"/>
    <p:sldId id="276" r:id="rId7"/>
    <p:sldId id="275" r:id="rId8"/>
    <p:sldId id="271" r:id="rId9"/>
    <p:sldId id="272" r:id="rId10"/>
    <p:sldId id="273" r:id="rId11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フッター プレースホルダー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スライド番号プレースホルダー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05954" y="94797"/>
            <a:ext cx="7886700" cy="488889"/>
          </a:xfrm>
        </p:spPr>
        <p:txBody>
          <a:bodyPr>
            <a:normAutofit/>
          </a:bodyPr>
          <a:lstStyle>
            <a:lvl1pPr>
              <a:buNone/>
              <a:defRPr sz="28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フッター プレースホルダー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直線コネクタ 6"/>
          <p:cNvSpPr>
            <a:spLocks noGrp="1"/>
          </p:cNvSpPr>
          <p:nvPr/>
        </p:nvSpPr>
        <p:spPr>
          <a:xfrm>
            <a:off x="171450" y="94086"/>
            <a:ext cx="0" cy="48960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" name="スライド番号プレースホルダー 4"/>
          <p:cNvSpPr>
            <a:spLocks noGrp="1"/>
          </p:cNvSpPr>
          <p:nvPr>
            <p:ph type="sldNum" idx="12"/>
          </p:nvPr>
        </p:nvSpPr>
        <p:spPr>
          <a:xfrm>
            <a:off x="7063954" y="6574305"/>
            <a:ext cx="2057400" cy="365125"/>
          </a:xfrm>
        </p:spPr>
        <p:txBody>
          <a:bodyPr/>
          <a:lstStyle>
            <a:lvl1pPr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/>
      <p:sp>
        <p:nvSpPr>
          <p:cNvPr id="2" name="日付プレースホルダー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フッター プレースホルダー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/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/>
      <p:sp>
        <p:nvSpPr>
          <p:cNvPr id="2" name="縦書きタイトル 1"/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71450" indent="-171450" algn="l" defTabSz="685800">
        <a:lnSpc>
          <a:spcPct val="90000"/>
        </a:lnSpc>
        <a:spcBef>
          <a:spcPts val="750"/>
        </a:spcBef>
        <a:buFont typeface="Arial" panose="020B0604020202020204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marL="5143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8572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marL="12001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5430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Research Goal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5590" y="1024255"/>
            <a:ext cx="82772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ea typeface="SimSun" panose="02010600030101010101" pitchFamily="2" charset="-122"/>
              </a:rPr>
              <a:t>人在进行 </a:t>
            </a:r>
            <a:r>
              <a:rPr lang="en-US" altLang="zh-CN">
                <a:ea typeface="SimSun" panose="02010600030101010101" pitchFamily="2" charset="-122"/>
              </a:rPr>
              <a:t>reach-to-grasp </a:t>
            </a:r>
            <a:r>
              <a:rPr lang="zh-CN" altLang="en-US">
                <a:ea typeface="SimSun" panose="02010600030101010101" pitchFamily="2" charset="-122"/>
              </a:rPr>
              <a:t>动作时，手指开合和手部运动通常是自然且无意识地协调进行的。</a:t>
            </a:r>
            <a:endParaRPr lang="zh-CN" altLang="en-US">
              <a:ea typeface="SimSun" panose="02010600030101010101" pitchFamily="2" charset="-122"/>
            </a:endParaRPr>
          </a:p>
          <a:p>
            <a:r>
              <a:rPr lang="zh-CN" altLang="en-US">
                <a:ea typeface="SimSun" panose="02010600030101010101" pitchFamily="2" charset="-122"/>
              </a:rPr>
              <a:t>本研究旨在分析抓取过程中物体视觉大小、手指开合以及手部运动之间的关系，并进一步研究是否能够利用这些信息预测手指的开合过程。</a:t>
            </a:r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5590" y="342868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/>
              <a:t>RQ1</a:t>
            </a:r>
            <a:r>
              <a:rPr lang="zh-CN" altLang="en-US" sz="1600"/>
              <a:t>：</a:t>
            </a:r>
            <a:endParaRPr lang="zh-CN" altLang="en-US" sz="1600"/>
          </a:p>
        </p:txBody>
      </p:sp>
      <p:sp>
        <p:nvSpPr>
          <p:cNvPr id="9" name="文本框 8"/>
          <p:cNvSpPr txBox="1"/>
          <p:nvPr/>
        </p:nvSpPr>
        <p:spPr>
          <a:xfrm>
            <a:off x="275590" y="3766185"/>
            <a:ext cx="852233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Reach-to-grasp </a:t>
            </a:r>
            <a:r>
              <a:rPr lang="zh-CN" altLang="en-US" sz="1600"/>
              <a:t>过程中，物体视觉大小、手指开合和手部运动之间是否存在稳定的关系？</a:t>
            </a:r>
            <a:endParaRPr lang="zh-CN" altLang="en-US" sz="1600"/>
          </a:p>
        </p:txBody>
      </p:sp>
      <p:sp>
        <p:nvSpPr>
          <p:cNvPr id="10" name="文本框 9"/>
          <p:cNvSpPr txBox="1"/>
          <p:nvPr/>
        </p:nvSpPr>
        <p:spPr>
          <a:xfrm>
            <a:off x="275590" y="5309235"/>
            <a:ext cx="827659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与仅使用物体视觉信息相比，加入手部运动信息是否能够提高对手指开合过程的预测性能？</a:t>
            </a:r>
            <a:endParaRPr lang="zh-CN" altLang="en-US" sz="1600"/>
          </a:p>
        </p:txBody>
      </p:sp>
      <p:sp>
        <p:nvSpPr>
          <p:cNvPr id="11" name="文本框 10"/>
          <p:cNvSpPr txBox="1"/>
          <p:nvPr/>
        </p:nvSpPr>
        <p:spPr>
          <a:xfrm>
            <a:off x="275590" y="497173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/>
              <a:t>RQ2</a:t>
            </a:r>
            <a:r>
              <a:rPr lang="zh-CN" altLang="en-US" sz="1600"/>
              <a:t>：</a:t>
            </a:r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>
                <a:latin typeface="Times New Roman" panose="02020603050405020304"/>
                <a:ea typeface="SimSun" panose="02010600030101010101" pitchFamily="2" charset="-122"/>
                <a:cs typeface="Times New Roman" panose="02020603050405020304"/>
              </a:rPr>
              <a:t>数据集准备</a:t>
            </a:r>
            <a:endParaRPr lang="zh-CN" altLang="en-US" sz="3200" b="1">
              <a:latin typeface="Times New Roman" panose="02020603050405020304"/>
              <a:ea typeface="SimSun" panose="02010600030101010101" pitchFamily="2" charset="-122"/>
              <a:cs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Temporal relationship analysis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download"/>
          <p:cNvPicPr>
            <a:picLocks noChangeAspect="1"/>
          </p:cNvPicPr>
          <p:nvPr/>
        </p:nvPicPr>
        <p:blipFill>
          <a:blip r:embed="rId1"/>
          <a:srcRect b="3798"/>
          <a:stretch>
            <a:fillRect/>
          </a:stretch>
        </p:blipFill>
        <p:spPr>
          <a:xfrm>
            <a:off x="280035" y="1631950"/>
            <a:ext cx="8518525" cy="49949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Generalization Test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275590" y="1195705"/>
            <a:ext cx="8793480" cy="1834515"/>
            <a:chOff x="434" y="1883"/>
            <a:chExt cx="13848" cy="2889"/>
          </a:xfrm>
        </p:grpSpPr>
        <p:sp>
          <p:nvSpPr>
            <p:cNvPr id="18" name="文本框 17"/>
            <p:cNvSpPr txBox="1"/>
            <p:nvPr/>
          </p:nvSpPr>
          <p:spPr>
            <a:xfrm>
              <a:off x="434" y="1883"/>
              <a:ext cx="48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Model</a:t>
              </a:r>
              <a:endParaRPr lang="en-US" altLang="zh-CN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434" y="2955"/>
              <a:ext cx="48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Area only</a:t>
              </a:r>
              <a:endParaRPr lang="en-US" altLang="zh-CN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434" y="4192"/>
              <a:ext cx="48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Area + Acceleration</a:t>
              </a:r>
              <a:endParaRPr lang="en-US" altLang="zh-CN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4638" y="1884"/>
              <a:ext cx="48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Mean RMSE</a:t>
              </a:r>
              <a:endParaRPr lang="en-US" altLang="zh-CN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8705" y="1884"/>
              <a:ext cx="5577" cy="58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en-US" altLang="zh-CN"/>
                <a:t>Mean R² ± Standard Deviation</a:t>
              </a:r>
              <a:endParaRPr lang="en-US" altLang="zh-CN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638" y="2955"/>
              <a:ext cx="48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45.12px</a:t>
              </a:r>
              <a:endParaRPr lang="en-US" altLang="zh-CN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4638" y="4192"/>
              <a:ext cx="48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21.77px</a:t>
              </a:r>
              <a:endParaRPr lang="en-US" altLang="zh-CN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8705" y="2955"/>
              <a:ext cx="48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0.647 ± 0.069</a:t>
              </a:r>
              <a:endParaRPr lang="en-US" altLang="zh-CN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8705" y="4192"/>
              <a:ext cx="5577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altLang="zh-CN"/>
                <a:t>0.917 ± 0.040</a:t>
              </a:r>
              <a:endParaRPr lang="en-US" altLang="zh-CN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Generalization Test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9" name="图片 8" descr="TRIAL_Size_4cm_20261010_1639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69390"/>
            <a:ext cx="9144000" cy="39185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Generalization Test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TRIAL_Size_4cm_20261010_1640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69390"/>
            <a:ext cx="9144000" cy="39185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Generalization Test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TRIAL_Size_4cm_20261010_1641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69390"/>
            <a:ext cx="9144000" cy="39185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Generalization Test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3" name="图片 2" descr="TRIAL_Size_4cm_20261010_1638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69390"/>
            <a:ext cx="9144000" cy="39185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458</Words>
  <Application>WPS 演示</Application>
  <PresentationFormat>Converted Presentation</PresentationFormat>
  <Paragraphs>45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SimSun</vt:lpstr>
      <vt:lpstr>Wingdings</vt:lpstr>
      <vt:lpstr>Arial</vt:lpstr>
      <vt:lpstr>Times New Roman</vt:lpstr>
      <vt:lpstr>MS PGothic</vt:lpstr>
      <vt:lpstr>Microsoft YaHei</vt:lpstr>
      <vt:lpstr>Arial Unicode MS</vt:lpstr>
      <vt:lpstr>Times New Roman</vt:lpstr>
      <vt:lpstr>Office テーマ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down down down down down</cp:lastModifiedBy>
  <cp:revision>8</cp:revision>
  <dcterms:created xsi:type="dcterms:W3CDTF">2026-09-29T07:20:00Z</dcterms:created>
  <dcterms:modified xsi:type="dcterms:W3CDTF">2026-10-10T11:54:29Z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FB3ACDAA4AF54148BE5074B4117C330D_12</vt:lpwstr>
  </property>
</Properties>
</file>