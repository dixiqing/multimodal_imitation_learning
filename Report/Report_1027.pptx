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42" r:id="rId3"/>
    <p:sldId id="337" r:id="rId5"/>
    <p:sldId id="329" r:id="rId6"/>
    <p:sldId id="339" r:id="rId7"/>
    <p:sldId id="340" r:id="rId8"/>
    <p:sldId id="341" r:id="rId9"/>
    <p:sldId id="343" r:id="rId10"/>
    <p:sldId id="344" r:id="rId11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6E6E"/>
    <a:srgbClr val="F59E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buNone/>
              <a:defRPr sz="45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buNone/>
              <a:defRPr sz="45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フッター プレースホルダー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スライド番号プレースホルダー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05954" y="94797"/>
            <a:ext cx="7886700" cy="488889"/>
          </a:xfrm>
        </p:spPr>
        <p:txBody>
          <a:bodyPr>
            <a:normAutofit/>
          </a:bodyPr>
          <a:lstStyle>
            <a:lvl1pPr>
              <a:buNone/>
              <a:defRPr sz="28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フッター プレースホルダー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直線コネクタ 6"/>
          <p:cNvSpPr>
            <a:spLocks noGrp="1"/>
          </p:cNvSpPr>
          <p:nvPr/>
        </p:nvSpPr>
        <p:spPr>
          <a:xfrm>
            <a:off x="171450" y="94086"/>
            <a:ext cx="0" cy="48960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" name="スライド番号プレースホルダー 4"/>
          <p:cNvSpPr>
            <a:spLocks noGrp="1"/>
          </p:cNvSpPr>
          <p:nvPr>
            <p:ph type="sldNum" idx="12"/>
          </p:nvPr>
        </p:nvSpPr>
        <p:spPr>
          <a:xfrm>
            <a:off x="7063954" y="6574305"/>
            <a:ext cx="2057400" cy="365125"/>
          </a:xfrm>
        </p:spPr>
        <p:txBody>
          <a:bodyPr/>
          <a:lstStyle>
            <a:lvl1pPr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/>
      <p:sp>
        <p:nvSpPr>
          <p:cNvPr id="2" name="日付プレースホルダー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フッター プレースホルダー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スライド番号プレースホルダー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/>
        </p:txBody>
      </p:sp>
      <p:sp>
        <p:nvSpPr>
          <p:cNvPr id="4" name="テキスト プレースホルダー 3"/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/>
      <p:sp>
        <p:nvSpPr>
          <p:cNvPr id="2" name="縦書きタイトル 1"/>
          <p:cNvSpPr>
            <a:spLocks noGrp="1"/>
          </p:cNvSpPr>
          <p:nvPr>
            <p:ph type="title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171450" indent="-171450" algn="l" defTabSz="685800">
        <a:lnSpc>
          <a:spcPct val="90000"/>
        </a:lnSpc>
        <a:spcBef>
          <a:spcPts val="750"/>
        </a:spcBef>
        <a:buFont typeface="Arial" panose="020B0604020202020204"/>
        <a:buChar char="•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marL="5143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8572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marL="12001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5430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8859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distance_aperture_by_speed_vertica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941070"/>
            <a:ext cx="7429500" cy="591693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94970" y="151130"/>
            <a:ext cx="83470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ea typeface="SimSun" panose="02010600030101010101" pitchFamily="2" charset="-122"/>
              </a:rPr>
              <a:t>Each speed condition includes 28 trials: 21 for training and 7 for testing. I mistakenly selected two fewer test trials per condition than intended.</a:t>
            </a:r>
            <a:endParaRPr lang="en-US" altLang="zh-CN"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test_model_comparis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036570"/>
            <a:ext cx="9144000" cy="3429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78485" y="479425"/>
            <a:ext cx="5819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Offline Testing: Overall Performance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578485" y="1021080"/>
            <a:ext cx="76682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ea typeface="SimSun" panose="02010600030101010101" pitchFamily="2" charset="-122"/>
              </a:rPr>
              <a:t>Three models</a:t>
            </a:r>
            <a:r>
              <a:rPr lang="zh-CN" altLang="en-US">
                <a:ea typeface="SimSun" panose="02010600030101010101" pitchFamily="2" charset="-122"/>
              </a:rPr>
              <a:t>：</a:t>
            </a:r>
            <a:endParaRPr lang="zh-CN" altLang="en-US">
              <a:ea typeface="SimSun" panose="02010600030101010101" pitchFamily="2" charset="-122"/>
            </a:endParaRPr>
          </a:p>
          <a:p>
            <a:endParaRPr lang="en-US" altLang="zh-CN">
              <a:ea typeface="SimSun" panose="02010600030101010101" pitchFamily="2" charset="-122"/>
            </a:endParaRPr>
          </a:p>
          <a:p>
            <a:r>
              <a:rPr lang="en-US" altLang="zh-CN">
                <a:ea typeface="SimSun" panose="02010600030101010101" pitchFamily="2" charset="-122"/>
              </a:rPr>
              <a:t>smoothing spline</a:t>
            </a:r>
            <a:r>
              <a:rPr lang="zh-CN" altLang="en-US">
                <a:ea typeface="SimSun" panose="02010600030101010101" pitchFamily="2" charset="-122"/>
              </a:rPr>
              <a:t>，</a:t>
            </a:r>
            <a:r>
              <a:rPr lang="en-US" altLang="zh-CN">
                <a:ea typeface="SimSun" panose="02010600030101010101" pitchFamily="2" charset="-122"/>
              </a:rPr>
              <a:t>MLP (5 frames)</a:t>
            </a:r>
            <a:r>
              <a:rPr lang="zh-CN" altLang="en-US">
                <a:ea typeface="SimSun" panose="02010600030101010101" pitchFamily="2" charset="-122"/>
              </a:rPr>
              <a:t>，</a:t>
            </a:r>
            <a:r>
              <a:rPr lang="en-US" altLang="zh-CN">
                <a:ea typeface="SimSun" panose="02010600030101010101" pitchFamily="2" charset="-122"/>
              </a:rPr>
              <a:t>LSTM (from time 0 to the estimated time)</a:t>
            </a:r>
            <a:endParaRPr lang="en-US" altLang="zh-CN"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/>
        </p:nvSpPr>
        <p:spPr>
          <a:xfrm>
            <a:off x="283845" y="37973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Slow Example</a:t>
            </a:r>
            <a:endParaRPr lang="en-US" altLang="zh-CN"/>
          </a:p>
        </p:txBody>
      </p:sp>
      <p:pic>
        <p:nvPicPr>
          <p:cNvPr id="3" name="图片 2" descr="Black_4cm_20261025_1511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5675" y="2245360"/>
            <a:ext cx="5648325" cy="2237105"/>
          </a:xfrm>
          <a:prstGeom prst="rect">
            <a:avLst/>
          </a:prstGeom>
        </p:spPr>
      </p:pic>
      <p:pic>
        <p:nvPicPr>
          <p:cNvPr id="6" name="图片 5" descr="Black_4cm_20261025_1511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965" y="4603750"/>
            <a:ext cx="5741035" cy="2225040"/>
          </a:xfrm>
          <a:prstGeom prst="rect">
            <a:avLst/>
          </a:prstGeom>
        </p:spPr>
      </p:pic>
      <p:pic>
        <p:nvPicPr>
          <p:cNvPr id="9" name="图片 8" descr="Black_4cm_20261025_1511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3600" y="0"/>
            <a:ext cx="5740400" cy="21240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/>
        </p:nvSpPr>
        <p:spPr>
          <a:xfrm>
            <a:off x="283845" y="37973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Normal Example</a:t>
            </a:r>
            <a:endParaRPr lang="zh-CN" altLang="en-US"/>
          </a:p>
        </p:txBody>
      </p:sp>
      <p:pic>
        <p:nvPicPr>
          <p:cNvPr id="3" name="图片 2" descr="Black_4cm_20261025_1502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6595" y="2145665"/>
            <a:ext cx="5683250" cy="2324735"/>
          </a:xfrm>
          <a:prstGeom prst="rect">
            <a:avLst/>
          </a:prstGeom>
        </p:spPr>
      </p:pic>
      <p:pic>
        <p:nvPicPr>
          <p:cNvPr id="6" name="图片 5" descr="Black_4cm_20261025_1500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3410" y="4582160"/>
            <a:ext cx="5891530" cy="2176145"/>
          </a:xfrm>
          <a:prstGeom prst="rect">
            <a:avLst/>
          </a:prstGeom>
        </p:spPr>
      </p:pic>
      <p:pic>
        <p:nvPicPr>
          <p:cNvPr id="7" name="图片 6" descr="Black_4cm_20261025_1500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1805" y="0"/>
            <a:ext cx="6132195" cy="21456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/>
        </p:nvSpPr>
        <p:spPr>
          <a:xfrm>
            <a:off x="283845" y="37973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Fast Example</a:t>
            </a:r>
            <a:endParaRPr lang="zh-CN" altLang="en-US"/>
          </a:p>
        </p:txBody>
      </p:sp>
      <p:pic>
        <p:nvPicPr>
          <p:cNvPr id="3" name="图片 2" descr="Black_4cm_20261025_1439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9385" y="2635885"/>
            <a:ext cx="6353810" cy="1983105"/>
          </a:xfrm>
          <a:prstGeom prst="rect">
            <a:avLst/>
          </a:prstGeom>
        </p:spPr>
      </p:pic>
      <p:pic>
        <p:nvPicPr>
          <p:cNvPr id="6" name="图片 5" descr="Black_4cm_20261025_1437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385" y="4618355"/>
            <a:ext cx="6353810" cy="2170430"/>
          </a:xfrm>
          <a:prstGeom prst="rect">
            <a:avLst/>
          </a:prstGeom>
        </p:spPr>
      </p:pic>
      <p:pic>
        <p:nvPicPr>
          <p:cNvPr id="7" name="图片 6" descr="Black_4cm_20261025_1437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385" y="0"/>
            <a:ext cx="6444615" cy="26358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63500" y="99060"/>
            <a:ext cx="2811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Detailed Validation Results</a:t>
            </a:r>
            <a:endParaRPr lang="en-US" altLang="zh-CN"/>
          </a:p>
        </p:txBody>
      </p:sp>
      <p:pic>
        <p:nvPicPr>
          <p:cNvPr id="2" name="图片 1" descr="test_metrics_cha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4795" y="467360"/>
            <a:ext cx="7451725" cy="6334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27660" y="243840"/>
            <a:ext cx="63804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ea typeface="SimSun" panose="02010600030101010101" pitchFamily="2" charset="-122"/>
              </a:rPr>
              <a:t>Real-time</a:t>
            </a:r>
            <a:r>
              <a:rPr lang="en-US" altLang="zh-CN">
                <a:sym typeface="+mn-ea"/>
              </a:rPr>
              <a:t>: Overall Performance</a:t>
            </a:r>
            <a:endParaRPr lang="en-US" altLang="zh-CN">
              <a:sym typeface="+mn-ea"/>
            </a:endParaRPr>
          </a:p>
          <a:p>
            <a:endParaRPr lang="en-US" altLang="zh-CN"/>
          </a:p>
          <a:p>
            <a:r>
              <a:rPr lang="en-US" altLang="zh-CN"/>
              <a:t>Three grasping trials per speed condition, for a total of nine trials.</a:t>
            </a:r>
            <a:endParaRPr lang="en-US" altLang="zh-CN"/>
          </a:p>
        </p:txBody>
      </p:sp>
      <p:pic>
        <p:nvPicPr>
          <p:cNvPr id="2" name="图片 1" descr="07_trial_mean_s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300730"/>
            <a:ext cx="9144000" cy="31648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27660" y="1845310"/>
            <a:ext cx="8472805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Problem</a:t>
            </a:r>
            <a:r>
              <a:rPr lang="zh-CN" altLang="en-US" sz="1600">
                <a:ea typeface="SimSun" panose="02010600030101010101" pitchFamily="2" charset="-122"/>
              </a:rPr>
              <a:t>：</a:t>
            </a:r>
            <a:r>
              <a:rPr lang="en-US" altLang="zh-CN" sz="1600"/>
              <a:t>The LSTM predictions currently keep increasing during the initial phase, making the model unsuitable for real-time inference at this stage. I will investigate this issue further.</a:t>
            </a:r>
            <a:endParaRPr lang="en-US" altLang="zh-CN" sz="1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06_prediction_trajectori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70" y="842010"/>
            <a:ext cx="8564245" cy="57092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PS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>
              <a:lumMod val="85000"/>
              <a:lumOff val="15000"/>
            </a:schemeClr>
          </a:solidFill>
          <a:tailEnd type="oval"/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 w="12700">
          <a:solidFill>
            <a:schemeClr val="tx1">
              <a:lumMod val="95000"/>
              <a:lumOff val="5000"/>
            </a:schemeClr>
          </a:solidFill>
          <a:prstDash val="dash"/>
        </a:ln>
      </a:spPr>
      <a:bodyPr/>
      <a:lstStyle/>
      <a:style>
        <a:lnRef idx="0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PS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620</Words>
  <Application>WPS 演示</Application>
  <PresentationFormat>Converted Presentation</PresentationFormat>
  <Paragraphs>22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SimSun</vt:lpstr>
      <vt:lpstr>Wingdings</vt:lpstr>
      <vt:lpstr>Arial</vt:lpstr>
      <vt:lpstr>Times New Roman</vt:lpstr>
      <vt:lpstr>Microsoft YaHei</vt:lpstr>
      <vt:lpstr>Arial Unicode MS</vt:lpstr>
      <vt:lpstr>MS PGothic</vt:lpstr>
      <vt:lpstr>Office テーマ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down down down down down</cp:lastModifiedBy>
  <cp:revision>66</cp:revision>
  <dcterms:created xsi:type="dcterms:W3CDTF">2026-09-29T07:20:00Z</dcterms:created>
  <dcterms:modified xsi:type="dcterms:W3CDTF">2026-10-27T01:05:00Z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FB3ACDAA4AF54148BE5074B4117C330D_12</vt:lpwstr>
  </property>
</Properties>
</file>