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</p:sldIdLst>
  <p:sldSz cx="21383625" cy="302748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EC22BE35-106D-4C50-9229-F17C6DD34C21}">
          <p14:sldIdLst/>
        </p14:section>
        <p14:section name="タイトルなしのセクション" id="{9AFB9AC9-849A-46B5-8791-5A4776CB4721}">
          <p14:sldIdLst>
            <p14:sldId id="26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704021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52" autoAdjust="0"/>
    <p:restoredTop sz="94833" autoAdjust="0"/>
  </p:normalViewPr>
  <p:slideViewPr>
    <p:cSldViewPr snapToGrid="0">
      <p:cViewPr>
        <p:scale>
          <a:sx n="25" d="100"/>
          <a:sy n="25" d="100"/>
        </p:scale>
        <p:origin x="168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9A3C2-EFA0-436B-B6F2-D154FB18DCD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0"/>
            </a:lvl1pPr>
            <a:lvl2pPr marL="1069340" indent="0" algn="ctr">
              <a:buNone/>
              <a:defRPr sz="4675"/>
            </a:lvl2pPr>
            <a:lvl3pPr marL="2138045" indent="0" algn="ctr">
              <a:buNone/>
              <a:defRPr sz="4210"/>
            </a:lvl3pPr>
            <a:lvl4pPr marL="3207385" indent="0" algn="ctr">
              <a:buNone/>
              <a:defRPr sz="3740"/>
            </a:lvl4pPr>
            <a:lvl5pPr marL="4276725" indent="0" algn="ctr">
              <a:buNone/>
              <a:defRPr sz="3740"/>
            </a:lvl5pPr>
            <a:lvl6pPr marL="5346065" indent="0" algn="ctr">
              <a:buNone/>
              <a:defRPr sz="3740"/>
            </a:lvl6pPr>
            <a:lvl7pPr marL="6414770" indent="0" algn="ctr">
              <a:buNone/>
              <a:defRPr sz="3740"/>
            </a:lvl7pPr>
            <a:lvl8pPr marL="7484110" indent="0" algn="ctr">
              <a:buNone/>
              <a:defRPr sz="3740"/>
            </a:lvl8pPr>
            <a:lvl9pPr marL="8553450" indent="0" algn="ctr">
              <a:buNone/>
              <a:defRPr sz="374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0">
                <a:solidFill>
                  <a:schemeClr val="tx1"/>
                </a:solidFill>
              </a:defRPr>
            </a:lvl1pPr>
            <a:lvl2pPr marL="1069340" indent="0">
              <a:buNone/>
              <a:defRPr sz="4675">
                <a:solidFill>
                  <a:schemeClr val="tx1">
                    <a:tint val="75000"/>
                  </a:schemeClr>
                </a:solidFill>
              </a:defRPr>
            </a:lvl2pPr>
            <a:lvl3pPr marL="2138045" indent="0">
              <a:buNone/>
              <a:defRPr sz="4210">
                <a:solidFill>
                  <a:schemeClr val="tx1">
                    <a:tint val="75000"/>
                  </a:schemeClr>
                </a:solidFill>
              </a:defRPr>
            </a:lvl3pPr>
            <a:lvl4pPr marL="320738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4pPr>
            <a:lvl5pPr marL="427672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5pPr>
            <a:lvl6pPr marL="534606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6pPr>
            <a:lvl7pPr marL="641477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7pPr>
            <a:lvl8pPr marL="748411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8pPr>
            <a:lvl9pPr marL="855345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5"/>
            </a:lvl1pPr>
            <a:lvl2pPr>
              <a:defRPr sz="6550"/>
            </a:lvl2pPr>
            <a:lvl3pPr>
              <a:defRPr sz="5610"/>
            </a:lvl3pPr>
            <a:lvl4pPr>
              <a:defRPr sz="4675"/>
            </a:lvl4pPr>
            <a:lvl5pPr>
              <a:defRPr sz="4675"/>
            </a:lvl5pPr>
            <a:lvl6pPr>
              <a:defRPr sz="4675"/>
            </a:lvl6pPr>
            <a:lvl7pPr>
              <a:defRPr sz="4675"/>
            </a:lvl7pPr>
            <a:lvl8pPr>
              <a:defRPr sz="4675"/>
            </a:lvl8pPr>
            <a:lvl9pPr>
              <a:defRPr sz="4675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5"/>
            </a:lvl1pPr>
            <a:lvl2pPr marL="1069340" indent="0">
              <a:buNone/>
              <a:defRPr sz="6550"/>
            </a:lvl2pPr>
            <a:lvl3pPr marL="2138045" indent="0">
              <a:buNone/>
              <a:defRPr sz="5610"/>
            </a:lvl3pPr>
            <a:lvl4pPr marL="3207385" indent="0">
              <a:buNone/>
              <a:defRPr sz="4675"/>
            </a:lvl4pPr>
            <a:lvl5pPr marL="4276725" indent="0">
              <a:buNone/>
              <a:defRPr sz="4675"/>
            </a:lvl5pPr>
            <a:lvl6pPr marL="5346065" indent="0">
              <a:buNone/>
              <a:defRPr sz="4675"/>
            </a:lvl6pPr>
            <a:lvl7pPr marL="6414770" indent="0">
              <a:buNone/>
              <a:defRPr sz="4675"/>
            </a:lvl7pPr>
            <a:lvl8pPr marL="7484110" indent="0">
              <a:buNone/>
              <a:defRPr sz="4675"/>
            </a:lvl8pPr>
            <a:lvl9pPr marL="8553450" indent="0">
              <a:buNone/>
              <a:defRPr sz="4675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8045" rtl="0" eaLnBrk="1" latinLnBrk="0" hangingPunct="1">
        <a:lnSpc>
          <a:spcPct val="90000"/>
        </a:lnSpc>
        <a:spcBef>
          <a:spcPct val="0"/>
        </a:spcBef>
        <a:buNone/>
        <a:defRPr kumimoji="1" sz="102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670" indent="-534670" algn="l" defTabSz="213804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kumimoji="1" sz="6550" kern="1200">
          <a:solidFill>
            <a:schemeClr val="tx1"/>
          </a:solidFill>
          <a:latin typeface="+mn-lt"/>
          <a:ea typeface="+mn-ea"/>
          <a:cs typeface="+mn-cs"/>
        </a:defRPr>
      </a:lvl1pPr>
      <a:lvl2pPr marL="160401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5610" kern="1200">
          <a:solidFill>
            <a:schemeClr val="tx1"/>
          </a:solidFill>
          <a:latin typeface="+mn-lt"/>
          <a:ea typeface="+mn-ea"/>
          <a:cs typeface="+mn-cs"/>
        </a:defRPr>
      </a:lvl2pPr>
      <a:lvl3pPr marL="267271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675" kern="1200">
          <a:solidFill>
            <a:schemeClr val="tx1"/>
          </a:solidFill>
          <a:latin typeface="+mn-lt"/>
          <a:ea typeface="+mn-ea"/>
          <a:cs typeface="+mn-cs"/>
        </a:defRPr>
      </a:lvl3pPr>
      <a:lvl4pPr marL="374205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139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010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4944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1878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8812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04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738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672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606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477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411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345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/>
          <p:cNvSpPr/>
          <p:nvPr/>
        </p:nvSpPr>
        <p:spPr>
          <a:xfrm>
            <a:off x="0" y="-6627"/>
            <a:ext cx="21383625" cy="32451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/>
          </a:p>
        </p:txBody>
      </p:sp>
      <p:sp>
        <p:nvSpPr>
          <p:cNvPr id="4" name="正方形/長方形 3"/>
          <p:cNvSpPr/>
          <p:nvPr/>
        </p:nvSpPr>
        <p:spPr>
          <a:xfrm>
            <a:off x="2743200" y="-27940"/>
            <a:ext cx="18514695" cy="3303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7200" dirty="0">
              <a:cs typeface="+mj-lt"/>
              <a:sym typeface="+mn-ea"/>
            </a:endParaRPr>
          </a:p>
          <a:p>
            <a:pPr algn="ctr"/>
            <a:r>
              <a:rPr kumimoji="1" lang="en-US" altLang="zh-C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End-to-End Multimodal Fusion-Based Shared Control System for Prosthetic Hands</a:t>
            </a:r>
            <a:endParaRPr kumimoji="1" lang="en-US" altLang="zh-CN" sz="7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endParaRPr kumimoji="1" lang="en-US" altLang="ja-JP" sz="7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0" y="1"/>
            <a:ext cx="2743199" cy="3238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806449" y="17003543"/>
            <a:ext cx="9437692" cy="6120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kumimoji="1" lang="en-US" altLang="zh-CN" sz="6600" dirty="0">
                <a:solidFill>
                  <a:schemeClr val="tx1"/>
                </a:solidFill>
              </a:rPr>
              <a:t>By using different sensors, the system detects the user’s intention, target object, and environment to assist the user in grasping tasks.</a:t>
            </a:r>
            <a:endParaRPr kumimoji="1" lang="en-US" altLang="zh-CN" sz="66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806449" y="23551336"/>
            <a:ext cx="9437691" cy="6329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kumimoji="1" lang="en-US" altLang="zh-CN" sz="6600" dirty="0">
                <a:solidFill>
                  <a:schemeClr val="tx1"/>
                </a:solidFill>
              </a:rPr>
              <a:t>I think that using this system can reduce the user’s cognitive load and improve the usability of the prosthetic hand.</a:t>
            </a:r>
            <a:endParaRPr kumimoji="1" lang="en-US" altLang="zh-CN" sz="6600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15600" y="3592496"/>
            <a:ext cx="20318125" cy="586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976311" y="3963625"/>
            <a:ext cx="19431001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aims to develop an end-to-end multimodal fusion-based shared-control prosthetic system to address two major limitations of current prosthetic hands: the lack of inter-movement adjustment and the high cognitive load imposed on users during operation.</a:t>
            </a:r>
            <a:endParaRPr kumimoji="1" lang="en-US" altLang="zh-C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グループ化 10"/>
          <p:cNvGrpSpPr/>
          <p:nvPr/>
        </p:nvGrpSpPr>
        <p:grpSpPr>
          <a:xfrm>
            <a:off x="515600" y="9857315"/>
            <a:ext cx="10080000" cy="6718446"/>
            <a:chOff x="515600" y="9857315"/>
            <a:chExt cx="10080000" cy="6718446"/>
          </a:xfrm>
        </p:grpSpPr>
        <p:sp>
          <p:nvSpPr>
            <p:cNvPr id="2" name="正方形/長方形 1"/>
            <p:cNvSpPr/>
            <p:nvPr/>
          </p:nvSpPr>
          <p:spPr>
            <a:xfrm>
              <a:off x="515600" y="9857315"/>
              <a:ext cx="10080000" cy="671844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ja-JP" altLang="en-US" sz="8000" dirty="0"/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806450" y="10208552"/>
              <a:ext cx="9437690" cy="59669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kumimoji="1" lang="en-US" altLang="zh-CN" sz="6600" dirty="0">
                  <a:solidFill>
                    <a:schemeClr val="bg1"/>
                  </a:solidFill>
                </a:rPr>
                <a:t>Objective:</a:t>
              </a:r>
              <a:endParaRPr kumimoji="1" lang="en-US" altLang="zh-CN" sz="66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en-US" altLang="zh-CN" sz="6600" dirty="0">
                  <a:solidFill>
                    <a:schemeClr val="bg1"/>
                  </a:solidFill>
                </a:rPr>
                <a:t>Addressing two major problems, </a:t>
              </a:r>
              <a:r>
                <a:rPr kumimoji="1" lang="en-US" altLang="zh-CN" sz="6600" dirty="0">
                  <a:solidFill>
                    <a:schemeClr val="bg1"/>
                  </a:solidFill>
                  <a:ea typeface="SimSun" panose="02010600030101010101" pitchFamily="2" charset="-122"/>
                </a:rPr>
                <a:t>the lack of adjustment between movements and the high cognitive load </a:t>
              </a:r>
              <a:endParaRPr kumimoji="1" lang="en-US" altLang="zh-CN" sz="6600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</p:grpSp>
      <p:sp>
        <p:nvSpPr>
          <p:cNvPr id="6" name="正方形/長方形 5"/>
          <p:cNvSpPr/>
          <p:nvPr/>
        </p:nvSpPr>
        <p:spPr>
          <a:xfrm>
            <a:off x="10886450" y="9886538"/>
            <a:ext cx="10080000" cy="66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10886450" y="16659648"/>
            <a:ext cx="10080000" cy="66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10886450" y="23432758"/>
            <a:ext cx="10080000" cy="66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图片 4" descr="屏幕截图 2026-05-09 2117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3795" y="16976090"/>
            <a:ext cx="9519920" cy="5932170"/>
          </a:xfrm>
          <a:prstGeom prst="rect">
            <a:avLst/>
          </a:prstGeom>
        </p:spPr>
      </p:pic>
      <p:pic>
        <p:nvPicPr>
          <p:cNvPr id="12" name="图片 11" descr="305fc8b3-e9ac-49f2-ab92-12d62ef046411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1715" y="10156190"/>
            <a:ext cx="9652000" cy="6120130"/>
          </a:xfrm>
          <a:prstGeom prst="rect">
            <a:avLst/>
          </a:prstGeom>
        </p:spPr>
      </p:pic>
      <p:pic>
        <p:nvPicPr>
          <p:cNvPr id="20" name="图片 19" descr="predic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9090" y="23703280"/>
            <a:ext cx="8314055" cy="619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ゼミ用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FF5254-6677-40D1-9AC5-708BD99A5F2F}">
  <ds:schemaRefs/>
</ds:datastoreItem>
</file>

<file path=customXml/itemProps2.xml><?xml version="1.0" encoding="utf-8"?>
<ds:datastoreItem xmlns:ds="http://schemas.openxmlformats.org/officeDocument/2006/customXml" ds:itemID="{421482C2-62AA-49D5-A8C6-3B11DBF976A6}">
  <ds:schemaRefs/>
</ds:datastoreItem>
</file>

<file path=customXml/itemProps3.xml><?xml version="1.0" encoding="utf-8"?>
<ds:datastoreItem xmlns:ds="http://schemas.openxmlformats.org/officeDocument/2006/customXml" ds:itemID="{1C53C47F-AB83-4180-8DC3-87326D39A06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WPS 演示</Application>
  <PresentationFormat>Custom</PresentationFormat>
  <Paragraphs>12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MS PGothic</vt:lpstr>
      <vt:lpstr>Times New Roman</vt:lpstr>
      <vt:lpstr>Microsoft YaHei</vt:lpstr>
      <vt:lpstr>Arial Unicode MS</vt:lpstr>
      <vt:lpstr>Yu Gothic</vt:lpstr>
      <vt:lpstr>DengXian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19704021</dc:creator>
  <cp:lastModifiedBy>down down down down down</cp:lastModifiedBy>
  <cp:revision>45</cp:revision>
  <dcterms:created xsi:type="dcterms:W3CDTF">2020-05-28T10:29:00Z</dcterms:created>
  <dcterms:modified xsi:type="dcterms:W3CDTF">2026-05-10T04:15:28Z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MediaServiceImageTags">
    <vt:lpwstr/>
  </property>
  <property fmtid="{D5CDD505-2E9C-101B-9397-08002B2CF9AE}" pid="4" name="KSOProductBuildVer">
    <vt:lpwstr>2052-12.1.0.25865</vt:lpwstr>
  </property>
  <property fmtid="{D5CDD505-2E9C-101B-9397-08002B2CF9AE}" pid="5" name="ICV">
    <vt:lpwstr>651529E9D1F14D08BF6ECD4FBFF21AD6_13</vt:lpwstr>
  </property>
</Properties>
</file>