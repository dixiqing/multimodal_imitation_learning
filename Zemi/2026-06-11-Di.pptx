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0" r:id="rId3"/>
    <p:sldId id="338" r:id="rId5"/>
    <p:sldId id="330" r:id="rId6"/>
    <p:sldId id="341" r:id="rId7"/>
    <p:sldId id="342" r:id="rId8"/>
    <p:sldId id="332" r:id="rId9"/>
    <p:sldId id="340" r:id="rId10"/>
    <p:sldId id="333" r:id="rId11"/>
    <p:sldId id="334" r:id="rId12"/>
    <p:sldId id="335" r:id="rId13"/>
    <p:sldId id="317" r:id="rId14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B8A6"/>
    <a:srgbClr val="FFD700"/>
    <a:srgbClr val="FFB66F"/>
    <a:srgbClr val="FFE1C3"/>
    <a:srgbClr val="FABA67"/>
    <a:srgbClr val="F59E0B"/>
    <a:srgbClr val="FCF302"/>
    <a:srgbClr val="FFD300"/>
    <a:srgbClr val="F9F4EE"/>
    <a:srgbClr val="F5E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ustomXml" Target="../customXml/item3.xml"/><Relationship Id="rId2" Type="http://schemas.openxmlformats.org/officeDocument/2006/relationships/theme" Target="theme/theme1.xml"/><Relationship Id="rId19" Type="http://schemas.openxmlformats.org/officeDocument/2006/relationships/customXml" Target="../customXml/item2.xml"/><Relationship Id="rId18" Type="http://schemas.openxmlformats.org/officeDocument/2006/relationships/customXml" Target="../customXml/item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F00E456-75B8-4C92-99E8-A0CAB60115A8}" type="slidenum">
              <a:rPr lang="ja-JP" altLang="en-US" smtClean="0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7" Type="http://schemas.openxmlformats.org/officeDocument/2006/relationships/notesSlide" Target="../notesSlides/notesSlide4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image" Target="../media/image11.png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image" Target="../media/image10.png"/><Relationship Id="rId2" Type="http://schemas.openxmlformats.org/officeDocument/2006/relationships/tags" Target="../tags/tag26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jpeg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image" Target="../media/image13.png"/><Relationship Id="rId3" Type="http://schemas.openxmlformats.org/officeDocument/2006/relationships/tags" Target="../tags/tag33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19.png"/><Relationship Id="rId2" Type="http://schemas.openxmlformats.org/officeDocument/2006/relationships/tags" Target="../tags/tag32.xml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jpeg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image" Target="../media/image15.jpeg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45.xml"/><Relationship Id="rId7" Type="http://schemas.openxmlformats.org/officeDocument/2006/relationships/image" Target="../media/image26.png"/><Relationship Id="rId6" Type="http://schemas.openxmlformats.org/officeDocument/2006/relationships/tags" Target="../tags/tag4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4530" y="1016635"/>
            <a:ext cx="7775575" cy="1522730"/>
          </a:xfrm>
        </p:spPr>
        <p:txBody>
          <a:bodyPr vert="horz" anchor="ctr" anchorCtr="1">
            <a:noAutofit/>
          </a:bodyPr>
          <a:lstStyle/>
          <a:p>
            <a:pPr algn="ctr"/>
            <a:r>
              <a:rPr kumimoji="1" lang="en-US" altLang="zh-CN" sz="3200" dirty="0">
                <a:cs typeface="+mj-lt"/>
              </a:rPr>
              <a:t>End-to-End Multimodal Learning for Continuous Prosthetic Hand Control</a:t>
            </a:r>
            <a:endParaRPr kumimoji="1" lang="en-US" altLang="zh-CN" sz="3200" dirty="0">
              <a:cs typeface="+mj-lt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84530" y="4070350"/>
            <a:ext cx="7775575" cy="1550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Saga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University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Graduate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School of Science and Engineering​</a:t>
            </a:r>
            <a:endParaRPr lang="en-US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 rtl="0" fontAlgn="base"/>
            <a:r>
              <a:rPr lang="en-US" altLang="zh-CN" sz="2000" dirty="0">
                <a:solidFill>
                  <a:srgbClr val="000000"/>
                </a:solidFill>
                <a:latin typeface="+mj-lt"/>
                <a:cs typeface="+mj-lt"/>
                <a:sym typeface="+mn-ea"/>
              </a:rPr>
              <a:t>Computer Science &amp; Information Techology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Course​</a:t>
            </a:r>
            <a:endParaRPr lang="en-US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 rtl="0" fontAlgn="base"/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Fukuda</a:t>
            </a:r>
            <a:r>
              <a:rPr lang="en-US" sz="20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Laboratory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　</a:t>
            </a:r>
            <a:r>
              <a:rPr lang="en-US" altLang="ja-JP" sz="2000" dirty="0">
                <a:solidFill>
                  <a:srgbClr val="000000"/>
                </a:solidFill>
                <a:effectLst/>
                <a:latin typeface="+mj-lt"/>
                <a:cs typeface="+mj-lt"/>
                <a:sym typeface="+mn-ea"/>
              </a:rPr>
              <a:t>25742102 DI XIQING</a:t>
            </a:r>
            <a:endParaRPr lang="en-US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 rtl="0" fontAlgn="base"/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Supervisor: </a:t>
            </a:r>
            <a:r>
              <a:rPr lang="en-US" alt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Professor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Osamu Fukuda</a:t>
            </a:r>
            <a:endParaRPr lang="ja-JP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ja-JP" sz="2000" dirty="0">
              <a:solidFill>
                <a:srgbClr val="000000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 rot="0">
            <a:off x="368935" y="3584575"/>
            <a:ext cx="3133090" cy="1705610"/>
            <a:chOff x="217" y="1346"/>
            <a:chExt cx="5557" cy="3794"/>
          </a:xfrm>
        </p:grpSpPr>
        <p:pic>
          <p:nvPicPr>
            <p:cNvPr id="11" name="图片 10" descr="microchip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592" y="2152"/>
              <a:ext cx="2183" cy="2183"/>
            </a:xfrm>
            <a:prstGeom prst="rect">
              <a:avLst/>
            </a:prstGeom>
          </p:spPr>
        </p:pic>
        <p:pic>
          <p:nvPicPr>
            <p:cNvPr id="13" name="图片 12" descr="15b54b71-e4a1-4e40-8e4a-e87d225c2b093231233213231333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" y="1346"/>
              <a:ext cx="3375" cy="3795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220980" y="226695"/>
            <a:ext cx="87179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Background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15" name="图片 14" descr="15b54b71-e4a1-4e40-8e4a-e87d225c2b09323123321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" y="5209540"/>
            <a:ext cx="2853055" cy="12801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0980" y="1521460"/>
            <a:ext cx="3462020" cy="762000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ja-JP" sz="2400">
                <a:solidFill>
                  <a:srgbClr val="FF0000"/>
                </a:solidFill>
              </a:rPr>
              <a:t>57.7 million</a:t>
            </a:r>
            <a:r>
              <a:rPr lang="en-US" altLang="ja-JP" sz="1600"/>
              <a:t>  </a:t>
            </a:r>
            <a:r>
              <a:rPr lang="en-US" altLang="ja-JP"/>
              <a:t>people in world</a:t>
            </a:r>
            <a:endParaRPr lang="en-US" altLang="ja-JP"/>
          </a:p>
          <a:p>
            <a:pPr algn="ctr"/>
            <a:r>
              <a:rPr lang="en-US" altLang="ja-JP"/>
              <a:t>who had lost an upper limb</a:t>
            </a:r>
            <a:r>
              <a:rPr lang="en-US" altLang="ja-JP" sz="1600"/>
              <a:t> [1]</a:t>
            </a:r>
            <a:endParaRPr lang="en-US" altLang="ja-JP" sz="1600"/>
          </a:p>
          <a:p>
            <a:pPr algn="ctr"/>
            <a:endParaRPr lang="en-US" altLang="zh-CN" sz="1600"/>
          </a:p>
        </p:txBody>
      </p:sp>
      <p:pic>
        <p:nvPicPr>
          <p:cNvPr id="3" name="图片 2" descr="unnamed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130" y="922020"/>
            <a:ext cx="4923790" cy="1918970"/>
          </a:xfrm>
          <a:prstGeom prst="rect">
            <a:avLst/>
          </a:prstGeom>
        </p:spPr>
      </p:pic>
      <p:pic>
        <p:nvPicPr>
          <p:cNvPr id="34" name="图片 33" descr="12916ba5-8dba-4f77-a3e2-01ea3b57ab821233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350" y="3853815"/>
            <a:ext cx="2457450" cy="26358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8935" y="3112135"/>
            <a:ext cx="87191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ja-JP">
                <a:sym typeface="+mn-ea"/>
              </a:rPr>
              <a:t>Computational power and algorithms continue to advance, the prosthetic hand are able to recognize an increasing number of movements [2]</a:t>
            </a:r>
            <a:endParaRPr lang="en-US" altLang="ja-JP"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363720" y="4107180"/>
            <a:ext cx="1193800" cy="1993265"/>
            <a:chOff x="6872" y="6468"/>
            <a:chExt cx="1880" cy="3139"/>
          </a:xfrm>
        </p:grpSpPr>
        <p:pic>
          <p:nvPicPr>
            <p:cNvPr id="5" name="图片 4" descr="arrows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72" y="6468"/>
              <a:ext cx="1880" cy="1880"/>
            </a:xfrm>
            <a:prstGeom prst="rect">
              <a:avLst/>
            </a:prstGeom>
          </p:spPr>
        </p:pic>
        <p:pic>
          <p:nvPicPr>
            <p:cNvPr id="8" name="图片 7" descr="arrows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72" y="7761"/>
              <a:ext cx="1847" cy="184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615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Related</a:t>
            </a:r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 Research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220980" y="4066540"/>
            <a:ext cx="8651875" cy="50165"/>
          </a:xfrm>
          <a:prstGeom prst="line">
            <a:avLst/>
          </a:prstGeom>
          <a:ln w="6350" cmpd="sng"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615305" y="1383665"/>
            <a:ext cx="3528695" cy="203009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>
                <a:sym typeface="+mn-ea"/>
              </a:rPr>
              <a:t>V</a:t>
            </a:r>
            <a:r>
              <a:rPr lang="en-US" altLang="en-US">
                <a:sym typeface="+mn-ea"/>
              </a:rPr>
              <a:t>á</a:t>
            </a:r>
            <a:r>
              <a:rPr lang="en-US" altLang="zh-CN">
                <a:sym typeface="+mn-ea"/>
              </a:rPr>
              <a:t>sconez</a:t>
            </a:r>
            <a:r>
              <a:rPr lang="en-US" altLang="zh-CN">
                <a:latin typeface="+mj-lt"/>
                <a:cs typeface="+mj-lt"/>
              </a:rPr>
              <a:t> et al. proposed</a:t>
            </a:r>
            <a:endParaRPr lang="ja-JP" altLang="en-US">
              <a:latin typeface="+mj-lt"/>
              <a:cs typeface="+mj-lt"/>
            </a:endParaRPr>
          </a:p>
          <a:p>
            <a:pPr algn="ctr"/>
            <a:endParaRPr lang="ja-JP" altLang="en-US">
              <a:latin typeface="+mj-lt"/>
              <a:cs typeface="+mj-lt"/>
            </a:endParaRPr>
          </a:p>
          <a:p>
            <a:pPr algn="ctr"/>
            <a:r>
              <a:rPr lang="en-US" altLang="zh-CN">
                <a:latin typeface="+mj-lt"/>
                <a:cs typeface="+mj-lt"/>
              </a:rPr>
              <a:t>EMG + </a:t>
            </a:r>
            <a:r>
              <a:rPr lang="en-US" altLang="ja-JP">
                <a:latin typeface="+mj-lt"/>
                <a:cs typeface="+mj-lt"/>
                <a:sym typeface="+mn-ea"/>
              </a:rPr>
              <a:t>IMU</a:t>
            </a:r>
            <a:endParaRPr lang="en-US" altLang="ja-JP">
              <a:latin typeface="+mj-lt"/>
              <a:cs typeface="+mj-lt"/>
              <a:sym typeface="+mn-ea"/>
            </a:endParaRPr>
          </a:p>
          <a:p>
            <a:pPr algn="ctr"/>
            <a:r>
              <a:rPr lang="en-US" altLang="zh-CN">
                <a:latin typeface="+mj-lt"/>
                <a:cs typeface="+mj-lt"/>
              </a:rPr>
              <a:t>Deep reinforcement learning model</a:t>
            </a:r>
            <a:endParaRPr lang="en-US" altLang="zh-CN">
              <a:latin typeface="+mj-lt"/>
              <a:cs typeface="+mj-lt"/>
            </a:endParaRPr>
          </a:p>
          <a:p>
            <a:pPr algn="ctr"/>
            <a:endParaRPr lang="ja-JP" altLang="en-US">
              <a:latin typeface="+mj-lt"/>
              <a:cs typeface="+mj-lt"/>
            </a:endParaRPr>
          </a:p>
          <a:p>
            <a:pPr algn="ctr"/>
            <a:r>
              <a:rPr lang="en-US" altLang="zh-CN">
                <a:latin typeface="+mj-lt"/>
                <a:cs typeface="+mj-lt"/>
                <a:sym typeface="+mn-ea"/>
              </a:rPr>
              <a:t>11 movements</a:t>
            </a:r>
            <a:endParaRPr lang="en-US" altLang="zh-CN">
              <a:latin typeface="+mj-lt"/>
              <a:cs typeface="+mj-lt"/>
              <a:sym typeface="+mn-ea"/>
            </a:endParaRPr>
          </a:p>
          <a:p>
            <a:pPr algn="ctr"/>
            <a:r>
              <a:rPr lang="en-US" altLang="zh-CN">
                <a:latin typeface="+mj-lt"/>
                <a:cs typeface="+mj-lt"/>
                <a:sym typeface="+mn-ea"/>
              </a:rPr>
              <a:t>accuracy: 97% [3]</a:t>
            </a:r>
            <a:endParaRPr lang="en-US" altLang="zh-CN">
              <a:latin typeface="+mj-lt"/>
              <a:cs typeface="+mj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0980" y="4420870"/>
            <a:ext cx="8651875" cy="2114550"/>
            <a:chOff x="348" y="1532"/>
            <a:chExt cx="13625" cy="3330"/>
          </a:xfrm>
        </p:grpSpPr>
        <p:sp>
          <p:nvSpPr>
            <p:cNvPr id="3" name="文本框 2"/>
            <p:cNvSpPr txBox="1"/>
            <p:nvPr/>
          </p:nvSpPr>
          <p:spPr>
            <a:xfrm>
              <a:off x="348" y="1690"/>
              <a:ext cx="5341" cy="3013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ctr"/>
              <a:r>
                <a:rPr lang="en-US" altLang="zh-CN">
                  <a:sym typeface="+mn-ea"/>
                </a:rPr>
                <a:t>Zandigohar</a:t>
              </a:r>
              <a:r>
                <a:rPr lang="en-US" altLang="zh-CN"/>
                <a:t> et al. proposed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r>
                <a:rPr lang="en-US" altLang="zh-CN">
                  <a:sym typeface="+mn-ea"/>
                </a:rPr>
                <a:t>EMG + </a:t>
              </a:r>
              <a:r>
                <a:rPr lang="en-US" altLang="zh-CN"/>
                <a:t>Eyes Tracking</a:t>
              </a:r>
              <a:endParaRPr lang="en-US" altLang="zh-CN"/>
            </a:p>
            <a:p>
              <a:pPr algn="ctr"/>
              <a:r>
                <a:rPr lang="en-US" altLang="zh-CN"/>
                <a:t>Extra-Trees and YOLOv4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r>
                <a:rPr lang="en-US" altLang="zh-CN"/>
                <a:t>14 movements</a:t>
              </a:r>
              <a:endParaRPr lang="en-US" altLang="zh-CN"/>
            </a:p>
            <a:p>
              <a:pPr algn="ctr"/>
              <a:r>
                <a:rPr lang="en-US" altLang="zh-CN"/>
                <a:t>accuracy: 93% [4]</a:t>
              </a:r>
              <a:endParaRPr lang="en-US" altLang="zh-CN"/>
            </a:p>
          </p:txBody>
        </p:sp>
        <p:pic>
          <p:nvPicPr>
            <p:cNvPr id="5" name="图片 4" descr="QQ20260505-11062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153" y="1532"/>
              <a:ext cx="7820" cy="3330"/>
            </a:xfrm>
            <a:prstGeom prst="rect">
              <a:avLst/>
            </a:prstGeom>
          </p:spPr>
        </p:pic>
      </p:grpSp>
      <p:pic>
        <p:nvPicPr>
          <p:cNvPr id="10" name="图片 9" descr="QQ20260505-1207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" y="828675"/>
            <a:ext cx="5485765" cy="3029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760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 dirty="0">
                <a:sym typeface="+mn-ea"/>
              </a:rPr>
              <a:t>Research </a:t>
            </a:r>
            <a:r>
              <a:rPr lang="en-US" altLang="zh-CN" sz="3200" b="1" dirty="0"/>
              <a:t>Gap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220980" y="1068070"/>
            <a:ext cx="8717280" cy="920750"/>
            <a:chOff x="348" y="5132"/>
            <a:chExt cx="13728" cy="1450"/>
          </a:xfrm>
        </p:grpSpPr>
        <p:sp>
          <p:nvSpPr>
            <p:cNvPr id="47" name="Shape 37"/>
            <p:cNvSpPr/>
            <p:nvPr/>
          </p:nvSpPr>
          <p:spPr>
            <a:xfrm>
              <a:off x="348" y="5132"/>
              <a:ext cx="13729" cy="1451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8" name="Text 38"/>
            <p:cNvSpPr/>
            <p:nvPr/>
          </p:nvSpPr>
          <p:spPr>
            <a:xfrm>
              <a:off x="2209" y="5134"/>
              <a:ext cx="10429" cy="144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sym typeface="+mn-ea"/>
                </a:rPr>
                <a:t>But the rejection rate of prosthetic hands is as high as 44% [5].</a:t>
              </a:r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54" name="组合 53"/>
          <p:cNvGrpSpPr/>
          <p:nvPr>
            <p:custDataLst>
              <p:tags r:id="rId1"/>
            </p:custDataLst>
          </p:nvPr>
        </p:nvGrpSpPr>
        <p:grpSpPr>
          <a:xfrm>
            <a:off x="426085" y="2576195"/>
            <a:ext cx="8717915" cy="715010"/>
            <a:chOff x="15576" y="4203"/>
            <a:chExt cx="13729" cy="1126"/>
          </a:xfrm>
        </p:grpSpPr>
        <p:grpSp>
          <p:nvGrpSpPr>
            <p:cNvPr id="53" name="组合 52"/>
            <p:cNvGrpSpPr/>
            <p:nvPr>
              <p:custDataLst>
                <p:tags r:id="rId2"/>
              </p:custDataLst>
            </p:nvPr>
          </p:nvGrpSpPr>
          <p:grpSpPr>
            <a:xfrm>
              <a:off x="16563" y="4203"/>
              <a:ext cx="12742" cy="1126"/>
              <a:chOff x="1943" y="3623"/>
              <a:chExt cx="12742" cy="1126"/>
            </a:xfrm>
          </p:grpSpPr>
          <p:sp>
            <p:nvSpPr>
              <p:cNvPr id="8" name="文本框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943" y="4169"/>
                <a:ext cx="12742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>
                    <a:sym typeface="+mn-ea"/>
                  </a:rPr>
                  <a:t>Transitions and adjustments between movements were not considered.</a:t>
                </a:r>
                <a:endParaRPr lang="en-US" altLang="zh-CN">
                  <a:sym typeface="+mn-ea"/>
                </a:endParaRPr>
              </a:p>
            </p:txBody>
          </p:sp>
          <p:grpSp>
            <p:nvGrpSpPr>
              <p:cNvPr id="46" name="组合 45"/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1943" y="3623"/>
                <a:ext cx="7200" cy="580"/>
                <a:chOff x="1943" y="3623"/>
                <a:chExt cx="7200" cy="580"/>
              </a:xfrm>
            </p:grpSpPr>
            <p:sp>
              <p:nvSpPr>
                <p:cNvPr id="7" name="文本框 6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1943" y="3623"/>
                  <a:ext cx="7200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marL="0" indent="0" algn="l">
                    <a:buNone/>
                  </a:pPr>
                  <a:r>
                    <a:rPr lang="en-US" altLang="zh-CN" b="1" dirty="0">
                      <a:sym typeface="+mn-ea"/>
                    </a:rPr>
                    <a:t>Movement Transition</a:t>
                  </a:r>
                  <a:endParaRPr lang="en-US" altLang="zh-CN" b="1" dirty="0">
                    <a:sym typeface="+mn-ea"/>
                  </a:endParaRPr>
                </a:p>
              </p:txBody>
            </p:sp>
            <p:cxnSp>
              <p:nvCxnSpPr>
                <p:cNvPr id="33" name="直接连接符 32"/>
                <p:cNvCxnSpPr/>
                <p:nvPr>
                  <p:custDataLst>
                    <p:tags r:id="rId6"/>
                  </p:custDataLst>
                </p:nvPr>
              </p:nvCxnSpPr>
              <p:spPr>
                <a:xfrm>
                  <a:off x="2073" y="4115"/>
                  <a:ext cx="3685" cy="0"/>
                </a:xfrm>
                <a:prstGeom prst="line">
                  <a:avLst/>
                </a:prstGeom>
                <a:ln>
                  <a:gradFill>
                    <a:gsLst>
                      <a:gs pos="100000">
                        <a:srgbClr val="F59E0B"/>
                      </a:gs>
                      <a:gs pos="0">
                        <a:srgbClr val="FFB66F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9" name="组合 38"/>
            <p:cNvGrpSpPr>
              <a:grpSpLocks noChangeAspect="1"/>
            </p:cNvGrpSpPr>
            <p:nvPr/>
          </p:nvGrpSpPr>
          <p:grpSpPr>
            <a:xfrm>
              <a:off x="15576" y="4310"/>
              <a:ext cx="927" cy="927"/>
              <a:chOff x="4973" y="4190"/>
              <a:chExt cx="1700" cy="1700"/>
            </a:xfrm>
          </p:grpSpPr>
          <p:sp>
            <p:nvSpPr>
              <p:cNvPr id="35" name="椭圆 34"/>
              <p:cNvSpPr>
                <a:spLocks noChangeAspec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4973" y="4190"/>
                <a:ext cx="1701" cy="1701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36" name="图片 35" descr="danger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>
                <a:off x="5344" y="4515"/>
                <a:ext cx="959" cy="959"/>
              </a:xfrm>
              <a:prstGeom prst="rect">
                <a:avLst/>
              </a:prstGeom>
            </p:spPr>
          </p:pic>
        </p:grpSp>
      </p:grpSp>
      <p:grpSp>
        <p:nvGrpSpPr>
          <p:cNvPr id="55" name="组合 54"/>
          <p:cNvGrpSpPr/>
          <p:nvPr>
            <p:custDataLst>
              <p:tags r:id="rId10"/>
            </p:custDataLst>
          </p:nvPr>
        </p:nvGrpSpPr>
        <p:grpSpPr>
          <a:xfrm>
            <a:off x="426085" y="3709670"/>
            <a:ext cx="8717915" cy="715010"/>
            <a:chOff x="15576" y="4203"/>
            <a:chExt cx="13729" cy="1126"/>
          </a:xfrm>
        </p:grpSpPr>
        <p:grpSp>
          <p:nvGrpSpPr>
            <p:cNvPr id="56" name="组合 55"/>
            <p:cNvGrpSpPr/>
            <p:nvPr>
              <p:custDataLst>
                <p:tags r:id="rId11"/>
              </p:custDataLst>
            </p:nvPr>
          </p:nvGrpSpPr>
          <p:grpSpPr>
            <a:xfrm>
              <a:off x="16563" y="4203"/>
              <a:ext cx="12742" cy="1126"/>
              <a:chOff x="1943" y="3623"/>
              <a:chExt cx="12742" cy="1126"/>
            </a:xfrm>
          </p:grpSpPr>
          <p:sp>
            <p:nvSpPr>
              <p:cNvPr id="57" name="文本框 56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943" y="4169"/>
                <a:ext cx="12742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>
                    <a:sym typeface="+mn-ea"/>
                  </a:rPr>
                  <a:t>Users need to maintain a high level of concentration to achieve control.</a:t>
                </a:r>
                <a:endParaRPr lang="en-US" altLang="zh-CN">
                  <a:sym typeface="+mn-ea"/>
                </a:endParaRPr>
              </a:p>
            </p:txBody>
          </p:sp>
          <p:grpSp>
            <p:nvGrpSpPr>
              <p:cNvPr id="58" name="组合 57"/>
              <p:cNvGrpSpPr/>
              <p:nvPr>
                <p:custDataLst>
                  <p:tags r:id="rId13"/>
                </p:custDataLst>
              </p:nvPr>
            </p:nvGrpSpPr>
            <p:grpSpPr>
              <a:xfrm>
                <a:off x="1943" y="3623"/>
                <a:ext cx="7200" cy="580"/>
                <a:chOff x="1943" y="3623"/>
                <a:chExt cx="7200" cy="580"/>
              </a:xfrm>
            </p:grpSpPr>
            <p:sp>
              <p:nvSpPr>
                <p:cNvPr id="59" name="文本框 58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1943" y="3623"/>
                  <a:ext cx="7200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marL="0" indent="0" algn="l">
                    <a:buNone/>
                  </a:pPr>
                  <a:r>
                    <a:rPr lang="en-US" altLang="zh-CN" b="1" dirty="0">
                      <a:sym typeface="+mn-ea"/>
                    </a:rPr>
                    <a:t>Cognitive Load</a:t>
                  </a:r>
                  <a:endParaRPr lang="en-US" altLang="zh-CN" b="1" dirty="0">
                    <a:sym typeface="+mn-ea"/>
                  </a:endParaRPr>
                </a:p>
              </p:txBody>
            </p:sp>
            <p:cxnSp>
              <p:nvCxnSpPr>
                <p:cNvPr id="60" name="直接连接符 59"/>
                <p:cNvCxnSpPr/>
                <p:nvPr>
                  <p:custDataLst>
                    <p:tags r:id="rId15"/>
                  </p:custDataLst>
                </p:nvPr>
              </p:nvCxnSpPr>
              <p:spPr>
                <a:xfrm>
                  <a:off x="2073" y="4115"/>
                  <a:ext cx="3685" cy="0"/>
                </a:xfrm>
                <a:prstGeom prst="line">
                  <a:avLst/>
                </a:prstGeom>
                <a:ln>
                  <a:gradFill>
                    <a:gsLst>
                      <a:gs pos="100000">
                        <a:srgbClr val="F59E0B"/>
                      </a:gs>
                      <a:gs pos="0">
                        <a:srgbClr val="FFB66F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1" name="组合 60"/>
            <p:cNvGrpSpPr>
              <a:grpSpLocks noChangeAspect="1"/>
            </p:cNvGrpSpPr>
            <p:nvPr/>
          </p:nvGrpSpPr>
          <p:grpSpPr>
            <a:xfrm>
              <a:off x="15576" y="4310"/>
              <a:ext cx="927" cy="927"/>
              <a:chOff x="4973" y="4190"/>
              <a:chExt cx="1700" cy="1700"/>
            </a:xfrm>
          </p:grpSpPr>
          <p:sp>
            <p:nvSpPr>
              <p:cNvPr id="62" name="椭圆 61"/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4973" y="4190"/>
                <a:ext cx="1701" cy="1701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63" name="图片 62" descr="danger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>
                <a:off x="5344" y="4515"/>
                <a:ext cx="959" cy="959"/>
              </a:xfrm>
              <a:prstGeom prst="rect">
                <a:avLst/>
              </a:prstGeom>
            </p:spPr>
          </p:pic>
        </p:grpSp>
      </p:grpSp>
      <p:grpSp>
        <p:nvGrpSpPr>
          <p:cNvPr id="64" name="组合 63"/>
          <p:cNvGrpSpPr/>
          <p:nvPr>
            <p:custDataLst>
              <p:tags r:id="rId18"/>
            </p:custDataLst>
          </p:nvPr>
        </p:nvGrpSpPr>
        <p:grpSpPr>
          <a:xfrm>
            <a:off x="426085" y="4843145"/>
            <a:ext cx="8717915" cy="991870"/>
            <a:chOff x="15576" y="4203"/>
            <a:chExt cx="13729" cy="1562"/>
          </a:xfrm>
        </p:grpSpPr>
        <p:grpSp>
          <p:nvGrpSpPr>
            <p:cNvPr id="65" name="组合 64"/>
            <p:cNvGrpSpPr/>
            <p:nvPr>
              <p:custDataLst>
                <p:tags r:id="rId19"/>
              </p:custDataLst>
            </p:nvPr>
          </p:nvGrpSpPr>
          <p:grpSpPr>
            <a:xfrm>
              <a:off x="16563" y="4203"/>
              <a:ext cx="12742" cy="1562"/>
              <a:chOff x="1943" y="3623"/>
              <a:chExt cx="12742" cy="1562"/>
            </a:xfrm>
          </p:grpSpPr>
          <p:sp>
            <p:nvSpPr>
              <p:cNvPr id="66" name="文本框 65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943" y="4169"/>
                <a:ext cx="12742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>
                    <a:sym typeface="+mn-ea"/>
                  </a:rPr>
                  <a:t>Modular Pipeline increases system complexity but also may lead to the loss of important information.</a:t>
                </a:r>
                <a:endParaRPr lang="en-US" altLang="zh-CN">
                  <a:sym typeface="+mn-ea"/>
                </a:endParaRPr>
              </a:p>
            </p:txBody>
          </p:sp>
          <p:grpSp>
            <p:nvGrpSpPr>
              <p:cNvPr id="67" name="组合 66"/>
              <p:cNvGrpSpPr/>
              <p:nvPr>
                <p:custDataLst>
                  <p:tags r:id="rId21"/>
                </p:custDataLst>
              </p:nvPr>
            </p:nvGrpSpPr>
            <p:grpSpPr>
              <a:xfrm>
                <a:off x="1943" y="3623"/>
                <a:ext cx="7200" cy="628"/>
                <a:chOff x="1943" y="3623"/>
                <a:chExt cx="7200" cy="628"/>
              </a:xfrm>
            </p:grpSpPr>
            <p:sp>
              <p:nvSpPr>
                <p:cNvPr id="68" name="文本框 67"/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1943" y="3623"/>
                  <a:ext cx="7200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marL="0" indent="0" algn="l">
                    <a:buNone/>
                  </a:pPr>
                  <a:r>
                    <a:rPr lang="en-US" altLang="zh-CN" b="1" dirty="0">
                      <a:sym typeface="+mn-ea"/>
                    </a:rPr>
                    <a:t>Modular Pipeline</a:t>
                  </a:r>
                  <a:endParaRPr lang="en-US" altLang="zh-CN" b="1" dirty="0">
                    <a:sym typeface="+mn-ea"/>
                  </a:endParaRPr>
                </a:p>
              </p:txBody>
            </p:sp>
            <p:cxnSp>
              <p:nvCxnSpPr>
                <p:cNvPr id="69" name="直接连接符 68"/>
                <p:cNvCxnSpPr/>
                <p:nvPr>
                  <p:custDataLst>
                    <p:tags r:id="rId23"/>
                  </p:custDataLst>
                </p:nvPr>
              </p:nvCxnSpPr>
              <p:spPr>
                <a:xfrm>
                  <a:off x="2073" y="4115"/>
                  <a:ext cx="3685" cy="0"/>
                </a:xfrm>
                <a:prstGeom prst="line">
                  <a:avLst/>
                </a:prstGeom>
                <a:ln>
                  <a:gradFill>
                    <a:gsLst>
                      <a:gs pos="100000">
                        <a:srgbClr val="F59E0B"/>
                      </a:gs>
                      <a:gs pos="0">
                        <a:srgbClr val="FFB66F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0" name="组合 69"/>
            <p:cNvGrpSpPr>
              <a:grpSpLocks noChangeAspect="1"/>
            </p:cNvGrpSpPr>
            <p:nvPr/>
          </p:nvGrpSpPr>
          <p:grpSpPr>
            <a:xfrm>
              <a:off x="15576" y="4310"/>
              <a:ext cx="927" cy="927"/>
              <a:chOff x="4973" y="4190"/>
              <a:chExt cx="1700" cy="1700"/>
            </a:xfrm>
          </p:grpSpPr>
          <p:sp>
            <p:nvSpPr>
              <p:cNvPr id="71" name="椭圆 70"/>
              <p:cNvSpPr>
                <a:spLocks noChangeAspec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4973" y="4190"/>
                <a:ext cx="1701" cy="1701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72" name="图片 71" descr="danger"/>
              <p:cNvPicPr>
                <a:picLocks noChangeAspect="1"/>
              </p:cNvPicPr>
              <p:nvPr>
                <p:custDataLst>
                  <p:tags r:id="rId25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>
                <a:off x="5344" y="4515"/>
                <a:ext cx="959" cy="959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/>
              <a:t>Our proposal</a:t>
            </a:r>
            <a:endParaRPr lang="en-US" altLang="zh-CN" sz="3200" b="1" dirty="0"/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9" name="Shape 25"/>
          <p:cNvSpPr/>
          <p:nvPr>
            <p:custDataLst>
              <p:tags r:id="rId1"/>
            </p:custDataLst>
          </p:nvPr>
        </p:nvSpPr>
        <p:spPr>
          <a:xfrm>
            <a:off x="2247900" y="952500"/>
            <a:ext cx="6556375" cy="1710690"/>
          </a:xfrm>
          <a:prstGeom prst="rect">
            <a:avLst/>
          </a:prstGeom>
          <a:solidFill>
            <a:schemeClr val="tx1"/>
          </a:solidFill>
          <a:ln w="19050">
            <a:solidFill>
              <a:srgbClr val="FFD700"/>
            </a:solidFill>
            <a:prstDash val="solid"/>
          </a:ln>
        </p:spPr>
        <p:txBody>
          <a:bodyPr/>
          <a:p>
            <a:r>
              <a:rPr lang="en-US" altLang="zh-CN">
                <a:solidFill>
                  <a:srgbClr val="FFD700"/>
                </a:solidFill>
                <a:sym typeface="+mn-ea"/>
              </a:rPr>
              <a:t>End-to-end training eliminates the need for manual feature extraction or hand-designed intermediate modules, directly mapping raw input signals to output results, enabling joint optimization of the entire system.</a:t>
            </a:r>
            <a:endParaRPr lang="en-US" altLang="zh-CN">
              <a:solidFill>
                <a:srgbClr val="FFD700"/>
              </a:solidFill>
            </a:endParaRPr>
          </a:p>
          <a:p>
            <a:endParaRPr lang="en-US" altLang="zh-CN">
              <a:solidFill>
                <a:srgbClr val="FFD700"/>
              </a:solidFill>
            </a:endParaRPr>
          </a:p>
        </p:txBody>
      </p:sp>
      <p:sp>
        <p:nvSpPr>
          <p:cNvPr id="17" name="Shape 26"/>
          <p:cNvSpPr/>
          <p:nvPr>
            <p:custDataLst>
              <p:tags r:id="rId2"/>
            </p:custDataLst>
          </p:nvPr>
        </p:nvSpPr>
        <p:spPr>
          <a:xfrm>
            <a:off x="329565" y="953135"/>
            <a:ext cx="1919605" cy="1710055"/>
          </a:xfrm>
          <a:prstGeom prst="rect">
            <a:avLst/>
          </a:prstGeom>
          <a:solidFill>
            <a:schemeClr val="tx1"/>
          </a:solidFill>
          <a:ln w="19050">
            <a:solidFill>
              <a:srgbClr val="FFD700"/>
            </a:solidFill>
            <a:prstDash val="solid"/>
          </a:ln>
        </p:spPr>
        <p:txBody>
          <a:bodyPr vert="horz" bIns="71755" anchor="b" anchorCtr="0"/>
          <a:p>
            <a:pPr algn="ctr"/>
            <a:endParaRPr lang="en-US" altLang="zh-CN" b="1">
              <a:solidFill>
                <a:srgbClr val="FFD700"/>
              </a:solidFill>
              <a:sym typeface="+mn-ea"/>
            </a:endParaRPr>
          </a:p>
          <a:p>
            <a:pPr algn="ctr"/>
            <a:endParaRPr lang="en-US" altLang="zh-CN" b="1">
              <a:solidFill>
                <a:srgbClr val="FFD700"/>
              </a:solidFill>
              <a:sym typeface="+mn-ea"/>
            </a:endParaRPr>
          </a:p>
          <a:p>
            <a:pPr algn="ctr"/>
            <a:r>
              <a:rPr lang="en-US" altLang="zh-CN" b="1">
                <a:solidFill>
                  <a:srgbClr val="FFD700"/>
                </a:solidFill>
                <a:sym typeface="+mn-ea"/>
              </a:rPr>
              <a:t>End-to-End</a:t>
            </a:r>
            <a:endParaRPr lang="en-US" altLang="zh-CN" b="1" dirty="0">
              <a:solidFill>
                <a:srgbClr val="FFD700"/>
              </a:solidFill>
            </a:endParaRPr>
          </a:p>
        </p:txBody>
      </p:sp>
      <p:pic>
        <p:nvPicPr>
          <p:cNvPr id="26" name="图片 25" descr="屏幕截图 2026-06-02 1359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85" y="1024255"/>
            <a:ext cx="1320800" cy="1187450"/>
          </a:xfrm>
          <a:prstGeom prst="rect">
            <a:avLst/>
          </a:prstGeom>
        </p:spPr>
      </p:pic>
      <p:sp>
        <p:nvSpPr>
          <p:cNvPr id="2" name="Shape 25"/>
          <p:cNvSpPr/>
          <p:nvPr>
            <p:custDataLst>
              <p:tags r:id="rId4"/>
            </p:custDataLst>
          </p:nvPr>
        </p:nvSpPr>
        <p:spPr>
          <a:xfrm>
            <a:off x="2249170" y="2957830"/>
            <a:ext cx="6554470" cy="1710690"/>
          </a:xfrm>
          <a:prstGeom prst="rect">
            <a:avLst/>
          </a:prstGeom>
          <a:solidFill>
            <a:schemeClr val="tx1"/>
          </a:solidFill>
          <a:ln w="19050">
            <a:solidFill>
              <a:srgbClr val="FFD700"/>
            </a:solidFill>
            <a:prstDash val="solid"/>
          </a:ln>
        </p:spPr>
        <p:txBody>
          <a:bodyPr/>
          <a:p>
            <a:r>
              <a:rPr lang="en-US" altLang="zh-CN">
                <a:solidFill>
                  <a:srgbClr val="FFD700"/>
                </a:solidFill>
                <a:sym typeface="+mn-ea"/>
              </a:rPr>
              <a:t>Replace the classification model with a regression model to enable real-time dynamic adjustment.</a:t>
            </a:r>
            <a:endParaRPr lang="en-US" altLang="zh-CN">
              <a:solidFill>
                <a:srgbClr val="FFD700"/>
              </a:solidFill>
            </a:endParaRPr>
          </a:p>
        </p:txBody>
      </p:sp>
      <p:sp>
        <p:nvSpPr>
          <p:cNvPr id="3" name="Shape 26"/>
          <p:cNvSpPr/>
          <p:nvPr>
            <p:custDataLst>
              <p:tags r:id="rId5"/>
            </p:custDataLst>
          </p:nvPr>
        </p:nvSpPr>
        <p:spPr>
          <a:xfrm>
            <a:off x="329565" y="2957830"/>
            <a:ext cx="1919605" cy="1710055"/>
          </a:xfrm>
          <a:prstGeom prst="rect">
            <a:avLst/>
          </a:prstGeom>
          <a:solidFill>
            <a:schemeClr val="tx1"/>
          </a:solidFill>
          <a:ln w="19050">
            <a:solidFill>
              <a:srgbClr val="FFD700"/>
            </a:solidFill>
            <a:prstDash val="solid"/>
          </a:ln>
        </p:spPr>
        <p:txBody>
          <a:bodyPr vert="horz" bIns="71755" anchor="b" anchorCtr="0"/>
          <a:p>
            <a:pPr algn="ctr"/>
            <a:endParaRPr lang="en-US" altLang="zh-CN" b="1">
              <a:solidFill>
                <a:srgbClr val="FFD700"/>
              </a:solidFill>
              <a:sym typeface="+mn-ea"/>
            </a:endParaRPr>
          </a:p>
          <a:p>
            <a:pPr algn="ctr"/>
            <a:r>
              <a:rPr lang="en-US" altLang="zh-CN" b="1">
                <a:solidFill>
                  <a:srgbClr val="FFD700"/>
                </a:solidFill>
                <a:sym typeface="+mn-ea"/>
              </a:rPr>
              <a:t>Regression</a:t>
            </a:r>
            <a:endParaRPr lang="en-US" altLang="zh-CN" b="1">
              <a:solidFill>
                <a:srgbClr val="FFD700"/>
              </a:solidFill>
            </a:endParaRPr>
          </a:p>
        </p:txBody>
      </p:sp>
      <p:pic>
        <p:nvPicPr>
          <p:cNvPr id="5" name="图片 4" descr="屏幕截图 2026-06-03 1642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85" y="3041650"/>
            <a:ext cx="1320800" cy="1257300"/>
          </a:xfrm>
          <a:prstGeom prst="rect">
            <a:avLst/>
          </a:prstGeom>
        </p:spPr>
      </p:pic>
      <p:sp>
        <p:nvSpPr>
          <p:cNvPr id="7" name="Shape 25"/>
          <p:cNvSpPr/>
          <p:nvPr>
            <p:custDataLst>
              <p:tags r:id="rId7"/>
            </p:custDataLst>
          </p:nvPr>
        </p:nvSpPr>
        <p:spPr>
          <a:xfrm>
            <a:off x="2249170" y="4944110"/>
            <a:ext cx="6554470" cy="1710690"/>
          </a:xfrm>
          <a:prstGeom prst="rect">
            <a:avLst/>
          </a:prstGeom>
          <a:solidFill>
            <a:schemeClr val="tx1"/>
          </a:solidFill>
          <a:ln w="19050">
            <a:solidFill>
              <a:srgbClr val="FFD700"/>
            </a:solidFill>
            <a:prstDash val="solid"/>
          </a:ln>
        </p:spPr>
        <p:txBody>
          <a:bodyPr/>
          <a:p>
            <a:r>
              <a:rPr lang="en-US" altLang="zh-CN">
                <a:solidFill>
                  <a:srgbClr val="FFD700"/>
                </a:solidFill>
                <a:sym typeface="+mn-ea"/>
              </a:rPr>
              <a:t>Shared control delegates fine movement control to the system, reducing user cognitive load.</a:t>
            </a:r>
            <a:endParaRPr lang="en-US" altLang="zh-CN">
              <a:solidFill>
                <a:srgbClr val="FFD700"/>
              </a:solidFill>
            </a:endParaRPr>
          </a:p>
          <a:p>
            <a:endParaRPr lang="en-US" altLang="zh-CN">
              <a:solidFill>
                <a:srgbClr val="FFD700"/>
              </a:solidFill>
            </a:endParaRPr>
          </a:p>
        </p:txBody>
      </p:sp>
      <p:sp>
        <p:nvSpPr>
          <p:cNvPr id="8" name="Shape 26"/>
          <p:cNvSpPr/>
          <p:nvPr>
            <p:custDataLst>
              <p:tags r:id="rId8"/>
            </p:custDataLst>
          </p:nvPr>
        </p:nvSpPr>
        <p:spPr>
          <a:xfrm>
            <a:off x="329565" y="4944110"/>
            <a:ext cx="1919605" cy="1710055"/>
          </a:xfrm>
          <a:prstGeom prst="rect">
            <a:avLst/>
          </a:prstGeom>
          <a:solidFill>
            <a:schemeClr val="tx1"/>
          </a:solidFill>
          <a:ln w="19050">
            <a:solidFill>
              <a:srgbClr val="FFD700"/>
            </a:solidFill>
            <a:prstDash val="solid"/>
          </a:ln>
        </p:spPr>
        <p:txBody>
          <a:bodyPr vert="horz" bIns="71755" anchor="b" anchorCtr="0"/>
          <a:p>
            <a:pPr algn="ctr"/>
            <a:endParaRPr lang="en-US" altLang="zh-CN" b="1">
              <a:solidFill>
                <a:srgbClr val="FFD700"/>
              </a:solidFill>
              <a:sym typeface="+mn-ea"/>
            </a:endParaRPr>
          </a:p>
          <a:p>
            <a:pPr algn="ctr"/>
            <a:r>
              <a:rPr lang="en-US" altLang="zh-CN" b="1">
                <a:solidFill>
                  <a:srgbClr val="FFD700"/>
                </a:solidFill>
                <a:sym typeface="+mn-ea"/>
              </a:rPr>
              <a:t>Shared Control</a:t>
            </a:r>
            <a:endParaRPr lang="en-US" altLang="zh-CN" b="1">
              <a:solidFill>
                <a:srgbClr val="FFD700"/>
              </a:solidFill>
            </a:endParaRPr>
          </a:p>
        </p:txBody>
      </p:sp>
      <p:pic>
        <p:nvPicPr>
          <p:cNvPr id="29" name="图片 28" descr="屏幕截图 2026-06-03 16474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285" y="5032375"/>
            <a:ext cx="1321435" cy="1228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2331720" y="1330325"/>
            <a:ext cx="3736340" cy="4882515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F59E0B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0980" y="2266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>
                <a:latin typeface="Times New Roman" panose="02020603050405020304"/>
                <a:sym typeface="+mn-ea"/>
              </a:rPr>
              <a:t>System Architecture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10" name="Card2BG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94860" y="3240405"/>
            <a:ext cx="1390015" cy="1134745"/>
          </a:xfrm>
          <a:prstGeom prst="roundRect">
            <a:avLst>
              <a:gd name="adj" fmla="val 0"/>
            </a:avLst>
          </a:prstGeom>
          <a:solidFill>
            <a:schemeClr val="accent2">
              <a:lumMod val="60000"/>
              <a:lumOff val="40000"/>
              <a:alpha val="50000"/>
            </a:schemeClr>
          </a:solidFill>
          <a:ln w="15875">
            <a:solidFill>
              <a:srgbClr val="F09A70"/>
            </a:solidFill>
          </a:ln>
        </p:spPr>
        <p:txBody>
          <a:bodyPr anchor="ctr" anchorCtr="0"/>
          <a:p>
            <a:pPr algn="ctr"/>
            <a:r>
              <a:rPr lang="en-US"/>
              <a:t>Fusion</a:t>
            </a:r>
            <a:endParaRPr lang="en-US"/>
          </a:p>
        </p:txBody>
      </p:sp>
      <p:sp>
        <p:nvSpPr>
          <p:cNvPr id="200" name="Card1BG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32715" y="1077595"/>
            <a:ext cx="1450975" cy="159321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/>
          <a:p/>
        </p:txBody>
      </p:sp>
      <p:pic>
        <p:nvPicPr>
          <p:cNvPr id="202" name="EMGIm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0980" y="1331595"/>
            <a:ext cx="1270000" cy="1270000"/>
          </a:xfrm>
          <a:prstGeom prst="rect">
            <a:avLst/>
          </a:prstGeom>
        </p:spPr>
      </p:pic>
      <p:sp>
        <p:nvSpPr>
          <p:cNvPr id="203" name="Card1Text"/>
          <p:cNvSpPr txBox="1"/>
          <p:nvPr>
            <p:custDataLst>
              <p:tags r:id="rId5"/>
            </p:custDataLst>
          </p:nvPr>
        </p:nvSpPr>
        <p:spPr>
          <a:xfrm>
            <a:off x="220980" y="1076960"/>
            <a:ext cx="1270635" cy="2546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sz="1600" b="1" dirty="0">
                <a:solidFill>
                  <a:srgbClr val="1E3A5F"/>
                </a:solidFill>
                <a:latin typeface="Calibri" panose="020F0502020204030204"/>
              </a:rPr>
              <a:t>EMG Sensor</a:t>
            </a:r>
            <a:endParaRPr lang="zh-CN" altLang="en-US" sz="1100" dirty="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2" name="Card1BG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26365" y="2921000"/>
            <a:ext cx="1450975" cy="159321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/>
          <a:p/>
        </p:txBody>
      </p:sp>
      <p:sp>
        <p:nvSpPr>
          <p:cNvPr id="4" name="Card1Text"/>
          <p:cNvSpPr txBox="1"/>
          <p:nvPr>
            <p:custDataLst>
              <p:tags r:id="rId7"/>
            </p:custDataLst>
          </p:nvPr>
        </p:nvSpPr>
        <p:spPr>
          <a:xfrm>
            <a:off x="213995" y="2921000"/>
            <a:ext cx="1270635" cy="254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sz="1600" b="1" dirty="0">
                <a:solidFill>
                  <a:srgbClr val="1E3A5F"/>
                </a:solidFill>
                <a:latin typeface="Calibri" panose="020F0502020204030204"/>
              </a:rPr>
              <a:t>Camera</a:t>
            </a:r>
            <a:endParaRPr lang="zh-CN" altLang="en-US" sz="1100" dirty="0">
              <a:solidFill>
                <a:srgbClr val="444444"/>
              </a:solidFill>
              <a:latin typeface="Calibri" panose="020F0502020204030204"/>
            </a:endParaRPr>
          </a:p>
        </p:txBody>
      </p:sp>
      <p:pic>
        <p:nvPicPr>
          <p:cNvPr id="212" name="CameraIm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14630" y="3175000"/>
            <a:ext cx="1270000" cy="1270000"/>
          </a:xfrm>
          <a:prstGeom prst="rect">
            <a:avLst/>
          </a:prstGeom>
        </p:spPr>
      </p:pic>
      <p:sp>
        <p:nvSpPr>
          <p:cNvPr id="13" name="Card1BG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32715" y="4833620"/>
            <a:ext cx="1450975" cy="159321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/>
          <a:p/>
        </p:txBody>
      </p:sp>
      <p:sp>
        <p:nvSpPr>
          <p:cNvPr id="14" name="Card1Text"/>
          <p:cNvSpPr txBox="1"/>
          <p:nvPr>
            <p:custDataLst>
              <p:tags r:id="rId11"/>
            </p:custDataLst>
          </p:nvPr>
        </p:nvSpPr>
        <p:spPr>
          <a:xfrm>
            <a:off x="220345" y="4833620"/>
            <a:ext cx="1270635" cy="254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sz="1600" b="1" dirty="0">
                <a:solidFill>
                  <a:srgbClr val="1E3A5F"/>
                </a:solidFill>
                <a:latin typeface="Calibri" panose="020F0502020204030204"/>
              </a:rPr>
              <a:t>IMU</a:t>
            </a:r>
            <a:endParaRPr lang="zh-CN" altLang="en-US" sz="1100" dirty="0">
              <a:solidFill>
                <a:srgbClr val="444444"/>
              </a:solidFill>
              <a:latin typeface="Calibri" panose="020F0502020204030204"/>
            </a:endParaRPr>
          </a:p>
        </p:txBody>
      </p:sp>
      <p:pic>
        <p:nvPicPr>
          <p:cNvPr id="222" name="IMUIm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13995" y="5087620"/>
            <a:ext cx="1270000" cy="1270000"/>
          </a:xfrm>
          <a:prstGeom prst="rect">
            <a:avLst/>
          </a:prstGeom>
        </p:spPr>
      </p:pic>
      <p:sp>
        <p:nvSpPr>
          <p:cNvPr id="17" name="Shape 15"/>
          <p:cNvSpPr/>
          <p:nvPr/>
        </p:nvSpPr>
        <p:spPr>
          <a:xfrm>
            <a:off x="1714500" y="1874266"/>
            <a:ext cx="54864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ash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714500" y="3809746"/>
            <a:ext cx="548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1714500" y="5745226"/>
            <a:ext cx="54864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ash"/>
            <a:tailEnd type="triangle"/>
          </a:ln>
        </p:spPr>
      </p:sp>
      <p:sp>
        <p:nvSpPr>
          <p:cNvPr id="20" name="Card1BG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486660" y="1564640"/>
            <a:ext cx="1450975" cy="6197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p>
            <a:pPr algn="ctr"/>
            <a:r>
              <a:rPr lang="en-US" altLang="zh-CN"/>
              <a:t>CNN</a:t>
            </a:r>
            <a:endParaRPr lang="en-US" altLang="zh-CN"/>
          </a:p>
        </p:txBody>
      </p:sp>
      <p:sp>
        <p:nvSpPr>
          <p:cNvPr id="21" name="Card1BG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493645" y="5435600"/>
            <a:ext cx="1450975" cy="6197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p>
            <a:pPr algn="ctr"/>
            <a:r>
              <a:rPr lang="en-US" altLang="zh-CN"/>
              <a:t>Temporal Feature</a:t>
            </a:r>
            <a:endParaRPr lang="en-US" altLang="zh-CN"/>
          </a:p>
        </p:txBody>
      </p:sp>
      <p:sp>
        <p:nvSpPr>
          <p:cNvPr id="22" name="Card1BG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2493010" y="3500120"/>
            <a:ext cx="1450975" cy="6197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p>
            <a:pPr algn="ctr"/>
            <a:r>
              <a:rPr lang="en-US" altLang="zh-CN"/>
              <a:t>Visual Feature</a:t>
            </a:r>
            <a:endParaRPr lang="en-US" altLang="zh-CN"/>
          </a:p>
        </p:txBody>
      </p:sp>
      <p:sp>
        <p:nvSpPr>
          <p:cNvPr id="23" name="Shape 15"/>
          <p:cNvSpPr/>
          <p:nvPr/>
        </p:nvSpPr>
        <p:spPr>
          <a:xfrm flipV="1">
            <a:off x="4083685" y="3804920"/>
            <a:ext cx="371475" cy="508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033520" y="1873885"/>
            <a:ext cx="335915" cy="63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ash"/>
          </a:ln>
        </p:spPr>
      </p:sp>
      <p:sp>
        <p:nvSpPr>
          <p:cNvPr id="26" name="Shape 15"/>
          <p:cNvSpPr/>
          <p:nvPr/>
        </p:nvSpPr>
        <p:spPr>
          <a:xfrm>
            <a:off x="4455160" y="1874520"/>
            <a:ext cx="373380" cy="104584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ash"/>
            <a:tailEnd type="triangle"/>
          </a:ln>
        </p:spPr>
      </p:sp>
      <p:sp>
        <p:nvSpPr>
          <p:cNvPr id="31" name="Shape 52"/>
          <p:cNvSpPr/>
          <p:nvPr/>
        </p:nvSpPr>
        <p:spPr>
          <a:xfrm flipV="1">
            <a:off x="4018915" y="5740400"/>
            <a:ext cx="350520" cy="63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ash"/>
          </a:ln>
        </p:spPr>
      </p:sp>
      <p:sp>
        <p:nvSpPr>
          <p:cNvPr id="32" name="Shape 15"/>
          <p:cNvSpPr/>
          <p:nvPr/>
        </p:nvSpPr>
        <p:spPr>
          <a:xfrm flipV="1">
            <a:off x="4434840" y="4695190"/>
            <a:ext cx="393700" cy="98869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ash"/>
            <a:tailEnd type="triangle"/>
          </a:ln>
        </p:spPr>
      </p:sp>
      <p:sp>
        <p:nvSpPr>
          <p:cNvPr id="300" name="HandCardBG"/>
          <p:cNvSpPr>
            <a:spLocks noGrp="1"/>
          </p:cNvSpPr>
          <p:nvPr/>
        </p:nvSpPr>
        <p:spPr>
          <a:xfrm>
            <a:off x="6961505" y="2590800"/>
            <a:ext cx="1952625" cy="2496820"/>
          </a:xfrm>
          <a:prstGeom prst="roundRect">
            <a:avLst>
              <a:gd name="adj" fmla="val 0"/>
            </a:avLst>
          </a:prstGeom>
          <a:solidFill>
            <a:srgbClr val="EEF3F8"/>
          </a:solidFill>
          <a:ln w="28575">
            <a:solidFill>
              <a:srgbClr val="1E3A5F"/>
            </a:solidFill>
          </a:ln>
        </p:spPr>
        <p:txBody>
          <a:bodyPr/>
          <a:p/>
        </p:txBody>
      </p:sp>
      <p:pic>
        <p:nvPicPr>
          <p:cNvPr id="301" name="HandIm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54215" y="2706370"/>
            <a:ext cx="1764665" cy="1600200"/>
          </a:xfrm>
          <a:prstGeom prst="rect">
            <a:avLst/>
          </a:prstGeom>
        </p:spPr>
      </p:pic>
      <p:sp>
        <p:nvSpPr>
          <p:cNvPr id="41" name="Shape 15"/>
          <p:cNvSpPr/>
          <p:nvPr/>
        </p:nvSpPr>
        <p:spPr>
          <a:xfrm>
            <a:off x="6135370" y="3809365"/>
            <a:ext cx="674370" cy="635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42" name="文本框 41"/>
          <p:cNvSpPr txBox="1"/>
          <p:nvPr/>
        </p:nvSpPr>
        <p:spPr>
          <a:xfrm>
            <a:off x="6056630" y="3467735"/>
            <a:ext cx="7537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Output</a:t>
            </a:r>
            <a:endParaRPr lang="en-US" altLang="zh-CN" sz="1600"/>
          </a:p>
        </p:txBody>
      </p:sp>
      <p:sp>
        <p:nvSpPr>
          <p:cNvPr id="44" name="文本框 43"/>
          <p:cNvSpPr txBox="1"/>
          <p:nvPr/>
        </p:nvSpPr>
        <p:spPr>
          <a:xfrm>
            <a:off x="7054215" y="4408170"/>
            <a:ext cx="1764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Servo Rotation Angle</a:t>
            </a:r>
            <a:endParaRPr lang="en-US" altLang="zh-CN"/>
          </a:p>
        </p:txBody>
      </p:sp>
      <p:grpSp>
        <p:nvGrpSpPr>
          <p:cNvPr id="47" name="组合 46"/>
          <p:cNvGrpSpPr/>
          <p:nvPr/>
        </p:nvGrpSpPr>
        <p:grpSpPr>
          <a:xfrm>
            <a:off x="5356860" y="1567815"/>
            <a:ext cx="3615690" cy="621030"/>
            <a:chOff x="8193" y="2469"/>
            <a:chExt cx="5694" cy="978"/>
          </a:xfrm>
        </p:grpSpPr>
        <p:sp>
          <p:nvSpPr>
            <p:cNvPr id="46" name="Shape 32"/>
            <p:cNvSpPr/>
            <p:nvPr/>
          </p:nvSpPr>
          <p:spPr>
            <a:xfrm>
              <a:off x="8193" y="2469"/>
              <a:ext cx="5695" cy="978"/>
            </a:xfrm>
            <a:prstGeom prst="rect">
              <a:avLst/>
            </a:prstGeom>
            <a:solidFill>
              <a:srgbClr val="0D9488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p>
              <a:endParaRPr lang="en-US" altLang="zh-CN">
                <a:solidFill>
                  <a:schemeClr val="bg1"/>
                </a:solidFill>
                <a:ea typeface="SimSun" panose="02010600030101010101" pitchFamily="2" charset="-122"/>
                <a:sym typeface="+mn-ea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8419" y="2521"/>
              <a:ext cx="515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solidFill>
                    <a:schemeClr val="bg1"/>
                  </a:solidFill>
                  <a:ea typeface="SimSun" panose="02010600030101010101" pitchFamily="2" charset="-122"/>
                </a:rPr>
                <a:t>1 DOF gripper is used to validate the feasibility of the regression model.</a:t>
              </a:r>
              <a:endParaRPr lang="en-US" altLang="zh-CN" sz="1600">
                <a:solidFill>
                  <a:schemeClr val="bg1"/>
                </a:solidFill>
                <a:ea typeface="SimSun" panose="02010600030101010101" pitchFamily="2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4662805" y="5154930"/>
            <a:ext cx="4398010" cy="1666240"/>
            <a:chOff x="7343" y="8118"/>
            <a:chExt cx="6926" cy="2624"/>
          </a:xfrm>
        </p:grpSpPr>
        <p:grpSp>
          <p:nvGrpSpPr>
            <p:cNvPr id="48" name="组合 47"/>
            <p:cNvGrpSpPr/>
            <p:nvPr/>
          </p:nvGrpSpPr>
          <p:grpSpPr>
            <a:xfrm>
              <a:off x="7343" y="8118"/>
              <a:ext cx="6926" cy="2625"/>
              <a:chOff x="7898" y="2469"/>
              <a:chExt cx="5989" cy="1060"/>
            </a:xfrm>
          </p:grpSpPr>
          <p:sp>
            <p:nvSpPr>
              <p:cNvPr id="49" name="Shape 32"/>
              <p:cNvSpPr/>
              <p:nvPr/>
            </p:nvSpPr>
            <p:spPr>
              <a:xfrm>
                <a:off x="7981" y="2469"/>
                <a:ext cx="5906" cy="978"/>
              </a:xfrm>
              <a:prstGeom prst="rect">
                <a:avLst/>
              </a:prstGeom>
              <a:solidFill>
                <a:srgbClr val="777777"/>
              </a:solidFill>
              <a:ln w="19050">
                <a:noFill/>
                <a:prstDash val="solid"/>
              </a:ln>
            </p:spPr>
            <p:txBody>
              <a:bodyPr/>
              <a:p>
                <a:endParaRPr lang="en-US" altLang="zh-CN">
                  <a:solidFill>
                    <a:schemeClr val="bg1"/>
                  </a:solidFill>
                  <a:ea typeface="SimSun" panose="02010600030101010101" pitchFamily="2" charset="-122"/>
                  <a:sym typeface="+mn-ea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7898" y="2494"/>
                <a:ext cx="5934" cy="103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600">
                    <a:solidFill>
                      <a:schemeClr val="bg1"/>
                    </a:solidFill>
                    <a:ea typeface="SimSun" panose="02010600030101010101" pitchFamily="2" charset="-122"/>
                  </a:rPr>
                  <a:t>  Model Training Method - Imitation Learning</a:t>
                </a:r>
                <a:endParaRPr lang="en-US" altLang="zh-CN" sz="1600">
                  <a:solidFill>
                    <a:schemeClr val="bg1"/>
                  </a:solidFill>
                  <a:ea typeface="SimSun" panose="02010600030101010101" pitchFamily="2" charset="-122"/>
                </a:endParaRPr>
              </a:p>
              <a:p>
                <a:pPr indent="457200">
                  <a:buNone/>
                </a:pPr>
                <a:r>
                  <a:rPr lang="en-US" altLang="zh-CN" sz="1600">
                    <a:solidFill>
                      <a:schemeClr val="bg1"/>
                    </a:solidFill>
                    <a:ea typeface="SimSun" panose="02010600030101010101" pitchFamily="2" charset="-122"/>
                  </a:rPr>
                  <a:t>The operator manually controls the prosthetic hand.</a:t>
                </a:r>
                <a:endParaRPr lang="en-US" altLang="zh-CN" sz="1600">
                  <a:solidFill>
                    <a:schemeClr val="bg1"/>
                  </a:solidFill>
                  <a:ea typeface="SimSun" panose="02010600030101010101" pitchFamily="2" charset="-122"/>
                </a:endParaRPr>
              </a:p>
              <a:p>
                <a:pPr indent="457200">
                  <a:buNone/>
                </a:pPr>
                <a:r>
                  <a:rPr lang="en-US" altLang="zh-CN" sz="1600">
                    <a:solidFill>
                      <a:schemeClr val="bg1"/>
                    </a:solidFill>
                    <a:ea typeface="SimSun" panose="02010600030101010101" pitchFamily="2" charset="-122"/>
                    <a:sym typeface="+mn-ea"/>
                  </a:rPr>
                  <a:t>Record sensors data and hand opening width.</a:t>
                </a:r>
                <a:endParaRPr lang="en-US" altLang="zh-CN" sz="1600">
                  <a:solidFill>
                    <a:schemeClr val="bg1"/>
                  </a:solidFill>
                  <a:ea typeface="SimSun" panose="02010600030101010101" pitchFamily="2" charset="-122"/>
                  <a:sym typeface="+mn-ea"/>
                </a:endParaRPr>
              </a:p>
              <a:p>
                <a:pPr indent="457200">
                  <a:buNone/>
                </a:pPr>
                <a:endParaRPr lang="en-US" altLang="zh-CN" sz="1600">
                  <a:solidFill>
                    <a:schemeClr val="bg1"/>
                  </a:solidFill>
                  <a:ea typeface="SimSun" panose="02010600030101010101" pitchFamily="2" charset="-122"/>
                </a:endParaRPr>
              </a:p>
            </p:txBody>
          </p:sp>
        </p:grpSp>
        <p:pic>
          <p:nvPicPr>
            <p:cNvPr id="51" name="图片 50" descr="number-1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599" y="8631"/>
              <a:ext cx="417" cy="417"/>
            </a:xfrm>
            <a:prstGeom prst="rect">
              <a:avLst/>
            </a:prstGeom>
          </p:spPr>
        </p:pic>
        <p:pic>
          <p:nvPicPr>
            <p:cNvPr id="52" name="图片 51" descr="C:/Users/Di/Desktop/number-2.pngnumber-2"/>
            <p:cNvPicPr>
              <a:picLocks noChangeAspect="1"/>
            </p:cNvPicPr>
            <p:nvPr/>
          </p:nvPicPr>
          <p:blipFill>
            <a:blip r:embed="rId19"/>
            <a:srcRect t="120" b="120"/>
            <a:stretch>
              <a:fillRect/>
            </a:stretch>
          </p:blipFill>
          <p:spPr>
            <a:xfrm>
              <a:off x="7604" y="9407"/>
              <a:ext cx="417" cy="417"/>
            </a:xfrm>
            <a:prstGeom prst="rect">
              <a:avLst/>
            </a:prstGeom>
          </p:spPr>
        </p:pic>
        <p:pic>
          <p:nvPicPr>
            <p:cNvPr id="53" name="图片 52" descr="C:/Users/Di/Desktop/number-3.pngnumber-3"/>
            <p:cNvPicPr>
              <a:picLocks noChangeAspect="1"/>
            </p:cNvPicPr>
            <p:nvPr/>
          </p:nvPicPr>
          <p:blipFill>
            <a:blip r:embed="rId20"/>
            <a:srcRect t="120" b="120"/>
            <a:stretch>
              <a:fillRect/>
            </a:stretch>
          </p:blipFill>
          <p:spPr>
            <a:xfrm>
              <a:off x="7599" y="9990"/>
              <a:ext cx="417" cy="417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8021" y="9901"/>
              <a:ext cx="4800" cy="5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>
                  <a:solidFill>
                    <a:schemeClr val="bg1"/>
                  </a:solidFill>
                  <a:ea typeface="SimSun" panose="02010600030101010101" pitchFamily="2" charset="-122"/>
                  <a:sym typeface="+mn-ea"/>
                </a:rPr>
                <a:t>Train the model.</a:t>
              </a:r>
              <a:endParaRPr lang="en-US" altLang="zh-CN" sz="1600">
                <a:solidFill>
                  <a:schemeClr val="bg1"/>
                </a:solidFill>
                <a:ea typeface="SimSun" panose="02010600030101010101" pitchFamily="2" charset="-122"/>
              </a:endParaRPr>
            </a:p>
            <a:p>
              <a:endParaRPr lang="zh-CN" altLang="en-US" sz="1600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670175" y="8877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Neural Network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421020" y="1818413"/>
            <a:ext cx="8488216" cy="4946242"/>
            <a:chOff x="1319" y="3241"/>
            <a:chExt cx="11891" cy="6929"/>
          </a:xfrm>
        </p:grpSpPr>
        <p:pic>
          <p:nvPicPr>
            <p:cNvPr id="5" name="6月1日">
              <a:hlinkClick r:id="" action="ppaction://media"/>
            </p:cNvPr>
            <p:cNvPicPr>
              <a:picLocks noChangeAspect="1"/>
            </p:cNvPicPr>
            <p:nvPr>
              <a:videoFile r:link="rId1"/>
              <p:extLst>
                <p:ext uri="{DAA4B4D4-6D71-4841-9C94-3DE7FCFB9230}">
                  <p14:media xmlns:p14="http://schemas.microsoft.com/office/powerpoint/2010/main" r:embed="rId2"/>
                </p:ext>
              </p:extLst>
            </p:nvPr>
          </p:nvPicPr>
          <p:blipFill>
            <a:blip r:embed="rId3"/>
            <a:stretch>
              <a:fillRect/>
            </a:stretch>
          </p:blipFill>
          <p:spPr>
            <a:xfrm>
              <a:off x="1341" y="3241"/>
              <a:ext cx="11477" cy="6456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1319" y="7463"/>
              <a:ext cx="11891" cy="27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220980" y="2266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>
                <a:latin typeface="Times New Roman" panose="02020603050405020304"/>
                <a:sym typeface="+mn-ea"/>
              </a:rPr>
              <a:t>Device</a:t>
            </a:r>
            <a:endParaRPr lang="en-US" altLang="zh-CN" sz="3200" b="1" dirty="0">
              <a:latin typeface="Times New Roman" panose="020206030504050203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0980" y="883285"/>
            <a:ext cx="87191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Currently, the camera has been integrated into the system, enabling synchronized acquisition of servo rotation angles and images.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" name="文本框 61"/>
          <p:cNvSpPr txBox="1"/>
          <p:nvPr/>
        </p:nvSpPr>
        <p:spPr>
          <a:xfrm>
            <a:off x="220980" y="973455"/>
            <a:ext cx="4641850" cy="1889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Objective : </a:t>
            </a:r>
            <a:endParaRPr lang="en-US" altLang="zh-CN"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Evaluate the system’s performance, and its ability to reduce the operator’s cognitive load</a:t>
            </a:r>
            <a:endParaRPr lang="en-US" altLang="zh-CN"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Participants : </a:t>
            </a:r>
            <a:endParaRPr lang="en-US" altLang="zh-CN">
              <a:sym typeface="+mn-ea"/>
            </a:endParaRPr>
          </a:p>
          <a:p>
            <a:r>
              <a:rPr lang="en-US" altLang="zh-CN">
                <a:ea typeface="SimSun" panose="02010600030101010101" pitchFamily="2" charset="-122"/>
                <a:sym typeface="+mn-ea"/>
              </a:rPr>
              <a:t>10 healthy adults</a:t>
            </a:r>
            <a:endParaRPr lang="zh-CN" altLang="en-US" sz="1400">
              <a:ea typeface="SimSun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0980" y="2266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E</a:t>
            </a:r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xperiment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655955" y="3984625"/>
            <a:ext cx="3691890" cy="2357755"/>
            <a:chOff x="8025" y="3001"/>
            <a:chExt cx="4293" cy="2887"/>
          </a:xfrm>
        </p:grpSpPr>
        <p:grpSp>
          <p:nvGrpSpPr>
            <p:cNvPr id="59" name="组合 58"/>
            <p:cNvGrpSpPr/>
            <p:nvPr/>
          </p:nvGrpSpPr>
          <p:grpSpPr>
            <a:xfrm>
              <a:off x="8025" y="3001"/>
              <a:ext cx="4293" cy="2887"/>
              <a:chOff x="8857" y="1916"/>
              <a:chExt cx="4293" cy="2887"/>
            </a:xfrm>
          </p:grpSpPr>
          <p:grpSp>
            <p:nvGrpSpPr>
              <p:cNvPr id="3" name="组合 2"/>
              <p:cNvGrpSpPr>
                <a:grpSpLocks noChangeAspect="1"/>
              </p:cNvGrpSpPr>
              <p:nvPr/>
            </p:nvGrpSpPr>
            <p:grpSpPr>
              <a:xfrm>
                <a:off x="8857" y="1916"/>
                <a:ext cx="4293" cy="2887"/>
                <a:chOff x="3392" y="2238"/>
                <a:chExt cx="5359" cy="3372"/>
              </a:xfrm>
            </p:grpSpPr>
            <p:sp>
              <p:nvSpPr>
                <p:cNvPr id="5" name="フローチャート: データ 3"/>
                <p:cNvSpPr/>
                <p:nvPr/>
              </p:nvSpPr>
              <p:spPr>
                <a:xfrm>
                  <a:off x="3392" y="3294"/>
                  <a:ext cx="3488" cy="1746"/>
                </a:xfrm>
                <a:prstGeom prst="flowChartInputOutpu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7" name="组合 6"/>
                <p:cNvGrpSpPr/>
                <p:nvPr/>
              </p:nvGrpSpPr>
              <p:grpSpPr>
                <a:xfrm>
                  <a:off x="5950" y="2238"/>
                  <a:ext cx="2801" cy="3372"/>
                  <a:chOff x="8391" y="2469"/>
                  <a:chExt cx="2801" cy="3372"/>
                </a:xfrm>
              </p:grpSpPr>
              <p:grpSp>
                <p:nvGrpSpPr>
                  <p:cNvPr id="8" name="组合 7"/>
                  <p:cNvGrpSpPr/>
                  <p:nvPr/>
                </p:nvGrpSpPr>
                <p:grpSpPr>
                  <a:xfrm>
                    <a:off x="9560" y="2469"/>
                    <a:ext cx="1633" cy="3373"/>
                    <a:chOff x="9560" y="2469"/>
                    <a:chExt cx="1633" cy="3373"/>
                  </a:xfrm>
                </p:grpSpPr>
                <p:sp>
                  <p:nvSpPr>
                    <p:cNvPr id="9" name="フリーフォーム: 図形 6"/>
                    <p:cNvSpPr/>
                    <p:nvPr/>
                  </p:nvSpPr>
                  <p:spPr bwMode="auto">
                    <a:xfrm rot="21227523">
                      <a:off x="9837" y="3496"/>
                      <a:ext cx="1357" cy="2346"/>
                    </a:xfrm>
                    <a:custGeom>
                      <a:avLst/>
                      <a:gdLst>
                        <a:gd name="connsiteX0" fmla="*/ 455339 w 980001"/>
                        <a:gd name="connsiteY0" fmla="*/ 317 h 1483570"/>
                        <a:gd name="connsiteX1" fmla="*/ 479456 w 980001"/>
                        <a:gd name="connsiteY1" fmla="*/ 3956 h 1483570"/>
                        <a:gd name="connsiteX2" fmla="*/ 488638 w 980001"/>
                        <a:gd name="connsiteY2" fmla="*/ 2871 h 1483570"/>
                        <a:gd name="connsiteX3" fmla="*/ 660744 w 980001"/>
                        <a:gd name="connsiteY3" fmla="*/ 46415 h 1483570"/>
                        <a:gd name="connsiteX4" fmla="*/ 764008 w 980001"/>
                        <a:gd name="connsiteY4" fmla="*/ 126971 h 1483570"/>
                        <a:gd name="connsiteX5" fmla="*/ 842030 w 980001"/>
                        <a:gd name="connsiteY5" fmla="*/ 229299 h 1483570"/>
                        <a:gd name="connsiteX6" fmla="*/ 903988 w 980001"/>
                        <a:gd name="connsiteY6" fmla="*/ 322917 h 1483570"/>
                        <a:gd name="connsiteX7" fmla="*/ 945294 w 980001"/>
                        <a:gd name="connsiteY7" fmla="*/ 464435 h 1483570"/>
                        <a:gd name="connsiteX8" fmla="*/ 961357 w 980001"/>
                        <a:gd name="connsiteY8" fmla="*/ 738760 h 1483570"/>
                        <a:gd name="connsiteX9" fmla="*/ 977420 w 980001"/>
                        <a:gd name="connsiteY9" fmla="*/ 1026149 h 1483570"/>
                        <a:gd name="connsiteX10" fmla="*/ 972831 w 980001"/>
                        <a:gd name="connsiteY10" fmla="*/ 1224273 h 1483570"/>
                        <a:gd name="connsiteX11" fmla="*/ 910873 w 980001"/>
                        <a:gd name="connsiteY11" fmla="*/ 1365790 h 1483570"/>
                        <a:gd name="connsiteX12" fmla="*/ 773188 w 980001"/>
                        <a:gd name="connsiteY12" fmla="*/ 1455055 h 1483570"/>
                        <a:gd name="connsiteX13" fmla="*/ 603375 w 980001"/>
                        <a:gd name="connsiteY13" fmla="*/ 1483358 h 1483570"/>
                        <a:gd name="connsiteX14" fmla="*/ 364722 w 980001"/>
                        <a:gd name="connsiteY14" fmla="*/ 1465941 h 1483570"/>
                        <a:gd name="connsiteX15" fmla="*/ 190320 w 980001"/>
                        <a:gd name="connsiteY15" fmla="*/ 1428929 h 1483570"/>
                        <a:gd name="connsiteX16" fmla="*/ 73288 w 980001"/>
                        <a:gd name="connsiteY16" fmla="*/ 1372321 h 1483570"/>
                        <a:gd name="connsiteX17" fmla="*/ 9035 w 980001"/>
                        <a:gd name="connsiteY17" fmla="*/ 1241690 h 1483570"/>
                        <a:gd name="connsiteX18" fmla="*/ 2151 w 980001"/>
                        <a:gd name="connsiteY18" fmla="*/ 1100173 h 1483570"/>
                        <a:gd name="connsiteX19" fmla="*/ 25098 w 980001"/>
                        <a:gd name="connsiteY19" fmla="*/ 775773 h 1483570"/>
                        <a:gd name="connsiteX20" fmla="*/ 67083 w 980001"/>
                        <a:gd name="connsiteY20" fmla="*/ 598007 h 1483570"/>
                        <a:gd name="connsiteX21" fmla="*/ 114708 w 980001"/>
                        <a:gd name="connsiteY21" fmla="*/ 454930 h 1483570"/>
                        <a:gd name="connsiteX22" fmla="*/ 178604 w 980001"/>
                        <a:gd name="connsiteY22" fmla="*/ 204950 h 1483570"/>
                        <a:gd name="connsiteX23" fmla="*/ 455339 w 980001"/>
                        <a:gd name="connsiteY23" fmla="*/ 317 h 14835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</a:cxnLst>
                      <a:rect l="l" t="t" r="r" b="b"/>
                      <a:pathLst>
                        <a:path w="980001" h="1483570">
                          <a:moveTo>
                            <a:pt x="455339" y="317"/>
                          </a:moveTo>
                          <a:lnTo>
                            <a:pt x="479456" y="3956"/>
                          </a:lnTo>
                          <a:lnTo>
                            <a:pt x="488638" y="2871"/>
                          </a:lnTo>
                          <a:cubicBezTo>
                            <a:pt x="541035" y="5411"/>
                            <a:pt x="614849" y="25732"/>
                            <a:pt x="660744" y="46415"/>
                          </a:cubicBezTo>
                          <a:cubicBezTo>
                            <a:pt x="706639" y="67098"/>
                            <a:pt x="733794" y="96490"/>
                            <a:pt x="764008" y="126971"/>
                          </a:cubicBezTo>
                          <a:cubicBezTo>
                            <a:pt x="794222" y="157451"/>
                            <a:pt x="818700" y="196641"/>
                            <a:pt x="842030" y="229299"/>
                          </a:cubicBezTo>
                          <a:cubicBezTo>
                            <a:pt x="865360" y="261956"/>
                            <a:pt x="886777" y="283728"/>
                            <a:pt x="903988" y="322917"/>
                          </a:cubicBezTo>
                          <a:cubicBezTo>
                            <a:pt x="921198" y="362107"/>
                            <a:pt x="935733" y="395128"/>
                            <a:pt x="945294" y="464435"/>
                          </a:cubicBezTo>
                          <a:cubicBezTo>
                            <a:pt x="954855" y="533742"/>
                            <a:pt x="956003" y="645142"/>
                            <a:pt x="961357" y="738760"/>
                          </a:cubicBezTo>
                          <a:cubicBezTo>
                            <a:pt x="966711" y="832379"/>
                            <a:pt x="975508" y="945230"/>
                            <a:pt x="977420" y="1026149"/>
                          </a:cubicBezTo>
                          <a:cubicBezTo>
                            <a:pt x="979332" y="1107067"/>
                            <a:pt x="983922" y="1167666"/>
                            <a:pt x="972831" y="1224273"/>
                          </a:cubicBezTo>
                          <a:cubicBezTo>
                            <a:pt x="961740" y="1280880"/>
                            <a:pt x="944147" y="1327327"/>
                            <a:pt x="910873" y="1365790"/>
                          </a:cubicBezTo>
                          <a:cubicBezTo>
                            <a:pt x="877599" y="1404254"/>
                            <a:pt x="824437" y="1435460"/>
                            <a:pt x="773188" y="1455055"/>
                          </a:cubicBezTo>
                          <a:cubicBezTo>
                            <a:pt x="721938" y="1474650"/>
                            <a:pt x="671453" y="1481544"/>
                            <a:pt x="603375" y="1483358"/>
                          </a:cubicBezTo>
                          <a:cubicBezTo>
                            <a:pt x="535298" y="1485173"/>
                            <a:pt x="433565" y="1475013"/>
                            <a:pt x="364722" y="1465941"/>
                          </a:cubicBezTo>
                          <a:cubicBezTo>
                            <a:pt x="295879" y="1456869"/>
                            <a:pt x="238892" y="1444532"/>
                            <a:pt x="190320" y="1428929"/>
                          </a:cubicBezTo>
                          <a:cubicBezTo>
                            <a:pt x="141748" y="1413326"/>
                            <a:pt x="103502" y="1403528"/>
                            <a:pt x="73288" y="1372321"/>
                          </a:cubicBezTo>
                          <a:cubicBezTo>
                            <a:pt x="43074" y="1341115"/>
                            <a:pt x="20891" y="1287048"/>
                            <a:pt x="9035" y="1241690"/>
                          </a:cubicBezTo>
                          <a:cubicBezTo>
                            <a:pt x="-2821" y="1196333"/>
                            <a:pt x="-526" y="1177826"/>
                            <a:pt x="2151" y="1100173"/>
                          </a:cubicBezTo>
                          <a:cubicBezTo>
                            <a:pt x="4828" y="1022521"/>
                            <a:pt x="3950" y="890489"/>
                            <a:pt x="25098" y="775773"/>
                          </a:cubicBezTo>
                          <a:cubicBezTo>
                            <a:pt x="35672" y="718414"/>
                            <a:pt x="49713" y="658908"/>
                            <a:pt x="67083" y="598007"/>
                          </a:cubicBezTo>
                          <a:lnTo>
                            <a:pt x="114708" y="454930"/>
                          </a:lnTo>
                          <a:lnTo>
                            <a:pt x="178604" y="204950"/>
                          </a:lnTo>
                          <a:cubicBezTo>
                            <a:pt x="211193" y="77449"/>
                            <a:pt x="328823" y="-5812"/>
                            <a:pt x="455339" y="317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noAutofit/>
                    </a:bodyPr>
                    <a:lstStyle/>
                    <a:p>
                      <a:pPr marL="0" marR="0" indent="0" algn="l" defTabSz="104330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ja-JP" altLang="en-US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MS PGothic" panose="020B0600070205080204" charset="-128"/>
                      </a:endParaRPr>
                    </a:p>
                  </p:txBody>
                </p:sp>
                <p:sp>
                  <p:nvSpPr>
                    <p:cNvPr id="11" name="フリーフォーム 10"/>
                    <p:cNvSpPr/>
                    <p:nvPr/>
                  </p:nvSpPr>
                  <p:spPr bwMode="auto">
                    <a:xfrm rot="2493260">
                      <a:off x="9560" y="3658"/>
                      <a:ext cx="824" cy="798"/>
                    </a:xfrm>
                    <a:custGeom>
                      <a:avLst/>
                      <a:gdLst>
                        <a:gd name="connsiteX0" fmla="*/ 643847 w 1123308"/>
                        <a:gd name="connsiteY0" fmla="*/ 616449 h 2106202"/>
                        <a:gd name="connsiteX1" fmla="*/ 636998 w 1123308"/>
                        <a:gd name="connsiteY1" fmla="*/ 777411 h 2106202"/>
                        <a:gd name="connsiteX2" fmla="*/ 643847 w 1123308"/>
                        <a:gd name="connsiteY2" fmla="*/ 887002 h 2106202"/>
                        <a:gd name="connsiteX3" fmla="*/ 654121 w 1123308"/>
                        <a:gd name="connsiteY3" fmla="*/ 1027416 h 2106202"/>
                        <a:gd name="connsiteX4" fmla="*/ 674669 w 1123308"/>
                        <a:gd name="connsiteY4" fmla="*/ 1157555 h 2106202"/>
                        <a:gd name="connsiteX5" fmla="*/ 705492 w 1123308"/>
                        <a:gd name="connsiteY5" fmla="*/ 1260297 h 2106202"/>
                        <a:gd name="connsiteX6" fmla="*/ 500009 w 1123308"/>
                        <a:gd name="connsiteY6" fmla="*/ 1380162 h 2106202"/>
                        <a:gd name="connsiteX7" fmla="*/ 410966 w 1123308"/>
                        <a:gd name="connsiteY7" fmla="*/ 1472629 h 2106202"/>
                        <a:gd name="connsiteX8" fmla="*/ 315074 w 1123308"/>
                        <a:gd name="connsiteY8" fmla="*/ 1571946 h 2106202"/>
                        <a:gd name="connsiteX9" fmla="*/ 212332 w 1123308"/>
                        <a:gd name="connsiteY9" fmla="*/ 1657564 h 2106202"/>
                        <a:gd name="connsiteX10" fmla="*/ 78768 w 1123308"/>
                        <a:gd name="connsiteY10" fmla="*/ 1760306 h 2106202"/>
                        <a:gd name="connsiteX11" fmla="*/ 0 w 1123308"/>
                        <a:gd name="connsiteY11" fmla="*/ 1815101 h 2106202"/>
                        <a:gd name="connsiteX12" fmla="*/ 157537 w 1123308"/>
                        <a:gd name="connsiteY12" fmla="*/ 2106202 h 2106202"/>
                        <a:gd name="connsiteX13" fmla="*/ 287676 w 1123308"/>
                        <a:gd name="connsiteY13" fmla="*/ 2054832 h 2106202"/>
                        <a:gd name="connsiteX14" fmla="*/ 513708 w 1123308"/>
                        <a:gd name="connsiteY14" fmla="*/ 1955515 h 2106202"/>
                        <a:gd name="connsiteX15" fmla="*/ 643847 w 1123308"/>
                        <a:gd name="connsiteY15" fmla="*/ 1883596 h 2106202"/>
                        <a:gd name="connsiteX16" fmla="*/ 801384 w 1123308"/>
                        <a:gd name="connsiteY16" fmla="*/ 1698661 h 2106202"/>
                        <a:gd name="connsiteX17" fmla="*/ 934948 w 1123308"/>
                        <a:gd name="connsiteY17" fmla="*/ 1530849 h 2106202"/>
                        <a:gd name="connsiteX18" fmla="*/ 1027415 w 1123308"/>
                        <a:gd name="connsiteY18" fmla="*/ 1359614 h 2106202"/>
                        <a:gd name="connsiteX19" fmla="*/ 1078786 w 1123308"/>
                        <a:gd name="connsiteY19" fmla="*/ 1171254 h 2106202"/>
                        <a:gd name="connsiteX20" fmla="*/ 1123308 w 1123308"/>
                        <a:gd name="connsiteY20" fmla="*/ 808234 h 2106202"/>
                        <a:gd name="connsiteX21" fmla="*/ 1119883 w 1123308"/>
                        <a:gd name="connsiteY21" fmla="*/ 623299 h 2106202"/>
                        <a:gd name="connsiteX22" fmla="*/ 1109609 w 1123308"/>
                        <a:gd name="connsiteY22" fmla="*/ 469187 h 2106202"/>
                        <a:gd name="connsiteX23" fmla="*/ 1078786 w 1123308"/>
                        <a:gd name="connsiteY23" fmla="*/ 311649 h 2106202"/>
                        <a:gd name="connsiteX24" fmla="*/ 1023991 w 1123308"/>
                        <a:gd name="connsiteY24" fmla="*/ 157537 h 2106202"/>
                        <a:gd name="connsiteX25" fmla="*/ 969195 w 1123308"/>
                        <a:gd name="connsiteY25" fmla="*/ 68494 h 2106202"/>
                        <a:gd name="connsiteX26" fmla="*/ 893851 w 1123308"/>
                        <a:gd name="connsiteY26" fmla="*/ 0 h 2106202"/>
                        <a:gd name="connsiteX27" fmla="*/ 797959 w 1123308"/>
                        <a:gd name="connsiteY27" fmla="*/ 41097 h 2106202"/>
                        <a:gd name="connsiteX28" fmla="*/ 729465 w 1123308"/>
                        <a:gd name="connsiteY28" fmla="*/ 167811 h 2106202"/>
                        <a:gd name="connsiteX29" fmla="*/ 681519 w 1123308"/>
                        <a:gd name="connsiteY29" fmla="*/ 339047 h 2106202"/>
                        <a:gd name="connsiteX30" fmla="*/ 671245 w 1123308"/>
                        <a:gd name="connsiteY30" fmla="*/ 410966 h 2106202"/>
                        <a:gd name="connsiteX31" fmla="*/ 664395 w 1123308"/>
                        <a:gd name="connsiteY31" fmla="*/ 458912 h 2106202"/>
                        <a:gd name="connsiteX0-1" fmla="*/ 643847 w 1123308"/>
                        <a:gd name="connsiteY0-2" fmla="*/ 616449 h 2106202"/>
                        <a:gd name="connsiteX1-3" fmla="*/ 636998 w 1123308"/>
                        <a:gd name="connsiteY1-4" fmla="*/ 777411 h 2106202"/>
                        <a:gd name="connsiteX2-5" fmla="*/ 643847 w 1123308"/>
                        <a:gd name="connsiteY2-6" fmla="*/ 887002 h 2106202"/>
                        <a:gd name="connsiteX3-7" fmla="*/ 654121 w 1123308"/>
                        <a:gd name="connsiteY3-8" fmla="*/ 1027416 h 2106202"/>
                        <a:gd name="connsiteX4-9" fmla="*/ 674669 w 1123308"/>
                        <a:gd name="connsiteY4-10" fmla="*/ 1157555 h 2106202"/>
                        <a:gd name="connsiteX5-11" fmla="*/ 705492 w 1123308"/>
                        <a:gd name="connsiteY5-12" fmla="*/ 1260297 h 2106202"/>
                        <a:gd name="connsiteX6-13" fmla="*/ 500009 w 1123308"/>
                        <a:gd name="connsiteY6-14" fmla="*/ 1380162 h 2106202"/>
                        <a:gd name="connsiteX7-15" fmla="*/ 410966 w 1123308"/>
                        <a:gd name="connsiteY7-16" fmla="*/ 1472629 h 2106202"/>
                        <a:gd name="connsiteX8-17" fmla="*/ 315074 w 1123308"/>
                        <a:gd name="connsiteY8-18" fmla="*/ 1571946 h 2106202"/>
                        <a:gd name="connsiteX9-19" fmla="*/ 212332 w 1123308"/>
                        <a:gd name="connsiteY9-20" fmla="*/ 1657564 h 2106202"/>
                        <a:gd name="connsiteX10-21" fmla="*/ 78768 w 1123308"/>
                        <a:gd name="connsiteY10-22" fmla="*/ 1760306 h 2106202"/>
                        <a:gd name="connsiteX11-23" fmla="*/ 0 w 1123308"/>
                        <a:gd name="connsiteY11-24" fmla="*/ 1815101 h 2106202"/>
                        <a:gd name="connsiteX12-25" fmla="*/ 157537 w 1123308"/>
                        <a:gd name="connsiteY12-26" fmla="*/ 2106202 h 2106202"/>
                        <a:gd name="connsiteX13-27" fmla="*/ 287676 w 1123308"/>
                        <a:gd name="connsiteY13-28" fmla="*/ 2054832 h 2106202"/>
                        <a:gd name="connsiteX14-29" fmla="*/ 513708 w 1123308"/>
                        <a:gd name="connsiteY14-30" fmla="*/ 1955515 h 2106202"/>
                        <a:gd name="connsiteX15-31" fmla="*/ 643847 w 1123308"/>
                        <a:gd name="connsiteY15-32" fmla="*/ 1883596 h 2106202"/>
                        <a:gd name="connsiteX16-33" fmla="*/ 801384 w 1123308"/>
                        <a:gd name="connsiteY16-34" fmla="*/ 1698661 h 2106202"/>
                        <a:gd name="connsiteX17-35" fmla="*/ 934948 w 1123308"/>
                        <a:gd name="connsiteY17-36" fmla="*/ 1530849 h 2106202"/>
                        <a:gd name="connsiteX18-37" fmla="*/ 1027415 w 1123308"/>
                        <a:gd name="connsiteY18-38" fmla="*/ 1359614 h 2106202"/>
                        <a:gd name="connsiteX19-39" fmla="*/ 1078786 w 1123308"/>
                        <a:gd name="connsiteY19-40" fmla="*/ 1171254 h 2106202"/>
                        <a:gd name="connsiteX20-41" fmla="*/ 1123308 w 1123308"/>
                        <a:gd name="connsiteY20-42" fmla="*/ 808234 h 2106202"/>
                        <a:gd name="connsiteX21-43" fmla="*/ 1119883 w 1123308"/>
                        <a:gd name="connsiteY21-44" fmla="*/ 623299 h 2106202"/>
                        <a:gd name="connsiteX22-45" fmla="*/ 1109609 w 1123308"/>
                        <a:gd name="connsiteY22-46" fmla="*/ 469187 h 2106202"/>
                        <a:gd name="connsiteX23-47" fmla="*/ 1078786 w 1123308"/>
                        <a:gd name="connsiteY23-48" fmla="*/ 311649 h 2106202"/>
                        <a:gd name="connsiteX24-49" fmla="*/ 1023991 w 1123308"/>
                        <a:gd name="connsiteY24-50" fmla="*/ 157537 h 2106202"/>
                        <a:gd name="connsiteX25-51" fmla="*/ 969195 w 1123308"/>
                        <a:gd name="connsiteY25-52" fmla="*/ 68494 h 2106202"/>
                        <a:gd name="connsiteX26-53" fmla="*/ 893851 w 1123308"/>
                        <a:gd name="connsiteY26-54" fmla="*/ 0 h 2106202"/>
                        <a:gd name="connsiteX27-55" fmla="*/ 797959 w 1123308"/>
                        <a:gd name="connsiteY27-56" fmla="*/ 41097 h 2106202"/>
                        <a:gd name="connsiteX28-57" fmla="*/ 729465 w 1123308"/>
                        <a:gd name="connsiteY28-58" fmla="*/ 167811 h 2106202"/>
                        <a:gd name="connsiteX29-59" fmla="*/ 681519 w 1123308"/>
                        <a:gd name="connsiteY29-60" fmla="*/ 339047 h 2106202"/>
                        <a:gd name="connsiteX30-61" fmla="*/ 671245 w 1123308"/>
                        <a:gd name="connsiteY30-62" fmla="*/ 410966 h 2106202"/>
                        <a:gd name="connsiteX0-63" fmla="*/ 643847 w 1123308"/>
                        <a:gd name="connsiteY0-64" fmla="*/ 616449 h 2106202"/>
                        <a:gd name="connsiteX1-65" fmla="*/ 636998 w 1123308"/>
                        <a:gd name="connsiteY1-66" fmla="*/ 777411 h 2106202"/>
                        <a:gd name="connsiteX2-67" fmla="*/ 643847 w 1123308"/>
                        <a:gd name="connsiteY2-68" fmla="*/ 887002 h 2106202"/>
                        <a:gd name="connsiteX3-69" fmla="*/ 654121 w 1123308"/>
                        <a:gd name="connsiteY3-70" fmla="*/ 1027416 h 2106202"/>
                        <a:gd name="connsiteX4-71" fmla="*/ 674669 w 1123308"/>
                        <a:gd name="connsiteY4-72" fmla="*/ 1157555 h 2106202"/>
                        <a:gd name="connsiteX5-73" fmla="*/ 705492 w 1123308"/>
                        <a:gd name="connsiteY5-74" fmla="*/ 1260297 h 2106202"/>
                        <a:gd name="connsiteX6-75" fmla="*/ 500009 w 1123308"/>
                        <a:gd name="connsiteY6-76" fmla="*/ 1380162 h 2106202"/>
                        <a:gd name="connsiteX7-77" fmla="*/ 410966 w 1123308"/>
                        <a:gd name="connsiteY7-78" fmla="*/ 1472629 h 2106202"/>
                        <a:gd name="connsiteX8-79" fmla="*/ 315074 w 1123308"/>
                        <a:gd name="connsiteY8-80" fmla="*/ 1571946 h 2106202"/>
                        <a:gd name="connsiteX9-81" fmla="*/ 212332 w 1123308"/>
                        <a:gd name="connsiteY9-82" fmla="*/ 1657564 h 2106202"/>
                        <a:gd name="connsiteX10-83" fmla="*/ 78768 w 1123308"/>
                        <a:gd name="connsiteY10-84" fmla="*/ 1760306 h 2106202"/>
                        <a:gd name="connsiteX11-85" fmla="*/ 0 w 1123308"/>
                        <a:gd name="connsiteY11-86" fmla="*/ 1815101 h 2106202"/>
                        <a:gd name="connsiteX12-87" fmla="*/ 157537 w 1123308"/>
                        <a:gd name="connsiteY12-88" fmla="*/ 2106202 h 2106202"/>
                        <a:gd name="connsiteX13-89" fmla="*/ 287676 w 1123308"/>
                        <a:gd name="connsiteY13-90" fmla="*/ 2054832 h 2106202"/>
                        <a:gd name="connsiteX14-91" fmla="*/ 513708 w 1123308"/>
                        <a:gd name="connsiteY14-92" fmla="*/ 1955515 h 2106202"/>
                        <a:gd name="connsiteX15-93" fmla="*/ 643847 w 1123308"/>
                        <a:gd name="connsiteY15-94" fmla="*/ 1883596 h 2106202"/>
                        <a:gd name="connsiteX16-95" fmla="*/ 801384 w 1123308"/>
                        <a:gd name="connsiteY16-96" fmla="*/ 1698661 h 2106202"/>
                        <a:gd name="connsiteX17-97" fmla="*/ 934948 w 1123308"/>
                        <a:gd name="connsiteY17-98" fmla="*/ 1530849 h 2106202"/>
                        <a:gd name="connsiteX18-99" fmla="*/ 1027415 w 1123308"/>
                        <a:gd name="connsiteY18-100" fmla="*/ 1359614 h 2106202"/>
                        <a:gd name="connsiteX19-101" fmla="*/ 1078786 w 1123308"/>
                        <a:gd name="connsiteY19-102" fmla="*/ 1171254 h 2106202"/>
                        <a:gd name="connsiteX20-103" fmla="*/ 1123308 w 1123308"/>
                        <a:gd name="connsiteY20-104" fmla="*/ 808234 h 2106202"/>
                        <a:gd name="connsiteX21-105" fmla="*/ 1119883 w 1123308"/>
                        <a:gd name="connsiteY21-106" fmla="*/ 623299 h 2106202"/>
                        <a:gd name="connsiteX22-107" fmla="*/ 1109609 w 1123308"/>
                        <a:gd name="connsiteY22-108" fmla="*/ 469187 h 2106202"/>
                        <a:gd name="connsiteX23-109" fmla="*/ 1078786 w 1123308"/>
                        <a:gd name="connsiteY23-110" fmla="*/ 311649 h 2106202"/>
                        <a:gd name="connsiteX24-111" fmla="*/ 1023991 w 1123308"/>
                        <a:gd name="connsiteY24-112" fmla="*/ 157537 h 2106202"/>
                        <a:gd name="connsiteX25-113" fmla="*/ 969195 w 1123308"/>
                        <a:gd name="connsiteY25-114" fmla="*/ 68494 h 2106202"/>
                        <a:gd name="connsiteX26-115" fmla="*/ 893851 w 1123308"/>
                        <a:gd name="connsiteY26-116" fmla="*/ 0 h 2106202"/>
                        <a:gd name="connsiteX27-117" fmla="*/ 797959 w 1123308"/>
                        <a:gd name="connsiteY27-118" fmla="*/ 41097 h 2106202"/>
                        <a:gd name="connsiteX28-119" fmla="*/ 729465 w 1123308"/>
                        <a:gd name="connsiteY28-120" fmla="*/ 167811 h 2106202"/>
                        <a:gd name="connsiteX29-121" fmla="*/ 681519 w 1123308"/>
                        <a:gd name="connsiteY29-122" fmla="*/ 339047 h 2106202"/>
                        <a:gd name="connsiteX0-123" fmla="*/ 643847 w 1123308"/>
                        <a:gd name="connsiteY0-124" fmla="*/ 616449 h 2106202"/>
                        <a:gd name="connsiteX1-125" fmla="*/ 636998 w 1123308"/>
                        <a:gd name="connsiteY1-126" fmla="*/ 777411 h 2106202"/>
                        <a:gd name="connsiteX2-127" fmla="*/ 643847 w 1123308"/>
                        <a:gd name="connsiteY2-128" fmla="*/ 887002 h 2106202"/>
                        <a:gd name="connsiteX3-129" fmla="*/ 654121 w 1123308"/>
                        <a:gd name="connsiteY3-130" fmla="*/ 1027416 h 2106202"/>
                        <a:gd name="connsiteX4-131" fmla="*/ 674669 w 1123308"/>
                        <a:gd name="connsiteY4-132" fmla="*/ 1157555 h 2106202"/>
                        <a:gd name="connsiteX5-133" fmla="*/ 705492 w 1123308"/>
                        <a:gd name="connsiteY5-134" fmla="*/ 1260297 h 2106202"/>
                        <a:gd name="connsiteX6-135" fmla="*/ 500009 w 1123308"/>
                        <a:gd name="connsiteY6-136" fmla="*/ 1380162 h 2106202"/>
                        <a:gd name="connsiteX7-137" fmla="*/ 410966 w 1123308"/>
                        <a:gd name="connsiteY7-138" fmla="*/ 1472629 h 2106202"/>
                        <a:gd name="connsiteX8-139" fmla="*/ 315074 w 1123308"/>
                        <a:gd name="connsiteY8-140" fmla="*/ 1571946 h 2106202"/>
                        <a:gd name="connsiteX9-141" fmla="*/ 212332 w 1123308"/>
                        <a:gd name="connsiteY9-142" fmla="*/ 1657564 h 2106202"/>
                        <a:gd name="connsiteX10-143" fmla="*/ 78768 w 1123308"/>
                        <a:gd name="connsiteY10-144" fmla="*/ 1760306 h 2106202"/>
                        <a:gd name="connsiteX11-145" fmla="*/ 0 w 1123308"/>
                        <a:gd name="connsiteY11-146" fmla="*/ 1815101 h 2106202"/>
                        <a:gd name="connsiteX12-147" fmla="*/ 157537 w 1123308"/>
                        <a:gd name="connsiteY12-148" fmla="*/ 2106202 h 2106202"/>
                        <a:gd name="connsiteX13-149" fmla="*/ 287676 w 1123308"/>
                        <a:gd name="connsiteY13-150" fmla="*/ 2054832 h 2106202"/>
                        <a:gd name="connsiteX14-151" fmla="*/ 513708 w 1123308"/>
                        <a:gd name="connsiteY14-152" fmla="*/ 1955515 h 2106202"/>
                        <a:gd name="connsiteX15-153" fmla="*/ 643847 w 1123308"/>
                        <a:gd name="connsiteY15-154" fmla="*/ 1883596 h 2106202"/>
                        <a:gd name="connsiteX16-155" fmla="*/ 801384 w 1123308"/>
                        <a:gd name="connsiteY16-156" fmla="*/ 1698661 h 2106202"/>
                        <a:gd name="connsiteX17-157" fmla="*/ 934948 w 1123308"/>
                        <a:gd name="connsiteY17-158" fmla="*/ 1530849 h 2106202"/>
                        <a:gd name="connsiteX18-159" fmla="*/ 1027415 w 1123308"/>
                        <a:gd name="connsiteY18-160" fmla="*/ 1359614 h 2106202"/>
                        <a:gd name="connsiteX19-161" fmla="*/ 1078786 w 1123308"/>
                        <a:gd name="connsiteY19-162" fmla="*/ 1171254 h 2106202"/>
                        <a:gd name="connsiteX20-163" fmla="*/ 1123308 w 1123308"/>
                        <a:gd name="connsiteY20-164" fmla="*/ 808234 h 2106202"/>
                        <a:gd name="connsiteX21-165" fmla="*/ 1119883 w 1123308"/>
                        <a:gd name="connsiteY21-166" fmla="*/ 623299 h 2106202"/>
                        <a:gd name="connsiteX22-167" fmla="*/ 1109609 w 1123308"/>
                        <a:gd name="connsiteY22-168" fmla="*/ 469187 h 2106202"/>
                        <a:gd name="connsiteX23-169" fmla="*/ 1078786 w 1123308"/>
                        <a:gd name="connsiteY23-170" fmla="*/ 311649 h 2106202"/>
                        <a:gd name="connsiteX24-171" fmla="*/ 1023991 w 1123308"/>
                        <a:gd name="connsiteY24-172" fmla="*/ 157537 h 2106202"/>
                        <a:gd name="connsiteX25-173" fmla="*/ 969195 w 1123308"/>
                        <a:gd name="connsiteY25-174" fmla="*/ 68494 h 2106202"/>
                        <a:gd name="connsiteX26-175" fmla="*/ 893851 w 1123308"/>
                        <a:gd name="connsiteY26-176" fmla="*/ 0 h 2106202"/>
                        <a:gd name="connsiteX27-177" fmla="*/ 797959 w 1123308"/>
                        <a:gd name="connsiteY27-178" fmla="*/ 41097 h 2106202"/>
                        <a:gd name="connsiteX28-179" fmla="*/ 729465 w 1123308"/>
                        <a:gd name="connsiteY28-180" fmla="*/ 167811 h 2106202"/>
                        <a:gd name="connsiteX0-181" fmla="*/ 643847 w 1123308"/>
                        <a:gd name="connsiteY0-182" fmla="*/ 616449 h 2106202"/>
                        <a:gd name="connsiteX1-183" fmla="*/ 636998 w 1123308"/>
                        <a:gd name="connsiteY1-184" fmla="*/ 777411 h 2106202"/>
                        <a:gd name="connsiteX2-185" fmla="*/ 643847 w 1123308"/>
                        <a:gd name="connsiteY2-186" fmla="*/ 887002 h 2106202"/>
                        <a:gd name="connsiteX3-187" fmla="*/ 654121 w 1123308"/>
                        <a:gd name="connsiteY3-188" fmla="*/ 1027416 h 2106202"/>
                        <a:gd name="connsiteX4-189" fmla="*/ 674669 w 1123308"/>
                        <a:gd name="connsiteY4-190" fmla="*/ 1157555 h 2106202"/>
                        <a:gd name="connsiteX5-191" fmla="*/ 705492 w 1123308"/>
                        <a:gd name="connsiteY5-192" fmla="*/ 1260297 h 2106202"/>
                        <a:gd name="connsiteX6-193" fmla="*/ 500009 w 1123308"/>
                        <a:gd name="connsiteY6-194" fmla="*/ 1380162 h 2106202"/>
                        <a:gd name="connsiteX7-195" fmla="*/ 410966 w 1123308"/>
                        <a:gd name="connsiteY7-196" fmla="*/ 1472629 h 2106202"/>
                        <a:gd name="connsiteX8-197" fmla="*/ 315074 w 1123308"/>
                        <a:gd name="connsiteY8-198" fmla="*/ 1571946 h 2106202"/>
                        <a:gd name="connsiteX9-199" fmla="*/ 212332 w 1123308"/>
                        <a:gd name="connsiteY9-200" fmla="*/ 1657564 h 2106202"/>
                        <a:gd name="connsiteX10-201" fmla="*/ 78768 w 1123308"/>
                        <a:gd name="connsiteY10-202" fmla="*/ 1760306 h 2106202"/>
                        <a:gd name="connsiteX11-203" fmla="*/ 0 w 1123308"/>
                        <a:gd name="connsiteY11-204" fmla="*/ 1815101 h 2106202"/>
                        <a:gd name="connsiteX12-205" fmla="*/ 157537 w 1123308"/>
                        <a:gd name="connsiteY12-206" fmla="*/ 2106202 h 2106202"/>
                        <a:gd name="connsiteX13-207" fmla="*/ 287676 w 1123308"/>
                        <a:gd name="connsiteY13-208" fmla="*/ 2054832 h 2106202"/>
                        <a:gd name="connsiteX14-209" fmla="*/ 513708 w 1123308"/>
                        <a:gd name="connsiteY14-210" fmla="*/ 1955515 h 2106202"/>
                        <a:gd name="connsiteX15-211" fmla="*/ 643847 w 1123308"/>
                        <a:gd name="connsiteY15-212" fmla="*/ 1883596 h 2106202"/>
                        <a:gd name="connsiteX16-213" fmla="*/ 801384 w 1123308"/>
                        <a:gd name="connsiteY16-214" fmla="*/ 1698661 h 2106202"/>
                        <a:gd name="connsiteX17-215" fmla="*/ 934948 w 1123308"/>
                        <a:gd name="connsiteY17-216" fmla="*/ 1530849 h 2106202"/>
                        <a:gd name="connsiteX18-217" fmla="*/ 1027415 w 1123308"/>
                        <a:gd name="connsiteY18-218" fmla="*/ 1359614 h 2106202"/>
                        <a:gd name="connsiteX19-219" fmla="*/ 1078786 w 1123308"/>
                        <a:gd name="connsiteY19-220" fmla="*/ 1171254 h 2106202"/>
                        <a:gd name="connsiteX20-221" fmla="*/ 1123308 w 1123308"/>
                        <a:gd name="connsiteY20-222" fmla="*/ 808234 h 2106202"/>
                        <a:gd name="connsiteX21-223" fmla="*/ 1119883 w 1123308"/>
                        <a:gd name="connsiteY21-224" fmla="*/ 623299 h 2106202"/>
                        <a:gd name="connsiteX22-225" fmla="*/ 1109609 w 1123308"/>
                        <a:gd name="connsiteY22-226" fmla="*/ 469187 h 2106202"/>
                        <a:gd name="connsiteX23-227" fmla="*/ 1078786 w 1123308"/>
                        <a:gd name="connsiteY23-228" fmla="*/ 311649 h 2106202"/>
                        <a:gd name="connsiteX24-229" fmla="*/ 1023991 w 1123308"/>
                        <a:gd name="connsiteY24-230" fmla="*/ 157537 h 2106202"/>
                        <a:gd name="connsiteX25-231" fmla="*/ 969195 w 1123308"/>
                        <a:gd name="connsiteY25-232" fmla="*/ 68494 h 2106202"/>
                        <a:gd name="connsiteX26-233" fmla="*/ 893851 w 1123308"/>
                        <a:gd name="connsiteY26-234" fmla="*/ 0 h 2106202"/>
                        <a:gd name="connsiteX27-235" fmla="*/ 797959 w 1123308"/>
                        <a:gd name="connsiteY27-236" fmla="*/ 41097 h 2106202"/>
                        <a:gd name="connsiteX0-237" fmla="*/ 643847 w 1123308"/>
                        <a:gd name="connsiteY0-238" fmla="*/ 616449 h 2106202"/>
                        <a:gd name="connsiteX1-239" fmla="*/ 636998 w 1123308"/>
                        <a:gd name="connsiteY1-240" fmla="*/ 777411 h 2106202"/>
                        <a:gd name="connsiteX2-241" fmla="*/ 643847 w 1123308"/>
                        <a:gd name="connsiteY2-242" fmla="*/ 887002 h 2106202"/>
                        <a:gd name="connsiteX3-243" fmla="*/ 654121 w 1123308"/>
                        <a:gd name="connsiteY3-244" fmla="*/ 1027416 h 2106202"/>
                        <a:gd name="connsiteX4-245" fmla="*/ 674669 w 1123308"/>
                        <a:gd name="connsiteY4-246" fmla="*/ 1157555 h 2106202"/>
                        <a:gd name="connsiteX5-247" fmla="*/ 705492 w 1123308"/>
                        <a:gd name="connsiteY5-248" fmla="*/ 1260297 h 2106202"/>
                        <a:gd name="connsiteX6-249" fmla="*/ 500009 w 1123308"/>
                        <a:gd name="connsiteY6-250" fmla="*/ 1380162 h 2106202"/>
                        <a:gd name="connsiteX7-251" fmla="*/ 410966 w 1123308"/>
                        <a:gd name="connsiteY7-252" fmla="*/ 1472629 h 2106202"/>
                        <a:gd name="connsiteX8-253" fmla="*/ 315074 w 1123308"/>
                        <a:gd name="connsiteY8-254" fmla="*/ 1571946 h 2106202"/>
                        <a:gd name="connsiteX9-255" fmla="*/ 212332 w 1123308"/>
                        <a:gd name="connsiteY9-256" fmla="*/ 1657564 h 2106202"/>
                        <a:gd name="connsiteX10-257" fmla="*/ 78768 w 1123308"/>
                        <a:gd name="connsiteY10-258" fmla="*/ 1760306 h 2106202"/>
                        <a:gd name="connsiteX11-259" fmla="*/ 0 w 1123308"/>
                        <a:gd name="connsiteY11-260" fmla="*/ 1815101 h 2106202"/>
                        <a:gd name="connsiteX12-261" fmla="*/ 157537 w 1123308"/>
                        <a:gd name="connsiteY12-262" fmla="*/ 2106202 h 2106202"/>
                        <a:gd name="connsiteX13-263" fmla="*/ 287676 w 1123308"/>
                        <a:gd name="connsiteY13-264" fmla="*/ 2054832 h 2106202"/>
                        <a:gd name="connsiteX14-265" fmla="*/ 513708 w 1123308"/>
                        <a:gd name="connsiteY14-266" fmla="*/ 1955515 h 2106202"/>
                        <a:gd name="connsiteX15-267" fmla="*/ 643847 w 1123308"/>
                        <a:gd name="connsiteY15-268" fmla="*/ 1883596 h 2106202"/>
                        <a:gd name="connsiteX16-269" fmla="*/ 801384 w 1123308"/>
                        <a:gd name="connsiteY16-270" fmla="*/ 1698661 h 2106202"/>
                        <a:gd name="connsiteX17-271" fmla="*/ 934948 w 1123308"/>
                        <a:gd name="connsiteY17-272" fmla="*/ 1530849 h 2106202"/>
                        <a:gd name="connsiteX18-273" fmla="*/ 1027415 w 1123308"/>
                        <a:gd name="connsiteY18-274" fmla="*/ 1359614 h 2106202"/>
                        <a:gd name="connsiteX19-275" fmla="*/ 1078786 w 1123308"/>
                        <a:gd name="connsiteY19-276" fmla="*/ 1171254 h 2106202"/>
                        <a:gd name="connsiteX20-277" fmla="*/ 1123308 w 1123308"/>
                        <a:gd name="connsiteY20-278" fmla="*/ 808234 h 2106202"/>
                        <a:gd name="connsiteX21-279" fmla="*/ 1119883 w 1123308"/>
                        <a:gd name="connsiteY21-280" fmla="*/ 623299 h 2106202"/>
                        <a:gd name="connsiteX22-281" fmla="*/ 1109609 w 1123308"/>
                        <a:gd name="connsiteY22-282" fmla="*/ 469187 h 2106202"/>
                        <a:gd name="connsiteX23-283" fmla="*/ 1078786 w 1123308"/>
                        <a:gd name="connsiteY23-284" fmla="*/ 311649 h 2106202"/>
                        <a:gd name="connsiteX24-285" fmla="*/ 1023991 w 1123308"/>
                        <a:gd name="connsiteY24-286" fmla="*/ 157537 h 2106202"/>
                        <a:gd name="connsiteX25-287" fmla="*/ 969195 w 1123308"/>
                        <a:gd name="connsiteY25-288" fmla="*/ 68494 h 2106202"/>
                        <a:gd name="connsiteX26-289" fmla="*/ 893851 w 1123308"/>
                        <a:gd name="connsiteY26-290" fmla="*/ 0 h 2106202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  <a:cxn ang="0">
                          <a:pos x="connsiteX3-7" y="connsiteY3-8"/>
                        </a:cxn>
                        <a:cxn ang="0">
                          <a:pos x="connsiteX4-9" y="connsiteY4-10"/>
                        </a:cxn>
                        <a:cxn ang="0">
                          <a:pos x="connsiteX5-11" y="connsiteY5-12"/>
                        </a:cxn>
                        <a:cxn ang="0">
                          <a:pos x="connsiteX6-13" y="connsiteY6-14"/>
                        </a:cxn>
                        <a:cxn ang="0">
                          <a:pos x="connsiteX7-15" y="connsiteY7-16"/>
                        </a:cxn>
                        <a:cxn ang="0">
                          <a:pos x="connsiteX8-17" y="connsiteY8-18"/>
                        </a:cxn>
                        <a:cxn ang="0">
                          <a:pos x="connsiteX9-19" y="connsiteY9-20"/>
                        </a:cxn>
                        <a:cxn ang="0">
                          <a:pos x="connsiteX10-21" y="connsiteY10-22"/>
                        </a:cxn>
                        <a:cxn ang="0">
                          <a:pos x="connsiteX11-23" y="connsiteY11-24"/>
                        </a:cxn>
                        <a:cxn ang="0">
                          <a:pos x="connsiteX12-25" y="connsiteY12-26"/>
                        </a:cxn>
                        <a:cxn ang="0">
                          <a:pos x="connsiteX13-27" y="connsiteY13-28"/>
                        </a:cxn>
                        <a:cxn ang="0">
                          <a:pos x="connsiteX14-29" y="connsiteY14-30"/>
                        </a:cxn>
                        <a:cxn ang="0">
                          <a:pos x="connsiteX15-31" y="connsiteY15-32"/>
                        </a:cxn>
                        <a:cxn ang="0">
                          <a:pos x="connsiteX16-33" y="connsiteY16-34"/>
                        </a:cxn>
                        <a:cxn ang="0">
                          <a:pos x="connsiteX17-35" y="connsiteY17-36"/>
                        </a:cxn>
                        <a:cxn ang="0">
                          <a:pos x="connsiteX18-37" y="connsiteY18-38"/>
                        </a:cxn>
                        <a:cxn ang="0">
                          <a:pos x="connsiteX19-39" y="connsiteY19-40"/>
                        </a:cxn>
                        <a:cxn ang="0">
                          <a:pos x="connsiteX20-41" y="connsiteY20-42"/>
                        </a:cxn>
                        <a:cxn ang="0">
                          <a:pos x="connsiteX21-43" y="connsiteY21-44"/>
                        </a:cxn>
                        <a:cxn ang="0">
                          <a:pos x="connsiteX22-45" y="connsiteY22-46"/>
                        </a:cxn>
                        <a:cxn ang="0">
                          <a:pos x="connsiteX23-47" y="connsiteY23-48"/>
                        </a:cxn>
                        <a:cxn ang="0">
                          <a:pos x="connsiteX24-49" y="connsiteY24-50"/>
                        </a:cxn>
                        <a:cxn ang="0">
                          <a:pos x="connsiteX25-51" y="connsiteY25-52"/>
                        </a:cxn>
                        <a:cxn ang="0">
                          <a:pos x="connsiteX26-53" y="connsiteY26-54"/>
                        </a:cxn>
                      </a:cxnLst>
                      <a:rect l="l" t="t" r="r" b="b"/>
                      <a:pathLst>
                        <a:path w="1123308" h="2106202">
                          <a:moveTo>
                            <a:pt x="643847" y="616449"/>
                          </a:moveTo>
                          <a:lnTo>
                            <a:pt x="636998" y="777411"/>
                          </a:lnTo>
                          <a:lnTo>
                            <a:pt x="643847" y="887002"/>
                          </a:lnTo>
                          <a:lnTo>
                            <a:pt x="654121" y="1027416"/>
                          </a:lnTo>
                          <a:lnTo>
                            <a:pt x="674669" y="1157555"/>
                          </a:lnTo>
                          <a:lnTo>
                            <a:pt x="705492" y="1260297"/>
                          </a:lnTo>
                          <a:lnTo>
                            <a:pt x="500009" y="1380162"/>
                          </a:lnTo>
                          <a:lnTo>
                            <a:pt x="410966" y="1472629"/>
                          </a:lnTo>
                          <a:lnTo>
                            <a:pt x="315074" y="1571946"/>
                          </a:lnTo>
                          <a:lnTo>
                            <a:pt x="212332" y="1657564"/>
                          </a:lnTo>
                          <a:lnTo>
                            <a:pt x="78768" y="1760306"/>
                          </a:lnTo>
                          <a:lnTo>
                            <a:pt x="0" y="1815101"/>
                          </a:lnTo>
                          <a:lnTo>
                            <a:pt x="157537" y="2106202"/>
                          </a:lnTo>
                          <a:lnTo>
                            <a:pt x="287676" y="2054832"/>
                          </a:lnTo>
                          <a:lnTo>
                            <a:pt x="513708" y="1955515"/>
                          </a:lnTo>
                          <a:lnTo>
                            <a:pt x="643847" y="1883596"/>
                          </a:lnTo>
                          <a:lnTo>
                            <a:pt x="801384" y="1698661"/>
                          </a:lnTo>
                          <a:lnTo>
                            <a:pt x="934948" y="1530849"/>
                          </a:lnTo>
                          <a:lnTo>
                            <a:pt x="1027415" y="1359614"/>
                          </a:lnTo>
                          <a:lnTo>
                            <a:pt x="1078786" y="1171254"/>
                          </a:lnTo>
                          <a:lnTo>
                            <a:pt x="1123308" y="808234"/>
                          </a:lnTo>
                          <a:cubicBezTo>
                            <a:pt x="1122166" y="746589"/>
                            <a:pt x="1121025" y="684944"/>
                            <a:pt x="1119883" y="623299"/>
                          </a:cubicBezTo>
                          <a:lnTo>
                            <a:pt x="1109609" y="469187"/>
                          </a:lnTo>
                          <a:lnTo>
                            <a:pt x="1078786" y="311649"/>
                          </a:lnTo>
                          <a:lnTo>
                            <a:pt x="1023991" y="157537"/>
                          </a:lnTo>
                          <a:lnTo>
                            <a:pt x="969195" y="68494"/>
                          </a:lnTo>
                          <a:lnTo>
                            <a:pt x="893851" y="0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spAutoFit/>
                    </a:bodyPr>
                    <a:lstStyle/>
                    <a:p>
                      <a:pPr marL="0" marR="0" indent="0" algn="l" defTabSz="104330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ja-JP" altLang="en-US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MS PGothic" panose="020B0600070205080204" charset="-128"/>
                      </a:endParaRPr>
                    </a:p>
                  </p:txBody>
                </p:sp>
                <p:sp>
                  <p:nvSpPr>
                    <p:cNvPr id="12" name="円/楕円 11"/>
                    <p:cNvSpPr/>
                    <p:nvPr/>
                  </p:nvSpPr>
                  <p:spPr>
                    <a:xfrm>
                      <a:off x="9889" y="2469"/>
                      <a:ext cx="1072" cy="1264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975" dirty="0">
                        <a:latin typeface="MS PGothic" panose="020B0600070205080204" charset="-128"/>
                        <a:ea typeface="MS PGothic" panose="020B0600070205080204" charset="-128"/>
                      </a:endParaRPr>
                    </a:p>
                  </p:txBody>
                </p:sp>
              </p:grpSp>
              <p:grpSp>
                <p:nvGrpSpPr>
                  <p:cNvPr id="40" name="组合 39"/>
                  <p:cNvGrpSpPr/>
                  <p:nvPr/>
                </p:nvGrpSpPr>
                <p:grpSpPr>
                  <a:xfrm>
                    <a:off x="8391" y="3184"/>
                    <a:ext cx="1145" cy="1305"/>
                    <a:chOff x="8161" y="4243"/>
                    <a:chExt cx="1145" cy="1305"/>
                  </a:xfrm>
                </p:grpSpPr>
                <p:grpSp>
                  <p:nvGrpSpPr>
                    <p:cNvPr id="10" name="グループ化 10"/>
                    <p:cNvGrpSpPr/>
                    <p:nvPr/>
                  </p:nvGrpSpPr>
                  <p:grpSpPr>
                    <a:xfrm rot="290409">
                      <a:off x="8161" y="4824"/>
                      <a:ext cx="1088" cy="725"/>
                      <a:chOff x="3047465" y="4059226"/>
                      <a:chExt cx="922569" cy="720307"/>
                    </a:xfrm>
                  </p:grpSpPr>
                  <p:sp>
                    <p:nvSpPr>
                      <p:cNvPr id="15" name="フリーフォーム 170"/>
                      <p:cNvSpPr/>
                      <p:nvPr/>
                    </p:nvSpPr>
                    <p:spPr>
                      <a:xfrm rot="20273636">
                        <a:off x="3789087" y="4126983"/>
                        <a:ext cx="180947" cy="370157"/>
                      </a:xfrm>
                      <a:custGeom>
                        <a:avLst/>
                        <a:gdLst>
                          <a:gd name="connsiteX0" fmla="*/ 1038 w 296005"/>
                          <a:gd name="connsiteY0" fmla="*/ 65085 h 605531"/>
                          <a:gd name="connsiteX1" fmla="*/ 65930 w 296005"/>
                          <a:gd name="connsiteY1" fmla="*/ 283361 h 605531"/>
                          <a:gd name="connsiteX2" fmla="*/ 71830 w 296005"/>
                          <a:gd name="connsiteY2" fmla="*/ 430845 h 605531"/>
                          <a:gd name="connsiteX3" fmla="*/ 42333 w 296005"/>
                          <a:gd name="connsiteY3" fmla="*/ 554732 h 605531"/>
                          <a:gd name="connsiteX4" fmla="*/ 219314 w 296005"/>
                          <a:gd name="connsiteY4" fmla="*/ 601926 h 605531"/>
                          <a:gd name="connsiteX5" fmla="*/ 278307 w 296005"/>
                          <a:gd name="connsiteY5" fmla="*/ 466241 h 605531"/>
                          <a:gd name="connsiteX6" fmla="*/ 296005 w 296005"/>
                          <a:gd name="connsiteY6" fmla="*/ 289261 h 605531"/>
                          <a:gd name="connsiteX7" fmla="*/ 278307 w 296005"/>
                          <a:gd name="connsiteY7" fmla="*/ 112280 h 605531"/>
                          <a:gd name="connsiteX8" fmla="*/ 260609 w 296005"/>
                          <a:gd name="connsiteY8" fmla="*/ 6092 h 605531"/>
                          <a:gd name="connsiteX9" fmla="*/ 124924 w 296005"/>
                          <a:gd name="connsiteY9" fmla="*/ 17890 h 605531"/>
                          <a:gd name="connsiteX10" fmla="*/ 1038 w 296005"/>
                          <a:gd name="connsiteY10" fmla="*/ 65085 h 6055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96005" h="605531">
                            <a:moveTo>
                              <a:pt x="1038" y="65085"/>
                            </a:moveTo>
                            <a:cubicBezTo>
                              <a:pt x="-8794" y="109330"/>
                              <a:pt x="54131" y="222401"/>
                              <a:pt x="65930" y="283361"/>
                            </a:cubicBezTo>
                            <a:cubicBezTo>
                              <a:pt x="77729" y="344321"/>
                              <a:pt x="75763" y="385617"/>
                              <a:pt x="71830" y="430845"/>
                            </a:cubicBezTo>
                            <a:cubicBezTo>
                              <a:pt x="67897" y="476074"/>
                              <a:pt x="17752" y="526219"/>
                              <a:pt x="42333" y="554732"/>
                            </a:cubicBezTo>
                            <a:cubicBezTo>
                              <a:pt x="66914" y="583245"/>
                              <a:pt x="179985" y="616675"/>
                              <a:pt x="219314" y="601926"/>
                            </a:cubicBezTo>
                            <a:cubicBezTo>
                              <a:pt x="258643" y="587178"/>
                              <a:pt x="265525" y="518352"/>
                              <a:pt x="278307" y="466241"/>
                            </a:cubicBezTo>
                            <a:cubicBezTo>
                              <a:pt x="291089" y="414130"/>
                              <a:pt x="296005" y="348254"/>
                              <a:pt x="296005" y="289261"/>
                            </a:cubicBezTo>
                            <a:cubicBezTo>
                              <a:pt x="296005" y="230268"/>
                              <a:pt x="284206" y="159475"/>
                              <a:pt x="278307" y="112280"/>
                            </a:cubicBezTo>
                            <a:cubicBezTo>
                              <a:pt x="272408" y="65085"/>
                              <a:pt x="286173" y="21824"/>
                              <a:pt x="260609" y="6092"/>
                            </a:cubicBezTo>
                            <a:cubicBezTo>
                              <a:pt x="235045" y="-9640"/>
                              <a:pt x="161303" y="9041"/>
                              <a:pt x="124924" y="17890"/>
                            </a:cubicBezTo>
                            <a:cubicBezTo>
                              <a:pt x="88545" y="26739"/>
                              <a:pt x="10870" y="20840"/>
                              <a:pt x="1038" y="65085"/>
                            </a:cubicBez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>
                          <a:latin typeface="MS PGothic" panose="020B0600070205080204" charset="-128"/>
                          <a:ea typeface="MS PGothic" panose="020B0600070205080204" charset="-128"/>
                        </a:endParaRPr>
                      </a:p>
                    </p:txBody>
                  </p:sp>
                  <p:sp>
                    <p:nvSpPr>
                      <p:cNvPr id="16" name="円/楕円 12"/>
                      <p:cNvSpPr/>
                      <p:nvPr/>
                    </p:nvSpPr>
                    <p:spPr>
                      <a:xfrm>
                        <a:off x="3429947" y="4126137"/>
                        <a:ext cx="440191" cy="504237"/>
                      </a:xfrm>
                      <a:custGeom>
                        <a:avLst/>
                        <a:gdLst>
                          <a:gd name="connsiteX0" fmla="*/ 0 w 1406381"/>
                          <a:gd name="connsiteY0" fmla="*/ 762684 h 1525367"/>
                          <a:gd name="connsiteX1" fmla="*/ 703191 w 1406381"/>
                          <a:gd name="connsiteY1" fmla="*/ 0 h 1525367"/>
                          <a:gd name="connsiteX2" fmla="*/ 1406382 w 1406381"/>
                          <a:gd name="connsiteY2" fmla="*/ 762684 h 1525367"/>
                          <a:gd name="connsiteX3" fmla="*/ 703191 w 1406381"/>
                          <a:gd name="connsiteY3" fmla="*/ 1525368 h 1525367"/>
                          <a:gd name="connsiteX4" fmla="*/ 0 w 1406381"/>
                          <a:gd name="connsiteY4" fmla="*/ 762684 h 1525367"/>
                          <a:gd name="connsiteX0-1" fmla="*/ 2902 w 1409284"/>
                          <a:gd name="connsiteY0-2" fmla="*/ 647071 h 1409755"/>
                          <a:gd name="connsiteX1-3" fmla="*/ 537928 w 1409284"/>
                          <a:gd name="connsiteY1-4" fmla="*/ 0 h 1409755"/>
                          <a:gd name="connsiteX2-5" fmla="*/ 1409284 w 1409284"/>
                          <a:gd name="connsiteY2-6" fmla="*/ 647071 h 1409755"/>
                          <a:gd name="connsiteX3-7" fmla="*/ 706093 w 1409284"/>
                          <a:gd name="connsiteY3-8" fmla="*/ 1409755 h 1409755"/>
                          <a:gd name="connsiteX4-9" fmla="*/ 2902 w 1409284"/>
                          <a:gd name="connsiteY4-10" fmla="*/ 647071 h 1409755"/>
                          <a:gd name="connsiteX0-11" fmla="*/ 2902 w 1409284"/>
                          <a:gd name="connsiteY0-12" fmla="*/ 648835 h 1411519"/>
                          <a:gd name="connsiteX1-13" fmla="*/ 537928 w 1409284"/>
                          <a:gd name="connsiteY1-14" fmla="*/ 1764 h 1411519"/>
                          <a:gd name="connsiteX2-15" fmla="*/ 1409284 w 1409284"/>
                          <a:gd name="connsiteY2-16" fmla="*/ 648835 h 1411519"/>
                          <a:gd name="connsiteX3-17" fmla="*/ 706093 w 1409284"/>
                          <a:gd name="connsiteY3-18" fmla="*/ 1411519 h 1411519"/>
                          <a:gd name="connsiteX4-19" fmla="*/ 2902 w 1409284"/>
                          <a:gd name="connsiteY4-20" fmla="*/ 648835 h 1411519"/>
                          <a:gd name="connsiteX0-21" fmla="*/ 2902 w 1434226"/>
                          <a:gd name="connsiteY0-22" fmla="*/ 648835 h 1411519"/>
                          <a:gd name="connsiteX1-23" fmla="*/ 537928 w 1434226"/>
                          <a:gd name="connsiteY1-24" fmla="*/ 1764 h 1411519"/>
                          <a:gd name="connsiteX2-25" fmla="*/ 1409284 w 1434226"/>
                          <a:gd name="connsiteY2-26" fmla="*/ 648835 h 1411519"/>
                          <a:gd name="connsiteX3-27" fmla="*/ 706093 w 1434226"/>
                          <a:gd name="connsiteY3-28" fmla="*/ 1411519 h 1411519"/>
                          <a:gd name="connsiteX4-29" fmla="*/ 2902 w 1434226"/>
                          <a:gd name="connsiteY4-30" fmla="*/ 648835 h 1411519"/>
                          <a:gd name="connsiteX0-31" fmla="*/ 2902 w 1429310"/>
                          <a:gd name="connsiteY0-32" fmla="*/ 648835 h 1421223"/>
                          <a:gd name="connsiteX1-33" fmla="*/ 537928 w 1429310"/>
                          <a:gd name="connsiteY1-34" fmla="*/ 1764 h 1421223"/>
                          <a:gd name="connsiteX2-35" fmla="*/ 1409284 w 1429310"/>
                          <a:gd name="connsiteY2-36" fmla="*/ 648835 h 1421223"/>
                          <a:gd name="connsiteX3-37" fmla="*/ 706093 w 1429310"/>
                          <a:gd name="connsiteY3-38" fmla="*/ 1411519 h 1421223"/>
                          <a:gd name="connsiteX4-39" fmla="*/ 2902 w 1429310"/>
                          <a:gd name="connsiteY4-40" fmla="*/ 648835 h 1421223"/>
                          <a:gd name="connsiteX0-41" fmla="*/ 3222 w 1429931"/>
                          <a:gd name="connsiteY0-42" fmla="*/ 648835 h 1483603"/>
                          <a:gd name="connsiteX1-43" fmla="*/ 538248 w 1429931"/>
                          <a:gd name="connsiteY1-44" fmla="*/ 1764 h 1483603"/>
                          <a:gd name="connsiteX2-45" fmla="*/ 1409604 w 1429931"/>
                          <a:gd name="connsiteY2-46" fmla="*/ 648835 h 1483603"/>
                          <a:gd name="connsiteX3-47" fmla="*/ 716924 w 1429931"/>
                          <a:gd name="connsiteY3-48" fmla="*/ 1474581 h 1483603"/>
                          <a:gd name="connsiteX4-49" fmla="*/ 3222 w 1429931"/>
                          <a:gd name="connsiteY4-50" fmla="*/ 648835 h 1483603"/>
                          <a:gd name="connsiteX0-51" fmla="*/ 3222 w 1429931"/>
                          <a:gd name="connsiteY0-52" fmla="*/ 648835 h 1484124"/>
                          <a:gd name="connsiteX1-53" fmla="*/ 538248 w 1429931"/>
                          <a:gd name="connsiteY1-54" fmla="*/ 1764 h 1484124"/>
                          <a:gd name="connsiteX2-55" fmla="*/ 1409604 w 1429931"/>
                          <a:gd name="connsiteY2-56" fmla="*/ 648835 h 1484124"/>
                          <a:gd name="connsiteX3-57" fmla="*/ 716924 w 1429931"/>
                          <a:gd name="connsiteY3-58" fmla="*/ 1474581 h 1484124"/>
                          <a:gd name="connsiteX4-59" fmla="*/ 3222 w 1429931"/>
                          <a:gd name="connsiteY4-60" fmla="*/ 648835 h 1484124"/>
                          <a:gd name="connsiteX0-61" fmla="*/ 2861 w 1281581"/>
                          <a:gd name="connsiteY0-62" fmla="*/ 637738 h 1474000"/>
                          <a:gd name="connsiteX1-63" fmla="*/ 390742 w 1281581"/>
                          <a:gd name="connsiteY1-64" fmla="*/ 1177 h 1474000"/>
                          <a:gd name="connsiteX2-65" fmla="*/ 1262098 w 1281581"/>
                          <a:gd name="connsiteY2-66" fmla="*/ 648248 h 1474000"/>
                          <a:gd name="connsiteX3-67" fmla="*/ 569418 w 1281581"/>
                          <a:gd name="connsiteY3-68" fmla="*/ 1473994 h 1474000"/>
                          <a:gd name="connsiteX4-69" fmla="*/ 2861 w 1281581"/>
                          <a:gd name="connsiteY4-70" fmla="*/ 637738 h 1474000"/>
                          <a:gd name="connsiteX0-71" fmla="*/ 36382 w 1315102"/>
                          <a:gd name="connsiteY0-72" fmla="*/ 637738 h 1474000"/>
                          <a:gd name="connsiteX1-73" fmla="*/ 424263 w 1315102"/>
                          <a:gd name="connsiteY1-74" fmla="*/ 1177 h 1474000"/>
                          <a:gd name="connsiteX2-75" fmla="*/ 1295619 w 1315102"/>
                          <a:gd name="connsiteY2-76" fmla="*/ 648248 h 1474000"/>
                          <a:gd name="connsiteX3-77" fmla="*/ 602939 w 1315102"/>
                          <a:gd name="connsiteY3-78" fmla="*/ 1473994 h 1474000"/>
                          <a:gd name="connsiteX4-79" fmla="*/ 36382 w 1315102"/>
                          <a:gd name="connsiteY4-80" fmla="*/ 637738 h 1474000"/>
                          <a:gd name="connsiteX0-81" fmla="*/ 69692 w 1348412"/>
                          <a:gd name="connsiteY0-82" fmla="*/ 708338 h 1544600"/>
                          <a:gd name="connsiteX1-83" fmla="*/ 457573 w 1348412"/>
                          <a:gd name="connsiteY1-84" fmla="*/ 71777 h 1544600"/>
                          <a:gd name="connsiteX2-85" fmla="*/ 1328929 w 1348412"/>
                          <a:gd name="connsiteY2-86" fmla="*/ 718848 h 1544600"/>
                          <a:gd name="connsiteX3-87" fmla="*/ 636249 w 1348412"/>
                          <a:gd name="connsiteY3-88" fmla="*/ 1544594 h 1544600"/>
                          <a:gd name="connsiteX4-89" fmla="*/ 69692 w 1348412"/>
                          <a:gd name="connsiteY4-90" fmla="*/ 708338 h 1544600"/>
                        </a:gdLst>
                        <a:ahLst/>
                        <a:cxnLst>
                          <a:cxn ang="0">
                            <a:pos x="connsiteX0-1" y="connsiteY0-2"/>
                          </a:cxn>
                          <a:cxn ang="0">
                            <a:pos x="connsiteX1-3" y="connsiteY1-4"/>
                          </a:cxn>
                          <a:cxn ang="0">
                            <a:pos x="connsiteX2-5" y="connsiteY2-6"/>
                          </a:cxn>
                          <a:cxn ang="0">
                            <a:pos x="connsiteX3-7" y="connsiteY3-8"/>
                          </a:cxn>
                          <a:cxn ang="0">
                            <a:pos x="connsiteX4-9" y="connsiteY4-10"/>
                          </a:cxn>
                        </a:cxnLst>
                        <a:rect l="l" t="t" r="r" b="b"/>
                        <a:pathLst>
                          <a:path w="1348412" h="1544600">
                            <a:moveTo>
                              <a:pt x="69692" y="708338"/>
                            </a:moveTo>
                            <a:cubicBezTo>
                              <a:pt x="-75700" y="63475"/>
                              <a:pt x="-15058" y="-119162"/>
                              <a:pt x="457573" y="71777"/>
                            </a:cubicBezTo>
                            <a:cubicBezTo>
                              <a:pt x="930204" y="262716"/>
                              <a:pt x="992598" y="3339"/>
                              <a:pt x="1328929" y="718848"/>
                            </a:cubicBezTo>
                            <a:cubicBezTo>
                              <a:pt x="1465564" y="1171598"/>
                              <a:pt x="846122" y="1546346"/>
                              <a:pt x="636249" y="1544594"/>
                            </a:cubicBezTo>
                            <a:cubicBezTo>
                              <a:pt x="426376" y="1542842"/>
                              <a:pt x="215084" y="1353201"/>
                              <a:pt x="69692" y="708338"/>
                            </a:cubicBez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4" name="円/楕円 176"/>
                      <p:cNvSpPr/>
                      <p:nvPr/>
                    </p:nvSpPr>
                    <p:spPr>
                      <a:xfrm>
                        <a:off x="3224219" y="4101354"/>
                        <a:ext cx="229191" cy="8124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5" name="円/楕円 177"/>
                      <p:cNvSpPr/>
                      <p:nvPr/>
                    </p:nvSpPr>
                    <p:spPr>
                      <a:xfrm rot="18723341">
                        <a:off x="3407984" y="4567390"/>
                        <a:ext cx="229191" cy="130795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7" name="円/楕円 178"/>
                      <p:cNvSpPr/>
                      <p:nvPr/>
                    </p:nvSpPr>
                    <p:spPr>
                      <a:xfrm rot="20718969">
                        <a:off x="3190089" y="4306199"/>
                        <a:ext cx="293640" cy="14644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8" name="円/楕円 179"/>
                      <p:cNvSpPr/>
                      <p:nvPr/>
                    </p:nvSpPr>
                    <p:spPr>
                      <a:xfrm>
                        <a:off x="3242593" y="4192523"/>
                        <a:ext cx="229191" cy="8124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9" name="円/楕円 180"/>
                      <p:cNvSpPr/>
                      <p:nvPr/>
                    </p:nvSpPr>
                    <p:spPr>
                      <a:xfrm rot="19105625">
                        <a:off x="3047465" y="4168450"/>
                        <a:ext cx="229191" cy="8124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0" name="円/楕円 181"/>
                      <p:cNvSpPr/>
                      <p:nvPr/>
                    </p:nvSpPr>
                    <p:spPr>
                      <a:xfrm rot="19105625">
                        <a:off x="3084464" y="4258587"/>
                        <a:ext cx="229191" cy="8124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3" name="円/楕円 182"/>
                      <p:cNvSpPr/>
                      <p:nvPr/>
                    </p:nvSpPr>
                    <p:spPr>
                      <a:xfrm rot="16755692">
                        <a:off x="3058967" y="4494801"/>
                        <a:ext cx="292462" cy="10016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4" name="円/楕円 183"/>
                      <p:cNvSpPr/>
                      <p:nvPr/>
                    </p:nvSpPr>
                    <p:spPr>
                      <a:xfrm rot="20206640">
                        <a:off x="3301011" y="4675841"/>
                        <a:ext cx="192498" cy="10369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5" name="円柱 24"/>
                      <p:cNvSpPr/>
                      <p:nvPr/>
                    </p:nvSpPr>
                    <p:spPr>
                      <a:xfrm rot="10800000">
                        <a:off x="3408555" y="4059226"/>
                        <a:ext cx="71152" cy="145111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6" name="円柱 25"/>
                      <p:cNvSpPr/>
                      <p:nvPr/>
                    </p:nvSpPr>
                    <p:spPr>
                      <a:xfrm rot="10474734">
                        <a:off x="3416350" y="4159325"/>
                        <a:ext cx="71151" cy="145111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7" name="円柱 26"/>
                      <p:cNvSpPr/>
                      <p:nvPr/>
                    </p:nvSpPr>
                    <p:spPr>
                      <a:xfrm rot="9758492">
                        <a:off x="3447727" y="4287451"/>
                        <a:ext cx="67222" cy="145111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8" name="円柱 27"/>
                      <p:cNvSpPr/>
                      <p:nvPr/>
                    </p:nvSpPr>
                    <p:spPr>
                      <a:xfrm rot="8504862">
                        <a:off x="3553843" y="4503969"/>
                        <a:ext cx="69949" cy="145111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9" name="円柱 28"/>
                      <p:cNvSpPr/>
                      <p:nvPr/>
                    </p:nvSpPr>
                    <p:spPr>
                      <a:xfrm rot="9906573">
                        <a:off x="3225345" y="4080595"/>
                        <a:ext cx="55239" cy="108823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43" name="円柱 30"/>
                      <p:cNvSpPr/>
                      <p:nvPr/>
                    </p:nvSpPr>
                    <p:spPr>
                      <a:xfrm rot="9906573">
                        <a:off x="3260138" y="4190660"/>
                        <a:ext cx="52223" cy="108823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51" name="円柱 31"/>
                      <p:cNvSpPr/>
                      <p:nvPr/>
                    </p:nvSpPr>
                    <p:spPr>
                      <a:xfrm rot="7547432">
                        <a:off x="3211970" y="4366416"/>
                        <a:ext cx="56335" cy="138593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52" name="円柱 32"/>
                      <p:cNvSpPr/>
                      <p:nvPr/>
                    </p:nvSpPr>
                    <p:spPr>
                      <a:xfrm rot="8499449">
                        <a:off x="3435980" y="4618733"/>
                        <a:ext cx="44830" cy="138593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grpSp>
                  <p:nvGrpSpPr>
                    <p:cNvPr id="53" name="グループ化 40"/>
                    <p:cNvGrpSpPr/>
                    <p:nvPr/>
                  </p:nvGrpSpPr>
                  <p:grpSpPr>
                    <a:xfrm rot="0">
                      <a:off x="8438" y="4243"/>
                      <a:ext cx="869" cy="836"/>
                      <a:chOff x="548845" y="2977005"/>
                      <a:chExt cx="2700000" cy="2700000"/>
                    </a:xfrm>
                  </p:grpSpPr>
                  <p:pic>
                    <p:nvPicPr>
                      <p:cNvPr id="55" name="グラフィックス 41" descr="セキュリティ カメラ 単色塗りつぶし"/>
                      <p:cNvPicPr>
                        <a:picLocks noChangeAspect="1"/>
                      </p:cNvPicPr>
                      <p:nvPr/>
                    </p:nvPicPr>
                    <p:blipFill>
                      <a:blip r:embed="rId1">
                        <a:extLst>
                          <a:ext uri="{96DAC541-7B7A-43D3-8B79-37D633B846F1}">
                            <asvg:svgBlip xmlns:asvg="http://schemas.microsoft.com/office/drawing/2016/SVG/main" r:embed="rId2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 flipH="1">
                        <a:off x="548845" y="2977005"/>
                        <a:ext cx="2700000" cy="2700000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6" name="正方形/長方形 42"/>
                      <p:cNvSpPr/>
                      <p:nvPr/>
                    </p:nvSpPr>
                    <p:spPr>
                      <a:xfrm>
                        <a:off x="2720049" y="3305593"/>
                        <a:ext cx="370390" cy="133877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1400" dirty="0"/>
                      </a:p>
                    </p:txBody>
                  </p:sp>
                </p:grpSp>
              </p:grpSp>
            </p:grpSp>
            <p:sp>
              <p:nvSpPr>
                <p:cNvPr id="57" name="フローチャート: 磁気ディスク 2"/>
                <p:cNvSpPr/>
                <p:nvPr/>
              </p:nvSpPr>
              <p:spPr>
                <a:xfrm>
                  <a:off x="4945" y="3772"/>
                  <a:ext cx="629" cy="819"/>
                </a:xfrm>
                <a:prstGeom prst="flowChartMagneticDisk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pic>
            <p:nvPicPr>
              <p:cNvPr id="58" name="图片 57" descr="cube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40" y="2826"/>
                <a:ext cx="588" cy="588"/>
              </a:xfrm>
              <a:prstGeom prst="rect">
                <a:avLst/>
              </a:prstGeom>
            </p:spPr>
          </p:pic>
        </p:grpSp>
        <p:pic>
          <p:nvPicPr>
            <p:cNvPr id="60" name="图片 59" descr="triangular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06" y="4606"/>
              <a:ext cx="690" cy="690"/>
            </a:xfrm>
            <a:prstGeom prst="rect">
              <a:avLst/>
            </a:prstGeom>
          </p:spPr>
        </p:pic>
      </p:grpSp>
      <p:sp>
        <p:nvSpPr>
          <p:cNvPr id="68" name="文本框 67"/>
          <p:cNvSpPr txBox="1"/>
          <p:nvPr/>
        </p:nvSpPr>
        <p:spPr>
          <a:xfrm>
            <a:off x="220980" y="2953385"/>
            <a:ext cx="47339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Scene:</a:t>
            </a:r>
            <a:endParaRPr lang="en-US" altLang="zh-CN">
              <a:sym typeface="+mn-ea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altLang="zh-CN">
                <a:ea typeface="SimSun" panose="02010600030101010101" pitchFamily="2" charset="-122"/>
                <a:sym typeface="+mn-ea"/>
              </a:rPr>
              <a:t>Grasping different size objects under three conditions</a:t>
            </a:r>
            <a:endParaRPr lang="en-US" altLang="zh-CN">
              <a:ea typeface="SimSun" panose="02010600030101010101" pitchFamily="2" charset="-122"/>
              <a:sym typeface="+mn-ea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5160010" y="369570"/>
            <a:ext cx="3712210" cy="1873250"/>
            <a:chOff x="8126" y="726"/>
            <a:chExt cx="5846" cy="2950"/>
          </a:xfrm>
        </p:grpSpPr>
        <p:sp>
          <p:nvSpPr>
            <p:cNvPr id="79" name="Card1"/>
            <p:cNvSpPr>
              <a:spLocks noGrp="1"/>
            </p:cNvSpPr>
            <p:nvPr/>
          </p:nvSpPr>
          <p:spPr>
            <a:xfrm>
              <a:off x="8126" y="726"/>
              <a:ext cx="5846" cy="2951"/>
            </a:xfrm>
            <a:prstGeom prst="roundRect">
              <a:avLst>
                <a:gd name="adj" fmla="val 0"/>
              </a:avLst>
            </a:prstGeom>
            <a:solidFill>
              <a:srgbClr val="F9F4EE"/>
            </a:solidFill>
            <a:ln w="19050">
              <a:noFill/>
            </a:ln>
          </p:spPr>
          <p:txBody>
            <a:bodyPr lIns="685800" tIns="182880" rIns="182880" bIns="182880" anchor="ctr">
              <a:noAutofit/>
            </a:bodyPr>
            <a:p>
              <a:r>
                <a:rPr lang="en-US" sz="2400" dirty="0">
                  <a:solidFill>
                    <a:srgbClr val="555555"/>
                  </a:solidFill>
                  <a:latin typeface="+mj-lt"/>
                  <a:cs typeface="+mj-lt"/>
                </a:rPr>
                <a:t>   </a:t>
              </a:r>
              <a:endParaRPr lang="en-US" sz="2400" dirty="0">
                <a:solidFill>
                  <a:srgbClr val="555555"/>
                </a:solidFill>
                <a:latin typeface="+mj-lt"/>
                <a:cs typeface="+mj-lt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8377" y="854"/>
              <a:ext cx="52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Condition A: Manual Control</a:t>
              </a:r>
              <a:endParaRPr lang="en-US" altLang="zh-CN"/>
            </a:p>
          </p:txBody>
        </p:sp>
        <p:pic>
          <p:nvPicPr>
            <p:cNvPr id="77" name="图片 76" descr="屏幕截图0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47" y="1533"/>
              <a:ext cx="2108" cy="1901"/>
            </a:xfrm>
            <a:prstGeom prst="rect">
              <a:avLst/>
            </a:prstGeom>
          </p:spPr>
        </p:pic>
      </p:grpSp>
      <p:sp>
        <p:nvSpPr>
          <p:cNvPr id="82" name="Card1"/>
          <p:cNvSpPr>
            <a:spLocks noGrp="1"/>
          </p:cNvSpPr>
          <p:nvPr/>
        </p:nvSpPr>
        <p:spPr>
          <a:xfrm>
            <a:off x="5160010" y="2442210"/>
            <a:ext cx="3712210" cy="1954530"/>
          </a:xfrm>
          <a:prstGeom prst="roundRect">
            <a:avLst>
              <a:gd name="adj" fmla="val 0"/>
            </a:avLst>
          </a:prstGeom>
          <a:solidFill>
            <a:srgbClr val="F9F4EE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</a:t>
            </a:r>
            <a:endParaRPr lang="en-US" sz="2400" dirty="0">
              <a:solidFill>
                <a:srgbClr val="555555"/>
              </a:solidFill>
              <a:latin typeface="+mj-lt"/>
              <a:cs typeface="+mj-lt"/>
            </a:endParaRPr>
          </a:p>
        </p:txBody>
      </p:sp>
      <p:sp>
        <p:nvSpPr>
          <p:cNvPr id="70" name="文本框 69"/>
          <p:cNvSpPr txBox="1"/>
          <p:nvPr>
            <p:custDataLst>
              <p:tags r:id="rId6"/>
            </p:custDataLst>
          </p:nvPr>
        </p:nvSpPr>
        <p:spPr>
          <a:xfrm>
            <a:off x="5319395" y="2528570"/>
            <a:ext cx="3616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Condition B: EMG-Only Control</a:t>
            </a:r>
            <a:endParaRPr lang="en-US" altLang="zh-CN"/>
          </a:p>
        </p:txBody>
      </p:sp>
      <p:pic>
        <p:nvPicPr>
          <p:cNvPr id="78" name="图片 77" descr="屏幕截图 2026-04-29 1620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6145" y="2980690"/>
            <a:ext cx="1998980" cy="1258570"/>
          </a:xfrm>
          <a:prstGeom prst="rect">
            <a:avLst/>
          </a:prstGeom>
        </p:spPr>
      </p:pic>
      <p:sp>
        <p:nvSpPr>
          <p:cNvPr id="85" name="Card1"/>
          <p:cNvSpPr>
            <a:spLocks noGrp="1"/>
          </p:cNvSpPr>
          <p:nvPr/>
        </p:nvSpPr>
        <p:spPr>
          <a:xfrm>
            <a:off x="5160010" y="4645660"/>
            <a:ext cx="3712210" cy="2016125"/>
          </a:xfrm>
          <a:prstGeom prst="roundRect">
            <a:avLst>
              <a:gd name="adj" fmla="val 0"/>
            </a:avLst>
          </a:prstGeom>
          <a:solidFill>
            <a:srgbClr val="F9F4EE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</a:t>
            </a:r>
            <a:endParaRPr lang="en-US" sz="2400" dirty="0">
              <a:solidFill>
                <a:srgbClr val="555555"/>
              </a:solidFill>
              <a:latin typeface="+mj-lt"/>
              <a:cs typeface="+mj-lt"/>
            </a:endParaRPr>
          </a:p>
        </p:txBody>
      </p:sp>
      <p:sp>
        <p:nvSpPr>
          <p:cNvPr id="72" name="文本框 71"/>
          <p:cNvSpPr txBox="1"/>
          <p:nvPr>
            <p:custDataLst>
              <p:tags r:id="rId8"/>
            </p:custDataLst>
          </p:nvPr>
        </p:nvSpPr>
        <p:spPr>
          <a:xfrm>
            <a:off x="5133975" y="4763135"/>
            <a:ext cx="3816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Condition C: Proposed System </a:t>
            </a:r>
            <a:r>
              <a:rPr lang="en-US" altLang="zh-CN" sz="1600">
                <a:sym typeface="+mn-ea"/>
              </a:rPr>
              <a:t>Control</a:t>
            </a:r>
            <a:endParaRPr lang="en-US" altLang="zh-CN" sz="1600"/>
          </a:p>
        </p:txBody>
      </p:sp>
      <p:pic>
        <p:nvPicPr>
          <p:cNvPr id="65" name="图片 64" descr="屏幕截图 3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6145" y="5109845"/>
            <a:ext cx="1998980" cy="1399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>
                <a:latin typeface="Times New Roman" panose="02020603050405020304"/>
                <a:ea typeface="SimSun" panose="02010600030101010101" pitchFamily="2" charset="-122"/>
                <a:sym typeface="+mn-ea"/>
              </a:rPr>
              <a:t>Evaluation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21" name="Divider"/>
          <p:cNvCxnSpPr/>
          <p:nvPr/>
        </p:nvCxnSpPr>
        <p:spPr>
          <a:xfrm>
            <a:off x="4554220" y="895985"/>
            <a:ext cx="40005" cy="5347335"/>
          </a:xfrm>
          <a:prstGeom prst="line">
            <a:avLst/>
          </a:prstGeom>
          <a:ln w="12700" cmpd="sng">
            <a:solidFill>
              <a:srgbClr val="BBCCD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LeftBar"/>
          <p:cNvSpPr>
            <a:spLocks noGrp="1"/>
          </p:cNvSpPr>
          <p:nvPr/>
        </p:nvSpPr>
        <p:spPr>
          <a:xfrm>
            <a:off x="304800" y="950000"/>
            <a:ext cx="1905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201" name="LeftHeader"/>
          <p:cNvSpPr txBox="1"/>
          <p:nvPr/>
        </p:nvSpPr>
        <p:spPr>
          <a:xfrm>
            <a:off x="571500" y="950000"/>
            <a:ext cx="360000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 dirty="0">
                <a:solidFill>
                  <a:srgbClr val="1E3A5F"/>
                </a:solidFill>
                <a:latin typeface="+mj-lt"/>
                <a:ea typeface="SimSun" panose="02010600030101010101" pitchFamily="2" charset="-122"/>
                <a:cs typeface="+mj-lt"/>
              </a:rPr>
              <a:t>Performance</a:t>
            </a:r>
            <a:endParaRPr lang="en-US" altLang="zh-CN" sz="2000" b="1" dirty="0">
              <a:solidFill>
                <a:srgbClr val="1E3A5F"/>
              </a:solidFill>
              <a:latin typeface="+mj-lt"/>
              <a:ea typeface="SimSun" panose="02010600030101010101" pitchFamily="2" charset="-122"/>
              <a:cs typeface="+mj-lt"/>
            </a:endParaRPr>
          </a:p>
        </p:txBody>
      </p:sp>
      <p:sp>
        <p:nvSpPr>
          <p:cNvPr id="300" name="RightBar"/>
          <p:cNvSpPr>
            <a:spLocks noGrp="1"/>
          </p:cNvSpPr>
          <p:nvPr/>
        </p:nvSpPr>
        <p:spPr>
          <a:xfrm>
            <a:off x="4876020" y="950000"/>
            <a:ext cx="190500" cy="457200"/>
          </a:xfrm>
          <a:prstGeom prst="rect">
            <a:avLst/>
          </a:prstGeom>
          <a:solidFill>
            <a:srgbClr val="7A1E5F"/>
          </a:solidFill>
          <a:ln>
            <a:noFill/>
          </a:ln>
        </p:spPr>
        <p:txBody>
          <a:bodyPr/>
          <a:p/>
        </p:txBody>
      </p:sp>
      <p:sp>
        <p:nvSpPr>
          <p:cNvPr id="301" name="RightHeader"/>
          <p:cNvSpPr txBox="1"/>
          <p:nvPr/>
        </p:nvSpPr>
        <p:spPr>
          <a:xfrm>
            <a:off x="5142720" y="950000"/>
            <a:ext cx="360000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 dirty="0">
                <a:solidFill>
                  <a:srgbClr val="7A1E5F"/>
                </a:solidFill>
                <a:latin typeface="+mj-lt"/>
                <a:ea typeface="SimSun" panose="02010600030101010101" pitchFamily="2" charset="-122"/>
                <a:cs typeface="+mj-lt"/>
              </a:rPr>
              <a:t>Cognitive load</a:t>
            </a:r>
            <a:endParaRPr lang="en-US" altLang="zh-CN" sz="2000" b="1" dirty="0">
              <a:solidFill>
                <a:srgbClr val="7A1E5F"/>
              </a:solidFill>
              <a:latin typeface="+mj-lt"/>
              <a:ea typeface="SimSun" panose="02010600030101010101" pitchFamily="2" charset="-122"/>
              <a:cs typeface="+mj-lt"/>
            </a:endParaRPr>
          </a:p>
        </p:txBody>
      </p:sp>
      <p:sp>
        <p:nvSpPr>
          <p:cNvPr id="210" name="Card1"/>
          <p:cNvSpPr>
            <a:spLocks noGrp="1"/>
          </p:cNvSpPr>
          <p:nvPr/>
        </p:nvSpPr>
        <p:spPr>
          <a:xfrm>
            <a:off x="304800" y="1803200"/>
            <a:ext cx="3962400" cy="1500000"/>
          </a:xfrm>
          <a:prstGeom prst="roundRect">
            <a:avLst>
              <a:gd name="adj" fmla="val 0"/>
            </a:avLst>
          </a:prstGeom>
          <a:solidFill>
            <a:srgbClr val="EEF3F8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Task Completion Time</a:t>
            </a:r>
            <a:endParaRPr lang="en-US" sz="2400" dirty="0">
              <a:solidFill>
                <a:srgbClr val="555555"/>
              </a:solidFill>
              <a:latin typeface="+mj-lt"/>
              <a:cs typeface="+mj-lt"/>
            </a:endParaRPr>
          </a:p>
        </p:txBody>
      </p:sp>
      <p:pic>
        <p:nvPicPr>
          <p:cNvPr id="2" name="图片 1" descr="clo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0" y="2248535"/>
            <a:ext cx="609600" cy="609600"/>
          </a:xfrm>
          <a:prstGeom prst="rect">
            <a:avLst/>
          </a:prstGeom>
        </p:spPr>
      </p:pic>
      <p:sp>
        <p:nvSpPr>
          <p:cNvPr id="4" name="Card1"/>
          <p:cNvSpPr>
            <a:spLocks noGrp="1"/>
          </p:cNvSpPr>
          <p:nvPr/>
        </p:nvSpPr>
        <p:spPr>
          <a:xfrm>
            <a:off x="304800" y="3819960"/>
            <a:ext cx="3962400" cy="1500000"/>
          </a:xfrm>
          <a:prstGeom prst="roundRect">
            <a:avLst>
              <a:gd name="adj" fmla="val 0"/>
            </a:avLst>
          </a:prstGeom>
          <a:solidFill>
            <a:srgbClr val="EEF3F8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</a:t>
            </a:r>
            <a:r>
              <a:rPr lang="en-US" altLang="zh-CN" sz="2400" dirty="0">
                <a:solidFill>
                  <a:srgbClr val="555555"/>
                </a:solidFill>
                <a:latin typeface="+mj-lt"/>
                <a:cs typeface="+mj-lt"/>
              </a:rPr>
              <a:t>Grasp Success Rate</a:t>
            </a:r>
            <a:endParaRPr lang="en-US" altLang="zh-CN" sz="2400" dirty="0">
              <a:solidFill>
                <a:srgbClr val="555555"/>
              </a:solidFill>
              <a:latin typeface="+mj-lt"/>
              <a:cs typeface="+mj-lt"/>
            </a:endParaRPr>
          </a:p>
        </p:txBody>
      </p:sp>
      <p:pic>
        <p:nvPicPr>
          <p:cNvPr id="13" name="图片 12" descr="C:/Users/Di/Desktop/achieve-goal (1).pngachieve-goal (1)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6720" y="4265295"/>
            <a:ext cx="609600" cy="609600"/>
          </a:xfrm>
          <a:prstGeom prst="rect">
            <a:avLst/>
          </a:prstGeom>
        </p:spPr>
      </p:pic>
      <p:sp>
        <p:nvSpPr>
          <p:cNvPr id="17" name="Card1"/>
          <p:cNvSpPr>
            <a:spLocks noGrp="1"/>
          </p:cNvSpPr>
          <p:nvPr/>
        </p:nvSpPr>
        <p:spPr>
          <a:xfrm>
            <a:off x="4876165" y="1803200"/>
            <a:ext cx="3962400" cy="1500000"/>
          </a:xfrm>
          <a:prstGeom prst="roundRect">
            <a:avLst>
              <a:gd name="adj" fmla="val 0"/>
            </a:avLst>
          </a:prstGeom>
          <a:solidFill>
            <a:srgbClr val="F5EEF5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</a:t>
            </a:r>
            <a:r>
              <a:rPr lang="en-US" altLang="zh-CN" sz="2400" dirty="0">
                <a:solidFill>
                  <a:srgbClr val="555555"/>
                </a:solidFill>
                <a:latin typeface="+mj-lt"/>
                <a:cs typeface="+mj-lt"/>
              </a:rPr>
              <a:t>NASA-TLX [6]</a:t>
            </a:r>
            <a:endParaRPr lang="en-US" altLang="zh-CN" sz="2400" dirty="0">
              <a:solidFill>
                <a:srgbClr val="555555"/>
              </a:solidFill>
              <a:latin typeface="+mj-lt"/>
              <a:cs typeface="+mj-lt"/>
            </a:endParaRPr>
          </a:p>
        </p:txBody>
      </p:sp>
      <p:pic>
        <p:nvPicPr>
          <p:cNvPr id="18" name="图片 17" descr="C:/Users/Di/Desktop/exam.pngexam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66665" y="2248535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Summary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6705" y="1186815"/>
            <a:ext cx="8195945" cy="2444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Unlike traditional modular pipelines, our system adopts an end-to-end approach that directly maps raw multimodal signals to control outputs.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A regression model is used instead of a classifier, enabling continuous and real-time grasping adjustment.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Based on a shared control, the system autonomously handles the low-level details of the control task, reducing the cognitive load on the user.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220980" y="39350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Next Steps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6705" y="4756150"/>
            <a:ext cx="7856855" cy="10858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I will build a regression model using single camera input to establish a working pipeline. And then, EMG sensors will be introduced to extend the system toward full multimodal end-to-end control.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192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590" y="902970"/>
            <a:ext cx="8529955" cy="5598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[1] </a:t>
            </a:r>
            <a:r>
              <a:rPr lang="en-US" altLang="zh-CN" sz="1600" dirty="0">
                <a:sym typeface="+mn-ea"/>
              </a:rPr>
              <a:t>McDonald C L, Westcott-McCoy S, Weaver M R, et al. Global prevalence of traumatic non-fatal limb amputation[J]. Prosthetics and orthotics international, 2021, 45(2): 105-114.</a:t>
            </a:r>
            <a:endParaRPr lang="en-US" altLang="zh-CN" sz="1600" dirty="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 dirty="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[2] </a:t>
            </a:r>
            <a:r>
              <a:rPr lang="en-US" altLang="zh-CN" sz="1600"/>
              <a:t>Chen, Z., Min, H., Wang, D., Xia, Z., Sun, F., &amp; Fang, B. (2023). A review of myoelectric control for prosthetic hand manipulation. Biomimetics, 8(3), 328.</a:t>
            </a: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[3] </a:t>
            </a:r>
            <a:r>
              <a:rPr lang="en-US" altLang="zh-CN" sz="1600"/>
              <a:t>V</a:t>
            </a:r>
            <a:r>
              <a:rPr lang="en-US" altLang="en-US" sz="1600"/>
              <a:t>á</a:t>
            </a:r>
            <a:r>
              <a:rPr lang="en-US" altLang="zh-CN" sz="1600"/>
              <a:t>sconez, J. P., Barona L</a:t>
            </a:r>
            <a:r>
              <a:rPr lang="en-US" altLang="en-US" sz="1600"/>
              <a:t>ó</a:t>
            </a:r>
            <a:r>
              <a:rPr lang="en-US" altLang="zh-CN" sz="1600"/>
              <a:t>pez, L. I., Valdivieso Caraguay, </a:t>
            </a:r>
            <a:r>
              <a:rPr lang="en-US" altLang="en-US" sz="1600"/>
              <a:t>Á. </a:t>
            </a:r>
            <a:r>
              <a:rPr lang="en-US" altLang="zh-CN" sz="1600"/>
              <a:t>L., &amp; Benalc</a:t>
            </a:r>
            <a:r>
              <a:rPr lang="en-US" altLang="en-US" sz="1600"/>
              <a:t>á</a:t>
            </a:r>
            <a:r>
              <a:rPr lang="en-US" altLang="zh-CN" sz="1600"/>
              <a:t>zar, M. E. (2022). Hand gesture recognition using EMG-IMU signals and deep q-networks. Sensors, 22(24), 9613.</a:t>
            </a: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[4] </a:t>
            </a:r>
            <a:r>
              <a:rPr lang="en-US" altLang="zh-CN" sz="1600">
                <a:sym typeface="+mn-ea"/>
              </a:rPr>
              <a:t>Zandigohar, M., Han, M., Sharif, M., G</a:t>
            </a:r>
            <a:r>
              <a:rPr lang="en-US" altLang="en-US" sz="1600">
                <a:sym typeface="+mn-ea"/>
              </a:rPr>
              <a:t>ü</a:t>
            </a:r>
            <a:r>
              <a:rPr lang="en-US" altLang="zh-CN" sz="1600">
                <a:sym typeface="+mn-ea"/>
              </a:rPr>
              <a:t>nay, S. Y., Furmanek, M. P., Yarossi, M., ... &amp; Schirner, G. (2024). Multimodal fusion of EMG and vision for human grasp intent inference in prosthetic hand control. Frontiers in Robotics and AI, 11, 1312554.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[5] </a:t>
            </a:r>
            <a:r>
              <a:rPr lang="en-US" altLang="zh-CN" sz="1600">
                <a:sym typeface="+mn-ea"/>
              </a:rPr>
              <a:t>Salminger, S., Stino, H., Pichler, L. H., Gstoettner, C., Sturma, A., Mayer, J. A., ... &amp; Aszmann, O. C. (2022). Current rates of prosthetic usage in upper-limb amputees–have innovations had an impact on device acceptance?. Disability and rehabilitation, 44(14), 3708-3713.</a:t>
            </a: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endParaRPr lang="en-US" altLang="zh-CN" sz="1600" dirty="0"/>
          </a:p>
          <a:p>
            <a:pPr marL="0" indent="0" fontAlgn="t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ym typeface="+mn-ea"/>
              </a:rPr>
              <a:t>[6] </a:t>
            </a:r>
            <a:r>
              <a:rPr lang="en-US" altLang="zh-CN" sz="1600">
                <a:solidFill>
                  <a:srgbClr val="222222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+mn-ea"/>
              </a:rPr>
              <a:t>Hart, S. G., &amp; Staveland, L. E. (1988). Development of NASA-TLX (Task Load Index): Results of empirical and theoretical research. In Advances in psychology (Vol. 52, pp. 139-183). North-holland.</a:t>
            </a:r>
            <a:endParaRPr lang="en-US" altLang="zh-CN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2.xml><?xml version="1.0" encoding="utf-8"?>
<p:tagLst xmlns:p="http://schemas.openxmlformats.org/presentationml/2006/main">
  <p:tag name="KSO_WM_DIAGRAM_VIRTUALLY_FRAME" val="{&quot;height&quot;:278.25,&quot;left&quot;:12.9,&quot;top&quot;:181.15,&quot;width&quot;:1501.65}"/>
</p:tagLst>
</file>

<file path=ppt/tags/tag3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4.xml><?xml version="1.0" encoding="utf-8"?>
<p:tagLst xmlns:p="http://schemas.openxmlformats.org/presentationml/2006/main">
  <p:tag name="KSO_WM_DIAGRAM_VIRTUALLY_FRAME" val="{&quot;height&quot;:278.25,&quot;left&quot;:12.9,&quot;top&quot;:181.15,&quot;width&quot;:770.7}"/>
</p:tagLst>
</file>

<file path=ppt/tags/tag5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6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7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8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9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10.xml><?xml version="1.0" encoding="utf-8"?>
<p:tagLst xmlns:p="http://schemas.openxmlformats.org/presentationml/2006/main">
  <p:tag name="KSO_WM_DIAGRAM_VIRTUALLY_FRAME" val="{&quot;height&quot;:278.25,&quot;left&quot;:12.9,&quot;top&quot;:181.15,&quot;width&quot;:1501.65}"/>
</p:tagLst>
</file>

<file path=ppt/tags/tag11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12.xml><?xml version="1.0" encoding="utf-8"?>
<p:tagLst xmlns:p="http://schemas.openxmlformats.org/presentationml/2006/main">
  <p:tag name="KSO_WM_DIAGRAM_VIRTUALLY_FRAME" val="{&quot;height&quot;:278.25,&quot;left&quot;:12.9,&quot;top&quot;:181.15,&quot;width&quot;:770.7}"/>
</p:tagLst>
</file>

<file path=ppt/tags/tag13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14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15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16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17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18.xml><?xml version="1.0" encoding="utf-8"?>
<p:tagLst xmlns:p="http://schemas.openxmlformats.org/presentationml/2006/main">
  <p:tag name="KSO_WM_DIAGRAM_VIRTUALLY_FRAME" val="{&quot;height&quot;:278.25,&quot;left&quot;:12.9,&quot;top&quot;:181.15,&quot;width&quot;:1501.65}"/>
</p:tagLst>
</file>

<file path=ppt/tags/tag19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20.xml><?xml version="1.0" encoding="utf-8"?>
<p:tagLst xmlns:p="http://schemas.openxmlformats.org/presentationml/2006/main">
  <p:tag name="KSO_WM_DIAGRAM_VIRTUALLY_FRAME" val="{&quot;height&quot;:278.25,&quot;left&quot;:12.9,&quot;top&quot;:181.15,&quot;width&quot;:770.7}"/>
</p:tagLst>
</file>

<file path=ppt/tags/tag21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22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23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24.xml><?xml version="1.0" encoding="utf-8"?>
<p:tagLst xmlns:p="http://schemas.openxmlformats.org/presentationml/2006/main">
  <p:tag name="KSO_WM_DIAGRAM_VIRTUALLY_FRAME" val="{&quot;height&quot;:382.75,&quot;left&quot;:12.9,&quot;top&quot;:181.15,&quot;width&quot;:1501.65}"/>
</p:tagLst>
</file>

<file path=ppt/tags/tag25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26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27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28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29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30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31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2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3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4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5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6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7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8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9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40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41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42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43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44.xml><?xml version="1.0" encoding="utf-8"?>
<p:tagLst xmlns:p="http://schemas.openxmlformats.org/presentationml/2006/main">
  <p:tag name="KSO_WM_DIAGRAM_VIRTUALLY_FRAME" val="{&quot;height&quot;:294.05,&quot;left&quot;:382.85,&quot;top&quot;:206.6,&quot;width&quot;:321.5}"/>
</p:tagLst>
</file>

<file path=ppt/tags/tag45.xml><?xml version="1.0" encoding="utf-8"?>
<p:tagLst xmlns:p="http://schemas.openxmlformats.org/presentationml/2006/main">
  <p:tag name="KSO_WM_DIAGRAM_VIRTUALLY_FRAME" val="{&quot;height&quot;:294.05,&quot;left&quot;:382.85,&quot;top&quot;:206.6,&quot;width&quot;:321.5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a3c59a-3bb1-4ac4-8580-9b2ba74cfe5b">
      <Terms xmlns="http://schemas.microsoft.com/office/infopath/2007/PartnerControls"/>
    </lcf76f155ced4ddcb4097134ff3c332f>
    <TaxCatchAll xmlns="56bf2a1e-b0f5-401e-a825-4d0cd333482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EEA4EB4B1C87045B2C7B9E34AE6DFF4" ma:contentTypeVersion="19" ma:contentTypeDescription="新しいドキュメントを作成します。" ma:contentTypeScope="" ma:versionID="195f4af887e8b02337b1b142d1f847de">
  <xsd:schema xmlns:xsd="http://www.w3.org/2001/XMLSchema" xmlns:xs="http://www.w3.org/2001/XMLSchema" xmlns:p="http://schemas.microsoft.com/office/2006/metadata/properties" xmlns:ns2="c8a3c59a-3bb1-4ac4-8580-9b2ba74cfe5b" xmlns:ns3="56bf2a1e-b0f5-401e-a825-4d0cd333482d" targetNamespace="http://schemas.microsoft.com/office/2006/metadata/properties" ma:root="true" ma:fieldsID="81e6449237d2fc142489e0904e1e7166" ns2:_="" ns3:_="">
    <xsd:import namespace="c8a3c59a-3bb1-4ac4-8580-9b2ba74cfe5b"/>
    <xsd:import namespace="56bf2a1e-b0f5-401e-a825-4d0cd33348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3c59a-3bb1-4ac4-8580-9b2ba74cf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60da577d-8c11-42e1-9807-59d1f71190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f2a1e-b0f5-401e-a825-4d0cd333482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b7adad-3fb7-4e7a-8b83-8b41f07d25c8}" ma:internalName="TaxCatchAll" ma:showField="CatchAllData" ma:web="56bf2a1e-b0f5-401e-a825-4d0cd33348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46.xml><?xml version="1.0" encoding="utf-8"?>
<ds:datastoreItem xmlns:ds="http://schemas.openxmlformats.org/officeDocument/2006/customXml" ds:itemID="{D3FA7E84-7FC5-4C41-A4F9-8872414BB2F4}">
  <ds:schemaRefs/>
</ds:datastoreItem>
</file>

<file path=customXml/itemProps47.xml><?xml version="1.0" encoding="utf-8"?>
<ds:datastoreItem xmlns:ds="http://schemas.openxmlformats.org/officeDocument/2006/customXml" ds:itemID="{0E5148B6-4531-42C7-8EF9-49C77F467C6E}">
  <ds:schemaRefs/>
</ds:datastoreItem>
</file>

<file path=customXml/itemProps48.xml><?xml version="1.0" encoding="utf-8"?>
<ds:datastoreItem xmlns:ds="http://schemas.openxmlformats.org/officeDocument/2006/customXml" ds:itemID="{9FF3F963-4824-4617-9390-F81F48A450C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4209</Words>
  <Application>WPS 演示</Application>
  <PresentationFormat>画面に合わせる (4:3)</PresentationFormat>
  <Paragraphs>169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Source Han Sans JP Bold</vt:lpstr>
      <vt:lpstr>Source Han Sans JP</vt:lpstr>
      <vt:lpstr>Times New Roman</vt:lpstr>
      <vt:lpstr>Calibri</vt:lpstr>
      <vt:lpstr>Wingdings</vt:lpstr>
      <vt:lpstr>MS PGothic</vt:lpstr>
      <vt:lpstr>Arial</vt:lpstr>
      <vt:lpstr>Microsoft YaHei</vt:lpstr>
      <vt:lpstr>Arial Unicode MS</vt:lpstr>
      <vt:lpstr>Calibri</vt:lpstr>
      <vt:lpstr>Source Han Sans JP Bold</vt:lpstr>
      <vt:lpstr>Wonder Sans Bold</vt:lpstr>
      <vt:lpstr>Office テーマ</vt:lpstr>
      <vt:lpstr>End-to-End Multimodal Learning for Continuous Prosthetic Hand Control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24742101 石津七海</dc:creator>
  <cp:lastModifiedBy>down down down down down</cp:lastModifiedBy>
  <cp:revision>281</cp:revision>
  <dcterms:created xsi:type="dcterms:W3CDTF">2025-10-02T04:01:00Z</dcterms:created>
  <dcterms:modified xsi:type="dcterms:W3CDTF">2026-06-04T09:25:27Z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0x010100EEEA4EB4B1C87045B2C7B9E34AE6DFF4</vt:lpwstr>
  </property>
  <property fmtid="{D5CDD505-2E9C-101B-9397-08002B2CF9AE}" pid="3" name="ICV">
    <vt:lpwstr>B70015103C7249FE8210DA285DD4FDE3_12</vt:lpwstr>
  </property>
  <property fmtid="{D5CDD505-2E9C-101B-9397-08002B2CF9AE}" pid="4" name="KSOProductBuildVer">
    <vt:lpwstr>2052-12.1.0.26375</vt:lpwstr>
  </property>
</Properties>
</file>