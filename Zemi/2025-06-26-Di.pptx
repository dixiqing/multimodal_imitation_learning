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74" r:id="rId3"/>
    <p:sldId id="576" r:id="rId5"/>
    <p:sldId id="578" r:id="rId6"/>
    <p:sldId id="579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090F"/>
    <a:srgbClr val="E40D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4CCE7-0FC9-4530-99D9-387BB353FE33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25247-BA80-4874-A379-0474C37CDF2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Relationship Id="rId3" Type="http://schemas.openxmlformats.org/officeDocument/2006/relationships/image" Target="../media/image7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764144" y="1089890"/>
            <a:ext cx="8663709" cy="1572563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Prosthetic Hand Control System depends on Eye Tracking, Computer Vision, and EMG</a:t>
            </a:r>
            <a:endParaRPr kumimoji="1" lang="ja-JP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489199" y="3786370"/>
            <a:ext cx="72136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Saga University</a:t>
            </a:r>
            <a:endParaRPr lang="en-US" altLang="ja-JP" sz="2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</a:rPr>
              <a:t>Computer Science &amp; Information Techology</a:t>
            </a:r>
            <a:endParaRPr lang="en-US" altLang="zh-CN" sz="2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altLang="ja-JP" sz="2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25742102 DI XIQING</a:t>
            </a:r>
            <a:endParaRPr lang="en-US" altLang="ja-JP" sz="2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Professor Osamu Fukuda</a:t>
            </a:r>
            <a:r>
              <a:rPr lang="ja-JP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，</a:t>
            </a:r>
            <a:r>
              <a:rPr lang="en-US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Yeoh Wen Liang</a:t>
            </a:r>
            <a:endParaRPr lang="en-US" altLang="ja-JP" sz="2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ＭＳ Ｐ明朝" panose="02020600040205080304" charset="-128"/>
                <a:ea typeface="ＭＳ Ｐ明朝" panose="02020600040205080304" charset="-128"/>
              </a:rPr>
              <a:t> Complete System</a:t>
            </a:r>
            <a:endParaRPr lang="ja-JP" altLang="en-US" dirty="0">
              <a:latin typeface="ＭＳ Ｐ明朝" panose="02020600040205080304" charset="-128"/>
              <a:ea typeface="ＭＳ Ｐ明朝" panose="02020600040205080304" charset="-128"/>
              <a:sym typeface="+mn-ea"/>
            </a:endParaRPr>
          </a:p>
        </p:txBody>
      </p:sp>
      <p:pic>
        <p:nvPicPr>
          <p:cNvPr id="5" name="图片 4" descr="QQ20250624-1502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590" y="2644775"/>
            <a:ext cx="7432040" cy="3616325"/>
          </a:xfrm>
          <a:prstGeom prst="rect">
            <a:avLst/>
          </a:prstGeom>
        </p:spPr>
      </p:pic>
      <p:pic>
        <p:nvPicPr>
          <p:cNvPr id="4" name="图片 3" descr="FB9A199272426DB97A9FE504BDB10F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955" y="3345180"/>
            <a:ext cx="2903220" cy="2851150"/>
          </a:xfrm>
          <a:prstGeom prst="rect">
            <a:avLst/>
          </a:prstGeom>
        </p:spPr>
      </p:pic>
      <p:sp>
        <p:nvSpPr>
          <p:cNvPr id="9" name="文本框 15"/>
          <p:cNvSpPr txBox="1"/>
          <p:nvPr/>
        </p:nvSpPr>
        <p:spPr>
          <a:xfrm>
            <a:off x="275590" y="859790"/>
            <a:ext cx="4819015" cy="445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 dirty="0">
                <a:latin typeface="ＭＳ Ｐ明朝" panose="02020600040205080304" charset="-128"/>
                <a:ea typeface="ＭＳ Ｐ明朝" panose="02020600040205080304" charset="-128"/>
                <a:cs typeface="ＭＳ Ｐ明朝" panose="02020600040205080304" charset="-128"/>
                <a:sym typeface="+mn-ea"/>
              </a:rPr>
              <a:t>Complete system flowchart:</a:t>
            </a:r>
            <a:endParaRPr lang="en-US" altLang="zh-CN" sz="2000"/>
          </a:p>
          <a:p>
            <a:endParaRPr lang="en-US" altLang="zh-CN" sz="2000" dirty="0">
              <a:latin typeface="ＭＳ Ｐ明朝" panose="02020600040205080304" charset="-128"/>
              <a:ea typeface="ＭＳ Ｐ明朝" panose="02020600040205080304" charset="-128"/>
              <a:cs typeface="ＭＳ Ｐ明朝" panose="02020600040205080304" charset="-128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5965" y="1380490"/>
            <a:ext cx="6070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altLang="zh-CN" sz="2000" dirty="0">
                <a:latin typeface="ＭＳ Ｐ明朝" panose="02020600040205080304" charset="-128"/>
                <a:ea typeface="ＭＳ Ｐ明朝" panose="02020600040205080304" charset="-128"/>
                <a:cs typeface="ＭＳ Ｐ明朝" panose="02020600040205080304" charset="-128"/>
              </a:rPr>
              <a:t>EMG module : Hand movement recognition</a:t>
            </a:r>
            <a:endParaRPr lang="en-US" altLang="zh-CN" sz="2000" dirty="0">
              <a:latin typeface="ＭＳ Ｐ明朝" panose="02020600040205080304" charset="-128"/>
              <a:ea typeface="ＭＳ Ｐ明朝" panose="02020600040205080304" charset="-128"/>
              <a:cs typeface="ＭＳ Ｐ明朝" panose="02020600040205080304" charset="-128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35965" y="1906270"/>
            <a:ext cx="6070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altLang="zh-CN" sz="2000" dirty="0">
                <a:latin typeface="ＭＳ Ｐ明朝" panose="02020600040205080304" charset="-128"/>
                <a:ea typeface="ＭＳ Ｐ明朝" panose="02020600040205080304" charset="-128"/>
                <a:cs typeface="ＭＳ Ｐ明朝" panose="02020600040205080304" charset="-128"/>
              </a:rPr>
              <a:t>Vision module : Object Tracking</a:t>
            </a:r>
            <a:endParaRPr lang="en-US" altLang="zh-CN" sz="2000" dirty="0">
              <a:latin typeface="ＭＳ Ｐ明朝" panose="02020600040205080304" charset="-128"/>
              <a:ea typeface="ＭＳ Ｐ明朝" panose="02020600040205080304" charset="-128"/>
              <a:cs typeface="ＭＳ Ｐ明朝" panose="02020600040205080304" charset="-128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529955" y="6196330"/>
            <a:ext cx="30454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None/>
            </a:pPr>
            <a:r>
              <a:rPr lang="en-US" altLang="zh-CN" sz="1200" dirty="0">
                <a:latin typeface="ＭＳ Ｐ明朝" panose="02020600040205080304" charset="-128"/>
                <a:ea typeface="ＭＳ Ｐ明朝" panose="02020600040205080304" charset="-128"/>
                <a:cs typeface="ＭＳ Ｐ明朝" panose="02020600040205080304" charset="-128"/>
              </a:rPr>
              <a:t>EMG sensor</a:t>
            </a:r>
            <a:endParaRPr lang="en-US" altLang="zh-CN" sz="1200" dirty="0">
              <a:latin typeface="ＭＳ Ｐ明朝" panose="02020600040205080304" charset="-128"/>
              <a:ea typeface="ＭＳ Ｐ明朝" panose="02020600040205080304" charset="-128"/>
              <a:cs typeface="ＭＳ Ｐ明朝" panose="02020600040205080304" charset="-128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48535" y="6196330"/>
            <a:ext cx="30454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None/>
            </a:pPr>
            <a:r>
              <a:rPr lang="en-US" altLang="zh-CN" sz="1200" dirty="0">
                <a:latin typeface="ＭＳ Ｐ明朝" panose="02020600040205080304" charset="-128"/>
                <a:ea typeface="ＭＳ Ｐ明朝" panose="02020600040205080304" charset="-128"/>
                <a:cs typeface="ＭＳ Ｐ明朝" panose="02020600040205080304" charset="-128"/>
              </a:rPr>
              <a:t>System flowchart</a:t>
            </a:r>
            <a:endParaRPr lang="en-US" altLang="zh-CN" sz="1200" dirty="0">
              <a:latin typeface="ＭＳ Ｐ明朝" panose="02020600040205080304" charset="-128"/>
              <a:ea typeface="ＭＳ Ｐ明朝" panose="02020600040205080304" charset="-128"/>
              <a:cs typeface="ＭＳ Ｐ明朝" panose="02020600040205080304" charset="-128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ＭＳ Ｐ明朝" panose="02020600040205080304" charset="-128"/>
                <a:ea typeface="ＭＳ Ｐ明朝" panose="02020600040205080304" charset="-128"/>
              </a:rPr>
              <a:t> Movement Recognition</a:t>
            </a:r>
            <a:endParaRPr lang="ja-JP" altLang="en-US" dirty="0">
              <a:latin typeface="ＭＳ Ｐ明朝" panose="02020600040205080304" charset="-128"/>
              <a:ea typeface="ＭＳ Ｐ明朝" panose="02020600040205080304" charset="-128"/>
              <a:sym typeface="+mn-ea"/>
            </a:endParaRPr>
          </a:p>
        </p:txBody>
      </p:sp>
      <p:sp>
        <p:nvSpPr>
          <p:cNvPr id="9" name="文本框 15"/>
          <p:cNvSpPr txBox="1"/>
          <p:nvPr/>
        </p:nvSpPr>
        <p:spPr>
          <a:xfrm>
            <a:off x="274955" y="791210"/>
            <a:ext cx="4819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ＭＳ Ｐ明朝" panose="02020600040205080304" charset="-128"/>
                <a:ea typeface="ＭＳ Ｐ明朝" panose="02020600040205080304" charset="-128"/>
                <a:cs typeface="ＭＳ Ｐ明朝" panose="02020600040205080304" charset="-128"/>
                <a:sym typeface="+mn-ea"/>
              </a:rPr>
              <a:t>4 type of </a:t>
            </a:r>
            <a:r>
              <a:rPr lang="en-US" altLang="zh-CN" sz="1800" b="1" dirty="0">
                <a:latin typeface="ＭＳ Ｐ明朝" panose="02020600040205080304" charset="-128"/>
                <a:ea typeface="ＭＳ Ｐ明朝" panose="02020600040205080304" charset="-128"/>
                <a:cs typeface="ＭＳ Ｐ明朝" panose="02020600040205080304" charset="-128"/>
                <a:sym typeface="+mn-ea"/>
              </a:rPr>
              <a:t>movement </a:t>
            </a:r>
            <a:r>
              <a:rPr lang="en-US" altLang="zh-CN" sz="2000" b="1" dirty="0">
                <a:latin typeface="ＭＳ Ｐ明朝" panose="02020600040205080304" charset="-128"/>
                <a:ea typeface="ＭＳ Ｐ明朝" panose="02020600040205080304" charset="-128"/>
                <a:cs typeface="ＭＳ Ｐ明朝" panose="02020600040205080304" charset="-128"/>
                <a:sym typeface="+mn-ea"/>
              </a:rPr>
              <a:t>recognition :</a:t>
            </a:r>
            <a:endParaRPr lang="en-US" altLang="zh-CN" sz="2000" dirty="0">
              <a:latin typeface="ＭＳ Ｐ明朝" panose="02020600040205080304" charset="-128"/>
              <a:ea typeface="ＭＳ Ｐ明朝" panose="02020600040205080304" charset="-128"/>
              <a:cs typeface="ＭＳ Ｐ明朝" panose="02020600040205080304" charset="-128"/>
              <a:sym typeface="+mn-ea"/>
            </a:endParaRPr>
          </a:p>
        </p:txBody>
      </p:sp>
      <p:pic>
        <p:nvPicPr>
          <p:cNvPr id="8" name="dem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355965" y="859790"/>
            <a:ext cx="3313430" cy="5890895"/>
          </a:xfrm>
          <a:prstGeom prst="rect">
            <a:avLst/>
          </a:prstGeom>
        </p:spPr>
      </p:pic>
      <p:sp>
        <p:nvSpPr>
          <p:cNvPr id="11" name="文本框 15"/>
          <p:cNvSpPr txBox="1"/>
          <p:nvPr/>
        </p:nvSpPr>
        <p:spPr>
          <a:xfrm>
            <a:off x="630555" y="1202055"/>
            <a:ext cx="71958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latin typeface="ＭＳ Ｐ明朝" panose="02020600040205080304" charset="-128"/>
                <a:ea typeface="ＭＳ Ｐ明朝" panose="02020600040205080304" charset="-128"/>
                <a:cs typeface="ＭＳ Ｐ明朝" panose="02020600040205080304" charset="-128"/>
                <a:sym typeface="+mn-ea"/>
              </a:rPr>
              <a:t>1.Close (make fist)</a:t>
            </a:r>
            <a:endParaRPr lang="en-US" altLang="zh-CN" dirty="0">
              <a:latin typeface="ＭＳ Ｐ明朝" panose="02020600040205080304" charset="-128"/>
              <a:ea typeface="ＭＳ Ｐ明朝" panose="02020600040205080304" charset="-128"/>
              <a:cs typeface="ＭＳ Ｐ明朝" panose="02020600040205080304" charset="-128"/>
              <a:sym typeface="+mn-ea"/>
            </a:endParaRPr>
          </a:p>
          <a:p>
            <a:r>
              <a:rPr lang="en-US" altLang="zh-CN" dirty="0">
                <a:latin typeface="ＭＳ Ｐ明朝" panose="02020600040205080304" charset="-128"/>
                <a:ea typeface="SimSun" panose="02010600030101010101" pitchFamily="2" charset="-122"/>
                <a:cs typeface="ＭＳ Ｐ明朝" panose="02020600040205080304" charset="-128"/>
                <a:sym typeface="+mn-ea"/>
              </a:rPr>
              <a:t>2.Open (spread finger)</a:t>
            </a:r>
            <a:endParaRPr lang="en-US" altLang="zh-CN" dirty="0">
              <a:latin typeface="ＭＳ Ｐ明朝" panose="02020600040205080304" charset="-128"/>
              <a:ea typeface="SimSun" panose="02010600030101010101" pitchFamily="2" charset="-122"/>
              <a:cs typeface="ＭＳ Ｐ明朝" panose="02020600040205080304" charset="-128"/>
              <a:sym typeface="+mn-ea"/>
            </a:endParaRPr>
          </a:p>
          <a:p>
            <a:r>
              <a:rPr lang="en-US" altLang="zh-CN" dirty="0">
                <a:latin typeface="ＭＳ Ｐ明朝" panose="02020600040205080304" charset="-128"/>
                <a:ea typeface="SimSun" panose="02010600030101010101" pitchFamily="2" charset="-122"/>
                <a:cs typeface="ＭＳ Ｐ明朝" panose="02020600040205080304" charset="-128"/>
                <a:sym typeface="+mn-ea"/>
              </a:rPr>
              <a:t>3.Left (palm bent upward)</a:t>
            </a:r>
            <a:endParaRPr lang="en-US" altLang="zh-CN" dirty="0">
              <a:latin typeface="ＭＳ Ｐ明朝" panose="02020600040205080304" charset="-128"/>
              <a:ea typeface="SimSun" panose="02010600030101010101" pitchFamily="2" charset="-122"/>
              <a:cs typeface="ＭＳ Ｐ明朝" panose="02020600040205080304" charset="-128"/>
              <a:sym typeface="+mn-ea"/>
            </a:endParaRPr>
          </a:p>
          <a:p>
            <a:r>
              <a:rPr lang="en-US" altLang="zh-CN" dirty="0">
                <a:latin typeface="ＭＳ Ｐ明朝" panose="02020600040205080304" charset="-128"/>
                <a:ea typeface="SimSun" panose="02010600030101010101" pitchFamily="2" charset="-122"/>
                <a:cs typeface="ＭＳ Ｐ明朝" panose="02020600040205080304" charset="-128"/>
                <a:sym typeface="+mn-ea"/>
              </a:rPr>
              <a:t>4.Right (palm bent downward)</a:t>
            </a:r>
            <a:endParaRPr lang="en-US" altLang="zh-CN" dirty="0">
              <a:latin typeface="ＭＳ Ｐ明朝" panose="02020600040205080304" charset="-128"/>
              <a:ea typeface="SimSun" panose="02010600030101010101" pitchFamily="2" charset="-122"/>
              <a:cs typeface="ＭＳ Ｐ明朝" panose="02020600040205080304" charset="-128"/>
              <a:sym typeface="+mn-ea"/>
            </a:endParaRPr>
          </a:p>
        </p:txBody>
      </p:sp>
      <p:sp>
        <p:nvSpPr>
          <p:cNvPr id="3" name="文本框 15"/>
          <p:cNvSpPr txBox="1"/>
          <p:nvPr/>
        </p:nvSpPr>
        <p:spPr>
          <a:xfrm>
            <a:off x="274955" y="2898775"/>
            <a:ext cx="4819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latin typeface="ＭＳ Ｐ明朝" panose="02020600040205080304" charset="-128"/>
                <a:ea typeface="ＭＳ Ｐ明朝" panose="02020600040205080304" charset="-128"/>
                <a:cs typeface="ＭＳ Ｐ明朝" panose="02020600040205080304" charset="-128"/>
                <a:sym typeface="+mn-ea"/>
              </a:rPr>
              <a:t>4 channel :</a:t>
            </a:r>
            <a:endParaRPr lang="en-US" altLang="zh-CN" sz="2000" dirty="0">
              <a:latin typeface="ＭＳ Ｐ明朝" panose="02020600040205080304" charset="-128"/>
              <a:ea typeface="ＭＳ Ｐ明朝" panose="02020600040205080304" charset="-128"/>
              <a:cs typeface="ＭＳ Ｐ明朝" panose="02020600040205080304" charset="-128"/>
              <a:sym typeface="+mn-ea"/>
            </a:endParaRPr>
          </a:p>
        </p:txBody>
      </p:sp>
      <p:pic>
        <p:nvPicPr>
          <p:cNvPr id="4" name="图片 3" descr="BAA72AC97D7B72F9AE9CFE1A905D00F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" y="3420745"/>
            <a:ext cx="2443480" cy="3258820"/>
          </a:xfrm>
          <a:prstGeom prst="rect">
            <a:avLst/>
          </a:prstGeom>
        </p:spPr>
      </p:pic>
      <p:pic>
        <p:nvPicPr>
          <p:cNvPr id="12" name="图片 11" descr="217EBA3B85B2774593CD302FCD514C6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095" y="3420745"/>
            <a:ext cx="2428875" cy="3239770"/>
          </a:xfrm>
          <a:prstGeom prst="rect">
            <a:avLst/>
          </a:prstGeom>
        </p:spPr>
      </p:pic>
      <p:pic>
        <p:nvPicPr>
          <p:cNvPr id="13" name="图片 12" descr="902A0B49DA32FF2F2F70813C419BA3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670" y="3420745"/>
            <a:ext cx="2446655" cy="326263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video fullScrn="0">
              <p:cMediaNode vol="41000">
                <p:cTn id="2" fill="hold" display="1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ＭＳ Ｐ明朝" panose="02020600040205080304" charset="-128"/>
                <a:ea typeface="ＭＳ Ｐ明朝" panose="02020600040205080304" charset="-128"/>
              </a:rPr>
              <a:t> Next step</a:t>
            </a:r>
            <a:endParaRPr lang="ja-JP" altLang="en-US" dirty="0">
              <a:latin typeface="ＭＳ Ｐ明朝" panose="02020600040205080304" charset="-128"/>
              <a:ea typeface="ＭＳ Ｐ明朝" panose="02020600040205080304" charset="-128"/>
              <a:sym typeface="+mn-ea"/>
            </a:endParaRPr>
          </a:p>
        </p:txBody>
      </p:sp>
      <p:sp>
        <p:nvSpPr>
          <p:cNvPr id="9" name="文本框 15"/>
          <p:cNvSpPr txBox="1"/>
          <p:nvPr/>
        </p:nvSpPr>
        <p:spPr>
          <a:xfrm>
            <a:off x="274955" y="791210"/>
            <a:ext cx="4819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latin typeface="ＭＳ Ｐ明朝" panose="02020600040205080304" charset="-128"/>
                <a:ea typeface="ＭＳ Ｐ明朝" panose="02020600040205080304" charset="-128"/>
                <a:cs typeface="ＭＳ Ｐ明朝" panose="02020600040205080304" charset="-128"/>
                <a:sym typeface="+mn-ea"/>
              </a:rPr>
              <a:t>1.Run through the complete system</a:t>
            </a:r>
            <a:endParaRPr lang="en-US" altLang="zh-CN" sz="2000" dirty="0">
              <a:latin typeface="ＭＳ Ｐ明朝" panose="02020600040205080304" charset="-128"/>
              <a:ea typeface="ＭＳ Ｐ明朝" panose="02020600040205080304" charset="-128"/>
              <a:cs typeface="ＭＳ Ｐ明朝" panose="02020600040205080304" charset="-128"/>
              <a:sym typeface="+mn-ea"/>
            </a:endParaRPr>
          </a:p>
        </p:txBody>
      </p:sp>
      <p:sp>
        <p:nvSpPr>
          <p:cNvPr id="3" name="文本框 15"/>
          <p:cNvSpPr txBox="1"/>
          <p:nvPr/>
        </p:nvSpPr>
        <p:spPr>
          <a:xfrm>
            <a:off x="274320" y="4689475"/>
            <a:ext cx="116401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latin typeface="ＭＳ Ｐ明朝" panose="02020600040205080304" charset="-128"/>
                <a:ea typeface="ＭＳ Ｐ明朝" panose="02020600040205080304" charset="-128"/>
                <a:cs typeface="ＭＳ Ｐ明朝" panose="02020600040205080304" charset="-128"/>
                <a:sym typeface="+mn-ea"/>
              </a:rPr>
              <a:t>2.Learn and read papers related to the techniques in the system</a:t>
            </a:r>
            <a:endParaRPr lang="en-US" altLang="zh-CN" sz="2000" dirty="0">
              <a:latin typeface="ＭＳ Ｐ明朝" panose="02020600040205080304" charset="-128"/>
              <a:ea typeface="ＭＳ Ｐ明朝" panose="02020600040205080304" charset="-128"/>
              <a:cs typeface="ＭＳ Ｐ明朝" panose="02020600040205080304" charset="-128"/>
              <a:sym typeface="+mn-ea"/>
            </a:endParaRPr>
          </a:p>
        </p:txBody>
      </p:sp>
      <p:sp>
        <p:nvSpPr>
          <p:cNvPr id="4" name="文本框 15"/>
          <p:cNvSpPr txBox="1"/>
          <p:nvPr/>
        </p:nvSpPr>
        <p:spPr>
          <a:xfrm>
            <a:off x="630555" y="5088255"/>
            <a:ext cx="71958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latin typeface="ＭＳ Ｐ明朝" panose="02020600040205080304" charset="-128"/>
                <a:ea typeface="ＭＳ Ｐ明朝" panose="02020600040205080304" charset="-128"/>
                <a:cs typeface="ＭＳ Ｐ明朝" panose="02020600040205080304" charset="-128"/>
                <a:sym typeface="+mn-ea"/>
              </a:rPr>
              <a:t>1.Relationship between muscles and hand movements</a:t>
            </a:r>
            <a:endParaRPr lang="en-US" altLang="zh-CN" dirty="0">
              <a:latin typeface="ＭＳ Ｐ明朝" panose="02020600040205080304" charset="-128"/>
              <a:ea typeface="SimSun" panose="02010600030101010101" pitchFamily="2" charset="-122"/>
              <a:cs typeface="ＭＳ Ｐ明朝" panose="02020600040205080304" charset="-128"/>
              <a:sym typeface="+mn-ea"/>
            </a:endParaRPr>
          </a:p>
          <a:p>
            <a:r>
              <a:rPr lang="en-US" altLang="zh-CN" dirty="0">
                <a:latin typeface="ＭＳ Ｐ明朝" panose="02020600040205080304" charset="-128"/>
                <a:ea typeface="SimSun" panose="02010600030101010101" pitchFamily="2" charset="-122"/>
                <a:cs typeface="ＭＳ Ｐ明朝" panose="02020600040205080304" charset="-128"/>
                <a:sym typeface="+mn-ea"/>
              </a:rPr>
              <a:t>2.Log-Linearized Gaussian Mixture Network</a:t>
            </a:r>
            <a:endParaRPr lang="en-US" altLang="zh-CN" dirty="0">
              <a:latin typeface="ＭＳ Ｐ明朝" panose="02020600040205080304" charset="-128"/>
              <a:ea typeface="SimSun" panose="02010600030101010101" pitchFamily="2" charset="-122"/>
              <a:cs typeface="ＭＳ Ｐ明朝" panose="02020600040205080304" charset="-128"/>
              <a:sym typeface="+mn-ea"/>
            </a:endParaRPr>
          </a:p>
          <a:p>
            <a:r>
              <a:rPr lang="en-US" altLang="zh-CN" dirty="0">
                <a:latin typeface="ＭＳ Ｐ明朝" panose="02020600040205080304" charset="-128"/>
                <a:ea typeface="SimSun" panose="02010600030101010101" pitchFamily="2" charset="-122"/>
                <a:cs typeface="ＭＳ Ｐ明朝" panose="02020600040205080304" charset="-128"/>
                <a:sym typeface="+mn-ea"/>
              </a:rPr>
              <a:t>3.EMG algorithm</a:t>
            </a:r>
            <a:endParaRPr lang="en-US" altLang="zh-CN" dirty="0">
              <a:latin typeface="ＭＳ Ｐ明朝" panose="02020600040205080304" charset="-128"/>
              <a:ea typeface="SimSun" panose="02010600030101010101" pitchFamily="2" charset="-122"/>
              <a:cs typeface="ＭＳ Ｐ明朝" panose="02020600040205080304" charset="-128"/>
              <a:sym typeface="+mn-ea"/>
            </a:endParaRPr>
          </a:p>
          <a:p>
            <a:r>
              <a:rPr lang="en-US" altLang="zh-CN" dirty="0">
                <a:latin typeface="ＭＳ Ｐ明朝" panose="02020600040205080304" charset="-128"/>
                <a:ea typeface="SimSun" panose="02010600030101010101" pitchFamily="2" charset="-122"/>
                <a:cs typeface="ＭＳ Ｐ明朝" panose="02020600040205080304" charset="-128"/>
                <a:sym typeface="+mn-ea"/>
              </a:rPr>
              <a:t>......</a:t>
            </a:r>
            <a:endParaRPr lang="en-US" altLang="zh-CN" dirty="0">
              <a:latin typeface="ＭＳ Ｐ明朝" panose="02020600040205080304" charset="-128"/>
              <a:ea typeface="SimSun" panose="02010600030101010101" pitchFamily="2" charset="-122"/>
              <a:cs typeface="ＭＳ Ｐ明朝" panose="02020600040205080304" charset="-128"/>
              <a:sym typeface="+mn-ea"/>
            </a:endParaRPr>
          </a:p>
        </p:txBody>
      </p:sp>
      <p:pic>
        <p:nvPicPr>
          <p:cNvPr id="5" name="6月25日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30555" y="1191895"/>
            <a:ext cx="6029960" cy="33915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</Words>
  <Application>WPS 演示</Application>
  <PresentationFormat>ワイド画面</PresentationFormat>
  <Paragraphs>42</Paragraphs>
  <Slides>4</Slides>
  <Notes>3</Notes>
  <HiddenSlides>0</HiddenSlides>
  <MMClips>2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SimSun</vt:lpstr>
      <vt:lpstr>Wingdings</vt:lpstr>
      <vt:lpstr>Calibri</vt:lpstr>
      <vt:lpstr>ＭＳ Ｐ明朝</vt:lpstr>
      <vt:lpstr>游ゴシック</vt:lpstr>
      <vt:lpstr>Microsoft YaHei</vt:lpstr>
      <vt:lpstr>Arial Unicode MS</vt:lpstr>
      <vt:lpstr>游ゴシック Light</vt:lpstr>
      <vt:lpstr>DengXian</vt:lpstr>
      <vt:lpstr>1_Office テーマ</vt:lpstr>
      <vt:lpstr>Prosthetic Hand Control System depends on Eye Tracking, Computer Vision, and EMG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25742102 ディシチン</dc:creator>
  <cp:lastModifiedBy>WPS_1744009845</cp:lastModifiedBy>
  <cp:revision>38</cp:revision>
  <dcterms:created xsi:type="dcterms:W3CDTF">2025-05-10T07:41:00Z</dcterms:created>
  <dcterms:modified xsi:type="dcterms:W3CDTF">2025-06-25T10:00:31Z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0E634CF534D7483DB84EA17BA8B34D0D_12</vt:lpwstr>
  </property>
  <property fmtid="{D5CDD505-2E9C-101B-9397-08002B2CF9AE}" pid="3" name="KSOProductBuildVer">
    <vt:lpwstr>2052-12.1.0.21541</vt:lpwstr>
  </property>
</Properties>
</file>