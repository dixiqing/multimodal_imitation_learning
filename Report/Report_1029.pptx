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57" r:id="rId3"/>
    <p:sldId id="359" r:id="rId5"/>
    <p:sldId id="360" r:id="rId6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6E6E"/>
    <a:srgbClr val="F59E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モデルを比べる前に、まずデータを確認します。立方体ごとに100試行の d–l 曲線を重ね描きし、試行間で一貫しているか、最大開口がどこで現れるか、サイズや速さでどう変わるかを見ます。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主な結果として、各モデル・各サイズの誤差を示します。RMSE と R² は補足スライドに入れます。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モデルを比べる前に、まずデータを確認します。立方体ごとに100試行の d–l 曲線を重ね描きし、試行間で一貫しているか、最大開口がどこで現れるか、サイズや速さでどう変わるかを見ます。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buNone/>
              <a:defRPr sz="45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buNone/>
              <a:defRPr sz="45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フッター プレースホルダー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スライド番号プレースホルダー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05954" y="94797"/>
            <a:ext cx="7886700" cy="488889"/>
          </a:xfrm>
        </p:spPr>
        <p:txBody>
          <a:bodyPr>
            <a:normAutofit/>
          </a:bodyPr>
          <a:lstStyle>
            <a:lvl1pPr>
              <a:buNone/>
              <a:defRPr sz="28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フッター プレースホルダー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直線コネクタ 6"/>
          <p:cNvSpPr>
            <a:spLocks noGrp="1"/>
          </p:cNvSpPr>
          <p:nvPr/>
        </p:nvSpPr>
        <p:spPr>
          <a:xfrm>
            <a:off x="171450" y="94086"/>
            <a:ext cx="0" cy="48960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" name="スライド番号プレースホルダー 4"/>
          <p:cNvSpPr>
            <a:spLocks noGrp="1"/>
          </p:cNvSpPr>
          <p:nvPr>
            <p:ph type="sldNum" idx="12"/>
          </p:nvPr>
        </p:nvSpPr>
        <p:spPr>
          <a:xfrm>
            <a:off x="7063954" y="6574305"/>
            <a:ext cx="2057400" cy="365125"/>
          </a:xfrm>
        </p:spPr>
        <p:txBody>
          <a:bodyPr/>
          <a:lstStyle>
            <a:lvl1pPr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/>
      <p:sp>
        <p:nvSpPr>
          <p:cNvPr id="2" name="日付プレースホルダー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フッター プレースホルダー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スライド番号プレースホルダー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/>
        </p:txBody>
      </p:sp>
      <p:sp>
        <p:nvSpPr>
          <p:cNvPr id="4" name="テキスト プレースホルダー 3"/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/>
      <p:sp>
        <p:nvSpPr>
          <p:cNvPr id="2" name="縦書きタイトル 1"/>
          <p:cNvSpPr>
            <a:spLocks noGrp="1"/>
          </p:cNvSpPr>
          <p:nvPr>
            <p:ph type="title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tx2"/>
                </a:solidFill>
                <a:latin typeface="Meiryo UI" panose="020B0604030504040204" charset="-128"/>
                <a:ea typeface="Meiryo UI" panose="020B0604030504040204" pitchFamily="34" charset="-122"/>
                <a:cs typeface="Meiryo UI" panose="020B0604030504040204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  <a:latin typeface="Meiryo UI" panose="020B0604030504040204" charset="-128"/>
                <a:ea typeface="Meiryo UI" panose="020B0604030504040204" pitchFamily="34" charset="-122"/>
                <a:cs typeface="Meiryo UI" panose="020B0604030504040204" pitchFamily="34" charset="-120"/>
              </a:rPr>
              <a:t>Title</a:t>
            </a: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  <a:latin typeface="Meiryo UI" panose="020B0604030504040204" charset="-128"/>
                <a:ea typeface="Meiryo UI" panose="020B0604030504040204" pitchFamily="34" charset="-122"/>
                <a:cs typeface="Meiryo UI" panose="020B0604030504040204" pitchFamily="34" charset="-120"/>
              </a:rPr>
              <a:t>Saga University </a:t>
            </a:r>
            <a:r>
              <a:rPr lang="en-US" sz="1000" dirty="0">
                <a:solidFill>
                  <a:schemeClr val="accent3"/>
                </a:solidFill>
                <a:latin typeface="Meiryo UI" panose="020B0604030504040204" charset="-128"/>
                <a:ea typeface="Meiryo UI" panose="020B0604030504040204" pitchFamily="34" charset="-122"/>
                <a:cs typeface="Meiryo UI" panose="020B0604030504040204" pitchFamily="34" charset="-120"/>
                <a:sym typeface="+mn-ea"/>
              </a:rPr>
              <a:t>Fukuda Laboratory</a:t>
            </a:r>
            <a:endParaRPr lang="en-US" sz="1000" dirty="0">
              <a:solidFill>
                <a:schemeClr val="accent3"/>
              </a:solidFill>
              <a:latin typeface="Meiryo UI" panose="020B0604030504040204" charset="-128"/>
              <a:ea typeface="Meiryo UI" panose="020B0604030504040204" pitchFamily="34" charset="-122"/>
              <a:cs typeface="Meiryo UI" panose="020B0604030504040204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171450" indent="-171450" algn="l" defTabSz="685800">
        <a:lnSpc>
          <a:spcPct val="90000"/>
        </a:lnSpc>
        <a:spcBef>
          <a:spcPts val="750"/>
        </a:spcBef>
        <a:buFont typeface="Arial" panose="020B0604020202020204"/>
        <a:buChar char="•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marL="5143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8572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marL="12001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5430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8859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image" Target="../media/image6.png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5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4.png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image" Target="../media/image9.png"/><Relationship Id="rId5" Type="http://schemas.openxmlformats.org/officeDocument/2006/relationships/tags" Target="../tags/tag9.xml"/><Relationship Id="rId4" Type="http://schemas.openxmlformats.org/officeDocument/2006/relationships/image" Target="../media/image8.png"/><Relationship Id="rId3" Type="http://schemas.openxmlformats.org/officeDocument/2006/relationships/tags" Target="../tags/tag8.xml"/><Relationship Id="rId2" Type="http://schemas.openxmlformats.org/officeDocument/2006/relationships/image" Target="../media/image7.png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12.xml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altLang="zh-CN" sz="2400">
                <a:latin typeface="+mj-lt"/>
                <a:cs typeface="+mj-lt"/>
              </a:rPr>
              <a:t>Overlaid Curves from 100 Trials for Each Cube Size</a:t>
            </a:r>
            <a:endParaRPr lang="en-US" altLang="zh-CN" sz="2400">
              <a:latin typeface="+mj-lt"/>
              <a:cs typeface="+mj-lt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grpSp>
        <p:nvGrpSpPr>
          <p:cNvPr id="20" name="组合 19"/>
          <p:cNvGrpSpPr/>
          <p:nvPr/>
        </p:nvGrpSpPr>
        <p:grpSpPr>
          <a:xfrm>
            <a:off x="18415" y="1170305"/>
            <a:ext cx="9144000" cy="3767455"/>
            <a:chOff x="0" y="1470"/>
            <a:chExt cx="14400" cy="5933"/>
          </a:xfrm>
        </p:grpSpPr>
        <p:pic>
          <p:nvPicPr>
            <p:cNvPr id="11" name="图片 10" descr="20mm_overlay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1957"/>
              <a:ext cx="4585" cy="5446"/>
            </a:xfrm>
            <a:prstGeom prst="rect">
              <a:avLst/>
            </a:prstGeom>
          </p:spPr>
        </p:pic>
        <p:pic>
          <p:nvPicPr>
            <p:cNvPr id="14" name="图片 13" descr="C:/MineApp/Code/Multimodal_Imitation_Learning/Data/1029_D1/report_overlay_figures/clean/initial_distance_normalized/30mm_overlay.png30mm_overlay"/>
            <p:cNvPicPr>
              <a:picLocks noChangeAspect="1"/>
            </p:cNvPicPr>
            <p:nvPr/>
          </p:nvPicPr>
          <p:blipFill>
            <a:blip r:embed="rId2"/>
            <a:srcRect l="11" r="11"/>
            <a:stretch>
              <a:fillRect/>
            </a:stretch>
          </p:blipFill>
          <p:spPr>
            <a:xfrm>
              <a:off x="4889" y="1957"/>
              <a:ext cx="4585" cy="5446"/>
            </a:xfrm>
            <a:prstGeom prst="rect">
              <a:avLst/>
            </a:prstGeom>
          </p:spPr>
        </p:pic>
        <p:pic>
          <p:nvPicPr>
            <p:cNvPr id="15" name="图片 14" descr="C:/MineApp/Code/Multimodal_Imitation_Learning/Data/1029_D1/report_overlay_figures/clean/initial_distance_normalized/40mm_overlay.png40mm_overlay"/>
            <p:cNvPicPr>
              <a:picLocks noChangeAspect="1"/>
            </p:cNvPicPr>
            <p:nvPr/>
          </p:nvPicPr>
          <p:blipFill>
            <a:blip r:embed="rId3"/>
            <a:srcRect l="23"/>
            <a:stretch>
              <a:fillRect/>
            </a:stretch>
          </p:blipFill>
          <p:spPr>
            <a:xfrm>
              <a:off x="9702" y="1957"/>
              <a:ext cx="4585" cy="5446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0" y="1470"/>
              <a:ext cx="504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20mm</a:t>
              </a:r>
              <a:endParaRPr lang="en-US" altLang="zh-CN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5040" y="1470"/>
              <a:ext cx="504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30mm</a:t>
              </a:r>
              <a:endParaRPr lang="en-US" altLang="zh-CN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9702" y="1470"/>
              <a:ext cx="469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40mm</a:t>
              </a:r>
              <a:endParaRPr lang="en-US" altLang="zh-CN"/>
            </a:p>
          </p:txBody>
        </p:sp>
      </p:grpSp>
      <p:sp>
        <p:nvSpPr>
          <p:cNvPr id="9" name="tbd_260"/>
          <p:cNvSpPr txBox="1"/>
          <p:nvPr/>
        </p:nvSpPr>
        <p:spPr>
          <a:xfrm>
            <a:off x="270510" y="5010150"/>
            <a:ext cx="8606155" cy="731520"/>
          </a:xfrm>
          <a:prstGeom prst="rect">
            <a:avLst/>
          </a:prstGeom>
          <a:noFill/>
          <a:ln w="12700">
            <a:solidFill>
              <a:schemeClr val="accent2"/>
            </a:solidFill>
            <a:prstDash val="dash"/>
          </a:ln>
        </p:spPr>
        <p:txBody>
          <a:bodyPr wrap="square" lIns="25400" tIns="76200" rIns="76200" bIns="25400" rtlCol="0" anchor="t" anchorCtr="0"/>
          <a:lstStyle/>
          <a:p>
            <a:pPr marL="0" indent="0">
              <a:buNone/>
            </a:pPr>
            <a:r>
              <a:rPr lang="zh-CN" altLang="en-US" sz="1200" dirty="0">
                <a:ea typeface="SimSun" panose="02010600030101010101" pitchFamily="2" charset="-122"/>
              </a:rPr>
              <a:t>距离进行了归一化，初始位置为</a:t>
            </a:r>
            <a:r>
              <a:rPr lang="en-US" altLang="zh-CN" sz="1200" dirty="0">
                <a:ea typeface="SimSun" panose="02010600030101010101" pitchFamily="2" charset="-122"/>
              </a:rPr>
              <a:t>1</a:t>
            </a:r>
            <a:r>
              <a:rPr lang="zh-CN" altLang="en-US" sz="1200" dirty="0">
                <a:ea typeface="SimSun" panose="02010600030101010101" pitchFamily="2" charset="-122"/>
              </a:rPr>
              <a:t>，当前位置为</a:t>
            </a:r>
            <a:r>
              <a:rPr lang="en-US" altLang="zh-CN" sz="1200" dirty="0">
                <a:ea typeface="SimSun" panose="02010600030101010101" pitchFamily="2" charset="-122"/>
              </a:rPr>
              <a:t>dt/d0</a:t>
            </a:r>
            <a:r>
              <a:rPr lang="zh-CN" altLang="en-US" sz="1200" dirty="0">
                <a:ea typeface="SimSun" panose="02010600030101010101" pitchFamily="2" charset="-122"/>
              </a:rPr>
              <a:t>。</a:t>
            </a:r>
            <a:endParaRPr lang="zh-CN" altLang="en-US" sz="1200" dirty="0"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1200" dirty="0">
                <a:ea typeface="SimSun" panose="02010600030101010101" pitchFamily="2" charset="-122"/>
              </a:rPr>
              <a:t>每组抓取速度并不统一，抓取时间区间在</a:t>
            </a:r>
            <a:r>
              <a:rPr lang="en-US" altLang="zh-CN" sz="1200" dirty="0">
                <a:ea typeface="SimSun" panose="02010600030101010101" pitchFamily="2" charset="-122"/>
              </a:rPr>
              <a:t>1-3s</a:t>
            </a:r>
            <a:r>
              <a:rPr lang="zh-CN" altLang="en-US" sz="1200" dirty="0">
                <a:ea typeface="SimSun" panose="02010600030101010101" pitchFamily="2" charset="-122"/>
              </a:rPr>
              <a:t>。</a:t>
            </a:r>
            <a:endParaRPr lang="zh-CN" altLang="en-US" sz="120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+mj-lt"/>
                <a:ea typeface="Meiryo UI" panose="020B0604030504040204" pitchFamily="34" charset="-122"/>
                <a:cs typeface="+mj-lt"/>
              </a:rPr>
              <a:t>Prediction Performance</a:t>
            </a:r>
            <a:endParaRPr lang="en-US" altLang="zh-CN" sz="2400" b="1">
              <a:solidFill>
                <a:schemeClr val="tx2"/>
              </a:solidFill>
              <a:latin typeface="+mj-lt"/>
              <a:ea typeface="Meiryo UI" panose="020B0604030504040204" pitchFamily="34" charset="-122"/>
              <a:cs typeface="+mj-lt"/>
            </a:endParaRPr>
          </a:p>
        </p:txBody>
      </p:sp>
      <p:graphicFrame>
        <p:nvGraphicFramePr>
          <p:cNvPr id="15" name="tableResults"/>
          <p:cNvGraphicFramePr>
            <a:graphicFrameLocks noGrp="1"/>
          </p:cNvGraphicFramePr>
          <p:nvPr/>
        </p:nvGraphicFramePr>
        <p:xfrm>
          <a:off x="457200" y="1188720"/>
          <a:ext cx="8229600" cy="1755648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Meiryo UI" panose="020B0604030504040204" charset="-128"/>
                          <a:ea typeface="Meiryo UI" panose="020B0604030504040204" pitchFamily="34" charset="-122"/>
                          <a:cs typeface="Meiryo UI" panose="020B0604030504040204" pitchFamily="34" charset="-120"/>
                        </a:rPr>
                        <a:t>MAE [mm]</a:t>
                      </a:r>
                      <a:endParaRPr lang="en-US" sz="1500" dirty="0">
                        <a:latin typeface="Meiryo UI" panose="020B0604030504040204" charset="-128"/>
                        <a:ea typeface="Meiryo UI" panose="020B0604030504040204" charset="-128"/>
                        <a:cs typeface="Meiryo UI" panose="020B0604030504040204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Meiryo UI" panose="020B0604030504040204" charset="-128"/>
                          <a:ea typeface="Meiryo UI" panose="020B0604030504040204" pitchFamily="34" charset="-122"/>
                          <a:cs typeface="Meiryo UI" panose="020B0604030504040204" pitchFamily="34" charset="-120"/>
                        </a:rPr>
                        <a:t>20 mm</a:t>
                      </a:r>
                      <a:endParaRPr lang="en-US" sz="1500" dirty="0">
                        <a:latin typeface="Meiryo UI" panose="020B0604030504040204" charset="-128"/>
                        <a:ea typeface="Meiryo UI" panose="020B0604030504040204" charset="-128"/>
                        <a:cs typeface="Meiryo UI" panose="020B0604030504040204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Meiryo UI" panose="020B0604030504040204" charset="-128"/>
                          <a:ea typeface="Meiryo UI" panose="020B0604030504040204" pitchFamily="34" charset="-122"/>
                          <a:cs typeface="Meiryo UI" panose="020B0604030504040204" pitchFamily="34" charset="-120"/>
                        </a:rPr>
                        <a:t>30 mm</a:t>
                      </a:r>
                      <a:endParaRPr lang="en-US" sz="1500" dirty="0">
                        <a:latin typeface="Meiryo UI" panose="020B0604030504040204" charset="-128"/>
                        <a:ea typeface="Meiryo UI" panose="020B0604030504040204" charset="-128"/>
                        <a:cs typeface="Meiryo UI" panose="020B0604030504040204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Meiryo UI" panose="020B0604030504040204" charset="-128"/>
                          <a:ea typeface="Meiryo UI" panose="020B0604030504040204" pitchFamily="34" charset="-122"/>
                          <a:cs typeface="Meiryo UI" panose="020B0604030504040204" pitchFamily="34" charset="-120"/>
                        </a:rPr>
                        <a:t>40 mm</a:t>
                      </a:r>
                      <a:endParaRPr lang="en-US" sz="1500" dirty="0">
                        <a:latin typeface="Meiryo UI" panose="020B0604030504040204" charset="-128"/>
                        <a:ea typeface="Meiryo UI" panose="020B0604030504040204" charset="-128"/>
                        <a:cs typeface="Meiryo UI" panose="020B0604030504040204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CN" sz="1500" dirty="0">
                          <a:latin typeface="Meiryo UI" panose="020B0604030504040204" charset="-128"/>
                          <a:ea typeface="Meiryo UI" panose="020B0604030504040204" charset="-128"/>
                          <a:cs typeface="Meiryo UI" panose="020B0604030504040204" charset="-128"/>
                        </a:rPr>
                        <a:t>Function Approximation</a:t>
                      </a:r>
                      <a:endParaRPr lang="en-US" altLang="zh-CN" sz="1500" dirty="0">
                        <a:latin typeface="Meiryo UI" panose="020B0604030504040204" charset="-128"/>
                        <a:ea typeface="Meiryo UI" panose="020B0604030504040204" charset="-128"/>
                        <a:cs typeface="Meiryo UI" panose="020B0604030504040204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sz="1500" dirty="0">
                          <a:latin typeface="Meiryo UI" panose="020B0604030504040204" charset="-128"/>
                          <a:ea typeface="Meiryo UI" panose="020B0604030504040204" charset="-128"/>
                          <a:cs typeface="Meiryo UI" panose="020B0604030504040204" charset="-128"/>
                        </a:rPr>
                        <a:t>8.06</a:t>
                      </a:r>
                      <a:endParaRPr lang="en-US" sz="1500" dirty="0">
                        <a:latin typeface="Meiryo UI" panose="020B0604030504040204" charset="-128"/>
                        <a:ea typeface="Meiryo UI" panose="020B0604030504040204" charset="-128"/>
                        <a:cs typeface="Meiryo UI" panose="020B0604030504040204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sz="1500" dirty="0">
                          <a:latin typeface="Meiryo UI" panose="020B0604030504040204" charset="-128"/>
                          <a:ea typeface="Meiryo UI" panose="020B0604030504040204" charset="-128"/>
                          <a:cs typeface="Meiryo UI" panose="020B0604030504040204" charset="-128"/>
                        </a:rPr>
                        <a:t>7.34</a:t>
                      </a:r>
                      <a:endParaRPr lang="en-US" sz="1500" dirty="0">
                        <a:latin typeface="Meiryo UI" panose="020B0604030504040204" charset="-128"/>
                        <a:ea typeface="Meiryo UI" panose="020B0604030504040204" charset="-128"/>
                        <a:cs typeface="Meiryo UI" panose="020B0604030504040204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sz="1500" dirty="0">
                          <a:latin typeface="Meiryo UI" panose="020B0604030504040204" charset="-128"/>
                          <a:ea typeface="Meiryo UI" panose="020B0604030504040204" charset="-128"/>
                          <a:cs typeface="Meiryo UI" panose="020B0604030504040204" charset="-128"/>
                        </a:rPr>
                        <a:t>7.71</a:t>
                      </a:r>
                      <a:endParaRPr lang="en-US" sz="1500" dirty="0">
                        <a:latin typeface="Meiryo UI" panose="020B0604030504040204" charset="-128"/>
                        <a:ea typeface="Meiryo UI" panose="020B0604030504040204" charset="-128"/>
                        <a:cs typeface="Meiryo UI" panose="020B0604030504040204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CN" sz="1500" dirty="0">
                          <a:latin typeface="Meiryo UI" panose="020B0604030504040204" charset="-128"/>
                          <a:ea typeface="Meiryo UI" panose="020B0604030504040204" charset="-128"/>
                          <a:cs typeface="Meiryo UI" panose="020B0604030504040204" charset="-128"/>
                        </a:rPr>
                        <a:t>MLP (5 Frame)</a:t>
                      </a:r>
                      <a:endParaRPr lang="en-US" altLang="zh-CN" sz="1500" dirty="0">
                        <a:latin typeface="Meiryo UI" panose="020B0604030504040204" charset="-128"/>
                        <a:ea typeface="Meiryo UI" panose="020B0604030504040204" charset="-128"/>
                        <a:cs typeface="Meiryo UI" panose="020B0604030504040204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sz="1500" dirty="0">
                          <a:latin typeface="Meiryo UI" panose="020B0604030504040204" charset="-128"/>
                          <a:ea typeface="Meiryo UI" panose="020B0604030504040204" charset="-128"/>
                          <a:cs typeface="Meiryo UI" panose="020B0604030504040204" charset="-128"/>
                        </a:rPr>
                        <a:t>7.93</a:t>
                      </a:r>
                      <a:endParaRPr lang="en-US" sz="1500" dirty="0">
                        <a:latin typeface="Meiryo UI" panose="020B0604030504040204" charset="-128"/>
                        <a:ea typeface="Meiryo UI" panose="020B0604030504040204" charset="-128"/>
                        <a:cs typeface="Meiryo UI" panose="020B0604030504040204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sz="1500" dirty="0">
                          <a:latin typeface="Meiryo UI" panose="020B0604030504040204" charset="-128"/>
                          <a:ea typeface="Meiryo UI" panose="020B0604030504040204" charset="-128"/>
                          <a:cs typeface="Meiryo UI" panose="020B0604030504040204" charset="-128"/>
                        </a:rPr>
                        <a:t>7.83</a:t>
                      </a:r>
                      <a:endParaRPr lang="en-US" sz="1500" dirty="0">
                        <a:latin typeface="Meiryo UI" panose="020B0604030504040204" charset="-128"/>
                        <a:ea typeface="Meiryo UI" panose="020B0604030504040204" charset="-128"/>
                        <a:cs typeface="Meiryo UI" panose="020B0604030504040204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sz="1500" dirty="0">
                          <a:latin typeface="Meiryo UI" panose="020B0604030504040204" charset="-128"/>
                          <a:ea typeface="Meiryo UI" panose="020B0604030504040204" charset="-128"/>
                          <a:cs typeface="Meiryo UI" panose="020B0604030504040204" charset="-128"/>
                        </a:rPr>
                        <a:t>7.93</a:t>
                      </a:r>
                      <a:endParaRPr lang="en-US" sz="1500" dirty="0">
                        <a:latin typeface="Meiryo UI" panose="020B0604030504040204" charset="-128"/>
                        <a:ea typeface="Meiryo UI" panose="020B0604030504040204" charset="-128"/>
                        <a:cs typeface="Meiryo UI" panose="020B0604030504040204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CN" sz="1500" dirty="0">
                          <a:latin typeface="Meiryo UI" panose="020B0604030504040204" charset="-128"/>
                          <a:ea typeface="Meiryo UI" panose="020B0604030504040204" charset="-128"/>
                          <a:cs typeface="Meiryo UI" panose="020B0604030504040204" charset="-128"/>
                        </a:rPr>
                        <a:t>LSTM (Full </a:t>
                      </a:r>
                      <a:r>
                        <a:rPr lang="en-US" altLang="zh-CN" sz="1500" dirty="0">
                          <a:latin typeface="Meiryo UI" panose="020B0604030504040204" charset="-128"/>
                          <a:ea typeface="Meiryo UI" panose="020B0604030504040204" charset="-128"/>
                          <a:cs typeface="Meiryo UI" panose="020B0604030504040204" charset="-128"/>
                          <a:sym typeface="+mn-ea"/>
                        </a:rPr>
                        <a:t>Frame</a:t>
                      </a:r>
                      <a:r>
                        <a:rPr lang="en-US" altLang="zh-CN" sz="1500" dirty="0">
                          <a:latin typeface="Meiryo UI" panose="020B0604030504040204" charset="-128"/>
                          <a:ea typeface="Meiryo UI" panose="020B0604030504040204" charset="-128"/>
                          <a:cs typeface="Meiryo UI" panose="020B0604030504040204" charset="-128"/>
                        </a:rPr>
                        <a:t>)</a:t>
                      </a:r>
                      <a:endParaRPr lang="en-US" altLang="zh-CN" sz="1500" dirty="0">
                        <a:latin typeface="Meiryo UI" panose="020B0604030504040204" charset="-128"/>
                        <a:ea typeface="Meiryo UI" panose="020B0604030504040204" charset="-128"/>
                        <a:cs typeface="Meiryo UI" panose="020B0604030504040204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sz="1500" dirty="0">
                          <a:latin typeface="Meiryo UI" panose="020B0604030504040204" charset="-128"/>
                          <a:ea typeface="Meiryo UI" panose="020B0604030504040204" charset="-128"/>
                          <a:cs typeface="Meiryo UI" panose="020B0604030504040204" charset="-128"/>
                        </a:rPr>
                        <a:t>5.68</a:t>
                      </a:r>
                      <a:endParaRPr lang="en-US" sz="1500" dirty="0">
                        <a:latin typeface="Meiryo UI" panose="020B0604030504040204" charset="-128"/>
                        <a:ea typeface="Meiryo UI" panose="020B0604030504040204" charset="-128"/>
                        <a:cs typeface="Meiryo UI" panose="020B0604030504040204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sz="1500" dirty="0">
                          <a:latin typeface="Meiryo UI" panose="020B0604030504040204" charset="-128"/>
                          <a:ea typeface="Meiryo UI" panose="020B0604030504040204" charset="-128"/>
                          <a:cs typeface="Meiryo UI" panose="020B0604030504040204" charset="-128"/>
                        </a:rPr>
                        <a:t>6.04</a:t>
                      </a:r>
                      <a:endParaRPr lang="en-US" sz="1500" dirty="0">
                        <a:latin typeface="Meiryo UI" panose="020B0604030504040204" charset="-128"/>
                        <a:ea typeface="Meiryo UI" panose="020B0604030504040204" charset="-128"/>
                        <a:cs typeface="Meiryo UI" panose="020B0604030504040204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sz="1500" dirty="0">
                          <a:latin typeface="Meiryo UI" panose="020B0604030504040204" charset="-128"/>
                          <a:ea typeface="Meiryo UI" panose="020B0604030504040204" charset="-128"/>
                          <a:cs typeface="Meiryo UI" panose="020B0604030504040204" charset="-128"/>
                        </a:rPr>
                        <a:t>6.31</a:t>
                      </a:r>
                      <a:endParaRPr lang="en-US" sz="1500" dirty="0">
                        <a:latin typeface="Meiryo UI" panose="020B0604030504040204" charset="-128"/>
                        <a:ea typeface="Meiryo UI" panose="020B0604030504040204" charset="-128"/>
                        <a:cs typeface="Meiryo UI" panose="020B0604030504040204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16" name="图片 15" descr="C:/MineApp/Code/Multimodal_Imitation_Learning/Data/1029_D1/report_metric_figures/clean/R2.pngR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b="20"/>
          <a:stretch>
            <a:fillRect/>
          </a:stretch>
        </p:blipFill>
        <p:spPr>
          <a:xfrm>
            <a:off x="6158865" y="3529965"/>
            <a:ext cx="2985135" cy="2575560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3"/>
            </p:custDataLst>
          </p:nvPr>
        </p:nvSpPr>
        <p:spPr>
          <a:xfrm>
            <a:off x="6158865" y="3280410"/>
            <a:ext cx="2985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1" algn="ctr"/>
            <a:r>
              <a:rPr lang="en-US" altLang="zh-CN">
                <a:sym typeface="+mn-ea"/>
              </a:rPr>
              <a:t>R²</a:t>
            </a:r>
            <a:endParaRPr lang="en-US" altLang="zh-CN"/>
          </a:p>
        </p:txBody>
      </p:sp>
      <p:pic>
        <p:nvPicPr>
          <p:cNvPr id="9" name="图片 8" descr="MAE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4276"/>
          <a:stretch>
            <a:fillRect/>
          </a:stretch>
        </p:blipFill>
        <p:spPr>
          <a:xfrm>
            <a:off x="1905" y="3529965"/>
            <a:ext cx="2857500" cy="257556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635" y="3280410"/>
            <a:ext cx="2985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MAE [mm]</a:t>
            </a:r>
            <a:endParaRPr lang="en-US" altLang="zh-CN"/>
          </a:p>
        </p:txBody>
      </p:sp>
      <p:pic>
        <p:nvPicPr>
          <p:cNvPr id="13" name="图片 12" descr="C:/MineApp/Code/Multimodal_Imitation_Learning/Data/1029_D1/report_metric_figures/clean/RMSE.pngRMSE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t="10" b="10"/>
          <a:stretch>
            <a:fillRect/>
          </a:stretch>
        </p:blipFill>
        <p:spPr>
          <a:xfrm>
            <a:off x="3016250" y="3529965"/>
            <a:ext cx="2985135" cy="257556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>
          <a:xfrm>
            <a:off x="3173730" y="3280410"/>
            <a:ext cx="2985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RMSE [mm]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altLang="zh-CN" sz="2400">
                <a:latin typeface="+mj-lt"/>
                <a:cs typeface="+mj-lt"/>
                <a:sym typeface="+mn-ea"/>
              </a:rPr>
              <a:t>Prediction Examples Across Cube Sizes</a:t>
            </a:r>
            <a:endParaRPr lang="en-US" altLang="zh-CN" sz="2400">
              <a:latin typeface="+mj-lt"/>
              <a:cs typeface="+mj-lt"/>
            </a:endParaRPr>
          </a:p>
        </p:txBody>
      </p:sp>
      <p:sp>
        <p:nvSpPr>
          <p:cNvPr id="10" name="text_261"/>
          <p:cNvSpPr txBox="1"/>
          <p:nvPr/>
        </p:nvSpPr>
        <p:spPr>
          <a:xfrm>
            <a:off x="295275" y="5377815"/>
            <a:ext cx="8229600" cy="73152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zh-CN" altLang="en-US"/>
              <a:t>距离处理：初始点设为了</a:t>
            </a:r>
            <a:r>
              <a:rPr lang="en-US" altLang="zh-CN"/>
              <a:t>1</a:t>
            </a:r>
            <a:r>
              <a:rPr lang="zh-CN" altLang="en-US">
                <a:ea typeface="SimSun" panose="02010600030101010101" pitchFamily="2" charset="-122"/>
              </a:rPr>
              <a:t>。</a:t>
            </a:r>
            <a:endParaRPr lang="zh-CN" altLang="en-US"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>
                <a:ea typeface="SimSun" panose="02010600030101010101" pitchFamily="2" charset="-122"/>
              </a:rPr>
              <a:t>将食指根部设为手的点计算距离。</a:t>
            </a:r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4" name="Picture 3" descr="C:/MineApp/Code/Multimodal_Imitation_Learning/Data/1029_D1/report_prediction_examples/closing_phase_selected/20mm_Train_grasp_051.png20mm_Train_grasp_05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866" b="-1590"/>
          <a:stretch>
            <a:fillRect/>
          </a:stretch>
        </p:blipFill>
        <p:spPr>
          <a:xfrm>
            <a:off x="635" y="1548765"/>
            <a:ext cx="2947035" cy="3352165"/>
          </a:xfrm>
          <a:prstGeom prst="rect">
            <a:avLst/>
          </a:prstGeom>
        </p:spPr>
      </p:pic>
      <p:pic>
        <p:nvPicPr>
          <p:cNvPr id="6" name="Picture 5" descr="30mm_grasp_100_time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098165" y="1463040"/>
            <a:ext cx="2947035" cy="3463925"/>
          </a:xfrm>
          <a:prstGeom prst="rect">
            <a:avLst/>
          </a:prstGeom>
        </p:spPr>
      </p:pic>
      <p:pic>
        <p:nvPicPr>
          <p:cNvPr id="8" name="Picture 7" descr="C:/MineApp/Code/Multimodal_Imitation_Learning/Data/1029_D1/report_prediction_examples/closing_phase_selected/40mm_Test_grasp_092.png40mm_Test_grasp_09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t="-655" b="299"/>
          <a:stretch>
            <a:fillRect/>
          </a:stretch>
        </p:blipFill>
        <p:spPr>
          <a:xfrm>
            <a:off x="6196330" y="1439545"/>
            <a:ext cx="2947035" cy="3460750"/>
          </a:xfrm>
          <a:prstGeom prst="rect">
            <a:avLst/>
          </a:prstGeom>
        </p:spPr>
      </p:pic>
      <p:sp>
        <p:nvSpPr>
          <p:cNvPr id="3" name="TextBox 2"/>
          <p:cNvSpPr txBox="1"/>
          <p:nvPr>
            <p:custDataLst>
              <p:tags r:id="rId7"/>
            </p:custDataLst>
          </p:nvPr>
        </p:nvSpPr>
        <p:spPr>
          <a:xfrm>
            <a:off x="151130" y="1236980"/>
            <a:ext cx="294703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23049"/>
                </a:solidFill>
              </a:rPr>
              <a:t>20 mm</a:t>
            </a:r>
            <a:endParaRPr sz="1800" b="1">
              <a:solidFill>
                <a:srgbClr val="123049"/>
              </a:solidFill>
            </a:endParaRPr>
          </a:p>
        </p:txBody>
      </p:sp>
      <p:sp>
        <p:nvSpPr>
          <p:cNvPr id="5" name="TextBox 4"/>
          <p:cNvSpPr txBox="1"/>
          <p:nvPr>
            <p:custDataLst>
              <p:tags r:id="rId8"/>
            </p:custDataLst>
          </p:nvPr>
        </p:nvSpPr>
        <p:spPr>
          <a:xfrm>
            <a:off x="3248660" y="1236980"/>
            <a:ext cx="294703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23049"/>
                </a:solidFill>
              </a:rPr>
              <a:t>30 mm</a:t>
            </a:r>
            <a:endParaRPr sz="1800" b="1">
              <a:solidFill>
                <a:srgbClr val="123049"/>
              </a:solidFill>
            </a:endParaRPr>
          </a:p>
        </p:txBody>
      </p:sp>
      <p:sp>
        <p:nvSpPr>
          <p:cNvPr id="7" name="TextBox 6"/>
          <p:cNvSpPr txBox="1"/>
          <p:nvPr>
            <p:custDataLst>
              <p:tags r:id="rId9"/>
            </p:custDataLst>
          </p:nvPr>
        </p:nvSpPr>
        <p:spPr>
          <a:xfrm>
            <a:off x="6345555" y="1236980"/>
            <a:ext cx="294703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23049"/>
                </a:solidFill>
              </a:rPr>
              <a:t>40 mm</a:t>
            </a:r>
            <a:endParaRPr sz="1800" b="1">
              <a:solidFill>
                <a:srgbClr val="123049"/>
              </a:solidFill>
            </a:endParaRPr>
          </a:p>
        </p:txBody>
      </p:sp>
      <p:sp>
        <p:nvSpPr>
          <p:cNvPr id="12" name="text_271"/>
          <p:cNvSpPr txBox="1"/>
          <p:nvPr/>
        </p:nvSpPr>
        <p:spPr>
          <a:xfrm>
            <a:off x="295275" y="4845685"/>
            <a:ext cx="8229600" cy="41148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Meiryo UI" panose="020B0604030504040204" charset="-128"/>
                <a:ea typeface="Meiryo UI" panose="020B0604030504040204" pitchFamily="34" charset="-122"/>
                <a:cs typeface="Meiryo UI" panose="020B0604030504040204" pitchFamily="34" charset="-120"/>
              </a:rPr>
              <a:t>考察の観点</a:t>
            </a:r>
            <a:endParaRPr lang="en-US" sz="17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23.9,&quot;left&quot;:-9.9,&quot;top&quot;:258.3,&quot;width&quot;:784.05}"/>
</p:tagLst>
</file>

<file path=ppt/tags/tag2.xml><?xml version="1.0" encoding="utf-8"?>
<p:tagLst xmlns:p="http://schemas.openxmlformats.org/presentationml/2006/main">
  <p:tag name="KSO_WM_DIAGRAM_VIRTUALLY_FRAME" val="{&quot;height&quot;:223.9,&quot;left&quot;:-9.9,&quot;top&quot;:258.3,&quot;width&quot;:784.05}"/>
</p:tagLst>
</file>

<file path=ppt/tags/tag3.xml><?xml version="1.0" encoding="utf-8"?>
<p:tagLst xmlns:p="http://schemas.openxmlformats.org/presentationml/2006/main">
  <p:tag name="KSO_WM_DIAGRAM_VIRTUALLY_FRAME" val="{&quot;height&quot;:223.9,&quot;left&quot;:-9.9,&quot;top&quot;:258.3,&quot;width&quot;:784.05}"/>
</p:tagLst>
</file>

<file path=ppt/tags/tag4.xml><?xml version="1.0" encoding="utf-8"?>
<p:tagLst xmlns:p="http://schemas.openxmlformats.org/presentationml/2006/main">
  <p:tag name="KSO_WM_DIAGRAM_VIRTUALLY_FRAME" val="{&quot;height&quot;:223.9,&quot;left&quot;:-9.9,&quot;top&quot;:258.3,&quot;width&quot;:784.05}"/>
</p:tagLst>
</file>

<file path=ppt/tags/tag5.xml><?xml version="1.0" encoding="utf-8"?>
<p:tagLst xmlns:p="http://schemas.openxmlformats.org/presentationml/2006/main">
  <p:tag name="KSO_WM_DIAGRAM_VIRTUALLY_FRAME" val="{&quot;height&quot;:223.9,&quot;left&quot;:-9.9,&quot;top&quot;:258.3,&quot;width&quot;:784.05}"/>
</p:tagLst>
</file>

<file path=ppt/tags/tag6.xml><?xml version="1.0" encoding="utf-8"?>
<p:tagLst xmlns:p="http://schemas.openxmlformats.org/presentationml/2006/main">
  <p:tag name="KSO_WM_DIAGRAM_VIRTUALLY_FRAME" val="{&quot;height&quot;:223.9,&quot;left&quot;:-9.9,&quot;top&quot;:258.3,&quot;width&quot;:784.05}"/>
</p:tagLst>
</file>

<file path=ppt/tags/tag7.xml><?xml version="1.0" encoding="utf-8"?>
<p:tagLst xmlns:p="http://schemas.openxmlformats.org/presentationml/2006/main">
  <p:tag name="KSO_WM_DIAGRAM_VIRTUALLY_FRAME" val="{&quot;height&quot;:365.85,&quot;left&quot;:0.05,&quot;top&quot;:79.2,&quot;width&quot;:731.65}"/>
</p:tagLst>
</file>

<file path=ppt/tags/tag8.xml><?xml version="1.0" encoding="utf-8"?>
<p:tagLst xmlns:p="http://schemas.openxmlformats.org/presentationml/2006/main">
  <p:tag name="KSO_WM_DIAGRAM_VIRTUALLY_FRAME" val="{&quot;height&quot;:365.85,&quot;left&quot;:0.05,&quot;top&quot;:79.2,&quot;width&quot;:731.65}"/>
</p:tagLst>
</file>

<file path=ppt/tags/tag9.xml><?xml version="1.0" encoding="utf-8"?>
<p:tagLst xmlns:p="http://schemas.openxmlformats.org/presentationml/2006/main">
  <p:tag name="KSO_WM_DIAGRAM_VIRTUALLY_FRAME" val="{&quot;height&quot;:365.85,&quot;left&quot;:0.05,&quot;top&quot;:79.2,&quot;width&quot;:731.65}"/>
</p:tagLst>
</file>

<file path=ppt/tags/tag10.xml><?xml version="1.0" encoding="utf-8"?>
<p:tagLst xmlns:p="http://schemas.openxmlformats.org/presentationml/2006/main">
  <p:tag name="KSO_WM_DIAGRAM_VIRTUALLY_FRAME" val="{&quot;height&quot;:365.85,&quot;left&quot;:0.05,&quot;top&quot;:79.2,&quot;width&quot;:731.65}"/>
</p:tagLst>
</file>

<file path=ppt/tags/tag11.xml><?xml version="1.0" encoding="utf-8"?>
<p:tagLst xmlns:p="http://schemas.openxmlformats.org/presentationml/2006/main">
  <p:tag name="KSO_WM_DIAGRAM_VIRTUALLY_FRAME" val="{&quot;height&quot;:365.85,&quot;left&quot;:0.05,&quot;top&quot;:79.2,&quot;width&quot;:731.65}"/>
</p:tagLst>
</file>

<file path=ppt/tags/tag12.xml><?xml version="1.0" encoding="utf-8"?>
<p:tagLst xmlns:p="http://schemas.openxmlformats.org/presentationml/2006/main">
  <p:tag name="KSO_WM_DIAGRAM_VIRTUALLY_FRAME" val="{&quot;height&quot;:365.85,&quot;left&quot;:0.05,&quot;top&quot;:79.2,&quot;width&quot;:731.65}"/>
</p:tagLst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PS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>
              <a:lumMod val="85000"/>
              <a:lumOff val="15000"/>
            </a:schemeClr>
          </a:solidFill>
          <a:tailEnd type="oval"/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 w="12700" cmpd="sng">
          <a:solidFill>
            <a:schemeClr val="tx1"/>
          </a:solidFill>
          <a:prstDash val="solid"/>
        </a:ln>
      </a:spPr>
      <a:bodyPr/>
      <a:lstStyle/>
      <a:style>
        <a:lnRef idx="0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PS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352</Words>
  <Application>WPS 演示</Application>
  <PresentationFormat>Converted Presentation</PresentationFormat>
  <Paragraphs>70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6" baseType="lpstr">
      <vt:lpstr>Arial</vt:lpstr>
      <vt:lpstr>SimSun</vt:lpstr>
      <vt:lpstr>Wingdings</vt:lpstr>
      <vt:lpstr>Arial</vt:lpstr>
      <vt:lpstr>Meiryo UI</vt:lpstr>
      <vt:lpstr>Meiryo UI</vt:lpstr>
      <vt:lpstr>Meiryo UI</vt:lpstr>
      <vt:lpstr>Times New Roman</vt:lpstr>
      <vt:lpstr>MS PGothic</vt:lpstr>
      <vt:lpstr>Microsoft YaHei</vt:lpstr>
      <vt:lpstr>Arial Unicode MS</vt:lpstr>
      <vt:lpstr>Calibri</vt:lpstr>
      <vt:lpstr>Office テーマ</vt:lpstr>
      <vt:lpstr>Overlaid Curves from 100 Trials for Each Cube Size</vt:lpstr>
      <vt:lpstr>結果②：推定誤差</vt:lpstr>
      <vt:lpstr>Overlaid Curves from 100 Trials for Each Cube Size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down down down down down</cp:lastModifiedBy>
  <cp:revision>78</cp:revision>
  <dcterms:created xsi:type="dcterms:W3CDTF">2026-09-29T07:20:00Z</dcterms:created>
  <dcterms:modified xsi:type="dcterms:W3CDTF">2026-10-29T11:22:50Z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FB3ACDAA4AF54148BE5074B4117C330D_12</vt:lpwstr>
  </property>
</Properties>
</file>