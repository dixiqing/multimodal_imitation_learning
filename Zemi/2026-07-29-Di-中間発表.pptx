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mp4" ContentType="video/mp4"/>
  <Default Extension="rels" ContentType="application/vnd.openxmlformats-package.relationship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280" r:id="rId3"/>
    <p:sldId id="338" r:id="rId5"/>
    <p:sldId id="356" r:id="rId6"/>
    <p:sldId id="357" r:id="rId7"/>
    <p:sldId id="355" r:id="rId8"/>
    <p:sldId id="332" r:id="rId9"/>
    <p:sldId id="352" r:id="rId10"/>
    <p:sldId id="340" r:id="rId11"/>
    <p:sldId id="359" r:id="rId12"/>
    <p:sldId id="333" r:id="rId13"/>
    <p:sldId id="334" r:id="rId14"/>
    <p:sldId id="335" r:id="rId15"/>
    <p:sldId id="317" r:id="rId16"/>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C00000"/>
    <a:srgbClr val="F59E0B"/>
    <a:srgbClr val="06327D"/>
    <a:srgbClr val="14B8A6"/>
    <a:srgbClr val="F20000"/>
    <a:srgbClr val="FADB32"/>
    <a:srgbClr val="FCCA73"/>
    <a:srgbClr val="FFD700"/>
    <a:srgbClr val="FFB6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14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customXml" Target="../customXml/item3.xml"/><Relationship Id="rId21" Type="http://schemas.openxmlformats.org/officeDocument/2006/relationships/customXml" Target="../customXml/item2.xml"/><Relationship Id="rId20" Type="http://schemas.openxmlformats.org/officeDocument/2006/relationships/customXml" Target="../customXml/item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在这个世界上约有</a:t>
            </a:r>
            <a:r>
              <a:rPr lang="en-US" altLang="zh-CN">
                <a:sym typeface="+mn-ea"/>
              </a:rPr>
              <a:t>57.7m</a:t>
            </a:r>
            <a:r>
              <a:rPr lang="zh-CN" altLang="en-US">
                <a:sym typeface="+mn-ea"/>
              </a:rPr>
              <a:t>人患有肢体残疾，</a:t>
            </a:r>
            <a:r>
              <a:rPr lang="en-US" altLang="zh-CN">
                <a:sym typeface="+mn-ea"/>
              </a:rPr>
              <a:t>This issue is especially serious in Asia</a:t>
            </a:r>
            <a:r>
              <a:rPr lang="zh-CN" altLang="en-US">
                <a:sym typeface="+mn-ea"/>
              </a:rPr>
              <a:t>，</a:t>
            </a:r>
            <a:r>
              <a:rPr lang="en-US" altLang="zh-CN">
                <a:sym typeface="+mn-ea"/>
              </a:rPr>
              <a:t>East Asia and South Asia accounting for about 11.2 million and 9.7 million cases</a:t>
            </a:r>
            <a:endParaRPr lang="en-US" altLang="zh-CN">
              <a:sym typeface="+mn-ea"/>
            </a:endParaRPr>
          </a:p>
          <a:p>
            <a:r>
              <a:rPr lang="en-US" altLang="zh-CN">
                <a:sym typeface="+mn-ea"/>
              </a:rPr>
              <a:t>This significantly impact their rest lives, Researchers are dedicated to developing prosthetic hands can perfectly restore human hand function.</a:t>
            </a:r>
            <a:endParaRPr lang="en-US" altLang="zh-CN">
              <a:sym typeface="+mn-ea"/>
            </a:endParaRPr>
          </a:p>
          <a:p>
            <a:r>
              <a:rPr lang="en-US" altLang="zh-CN">
                <a:sym typeface="+mn-ea"/>
              </a:rPr>
              <a:t>prosthetic hands are able to recognize an increasing variety of hand gestures.</a:t>
            </a:r>
            <a:br>
              <a:rPr lang="zh-CN" altLang="en-US">
                <a:sym typeface="+mn-ea"/>
              </a:rPr>
            </a:br>
            <a:endParaRPr lang="zh-CN" altLang="en-US">
              <a:sym typeface="+mn-ea"/>
            </a:endParaRPr>
          </a:p>
          <a:p>
            <a:endParaRPr lang="zh-CN" altLang="en-US">
              <a:sym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1.</a:t>
            </a:r>
            <a:r>
              <a:rPr lang="en-US" altLang="zh-CN">
                <a:sym typeface="+mn-ea"/>
              </a:rPr>
              <a:t>V</a:t>
            </a:r>
            <a:r>
              <a:rPr lang="en-US" altLang="en-US">
                <a:sym typeface="+mn-ea"/>
              </a:rPr>
              <a:t>á</a:t>
            </a:r>
            <a:r>
              <a:rPr lang="en-US" altLang="zh-CN">
                <a:sym typeface="+mn-ea"/>
              </a:rPr>
              <a:t>sconez</a:t>
            </a:r>
            <a:r>
              <a:rPr lang="en-US" altLang="zh-CN">
                <a:latin typeface="+mj-lt"/>
                <a:cs typeface="+mj-lt"/>
                <a:sym typeface="+mn-ea"/>
              </a:rPr>
              <a:t> et al. proposed a system, that combine EMG with IMU, adopts xx model. Classifies 11 variety of grasping movements. The results achieved 97% accuracy.</a:t>
            </a:r>
            <a:br>
              <a:rPr lang="en-US" altLang="zh-CN">
                <a:latin typeface="+mj-lt"/>
                <a:cs typeface="+mj-lt"/>
                <a:sym typeface="+mn-ea"/>
              </a:rPr>
            </a:br>
            <a:r>
              <a:rPr lang="en-US" altLang="zh-CN"/>
              <a:t>2.Zandigohar et al.</a:t>
            </a:r>
            <a:br>
              <a:rPr lang="zh-CN" altLang="en-US"/>
            </a:br>
            <a:r>
              <a:rPr lang="en-US" altLang="zh-CN"/>
              <a:t>This is precisely the aspect of natural grasping that consumes the most cognitive resources.</a:t>
            </a:r>
            <a:endParaRPr lang="en-US" altLang="zh-CN"/>
          </a:p>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1.In Lalle's study, the number of recognizable gestures was set at three levels, from low to high. The results showed that as the....</a:t>
            </a:r>
            <a:endParaRPr lang="en-US" altLang="zh-CN"/>
          </a:p>
          <a:p>
            <a:r>
              <a:rPr lang="en-US" altLang="zh-CN"/>
              <a:t>2.</a:t>
            </a:r>
            <a:r>
              <a:rPr lang="en-US" altLang="zh-CN">
                <a:sym typeface="+mn-ea"/>
              </a:rPr>
              <a:t>In Thomas's study, they proposed a system that automates the low-level task of determining how much force to apply when grasping an object. The results showed that this approach could better improve neural efficiency.</a:t>
            </a:r>
            <a:endParaRPr lang="en-US" altLang="zh-CN">
              <a:sym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ea typeface="宋体" panose="02010600030101010101" pitchFamily="2" charset="-122"/>
                <a:sym typeface="+mn-ea"/>
              </a:rPr>
              <a:t>So, in my research, I aim to develop a prosthetic hand simplifies the user's EMG input from</a:t>
            </a:r>
            <a:r>
              <a:rPr lang="en-US" altLang="zh-CN">
                <a:sym typeface="+mn-ea"/>
              </a:rPr>
              <a:t> multiple hand gesture commands. to just two command, grasp and release.</a:t>
            </a:r>
            <a:br>
              <a:rPr lang="en-US" altLang="zh-CN">
                <a:ea typeface="宋体" panose="02010600030101010101" pitchFamily="2" charset="-122"/>
                <a:sym typeface="+mn-ea"/>
              </a:rPr>
            </a:br>
            <a:r>
              <a:rPr lang="en-US" altLang="zh-CN">
                <a:ea typeface="宋体" panose="02010600030101010101" pitchFamily="2" charset="-122"/>
                <a:sym typeface="+mn-ea"/>
              </a:rPr>
              <a:t>And during the grasping process, the hand will automatically adjust to grasp the object.</a:t>
            </a:r>
            <a:endParaRPr lang="zh-CN" altLang="en-US" b="1" dirty="0">
              <a:sym typeface="Avenir Heavy"/>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this the System architeture, now i include two type of sensor. </a:t>
            </a:r>
            <a:br>
              <a:rPr lang="en-US" altLang="zh-CN"/>
            </a:br>
            <a:r>
              <a:rPr lang="en-US"/>
              <a:t>In EMG Branch</a:t>
            </a:r>
            <a:r>
              <a:rPr lang="zh-CN" altLang="en-US"/>
              <a:t>，</a:t>
            </a:r>
            <a:r>
              <a:rPr lang="en-US" altLang="zh-CN"/>
              <a:t>use a 1D CNN to recognize three types of EMG signals: open, close, and stay. In the grasping task, the EMG branch is responsible...</a:t>
            </a:r>
            <a:endParaRPr lang="en-US" altLang="zh-CN"/>
          </a:p>
          <a:p>
            <a:r>
              <a:rPr lang="en-US" altLang="zh-CN"/>
              <a:t>vision branch used to recognize the scene and output an </a:t>
            </a:r>
            <a:r>
              <a:rPr lang="en-US" altLang="zh-CN">
                <a:sym typeface="+mn-ea"/>
              </a:rPr>
              <a:t>Corresponding </a:t>
            </a:r>
            <a:r>
              <a:rPr lang="en-US" altLang="zh-CN"/>
              <a:t>size. </a:t>
            </a:r>
            <a:r>
              <a:rPr lang="en-US" altLang="zh-CN">
                <a:sym typeface="+mn-ea"/>
              </a:rPr>
              <a:t>diffrent previous now the network no longer performs object recognition, During the grasping process — for example, as the hand moves toward the target — the size is continuously adjusted</a:t>
            </a:r>
            <a:endParaRPr lang="en-US" altLang="zh-CN">
              <a:sym typeface="+mn-ea"/>
            </a:endParaRPr>
          </a:p>
          <a:p>
            <a:r>
              <a:rPr lang="en-US" altLang="zh-CN">
                <a:sym typeface="+mn-ea"/>
              </a:rPr>
              <a:t>finally, the outputs of the two branches are combined into a single result: whether to grasp or release, and what angle the prosthetic hand should reach.</a:t>
            </a:r>
            <a:br>
              <a:rPr lang="zh-CN" altLang="en-US">
                <a:sym typeface="+mn-ea"/>
              </a:rPr>
            </a:br>
            <a:endParaRPr lang="zh-CN" altLang="en-US">
              <a:sym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this is .... demostrate video, the robotic hand will ..., here is open and close angle ui, can see continusly small adjust.</a:t>
            </a:r>
            <a:br>
              <a:rPr lang="en-US" altLang="zh-CN"/>
            </a:br>
            <a:r>
              <a:rPr lang="en-US" altLang="zh-CN"/>
              <a:t>Here can see hand vision vedio is slow, when i make the slide, also notice. and i search, this is cuz pyhon need to runing inference so,in the record will have delay. this not affect actual use. But indeed, the two sensors have different frequencies, there can be some misalignment when synchronizing the data. i dont to carefully check.</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this is training data record, the training adopts imitation learning. </a:t>
            </a:r>
            <a:r>
              <a:rPr lang="en-US" altLang="zh-CN">
                <a:sym typeface="+mn-ea"/>
              </a:rPr>
              <a:t>operator use EMG-Only mode to </a:t>
            </a:r>
            <a:r>
              <a:rPr lang="en-US" altLang="zh-CN">
                <a:sym typeface="+mn-ea"/>
              </a:rPr>
              <a:t>grasp objects.</a:t>
            </a:r>
            <a:endParaRPr lang="en-US" altLang="zh-CN">
              <a:sym typeface="+mn-ea"/>
            </a:endParaRPr>
          </a:p>
          <a:p>
            <a:r>
              <a:rPr lang="en-US" altLang="zh-CN">
                <a:sym typeface="+mn-ea"/>
              </a:rPr>
              <a:t>During this process, the image, EMG signal, and servo motor angle are all recorded and saved. In the vision branch, the model also directly maps the input image data to the output servo motor angle</a:t>
            </a:r>
            <a:br>
              <a:rPr lang="en-US" altLang="zh-CN"/>
            </a:br>
            <a:br>
              <a:rPr lang="en-US" altLang="zh-CN"/>
            </a:br>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when system starts running, it automatically records data in sync. However, during recording, there is a large amount of irrelevant data that does not correspond to the actual grasping process. Feeding this data into training would contaminate the model. so I later added a manual marking the valid data grasping </a:t>
            </a:r>
            <a:r>
              <a:rPr lang="en-US" altLang="zh-CN">
                <a:sym typeface="+mn-ea"/>
              </a:rPr>
              <a:t>segment </a:t>
            </a:r>
            <a:r>
              <a:rPr lang="en-US" altLang="zh-CN"/>
              <a:t>. And each valid data segment corresponds to one complete grasping process. start close state...</a:t>
            </a:r>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For to evaluate.... I design the experiment. the scen is let the participants to grasp different size object</a:t>
            </a:r>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There are two metrics.</a:t>
            </a:r>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However, current prosthetic grasping is still not natural enough. next step</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143000" y="1122363"/>
            <a:ext cx="6858000" cy="2387600"/>
          </a:xfrm>
        </p:spPr>
        <p:txBody>
          <a:bodyPr anchor="b"/>
          <a:lstStyle>
            <a:lvl1pPr algn="ctr">
              <a:defRPr sz="4500"/>
            </a:lvl1pPr>
          </a:lstStyle>
          <a:p>
            <a:r>
              <a:rPr kumimoji="1" lang="ja-JP" altLang="en-US"/>
              <a:t>マスター タイトルの書式設定</a:t>
            </a:r>
            <a:endParaRPr kumimoji="1" lang="ja-JP" altLang="en-US"/>
          </a:p>
        </p:txBody>
      </p:sp>
      <p:sp>
        <p:nvSpPr>
          <p:cNvPr id="3" name="字幕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623888" y="1709739"/>
            <a:ext cx="7886700" cy="2852737"/>
          </a:xfrm>
        </p:spPr>
        <p:txBody>
          <a:bodyPr anchor="b"/>
          <a:lstStyle>
            <a:lvl1pPr>
              <a:defRPr sz="4500"/>
            </a:lvl1p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ja-JP" altLang="en-US"/>
              <a:t>マスター テキストの書式設定</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sz="half" idx="1"/>
          </p:nvPr>
        </p:nvSpPr>
        <p:spPr>
          <a:xfrm>
            <a:off x="628650" y="1825625"/>
            <a:ext cx="38862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コンテンツ プレースホルダー 3"/>
          <p:cNvSpPr>
            <a:spLocks noGrp="1"/>
          </p:cNvSpPr>
          <p:nvPr>
            <p:ph sz="half" idx="2"/>
          </p:nvPr>
        </p:nvSpPr>
        <p:spPr>
          <a:xfrm>
            <a:off x="4629150" y="1825625"/>
            <a:ext cx="38862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日付プレースホルダー 4"/>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629841" y="365126"/>
            <a:ext cx="7886700" cy="1325563"/>
          </a:xfrm>
        </p:spPr>
        <p:txBody>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endParaRPr kumimoji="1" lang="ja-JP" altLang="en-US"/>
          </a:p>
        </p:txBody>
      </p:sp>
      <p:sp>
        <p:nvSpPr>
          <p:cNvPr id="4" name="コンテンツ プレースホルダー 3"/>
          <p:cNvSpPr>
            <a:spLocks noGrp="1"/>
          </p:cNvSpPr>
          <p:nvPr>
            <p:ph sz="half" idx="2"/>
          </p:nvPr>
        </p:nvSpPr>
        <p:spPr>
          <a:xfrm>
            <a:off x="629842" y="2505075"/>
            <a:ext cx="3868340"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テキスト プレースホルダー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endParaRPr kumimoji="1" lang="ja-JP" altLang="en-US"/>
          </a:p>
        </p:txBody>
      </p:sp>
      <p:sp>
        <p:nvSpPr>
          <p:cNvPr id="6" name="コンテンツ プレースホルダー 5"/>
          <p:cNvSpPr>
            <a:spLocks noGrp="1"/>
          </p:cNvSpPr>
          <p:nvPr>
            <p:ph sz="quarter" idx="4"/>
          </p:nvPr>
        </p:nvSpPr>
        <p:spPr>
          <a:xfrm>
            <a:off x="4629150" y="2505075"/>
            <a:ext cx="3887391"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7" name="日付プレースホルダー 6"/>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205954" y="94797"/>
            <a:ext cx="7886700" cy="488889"/>
          </a:xfrm>
        </p:spPr>
        <p:txBody>
          <a:bodyPr>
            <a:normAutofit/>
          </a:bodyPr>
          <a:lstStyle>
            <a:lvl1pPr>
              <a:defRPr sz="2800"/>
            </a:lvl1pPr>
          </a:lstStyle>
          <a:p>
            <a:r>
              <a:rPr kumimoji="1" lang="ja-JP" altLang="en-US"/>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cxnSp>
        <p:nvCxnSpPr>
          <p:cNvPr id="7" name="直線コネクタ 6"/>
          <p:cNvCxnSpPr/>
          <p:nvPr userDrawn="1"/>
        </p:nvCxnSpPr>
        <p:spPr>
          <a:xfrm>
            <a:off x="171450" y="94086"/>
            <a:ext cx="0" cy="489600"/>
          </a:xfrm>
          <a:prstGeom prst="line">
            <a:avLst/>
          </a:prstGeom>
          <a:ln w="5715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5" name="スライド番号プレースホルダー 4"/>
          <p:cNvSpPr>
            <a:spLocks noGrp="1"/>
          </p:cNvSpPr>
          <p:nvPr>
            <p:ph type="sldNum" sz="quarter" idx="12"/>
          </p:nvPr>
        </p:nvSpPr>
        <p:spPr>
          <a:xfrm>
            <a:off x="7063954" y="6574305"/>
            <a:ext cx="2057400" cy="365125"/>
          </a:xfrm>
        </p:spPr>
        <p:txBody>
          <a:bodyPr/>
          <a:lstStyle>
            <a:lvl1pPr>
              <a:defRPr sz="1400">
                <a:solidFill>
                  <a:schemeClr val="accent1">
                    <a:lumMod val="75000"/>
                  </a:schemeClr>
                </a:solidFill>
              </a:defRPr>
            </a:lvl1pPr>
          </a:lstStyle>
          <a:p>
            <a:fld id="{6F00E456-75B8-4C92-99E8-A0CAB60115A8}" type="slidenum">
              <a:rPr lang="ja-JP" altLang="en-US" smtClean="0"/>
            </a:fld>
            <a:endParaRPr lang="ja-JP"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テキスト プレースホルダー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endParaRPr kumimoji="1" lang="ja-JP" altLang="en-US"/>
          </a:p>
        </p:txBody>
      </p:sp>
      <p:sp>
        <p:nvSpPr>
          <p:cNvPr id="5" name="日付プレースホルダー 4"/>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endParaRPr kumimoji="1" lang="ja-JP" altLang="en-US"/>
          </a:p>
        </p:txBody>
      </p:sp>
      <p:sp>
        <p:nvSpPr>
          <p:cNvPr id="3" name="図プレースホルダー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ja-JP" altLang="en-US"/>
          </a:p>
        </p:txBody>
      </p:sp>
      <p:sp>
        <p:nvSpPr>
          <p:cNvPr id="4" name="テキスト プレースホルダー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endParaRPr kumimoji="1" lang="ja-JP" altLang="en-US"/>
          </a:p>
        </p:txBody>
      </p:sp>
      <p:sp>
        <p:nvSpPr>
          <p:cNvPr id="5" name="日付プレースホルダー 4"/>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543675" y="365125"/>
            <a:ext cx="1971675" cy="5811838"/>
          </a:xfrm>
        </p:spPr>
        <p:txBody>
          <a:bodyPr vert="eaVert"/>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628650" y="365125"/>
            <a:ext cx="5800725" cy="5811838"/>
          </a:xfrm>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6F00E456-75B8-4C92-99E8-A0CAB60115A8}" type="slidenum">
              <a:rPr kumimoji="1" lang="ja-JP" altLang="en-US" smtClean="0"/>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image" Target="../media/image8.png"/><Relationship Id="rId5" Type="http://schemas.openxmlformats.org/officeDocument/2006/relationships/tags" Target="../tags/tag4.xml"/><Relationship Id="rId4" Type="http://schemas.openxmlformats.org/officeDocument/2006/relationships/image" Target="../media/image7.png"/><Relationship Id="rId3" Type="http://schemas.openxmlformats.org/officeDocument/2006/relationships/tags" Target="../tags/tag3.xml"/><Relationship Id="rId2" Type="http://schemas.openxmlformats.org/officeDocument/2006/relationships/tags" Target="../tags/tag2.xml"/><Relationship Id="rId10" Type="http://schemas.openxmlformats.org/officeDocument/2006/relationships/notesSlide" Target="../notesSlides/notesSlide3.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tags" Target="../tags/tag7.xml"/><Relationship Id="rId2" Type="http://schemas.openxmlformats.org/officeDocument/2006/relationships/image" Target="../media/image10.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3" Type="http://schemas.openxmlformats.org/officeDocument/2006/relationships/notesSlide" Target="../notesSlides/notesSlide5.xml"/><Relationship Id="rId42" Type="http://schemas.openxmlformats.org/officeDocument/2006/relationships/slideLayout" Target="../slideLayouts/slideLayout2.xml"/><Relationship Id="rId41" Type="http://schemas.openxmlformats.org/officeDocument/2006/relationships/tags" Target="../tags/tag46.xml"/><Relationship Id="rId40" Type="http://schemas.openxmlformats.org/officeDocument/2006/relationships/tags" Target="../tags/tag45.xml"/><Relationship Id="rId4" Type="http://schemas.openxmlformats.org/officeDocument/2006/relationships/tags" Target="../tags/tag11.xml"/><Relationship Id="rId39" Type="http://schemas.openxmlformats.org/officeDocument/2006/relationships/tags" Target="../tags/tag44.xml"/><Relationship Id="rId38" Type="http://schemas.openxmlformats.org/officeDocument/2006/relationships/tags" Target="../tags/tag43.xml"/><Relationship Id="rId37" Type="http://schemas.openxmlformats.org/officeDocument/2006/relationships/tags" Target="../tags/tag42.xml"/><Relationship Id="rId36" Type="http://schemas.openxmlformats.org/officeDocument/2006/relationships/tags" Target="../tags/tag41.xml"/><Relationship Id="rId35" Type="http://schemas.openxmlformats.org/officeDocument/2006/relationships/tags" Target="../tags/tag40.xml"/><Relationship Id="rId34" Type="http://schemas.openxmlformats.org/officeDocument/2006/relationships/tags" Target="../tags/tag39.xml"/><Relationship Id="rId33" Type="http://schemas.openxmlformats.org/officeDocument/2006/relationships/tags" Target="../tags/tag38.xml"/><Relationship Id="rId32" Type="http://schemas.openxmlformats.org/officeDocument/2006/relationships/image" Target="../media/image12.png"/><Relationship Id="rId31" Type="http://schemas.openxmlformats.org/officeDocument/2006/relationships/tags" Target="../tags/tag37.xml"/><Relationship Id="rId30" Type="http://schemas.openxmlformats.org/officeDocument/2006/relationships/tags" Target="../tags/tag36.xml"/><Relationship Id="rId3" Type="http://schemas.openxmlformats.org/officeDocument/2006/relationships/tags" Target="../tags/tag10.xml"/><Relationship Id="rId29" Type="http://schemas.openxmlformats.org/officeDocument/2006/relationships/tags" Target="../tags/tag35.xml"/><Relationship Id="rId28" Type="http://schemas.openxmlformats.org/officeDocument/2006/relationships/tags" Target="../tags/tag34.xml"/><Relationship Id="rId27" Type="http://schemas.openxmlformats.org/officeDocument/2006/relationships/tags" Target="../tags/tag33.xml"/><Relationship Id="rId26" Type="http://schemas.openxmlformats.org/officeDocument/2006/relationships/tags" Target="../tags/tag32.xml"/><Relationship Id="rId25" Type="http://schemas.openxmlformats.org/officeDocument/2006/relationships/tags" Target="../tags/tag31.xml"/><Relationship Id="rId24" Type="http://schemas.openxmlformats.org/officeDocument/2006/relationships/tags" Target="../tags/tag30.xml"/><Relationship Id="rId23" Type="http://schemas.openxmlformats.org/officeDocument/2006/relationships/tags" Target="../tags/tag29.xml"/><Relationship Id="rId22" Type="http://schemas.openxmlformats.org/officeDocument/2006/relationships/tags" Target="../tags/tag28.xml"/><Relationship Id="rId21" Type="http://schemas.openxmlformats.org/officeDocument/2006/relationships/tags" Target="../tags/tag27.xml"/><Relationship Id="rId20" Type="http://schemas.openxmlformats.org/officeDocument/2006/relationships/tags" Target="../tags/tag26.xml"/><Relationship Id="rId2" Type="http://schemas.openxmlformats.org/officeDocument/2006/relationships/tags" Target="../tags/tag9.xml"/><Relationship Id="rId19" Type="http://schemas.openxmlformats.org/officeDocument/2006/relationships/tags" Target="../tags/tag25.xml"/><Relationship Id="rId18" Type="http://schemas.openxmlformats.org/officeDocument/2006/relationships/tags" Target="../tags/tag24.xml"/><Relationship Id="rId17" Type="http://schemas.openxmlformats.org/officeDocument/2006/relationships/tags" Target="../tags/tag23.xml"/><Relationship Id="rId16" Type="http://schemas.openxmlformats.org/officeDocument/2006/relationships/tags" Target="../tags/tag22.xml"/><Relationship Id="rId15" Type="http://schemas.openxmlformats.org/officeDocument/2006/relationships/tags" Target="../tags/tag21.xml"/><Relationship Id="rId14" Type="http://schemas.openxmlformats.org/officeDocument/2006/relationships/image" Target="../media/image11.png"/><Relationship Id="rId13" Type="http://schemas.openxmlformats.org/officeDocument/2006/relationships/tags" Target="../tags/tag20.xml"/><Relationship Id="rId12" Type="http://schemas.openxmlformats.org/officeDocument/2006/relationships/tags" Target="../tags/tag19.xml"/><Relationship Id="rId11" Type="http://schemas.openxmlformats.org/officeDocument/2006/relationships/tags" Target="../tags/tag18.xml"/><Relationship Id="rId10" Type="http://schemas.openxmlformats.org/officeDocument/2006/relationships/tags" Target="../tags/tag17.xml"/><Relationship Id="rId1" Type="http://schemas.openxmlformats.org/officeDocument/2006/relationships/tags" Target="../tags/tag8.xml"/></Relationships>
</file>

<file path=ppt/slides/_rels/slide6.xml.rels><?xml version="1.0" encoding="UTF-8" standalone="yes"?>
<Relationships xmlns="http://schemas.openxmlformats.org/package/2006/relationships"><Relationship Id="rId9" Type="http://schemas.openxmlformats.org/officeDocument/2006/relationships/image" Target="../media/image14.jpeg"/><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image" Target="../media/image13.png"/><Relationship Id="rId3" Type="http://schemas.openxmlformats.org/officeDocument/2006/relationships/tags" Target="../tags/tag49.xml"/><Relationship Id="rId2" Type="http://schemas.openxmlformats.org/officeDocument/2006/relationships/tags" Target="../tags/tag48.xml"/><Relationship Id="rId17" Type="http://schemas.openxmlformats.org/officeDocument/2006/relationships/notesSlide" Target="../notesSlides/notesSlide6.xml"/><Relationship Id="rId16" Type="http://schemas.openxmlformats.org/officeDocument/2006/relationships/slideLayout" Target="../slideLayouts/slideLayout2.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tags" Target="../tags/tag47.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15.png"/><Relationship Id="rId2" Type="http://schemas.microsoft.com/office/2007/relationships/media" Target="../media/media1.mp4"/><Relationship Id="rId1" Type="http://schemas.openxmlformats.org/officeDocument/2006/relationships/video" Target="../media/media1.mp4"/></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60.xml"/><Relationship Id="rId3" Type="http://schemas.openxmlformats.org/officeDocument/2006/relationships/image" Target="../media/image16.png"/><Relationship Id="rId2" Type="http://schemas.microsoft.com/office/2007/relationships/media" Target="../media/media2.mp4"/><Relationship Id="rId1" Type="http://schemas.openxmlformats.org/officeDocument/2006/relationships/video" Target="../media/media2.mp4"/></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3.png"/><Relationship Id="rId7" Type="http://schemas.openxmlformats.org/officeDocument/2006/relationships/tags" Target="../tags/tag62.xml"/><Relationship Id="rId6" Type="http://schemas.openxmlformats.org/officeDocument/2006/relationships/image" Target="../media/image22.png"/><Relationship Id="rId5" Type="http://schemas.openxmlformats.org/officeDocument/2006/relationships/tags" Target="../tags/tag61.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svg"/><Relationship Id="rId10" Type="http://schemas.openxmlformats.org/officeDocument/2006/relationships/notesSlide" Target="../notesSlides/notesSlide10.xml"/><Relationship Id="rId1" Type="http://schemas.openxmlformats.org/officeDocument/2006/relationships/image" Target="../media/image18.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27.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4530" y="1016635"/>
            <a:ext cx="7775575" cy="1522730"/>
          </a:xfrm>
        </p:spPr>
        <p:txBody>
          <a:bodyPr vert="horz" anchor="ctr" anchorCtr="1">
            <a:noAutofit/>
          </a:bodyPr>
          <a:lstStyle/>
          <a:p>
            <a:pPr algn="ctr"/>
            <a:r>
              <a:rPr kumimoji="1" lang="en-US" altLang="zh-CN" sz="3200" dirty="0">
                <a:cs typeface="+mj-lt"/>
              </a:rPr>
              <a:t>Multimodal Shared Control for Prosthetic Hands: Continuous Adjustment for Reduced Cognitive Load</a:t>
            </a:r>
            <a:endParaRPr kumimoji="1" lang="en-US" altLang="zh-CN" sz="3200" dirty="0">
              <a:cs typeface="+mj-lt"/>
            </a:endParaRPr>
          </a:p>
        </p:txBody>
      </p:sp>
      <p:sp>
        <p:nvSpPr>
          <p:cNvPr id="5" name="テキスト ボックス 4"/>
          <p:cNvSpPr txBox="1"/>
          <p:nvPr/>
        </p:nvSpPr>
        <p:spPr>
          <a:xfrm>
            <a:off x="684530" y="4070350"/>
            <a:ext cx="7775575" cy="1550670"/>
          </a:xfrm>
          <a:prstGeom prst="rect">
            <a:avLst/>
          </a:prstGeom>
          <a:noFill/>
        </p:spPr>
        <p:txBody>
          <a:bodyPr wrap="square">
            <a:noAutofit/>
          </a:bodyPr>
          <a:lstStyle/>
          <a:p>
            <a:pPr algn="ctr"/>
            <a:r>
              <a:rPr lang="en-US" sz="2000">
                <a:solidFill>
                  <a:srgbClr val="000000"/>
                </a:solidFill>
                <a:effectLst/>
                <a:latin typeface="Times New Roman" panose="02020603050405020304" charset="0"/>
                <a:cs typeface="Times New Roman" panose="02020603050405020304" charset="0"/>
                <a:sym typeface="+mn-ea"/>
              </a:rPr>
              <a:t>Saga</a:t>
            </a:r>
            <a:r>
              <a:rPr lang="ja-JP" sz="2000">
                <a:solidFill>
                  <a:srgbClr val="000000"/>
                </a:solidFill>
                <a:effectLst/>
                <a:latin typeface="Times New Roman" panose="02020603050405020304" charset="0"/>
                <a:ea typeface="Source Han Sans JP Bold"/>
                <a:cs typeface="Times New Roman" panose="02020603050405020304" charset="0"/>
                <a:sym typeface="+mn-ea"/>
              </a:rPr>
              <a:t> </a:t>
            </a:r>
            <a:r>
              <a:rPr lang="en-US" sz="2000">
                <a:solidFill>
                  <a:srgbClr val="000000"/>
                </a:solidFill>
                <a:effectLst/>
                <a:latin typeface="Times New Roman" panose="02020603050405020304" charset="0"/>
                <a:cs typeface="Times New Roman" panose="02020603050405020304" charset="0"/>
                <a:sym typeface="+mn-ea"/>
              </a:rPr>
              <a:t>University</a:t>
            </a:r>
            <a:r>
              <a:rPr lang="ja-JP" sz="2000">
                <a:solidFill>
                  <a:srgbClr val="000000"/>
                </a:solidFill>
                <a:effectLst/>
                <a:latin typeface="Times New Roman" panose="02020603050405020304" charset="0"/>
                <a:ea typeface="Source Han Sans JP Bold"/>
                <a:cs typeface="Times New Roman" panose="02020603050405020304" charset="0"/>
                <a:sym typeface="+mn-ea"/>
              </a:rPr>
              <a:t> </a:t>
            </a:r>
            <a:r>
              <a:rPr lang="en-US" sz="2000">
                <a:solidFill>
                  <a:srgbClr val="000000"/>
                </a:solidFill>
                <a:effectLst/>
                <a:latin typeface="Times New Roman" panose="02020603050405020304" charset="0"/>
                <a:cs typeface="Times New Roman" panose="02020603050405020304" charset="0"/>
                <a:sym typeface="+mn-ea"/>
              </a:rPr>
              <a:t>Graduate</a:t>
            </a:r>
            <a:r>
              <a:rPr lang="ja-JP" sz="2000">
                <a:solidFill>
                  <a:srgbClr val="000000"/>
                </a:solidFill>
                <a:effectLst/>
                <a:latin typeface="Times New Roman" panose="02020603050405020304" charset="0"/>
                <a:ea typeface="Source Han Sans JP Bold"/>
                <a:cs typeface="Times New Roman" panose="02020603050405020304" charset="0"/>
                <a:sym typeface="+mn-ea"/>
              </a:rPr>
              <a:t> </a:t>
            </a:r>
            <a:r>
              <a:rPr lang="en-US" sz="2000">
                <a:solidFill>
                  <a:srgbClr val="000000"/>
                </a:solidFill>
                <a:effectLst/>
                <a:latin typeface="Times New Roman" panose="02020603050405020304" charset="0"/>
                <a:cs typeface="Times New Roman" panose="02020603050405020304" charset="0"/>
                <a:sym typeface="+mn-ea"/>
              </a:rPr>
              <a:t>School of Science and Engineering​</a:t>
            </a:r>
            <a:endParaRPr lang="en-US" sz="2000" b="0" i="0">
              <a:solidFill>
                <a:srgbClr val="000000"/>
              </a:solidFill>
              <a:effectLst/>
              <a:latin typeface="Times New Roman" panose="02020603050405020304" charset="0"/>
              <a:cs typeface="Times New Roman" panose="02020603050405020304" charset="0"/>
            </a:endParaRPr>
          </a:p>
          <a:p>
            <a:pPr algn="ctr" rtl="0" fontAlgn="base"/>
            <a:r>
              <a:rPr lang="en-US" altLang="zh-CN" sz="2000" dirty="0">
                <a:solidFill>
                  <a:srgbClr val="000000"/>
                </a:solidFill>
                <a:latin typeface="+mj-lt"/>
                <a:cs typeface="+mj-lt"/>
                <a:sym typeface="+mn-ea"/>
              </a:rPr>
              <a:t>Computer Science &amp; Information Techology</a:t>
            </a:r>
            <a:r>
              <a:rPr lang="en-US" sz="2000">
                <a:solidFill>
                  <a:srgbClr val="000000"/>
                </a:solidFill>
                <a:effectLst/>
                <a:latin typeface="Times New Roman" panose="02020603050405020304" charset="0"/>
                <a:cs typeface="Times New Roman" panose="02020603050405020304" charset="0"/>
                <a:sym typeface="+mn-ea"/>
              </a:rPr>
              <a:t> Course​</a:t>
            </a:r>
            <a:endParaRPr lang="en-US" sz="2000" b="0" i="0">
              <a:solidFill>
                <a:srgbClr val="000000"/>
              </a:solidFill>
              <a:effectLst/>
              <a:latin typeface="Times New Roman" panose="02020603050405020304" charset="0"/>
              <a:cs typeface="Times New Roman" panose="02020603050405020304" charset="0"/>
            </a:endParaRPr>
          </a:p>
          <a:p>
            <a:pPr algn="ctr" rtl="0" fontAlgn="base"/>
            <a:r>
              <a:rPr lang="en-US" sz="2000">
                <a:solidFill>
                  <a:srgbClr val="000000"/>
                </a:solidFill>
                <a:effectLst/>
                <a:latin typeface="Times New Roman" panose="02020603050405020304" charset="0"/>
                <a:cs typeface="Times New Roman" panose="02020603050405020304" charset="0"/>
                <a:sym typeface="+mn-ea"/>
              </a:rPr>
              <a:t>Fukuda</a:t>
            </a:r>
            <a:r>
              <a:rPr lang="en-US" sz="2000">
                <a:solidFill>
                  <a:srgbClr val="000000"/>
                </a:solidFill>
                <a:latin typeface="Times New Roman" panose="02020603050405020304" charset="0"/>
                <a:cs typeface="Times New Roman" panose="02020603050405020304" charset="0"/>
                <a:sym typeface="+mn-ea"/>
              </a:rPr>
              <a:t> </a:t>
            </a:r>
            <a:r>
              <a:rPr lang="en-US" sz="2000">
                <a:solidFill>
                  <a:srgbClr val="000000"/>
                </a:solidFill>
                <a:effectLst/>
                <a:latin typeface="Times New Roman" panose="02020603050405020304" charset="0"/>
                <a:cs typeface="Times New Roman" panose="02020603050405020304" charset="0"/>
                <a:sym typeface="+mn-ea"/>
              </a:rPr>
              <a:t>Laboratory</a:t>
            </a:r>
            <a:r>
              <a:rPr lang="ja-JP" sz="2000">
                <a:solidFill>
                  <a:srgbClr val="000000"/>
                </a:solidFill>
                <a:effectLst/>
                <a:latin typeface="Times New Roman" panose="02020603050405020304" charset="0"/>
                <a:ea typeface="Source Han Sans JP Bold"/>
                <a:cs typeface="Times New Roman" panose="02020603050405020304" charset="0"/>
                <a:sym typeface="+mn-ea"/>
              </a:rPr>
              <a:t>　</a:t>
            </a:r>
            <a:r>
              <a:rPr lang="en-US" altLang="ja-JP" sz="2000" dirty="0">
                <a:solidFill>
                  <a:srgbClr val="000000"/>
                </a:solidFill>
                <a:effectLst/>
                <a:latin typeface="+mj-lt"/>
                <a:cs typeface="+mj-lt"/>
                <a:sym typeface="+mn-ea"/>
              </a:rPr>
              <a:t>25742102 DI XIQING</a:t>
            </a:r>
            <a:endParaRPr lang="en-US" sz="2000" b="0" i="0">
              <a:solidFill>
                <a:srgbClr val="000000"/>
              </a:solidFill>
              <a:effectLst/>
              <a:latin typeface="Times New Roman" panose="02020603050405020304" charset="0"/>
              <a:cs typeface="Times New Roman" panose="02020603050405020304" charset="0"/>
            </a:endParaRPr>
          </a:p>
          <a:p>
            <a:pPr algn="ctr" rtl="0" fontAlgn="base"/>
            <a:r>
              <a:rPr lang="en-US" sz="2000">
                <a:solidFill>
                  <a:srgbClr val="000000"/>
                </a:solidFill>
                <a:effectLst/>
                <a:latin typeface="Times New Roman" panose="02020603050405020304" charset="0"/>
                <a:cs typeface="Times New Roman" panose="02020603050405020304" charset="0"/>
                <a:sym typeface="+mn-ea"/>
              </a:rPr>
              <a:t>Supervisor: </a:t>
            </a:r>
            <a:r>
              <a:rPr lang="en-US" altLang="ja-JP" sz="2000">
                <a:solidFill>
                  <a:srgbClr val="000000"/>
                </a:solidFill>
                <a:effectLst/>
                <a:latin typeface="Times New Roman" panose="02020603050405020304" charset="0"/>
                <a:ea typeface="Source Han Sans JP Bold"/>
                <a:cs typeface="Times New Roman" panose="02020603050405020304" charset="0"/>
                <a:sym typeface="+mn-ea"/>
              </a:rPr>
              <a:t>Professor </a:t>
            </a:r>
            <a:r>
              <a:rPr lang="en-US" sz="2000">
                <a:solidFill>
                  <a:srgbClr val="000000"/>
                </a:solidFill>
                <a:effectLst/>
                <a:latin typeface="Times New Roman" panose="02020603050405020304" charset="0"/>
                <a:cs typeface="Times New Roman" panose="02020603050405020304" charset="0"/>
                <a:sym typeface="+mn-ea"/>
              </a:rPr>
              <a:t>Osamu Fukuda</a:t>
            </a:r>
            <a:endParaRPr lang="ja-JP" sz="2000" b="0" i="0">
              <a:solidFill>
                <a:srgbClr val="000000"/>
              </a:solidFill>
              <a:effectLst/>
              <a:latin typeface="Times New Roman" panose="02020603050405020304" charset="0"/>
              <a:cs typeface="Times New Roman" panose="02020603050405020304" charset="0"/>
            </a:endParaRPr>
          </a:p>
          <a:p>
            <a:pPr algn="ctr"/>
            <a:endParaRPr lang="en-US" altLang="ja-JP" sz="2000" dirty="0">
              <a:solidFill>
                <a:srgbClr val="000000"/>
              </a:solidFill>
              <a:latin typeface="+mj-lt"/>
              <a:cs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4" name="组合 13"/>
          <p:cNvGrpSpPr/>
          <p:nvPr/>
        </p:nvGrpSpPr>
        <p:grpSpPr>
          <a:xfrm rot="0">
            <a:off x="262890" y="3797300"/>
            <a:ext cx="3133090" cy="1705610"/>
            <a:chOff x="217" y="1346"/>
            <a:chExt cx="5557" cy="3794"/>
          </a:xfrm>
        </p:grpSpPr>
        <p:pic>
          <p:nvPicPr>
            <p:cNvPr id="11" name="图片 10" descr="microchip"/>
            <p:cNvPicPr>
              <a:picLocks noChangeAspect="1"/>
            </p:cNvPicPr>
            <p:nvPr/>
          </p:nvPicPr>
          <p:blipFill>
            <a:blip r:embed="rId1"/>
            <a:stretch>
              <a:fillRect/>
            </a:stretch>
          </p:blipFill>
          <p:spPr>
            <a:xfrm>
              <a:off x="3592" y="2152"/>
              <a:ext cx="2183" cy="2183"/>
            </a:xfrm>
            <a:prstGeom prst="rect">
              <a:avLst/>
            </a:prstGeom>
          </p:spPr>
        </p:pic>
        <p:pic>
          <p:nvPicPr>
            <p:cNvPr id="13" name="图片 12" descr="15b54b71-e4a1-4e40-8e4a-e87d225c2b09323123321323133321"/>
            <p:cNvPicPr>
              <a:picLocks noChangeAspect="1"/>
            </p:cNvPicPr>
            <p:nvPr/>
          </p:nvPicPr>
          <p:blipFill>
            <a:blip r:embed="rId2"/>
            <a:stretch>
              <a:fillRect/>
            </a:stretch>
          </p:blipFill>
          <p:spPr>
            <a:xfrm>
              <a:off x="217" y="1346"/>
              <a:ext cx="3375" cy="3795"/>
            </a:xfrm>
            <a:prstGeom prst="rect">
              <a:avLst/>
            </a:prstGeom>
          </p:spPr>
        </p:pic>
      </p:grpSp>
      <p:sp>
        <p:nvSpPr>
          <p:cNvPr id="6" name="文本框 5"/>
          <p:cNvSpPr txBox="1"/>
          <p:nvPr/>
        </p:nvSpPr>
        <p:spPr>
          <a:xfrm>
            <a:off x="220980" y="226695"/>
            <a:ext cx="8717915" cy="583565"/>
          </a:xfrm>
          <a:prstGeom prst="rect">
            <a:avLst/>
          </a:prstGeom>
          <a:noFill/>
        </p:spPr>
        <p:txBody>
          <a:bodyPr wrap="square" rtlCol="0">
            <a:spAutoFit/>
          </a:bodyPr>
          <a:p>
            <a:r>
              <a:rPr lang="en-US" altLang="zh-CN" sz="3200" b="1">
                <a:latin typeface="Times New Roman" panose="02020603050405020304" charset="0"/>
                <a:ea typeface="宋体" panose="02010600030101010101" pitchFamily="2" charset="-122"/>
                <a:cs typeface="Times New Roman" panose="02020603050405020304" charset="0"/>
              </a:rPr>
              <a:t>Background</a:t>
            </a:r>
            <a:endParaRPr lang="en-US" altLang="zh-CN" sz="3200" b="1">
              <a:latin typeface="Times New Roman" panose="02020603050405020304" charset="0"/>
              <a:ea typeface="宋体" panose="02010600030101010101" pitchFamily="2" charset="-122"/>
              <a:cs typeface="Times New Roman" panose="02020603050405020304" charset="0"/>
            </a:endParaRPr>
          </a:p>
        </p:txBody>
      </p:sp>
      <p:pic>
        <p:nvPicPr>
          <p:cNvPr id="15" name="图片 14" descr="15b54b71-e4a1-4e40-8e4a-e87d225c2b0932312332111"/>
          <p:cNvPicPr>
            <a:picLocks noChangeAspect="1"/>
          </p:cNvPicPr>
          <p:nvPr/>
        </p:nvPicPr>
        <p:blipFill>
          <a:blip r:embed="rId3"/>
          <a:stretch>
            <a:fillRect/>
          </a:stretch>
        </p:blipFill>
        <p:spPr>
          <a:xfrm>
            <a:off x="620395" y="5422265"/>
            <a:ext cx="2853055" cy="1280160"/>
          </a:xfrm>
          <a:prstGeom prst="rect">
            <a:avLst/>
          </a:prstGeom>
        </p:spPr>
      </p:pic>
      <p:sp>
        <p:nvSpPr>
          <p:cNvPr id="2" name="文本框 1"/>
          <p:cNvSpPr txBox="1"/>
          <p:nvPr/>
        </p:nvSpPr>
        <p:spPr>
          <a:xfrm>
            <a:off x="396240" y="1044000"/>
            <a:ext cx="3707765" cy="762000"/>
          </a:xfrm>
          <a:prstGeom prst="rect">
            <a:avLst/>
          </a:prstGeom>
        </p:spPr>
        <p:txBody>
          <a:bodyPr wrap="square">
            <a:noAutofit/>
          </a:bodyPr>
          <a:p>
            <a:pPr algn="ctr"/>
            <a:r>
              <a:rPr lang="en-US" altLang="ja-JP" sz="2400">
                <a:solidFill>
                  <a:srgbClr val="FF0000"/>
                </a:solidFill>
              </a:rPr>
              <a:t>57.7 million</a:t>
            </a:r>
            <a:r>
              <a:rPr lang="en-US" altLang="ja-JP" sz="1600"/>
              <a:t>  </a:t>
            </a:r>
            <a:r>
              <a:rPr lang="en-US" altLang="ja-JP"/>
              <a:t>people </a:t>
            </a:r>
            <a:r>
              <a:rPr lang="en-US" altLang="zh-CN"/>
              <a:t>worldwide</a:t>
            </a:r>
            <a:endParaRPr lang="en-US" altLang="zh-CN"/>
          </a:p>
          <a:p>
            <a:pPr algn="ctr"/>
            <a:r>
              <a:rPr lang="en-US" altLang="zh-CN"/>
              <a:t>have</a:t>
            </a:r>
            <a:r>
              <a:rPr lang="en-US" altLang="ja-JP"/>
              <a:t> </a:t>
            </a:r>
            <a:r>
              <a:rPr lang="en-US" altLang="zh-CN"/>
              <a:t>traumatic</a:t>
            </a:r>
            <a:r>
              <a:rPr lang="en-US" altLang="ja-JP"/>
              <a:t> </a:t>
            </a:r>
            <a:r>
              <a:rPr lang="en-US" altLang="zh-CN"/>
              <a:t>limb amputation</a:t>
            </a:r>
            <a:endParaRPr lang="en-US" altLang="zh-CN"/>
          </a:p>
        </p:txBody>
      </p:sp>
      <p:pic>
        <p:nvPicPr>
          <p:cNvPr id="34" name="图片 33" descr="12916ba5-8dba-4f77-a3e2-01ea3b57ab82123321"/>
          <p:cNvPicPr>
            <a:picLocks noChangeAspect="1"/>
          </p:cNvPicPr>
          <p:nvPr/>
        </p:nvPicPr>
        <p:blipFill>
          <a:blip r:embed="rId4"/>
          <a:stretch>
            <a:fillRect/>
          </a:stretch>
        </p:blipFill>
        <p:spPr>
          <a:xfrm>
            <a:off x="5996305" y="4066540"/>
            <a:ext cx="2457450" cy="2635885"/>
          </a:xfrm>
          <a:prstGeom prst="rect">
            <a:avLst/>
          </a:prstGeom>
        </p:spPr>
      </p:pic>
      <p:sp>
        <p:nvSpPr>
          <p:cNvPr id="4" name="文本框 3"/>
          <p:cNvSpPr txBox="1"/>
          <p:nvPr/>
        </p:nvSpPr>
        <p:spPr>
          <a:xfrm>
            <a:off x="220980" y="3423370"/>
            <a:ext cx="8719185" cy="645160"/>
          </a:xfrm>
          <a:prstGeom prst="rect">
            <a:avLst/>
          </a:prstGeom>
          <a:noFill/>
        </p:spPr>
        <p:txBody>
          <a:bodyPr wrap="square" rtlCol="0" anchor="t">
            <a:spAutoFit/>
          </a:bodyPr>
          <a:p>
            <a:pPr algn="ctr"/>
            <a:r>
              <a:rPr lang="en-US" altLang="zh-CN"/>
              <a:t>As computational power, algorithms, and sensor continue to advance, this goal is being approached ever more closely</a:t>
            </a:r>
            <a:r>
              <a:rPr lang="en-US" altLang="ja-JP"/>
              <a:t> [2]</a:t>
            </a:r>
            <a:endParaRPr lang="en-US" altLang="ja-JP"/>
          </a:p>
        </p:txBody>
      </p:sp>
      <p:grpSp>
        <p:nvGrpSpPr>
          <p:cNvPr id="9" name="组合 8"/>
          <p:cNvGrpSpPr/>
          <p:nvPr/>
        </p:nvGrpSpPr>
        <p:grpSpPr>
          <a:xfrm>
            <a:off x="4239895" y="4312285"/>
            <a:ext cx="1193800" cy="1993265"/>
            <a:chOff x="6872" y="6468"/>
            <a:chExt cx="1880" cy="3139"/>
          </a:xfrm>
        </p:grpSpPr>
        <p:pic>
          <p:nvPicPr>
            <p:cNvPr id="5" name="图片 4" descr="arrows"/>
            <p:cNvPicPr>
              <a:picLocks noChangeAspect="1"/>
            </p:cNvPicPr>
            <p:nvPr/>
          </p:nvPicPr>
          <p:blipFill>
            <a:blip r:embed="rId5"/>
            <a:stretch>
              <a:fillRect/>
            </a:stretch>
          </p:blipFill>
          <p:spPr>
            <a:xfrm>
              <a:off x="6872" y="6468"/>
              <a:ext cx="1880" cy="1880"/>
            </a:xfrm>
            <a:prstGeom prst="rect">
              <a:avLst/>
            </a:prstGeom>
          </p:spPr>
        </p:pic>
        <p:pic>
          <p:nvPicPr>
            <p:cNvPr id="8" name="图片 7" descr="arrows"/>
            <p:cNvPicPr>
              <a:picLocks noChangeAspect="1"/>
            </p:cNvPicPr>
            <p:nvPr/>
          </p:nvPicPr>
          <p:blipFill>
            <a:blip r:embed="rId5"/>
            <a:stretch>
              <a:fillRect/>
            </a:stretch>
          </p:blipFill>
          <p:spPr>
            <a:xfrm>
              <a:off x="6872" y="7761"/>
              <a:ext cx="1847" cy="1847"/>
            </a:xfrm>
            <a:prstGeom prst="rect">
              <a:avLst/>
            </a:prstGeom>
          </p:spPr>
        </p:pic>
      </p:grpSp>
      <p:pic>
        <p:nvPicPr>
          <p:cNvPr id="7" name="图片 6" descr="upper-limb-with-prosthetist"/>
          <p:cNvPicPr>
            <a:picLocks noChangeAspect="1"/>
          </p:cNvPicPr>
          <p:nvPr/>
        </p:nvPicPr>
        <p:blipFill>
          <a:blip r:embed="rId6"/>
          <a:stretch>
            <a:fillRect/>
          </a:stretch>
        </p:blipFill>
        <p:spPr>
          <a:xfrm>
            <a:off x="4342765" y="669925"/>
            <a:ext cx="3764280" cy="2509520"/>
          </a:xfrm>
          <a:prstGeom prst="rect">
            <a:avLst/>
          </a:prstGeom>
        </p:spPr>
      </p:pic>
      <p:sp>
        <p:nvSpPr>
          <p:cNvPr id="12" name="文本框 11"/>
          <p:cNvSpPr txBox="1"/>
          <p:nvPr/>
        </p:nvSpPr>
        <p:spPr>
          <a:xfrm>
            <a:off x="396240" y="2052000"/>
            <a:ext cx="3707765" cy="974725"/>
          </a:xfrm>
          <a:prstGeom prst="rect">
            <a:avLst/>
          </a:prstGeom>
        </p:spPr>
        <p:txBody>
          <a:bodyPr wrap="square">
            <a:noAutofit/>
          </a:bodyPr>
          <a:p>
            <a:pPr algn="ctr"/>
            <a:r>
              <a:rPr lang="en-US" altLang="ja-JP"/>
              <a:t>East Asia </a:t>
            </a:r>
            <a:r>
              <a:rPr lang="en-US" altLang="ja-JP" sz="2400">
                <a:solidFill>
                  <a:srgbClr val="FF0000"/>
                </a:solidFill>
              </a:rPr>
              <a:t>11.2 million</a:t>
            </a:r>
            <a:endParaRPr lang="en-US" altLang="zh-CN"/>
          </a:p>
          <a:p>
            <a:pPr algn="ctr"/>
            <a:r>
              <a:rPr lang="en-US" altLang="zh-CN"/>
              <a:t>South Asia </a:t>
            </a:r>
            <a:r>
              <a:rPr lang="en-US" altLang="ja-JP" sz="2400">
                <a:solidFill>
                  <a:srgbClr val="FF0000"/>
                </a:solidFill>
                <a:sym typeface="+mn-ea"/>
              </a:rPr>
              <a:t>9.7 million</a:t>
            </a:r>
            <a:r>
              <a:rPr lang="en-US" altLang="zh-CN"/>
              <a:t> </a:t>
            </a:r>
            <a:r>
              <a:rPr lang="en-US" altLang="ja-JP"/>
              <a:t>[1]</a:t>
            </a:r>
            <a:endParaRPr lang="en-US" altLang="ja-JP"/>
          </a:p>
          <a:p>
            <a:pPr algn="ctr"/>
            <a:endParaRPr lang="en-US" altLang="zh-C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15950"/>
          </a:xfrm>
          <a:prstGeom prst="rect">
            <a:avLst/>
          </a:prstGeom>
          <a:noFill/>
        </p:spPr>
        <p:txBody>
          <a:bodyPr wrap="square" rtlCol="0">
            <a:noAutofit/>
          </a:bodyPr>
          <a:p>
            <a:r>
              <a:rPr lang="en-US" altLang="zh-CN" sz="3200" b="1">
                <a:latin typeface="Times New Roman" panose="02020603050405020304" charset="0"/>
                <a:ea typeface="宋体" panose="02010600030101010101" pitchFamily="2" charset="-122"/>
                <a:cs typeface="Times New Roman" panose="02020603050405020304" charset="0"/>
                <a:sym typeface="+mn-ea"/>
              </a:rPr>
              <a:t>Related</a:t>
            </a:r>
            <a:r>
              <a:rPr lang="en-US" altLang="zh-CN" sz="3200" b="1">
                <a:latin typeface="Times New Roman" panose="02020603050405020304" charset="0"/>
                <a:ea typeface="宋体" panose="02010600030101010101" pitchFamily="2" charset="-122"/>
                <a:cs typeface="Times New Roman" panose="02020603050405020304" charset="0"/>
                <a:sym typeface="+mn-ea"/>
              </a:rPr>
              <a:t> Study</a:t>
            </a:r>
            <a:endParaRPr lang="en-US" altLang="zh-CN" sz="3200" b="1">
              <a:latin typeface="Times New Roman" panose="02020603050405020304" charset="0"/>
              <a:ea typeface="宋体" panose="02010600030101010101" pitchFamily="2" charset="-122"/>
              <a:cs typeface="Times New Roman" panose="02020603050405020304" charset="0"/>
            </a:endParaRPr>
          </a:p>
          <a:p>
            <a:endParaRPr lang="en-US" altLang="zh-CN" sz="3200" b="1">
              <a:latin typeface="Times New Roman" panose="02020603050405020304" charset="0"/>
              <a:ea typeface="宋体" panose="02010600030101010101" pitchFamily="2" charset="-122"/>
              <a:cs typeface="Times New Roman" panose="02020603050405020304" charset="0"/>
            </a:endParaRPr>
          </a:p>
        </p:txBody>
      </p:sp>
      <p:sp>
        <p:nvSpPr>
          <p:cNvPr id="7" name="文本框 6"/>
          <p:cNvSpPr txBox="1"/>
          <p:nvPr>
            <p:custDataLst>
              <p:tags r:id="rId1"/>
            </p:custDataLst>
          </p:nvPr>
        </p:nvSpPr>
        <p:spPr>
          <a:xfrm>
            <a:off x="220980" y="3101340"/>
            <a:ext cx="4059555" cy="2115820"/>
          </a:xfrm>
          <a:prstGeom prst="rect">
            <a:avLst/>
          </a:prstGeom>
        </p:spPr>
        <p:txBody>
          <a:bodyPr wrap="square">
            <a:noAutofit/>
          </a:bodyPr>
          <a:p>
            <a:pPr algn="l"/>
            <a:r>
              <a:rPr lang="en-US" altLang="zh-CN">
                <a:latin typeface="+mj-lt"/>
                <a:cs typeface="+mj-lt"/>
              </a:rPr>
              <a:t>Sensors : EMG + </a:t>
            </a:r>
            <a:r>
              <a:rPr lang="en-US" altLang="ja-JP">
                <a:latin typeface="+mj-lt"/>
                <a:cs typeface="+mj-lt"/>
                <a:sym typeface="+mn-ea"/>
              </a:rPr>
              <a:t>IMU</a:t>
            </a:r>
            <a:endParaRPr lang="en-US" altLang="ja-JP">
              <a:latin typeface="+mj-lt"/>
              <a:cs typeface="+mj-lt"/>
              <a:sym typeface="+mn-ea"/>
            </a:endParaRPr>
          </a:p>
          <a:p>
            <a:pPr algn="l"/>
            <a:endParaRPr lang="en-US" altLang="ja-JP">
              <a:latin typeface="+mj-lt"/>
              <a:cs typeface="+mj-lt"/>
              <a:sym typeface="+mn-ea"/>
            </a:endParaRPr>
          </a:p>
          <a:p>
            <a:pPr algn="l"/>
            <a:r>
              <a:rPr lang="en-US" altLang="zh-CN">
                <a:latin typeface="+mj-lt"/>
                <a:cs typeface="+mj-lt"/>
                <a:sym typeface="+mn-ea"/>
              </a:rPr>
              <a:t>Model : </a:t>
            </a:r>
            <a:r>
              <a:rPr lang="en-US" altLang="zh-CN">
                <a:latin typeface="+mj-lt"/>
                <a:cs typeface="+mj-lt"/>
              </a:rPr>
              <a:t>Deep reinforcement learning</a:t>
            </a:r>
            <a:endParaRPr lang="en-US" altLang="zh-CN">
              <a:latin typeface="+mj-lt"/>
              <a:cs typeface="+mj-lt"/>
            </a:endParaRPr>
          </a:p>
          <a:p>
            <a:pPr algn="l"/>
            <a:endParaRPr lang="ja-JP" altLang="en-US">
              <a:latin typeface="+mj-lt"/>
              <a:cs typeface="+mj-lt"/>
            </a:endParaRPr>
          </a:p>
          <a:p>
            <a:pPr algn="l"/>
            <a:r>
              <a:rPr lang="en-US" altLang="zh-CN">
                <a:sym typeface="+mn-ea"/>
              </a:rPr>
              <a:t>Graspi</a:t>
            </a:r>
            <a:r>
              <a:rPr lang="en-US" altLang="zh-CN">
                <a:latin typeface="+mj-lt"/>
                <a:cs typeface="+mj-lt"/>
                <a:sym typeface="+mn-ea"/>
              </a:rPr>
              <a:t>ng </a:t>
            </a:r>
            <a:r>
              <a:rPr lang="en-US" altLang="zh-CN">
                <a:latin typeface="+mj-lt"/>
                <a:cs typeface="+mj-lt"/>
                <a:sym typeface="+mn-ea"/>
              </a:rPr>
              <a:t>gestures</a:t>
            </a:r>
            <a:r>
              <a:rPr lang="en-US" altLang="zh-CN">
                <a:latin typeface="+mj-lt"/>
                <a:cs typeface="+mj-lt"/>
                <a:sym typeface="+mn-ea"/>
              </a:rPr>
              <a:t> Number : </a:t>
            </a:r>
            <a:r>
              <a:rPr lang="en-US" altLang="zh-CN">
                <a:latin typeface="+mj-lt"/>
                <a:cs typeface="+mj-lt"/>
                <a:sym typeface="+mn-ea"/>
              </a:rPr>
              <a:t>11</a:t>
            </a:r>
            <a:endParaRPr lang="en-US" altLang="zh-CN">
              <a:latin typeface="+mj-lt"/>
              <a:cs typeface="+mj-lt"/>
              <a:sym typeface="+mn-ea"/>
            </a:endParaRPr>
          </a:p>
          <a:p>
            <a:pPr algn="l"/>
            <a:endParaRPr lang="en-US" altLang="zh-CN">
              <a:latin typeface="+mj-lt"/>
              <a:cs typeface="+mj-lt"/>
              <a:sym typeface="+mn-ea"/>
            </a:endParaRPr>
          </a:p>
          <a:p>
            <a:pPr algn="l"/>
            <a:r>
              <a:rPr lang="en-US" altLang="zh-CN">
                <a:latin typeface="+mj-lt"/>
                <a:cs typeface="+mj-lt"/>
                <a:sym typeface="+mn-ea"/>
              </a:rPr>
              <a:t>Accuracy : 97% [3]</a:t>
            </a:r>
            <a:endParaRPr lang="en-US" altLang="zh-CN">
              <a:latin typeface="+mj-lt"/>
              <a:cs typeface="+mj-lt"/>
            </a:endParaRPr>
          </a:p>
        </p:txBody>
      </p:sp>
      <p:sp>
        <p:nvSpPr>
          <p:cNvPr id="3" name="文本框 2"/>
          <p:cNvSpPr txBox="1"/>
          <p:nvPr>
            <p:custDataLst>
              <p:tags r:id="rId2"/>
            </p:custDataLst>
          </p:nvPr>
        </p:nvSpPr>
        <p:spPr>
          <a:xfrm>
            <a:off x="4572000" y="920115"/>
            <a:ext cx="4349750" cy="2137410"/>
          </a:xfrm>
          <a:prstGeom prst="rect">
            <a:avLst/>
          </a:prstGeom>
        </p:spPr>
        <p:txBody>
          <a:bodyPr wrap="square">
            <a:noAutofit/>
          </a:bodyPr>
          <a:p>
            <a:pPr algn="l"/>
            <a:r>
              <a:rPr lang="en-US" altLang="zh-CN">
                <a:latin typeface="+mj-lt"/>
                <a:cs typeface="+mj-lt"/>
                <a:sym typeface="+mn-ea"/>
              </a:rPr>
              <a:t>Sensors : </a:t>
            </a:r>
            <a:r>
              <a:rPr lang="en-US" altLang="zh-CN">
                <a:sym typeface="+mn-ea"/>
              </a:rPr>
              <a:t>EMG + </a:t>
            </a:r>
            <a:r>
              <a:rPr lang="en-US" altLang="zh-CN"/>
              <a:t>Eyes Tracking</a:t>
            </a:r>
            <a:endParaRPr lang="en-US" altLang="zh-CN"/>
          </a:p>
          <a:p>
            <a:pPr algn="l"/>
            <a:endParaRPr lang="en-US" altLang="zh-CN"/>
          </a:p>
          <a:p>
            <a:pPr algn="l"/>
            <a:r>
              <a:rPr lang="en-US" altLang="zh-CN">
                <a:latin typeface="+mj-lt"/>
                <a:cs typeface="+mj-lt"/>
                <a:sym typeface="+mn-ea"/>
              </a:rPr>
              <a:t>Model : </a:t>
            </a:r>
            <a:r>
              <a:rPr lang="en-US" altLang="zh-CN"/>
              <a:t>Extra-Trees and YOLOv4</a:t>
            </a:r>
            <a:endParaRPr lang="en-US" altLang="zh-CN"/>
          </a:p>
          <a:p>
            <a:pPr algn="l"/>
            <a:endParaRPr lang="en-US" altLang="zh-CN"/>
          </a:p>
          <a:p>
            <a:pPr algn="l"/>
            <a:r>
              <a:rPr lang="en-US" altLang="zh-CN">
                <a:sym typeface="+mn-ea"/>
              </a:rPr>
              <a:t>Grasping</a:t>
            </a:r>
            <a:r>
              <a:rPr lang="en-US" altLang="zh-CN">
                <a:latin typeface="+mj-lt"/>
                <a:cs typeface="+mj-lt"/>
                <a:sym typeface="+mn-ea"/>
              </a:rPr>
              <a:t> </a:t>
            </a:r>
            <a:r>
              <a:rPr lang="en-US" altLang="zh-CN">
                <a:latin typeface="+mj-lt"/>
                <a:cs typeface="+mj-lt"/>
                <a:sym typeface="+mn-ea"/>
              </a:rPr>
              <a:t>gestures</a:t>
            </a:r>
            <a:r>
              <a:rPr lang="en-US" altLang="zh-CN">
                <a:latin typeface="+mj-lt"/>
                <a:cs typeface="+mj-lt"/>
                <a:sym typeface="+mn-ea"/>
              </a:rPr>
              <a:t> Number : 14</a:t>
            </a:r>
            <a:endParaRPr lang="en-US" altLang="zh-CN">
              <a:latin typeface="+mj-lt"/>
              <a:cs typeface="+mj-lt"/>
              <a:sym typeface="+mn-ea"/>
            </a:endParaRPr>
          </a:p>
          <a:p>
            <a:pPr algn="l"/>
            <a:endParaRPr lang="en-US" altLang="zh-CN">
              <a:latin typeface="+mj-lt"/>
              <a:cs typeface="+mj-lt"/>
              <a:sym typeface="+mn-ea"/>
            </a:endParaRPr>
          </a:p>
          <a:p>
            <a:pPr algn="l"/>
            <a:r>
              <a:rPr lang="en-US" altLang="zh-CN"/>
              <a:t>Accuracy : 93% [4]</a:t>
            </a:r>
            <a:endParaRPr lang="en-US" altLang="zh-CN"/>
          </a:p>
        </p:txBody>
      </p:sp>
      <p:pic>
        <p:nvPicPr>
          <p:cNvPr id="5" name="图片 4" descr="QQ20260505-110629"/>
          <p:cNvPicPr>
            <a:picLocks noChangeAspect="1"/>
          </p:cNvPicPr>
          <p:nvPr>
            <p:custDataLst>
              <p:tags r:id="rId3"/>
            </p:custDataLst>
          </p:nvPr>
        </p:nvPicPr>
        <p:blipFill>
          <a:blip r:embed="rId4"/>
          <a:stretch>
            <a:fillRect/>
          </a:stretch>
        </p:blipFill>
        <p:spPr>
          <a:xfrm>
            <a:off x="4587875" y="3380740"/>
            <a:ext cx="4293235" cy="1743710"/>
          </a:xfrm>
          <a:prstGeom prst="rect">
            <a:avLst/>
          </a:prstGeom>
        </p:spPr>
      </p:pic>
      <p:pic>
        <p:nvPicPr>
          <p:cNvPr id="10" name="图片 9" descr="QQ20260505-120705"/>
          <p:cNvPicPr>
            <a:picLocks noChangeAspect="1"/>
          </p:cNvPicPr>
          <p:nvPr>
            <p:custDataLst>
              <p:tags r:id="rId5"/>
            </p:custDataLst>
          </p:nvPr>
        </p:nvPicPr>
        <p:blipFill>
          <a:blip r:embed="rId6"/>
          <a:stretch>
            <a:fillRect/>
          </a:stretch>
        </p:blipFill>
        <p:spPr>
          <a:xfrm>
            <a:off x="288925" y="920115"/>
            <a:ext cx="4029710" cy="2225675"/>
          </a:xfrm>
          <a:prstGeom prst="rect">
            <a:avLst/>
          </a:prstGeom>
        </p:spPr>
      </p:pic>
      <p:sp>
        <p:nvSpPr>
          <p:cNvPr id="2" name="矩形 1"/>
          <p:cNvSpPr/>
          <p:nvPr>
            <p:custDataLst>
              <p:tags r:id="rId7"/>
            </p:custDataLst>
          </p:nvPr>
        </p:nvSpPr>
        <p:spPr>
          <a:xfrm>
            <a:off x="220980" y="842645"/>
            <a:ext cx="4158615" cy="4374515"/>
          </a:xfrm>
          <a:prstGeom prst="rect">
            <a:avLst/>
          </a:prstGeom>
          <a:noFill/>
          <a:ln w="19050" cmpd="sng">
            <a:solidFill>
              <a:srgbClr val="F59E0B"/>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矩形 8"/>
          <p:cNvSpPr/>
          <p:nvPr>
            <p:custDataLst>
              <p:tags r:id="rId8"/>
            </p:custDataLst>
          </p:nvPr>
        </p:nvSpPr>
        <p:spPr>
          <a:xfrm>
            <a:off x="4572000" y="842010"/>
            <a:ext cx="4366260" cy="4374515"/>
          </a:xfrm>
          <a:prstGeom prst="rect">
            <a:avLst/>
          </a:prstGeom>
          <a:noFill/>
          <a:ln w="19050" cmpd="sng">
            <a:solidFill>
              <a:srgbClr val="F59E0B"/>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Shape 37"/>
          <p:cNvSpPr/>
          <p:nvPr/>
        </p:nvSpPr>
        <p:spPr>
          <a:xfrm>
            <a:off x="220980" y="5337810"/>
            <a:ext cx="8733790" cy="1437005"/>
          </a:xfrm>
          <a:prstGeom prst="rect">
            <a:avLst/>
          </a:prstGeom>
          <a:solidFill>
            <a:srgbClr val="C00000">
              <a:alpha val="25000"/>
            </a:srgbClr>
          </a:solidFill>
          <a:ln w="12700">
            <a:noFill/>
            <a:prstDash val="solid"/>
          </a:ln>
        </p:spPr>
        <p:txBody>
          <a:bodyPr/>
          <a:p>
            <a:r>
              <a:rPr lang="en-US" altLang="ja-JP" b="1">
                <a:solidFill>
                  <a:srgbClr val="C00000"/>
                </a:solidFill>
                <a:latin typeface="Times New Roman" panose="02020603050405020304" charset="0"/>
                <a:cs typeface="Times New Roman" panose="02020603050405020304" charset="0"/>
                <a:sym typeface="+mn-ea"/>
              </a:rPr>
              <a:t>Research Gap</a:t>
            </a:r>
            <a:endParaRPr lang="en-US" altLang="ja-JP" b="1">
              <a:solidFill>
                <a:srgbClr val="C00000"/>
              </a:solidFill>
              <a:latin typeface="Times New Roman" panose="02020603050405020304" charset="0"/>
              <a:cs typeface="Times New Roman" panose="02020603050405020304" charset="0"/>
              <a:sym typeface="+mn-ea"/>
            </a:endParaRPr>
          </a:p>
          <a:p>
            <a:r>
              <a:rPr lang="en-US" altLang="zh-CN" b="1">
                <a:solidFill>
                  <a:srgbClr val="C00000"/>
                </a:solidFill>
                <a:latin typeface="Times New Roman" panose="02020603050405020304" charset="0"/>
                <a:cs typeface="Times New Roman" panose="02020603050405020304" charset="0"/>
                <a:sym typeface="+mn-ea"/>
              </a:rPr>
              <a:t>Although have the high accuracy of a wide range gesture </a:t>
            </a:r>
            <a:r>
              <a:rPr lang="en-US" altLang="zh-CN" b="1">
                <a:solidFill>
                  <a:srgbClr val="C00000"/>
                </a:solidFill>
                <a:latin typeface="Times New Roman" panose="02020603050405020304" charset="0"/>
                <a:cs typeface="Times New Roman" panose="02020603050405020304" charset="0"/>
                <a:sym typeface="+mn-ea"/>
              </a:rPr>
              <a:t>variety</a:t>
            </a:r>
            <a:r>
              <a:rPr lang="en-US" altLang="zh-CN" b="1">
                <a:solidFill>
                  <a:srgbClr val="C00000"/>
                </a:solidFill>
                <a:latin typeface="Times New Roman" panose="02020603050405020304" charset="0"/>
                <a:cs typeface="Times New Roman" panose="02020603050405020304" charset="0"/>
                <a:sym typeface="+mn-ea"/>
              </a:rPr>
              <a:t>. Expanding the "variety" only addresses the problem of "which grasp pattern to select". It does not resolve the continuous, effortless adjustment like the human hand. </a:t>
            </a:r>
            <a:endParaRPr lang="en-US" altLang="zh-CN" b="1">
              <a:solidFill>
                <a:srgbClr val="C00000"/>
              </a:solidFill>
              <a:latin typeface="Times New Roman" panose="02020603050405020304" charset="0"/>
              <a:cs typeface="Times New Roman" panose="02020603050405020304" charset="0"/>
              <a:sym typeface="+mn-ea"/>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15950"/>
          </a:xfrm>
          <a:prstGeom prst="rect">
            <a:avLst/>
          </a:prstGeom>
          <a:noFill/>
        </p:spPr>
        <p:txBody>
          <a:bodyPr wrap="square" rtlCol="0">
            <a:noAutofit/>
          </a:bodyPr>
          <a:p>
            <a:r>
              <a:rPr lang="en-US" altLang="zh-CN" sz="3200" b="1">
                <a:latin typeface="Times New Roman" panose="02020603050405020304" charset="0"/>
                <a:ea typeface="宋体" panose="02010600030101010101" pitchFamily="2" charset="-122"/>
                <a:cs typeface="Times New Roman" panose="02020603050405020304" charset="0"/>
                <a:sym typeface="+mn-ea"/>
              </a:rPr>
              <a:t>Related</a:t>
            </a:r>
            <a:r>
              <a:rPr lang="en-US" altLang="zh-CN" sz="3200" b="1">
                <a:latin typeface="Times New Roman" panose="02020603050405020304" charset="0"/>
                <a:ea typeface="宋体" panose="02010600030101010101" pitchFamily="2" charset="-122"/>
                <a:cs typeface="Times New Roman" panose="02020603050405020304" charset="0"/>
                <a:sym typeface="+mn-ea"/>
              </a:rPr>
              <a:t> Study</a:t>
            </a:r>
            <a:endParaRPr lang="en-US" altLang="zh-CN" sz="3200" b="1">
              <a:latin typeface="Times New Roman" panose="02020603050405020304" charset="0"/>
              <a:ea typeface="宋体" panose="02010600030101010101" pitchFamily="2" charset="-122"/>
              <a:cs typeface="Times New Roman" panose="02020603050405020304" charset="0"/>
            </a:endParaRPr>
          </a:p>
          <a:p>
            <a:endParaRPr lang="en-US" altLang="zh-CN" sz="3200" b="1">
              <a:latin typeface="Times New Roman" panose="02020603050405020304" charset="0"/>
              <a:ea typeface="宋体" panose="02010600030101010101" pitchFamily="2" charset="-122"/>
              <a:cs typeface="Times New Roman" panose="02020603050405020304" charset="0"/>
            </a:endParaRPr>
          </a:p>
        </p:txBody>
      </p:sp>
      <p:sp>
        <p:nvSpPr>
          <p:cNvPr id="4" name="文本框 3"/>
          <p:cNvSpPr txBox="1"/>
          <p:nvPr/>
        </p:nvSpPr>
        <p:spPr>
          <a:xfrm>
            <a:off x="314325" y="1170305"/>
            <a:ext cx="4081780" cy="2030095"/>
          </a:xfrm>
          <a:prstGeom prst="rect">
            <a:avLst/>
          </a:prstGeom>
          <a:noFill/>
        </p:spPr>
        <p:txBody>
          <a:bodyPr wrap="square" rtlCol="0">
            <a:spAutoFit/>
          </a:bodyPr>
          <a:p>
            <a:r>
              <a:rPr lang="en-US" altLang="zh-CN"/>
              <a:t>A1 :   1 Gesture</a:t>
            </a:r>
            <a:endParaRPr lang="en-US" altLang="zh-CN"/>
          </a:p>
          <a:p>
            <a:r>
              <a:rPr lang="en-US" altLang="zh-CN"/>
              <a:t>A2 :   3 </a:t>
            </a:r>
            <a:r>
              <a:rPr lang="en-US" altLang="zh-CN">
                <a:sym typeface="+mn-ea"/>
              </a:rPr>
              <a:t>Gesture</a:t>
            </a:r>
            <a:endParaRPr lang="en-US" altLang="zh-CN">
              <a:sym typeface="+mn-ea"/>
            </a:endParaRPr>
          </a:p>
          <a:p>
            <a:r>
              <a:rPr lang="en-US" altLang="zh-CN">
                <a:sym typeface="+mn-ea"/>
              </a:rPr>
              <a:t>A3 :   5 Gesture</a:t>
            </a:r>
            <a:endParaRPr lang="en-US" altLang="zh-CN">
              <a:sym typeface="+mn-ea"/>
            </a:endParaRPr>
          </a:p>
          <a:p>
            <a:endParaRPr lang="en-US" altLang="zh-CN"/>
          </a:p>
          <a:p>
            <a:r>
              <a:rPr lang="en-US" altLang="zh-CN"/>
              <a:t>As the number of gestures to be recognized increases, </a:t>
            </a:r>
            <a:endParaRPr lang="en-US" altLang="zh-CN"/>
          </a:p>
          <a:p>
            <a:r>
              <a:rPr lang="en-US" altLang="zh-CN"/>
              <a:t>cognitive load increases significantly </a:t>
            </a:r>
            <a:r>
              <a:rPr lang="en-US" altLang="zh-CN">
                <a:latin typeface="+mj-lt"/>
                <a:cs typeface="+mj-lt"/>
                <a:sym typeface="+mn-ea"/>
              </a:rPr>
              <a:t>[5]</a:t>
            </a:r>
            <a:endParaRPr lang="en-US" altLang="zh-CN"/>
          </a:p>
        </p:txBody>
      </p:sp>
      <p:pic>
        <p:nvPicPr>
          <p:cNvPr id="2" name="图片 1" descr="QQ20260724-105717"/>
          <p:cNvPicPr>
            <a:picLocks noChangeAspect="1"/>
          </p:cNvPicPr>
          <p:nvPr/>
        </p:nvPicPr>
        <p:blipFill>
          <a:blip r:embed="rId1"/>
          <a:stretch>
            <a:fillRect/>
          </a:stretch>
        </p:blipFill>
        <p:spPr>
          <a:xfrm>
            <a:off x="4467225" y="777875"/>
            <a:ext cx="4247515" cy="2651125"/>
          </a:xfrm>
          <a:prstGeom prst="rect">
            <a:avLst/>
          </a:prstGeom>
        </p:spPr>
      </p:pic>
      <p:pic>
        <p:nvPicPr>
          <p:cNvPr id="3" name="图片 2" descr="QQ20260724-110442"/>
          <p:cNvPicPr>
            <a:picLocks noChangeAspect="1"/>
          </p:cNvPicPr>
          <p:nvPr/>
        </p:nvPicPr>
        <p:blipFill>
          <a:blip r:embed="rId2"/>
          <a:stretch>
            <a:fillRect/>
          </a:stretch>
        </p:blipFill>
        <p:spPr>
          <a:xfrm>
            <a:off x="314325" y="3743960"/>
            <a:ext cx="3682365" cy="3016250"/>
          </a:xfrm>
          <a:prstGeom prst="rect">
            <a:avLst/>
          </a:prstGeom>
        </p:spPr>
      </p:pic>
      <p:sp>
        <p:nvSpPr>
          <p:cNvPr id="7" name="文本框 6"/>
          <p:cNvSpPr txBox="1"/>
          <p:nvPr/>
        </p:nvSpPr>
        <p:spPr>
          <a:xfrm>
            <a:off x="4467225" y="3743960"/>
            <a:ext cx="4247515" cy="808355"/>
          </a:xfrm>
          <a:prstGeom prst="rect">
            <a:avLst/>
          </a:prstGeom>
        </p:spPr>
        <p:txBody>
          <a:bodyPr wrap="square">
            <a:noAutofit/>
          </a:bodyPr>
          <a:p>
            <a:r>
              <a:rPr lang="en-US" altLang="ja-JP"/>
              <a:t>Autonomous Control System : </a:t>
            </a:r>
            <a:endParaRPr lang="en-US" altLang="ja-JP"/>
          </a:p>
          <a:p>
            <a:r>
              <a:rPr lang="en-US" altLang="zh-CN"/>
              <a:t>Automatically closes to a target grip force </a:t>
            </a:r>
            <a:endParaRPr lang="en-US" altLang="zh-CN"/>
          </a:p>
        </p:txBody>
      </p:sp>
      <p:cxnSp>
        <p:nvCxnSpPr>
          <p:cNvPr id="21" name="直接连接符 20"/>
          <p:cNvCxnSpPr/>
          <p:nvPr/>
        </p:nvCxnSpPr>
        <p:spPr>
          <a:xfrm flipH="1" flipV="1">
            <a:off x="220980" y="3528000"/>
            <a:ext cx="8640000" cy="3810"/>
          </a:xfrm>
          <a:prstGeom prst="line">
            <a:avLst/>
          </a:prstGeom>
          <a:ln w="19050" cmpd="sng">
            <a:solidFill>
              <a:srgbClr val="F59E0B"/>
            </a:solidFill>
            <a:prstDash val="dash"/>
          </a:ln>
        </p:spPr>
        <p:style>
          <a:lnRef idx="2">
            <a:schemeClr val="accent1"/>
          </a:lnRef>
          <a:fillRef idx="0">
            <a:schemeClr val="accent1"/>
          </a:fillRef>
          <a:effectRef idx="1">
            <a:schemeClr val="accent1"/>
          </a:effectRef>
          <a:fontRef idx="minor">
            <a:schemeClr val="tx1"/>
          </a:fontRef>
        </p:style>
      </p:cxnSp>
      <p:sp>
        <p:nvSpPr>
          <p:cNvPr id="117" name="右箭头 116"/>
          <p:cNvSpPr/>
          <p:nvPr>
            <p:custDataLst>
              <p:tags r:id="rId3"/>
            </p:custDataLst>
          </p:nvPr>
        </p:nvSpPr>
        <p:spPr>
          <a:xfrm rot="16200000">
            <a:off x="6240145" y="4544695"/>
            <a:ext cx="701675" cy="419735"/>
          </a:xfrm>
          <a:prstGeom prst="rightArrow">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5491480" y="5174615"/>
            <a:ext cx="2249170" cy="398780"/>
          </a:xfrm>
          <a:prstGeom prst="rect">
            <a:avLst/>
          </a:prstGeom>
          <a:noFill/>
        </p:spPr>
        <p:txBody>
          <a:bodyPr wrap="square" rtlCol="0" anchor="t">
            <a:spAutoFit/>
          </a:bodyPr>
          <a:p>
            <a:pPr algn="ctr"/>
            <a:r>
              <a:rPr lang="en-US" altLang="zh-CN" sz="2000" b="1">
                <a:solidFill>
                  <a:schemeClr val="accent4">
                    <a:lumMod val="75000"/>
                  </a:schemeClr>
                </a:solidFill>
                <a:sym typeface="+mn-ea"/>
              </a:rPr>
              <a:t>Low-level tasks</a:t>
            </a:r>
            <a:endParaRPr lang="en-US" altLang="zh-CN" sz="2000" b="1">
              <a:solidFill>
                <a:schemeClr val="accent4">
                  <a:lumMod val="75000"/>
                </a:schemeClr>
              </a:solidFill>
              <a:sym typeface="+mn-ea"/>
            </a:endParaRPr>
          </a:p>
        </p:txBody>
      </p:sp>
      <p:sp>
        <p:nvSpPr>
          <p:cNvPr id="9" name="文本框 8"/>
          <p:cNvSpPr txBox="1"/>
          <p:nvPr/>
        </p:nvSpPr>
        <p:spPr>
          <a:xfrm>
            <a:off x="4467225" y="5692140"/>
            <a:ext cx="4471670" cy="645160"/>
          </a:xfrm>
          <a:prstGeom prst="rect">
            <a:avLst/>
          </a:prstGeom>
          <a:noFill/>
        </p:spPr>
        <p:txBody>
          <a:bodyPr wrap="square" rtlCol="0" anchor="t">
            <a:spAutoFit/>
          </a:bodyPr>
          <a:p>
            <a:r>
              <a:rPr lang="en-US" altLang="zh-CN">
                <a:sym typeface="+mn-ea"/>
              </a:rPr>
              <a:t>Autonomous control could better improve neural efficiency [6]</a:t>
            </a:r>
            <a:endParaRPr lang="en-US" altLang="zh-CN">
              <a:sym typeface="+mn-e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760730"/>
          </a:xfrm>
          <a:prstGeom prst="rect">
            <a:avLst/>
          </a:prstGeom>
          <a:noFill/>
        </p:spPr>
        <p:txBody>
          <a:bodyPr wrap="square" rtlCol="0">
            <a:noAutofit/>
          </a:bodyPr>
          <a:p>
            <a:r>
              <a:rPr lang="en-US" altLang="zh-CN" sz="3200" b="1" dirty="0"/>
              <a:t>Research Objective</a:t>
            </a:r>
            <a:endParaRPr lang="en-US" altLang="zh-CN" sz="3200" b="1" dirty="0"/>
          </a:p>
          <a:p>
            <a:endParaRPr lang="en-US" altLang="zh-CN" sz="3200" b="1">
              <a:latin typeface="Times New Roman" panose="02020603050405020304" charset="0"/>
              <a:ea typeface="宋体" panose="02010600030101010101" pitchFamily="2" charset="-122"/>
              <a:cs typeface="Times New Roman" panose="02020603050405020304" charset="0"/>
            </a:endParaRPr>
          </a:p>
        </p:txBody>
      </p:sp>
      <p:grpSp>
        <p:nvGrpSpPr>
          <p:cNvPr id="96" name="组合 95"/>
          <p:cNvGrpSpPr/>
          <p:nvPr/>
        </p:nvGrpSpPr>
        <p:grpSpPr>
          <a:xfrm>
            <a:off x="213995" y="4938395"/>
            <a:ext cx="8630920" cy="1564005"/>
            <a:chOff x="348" y="7526"/>
            <a:chExt cx="13592" cy="2928"/>
          </a:xfrm>
        </p:grpSpPr>
        <p:grpSp>
          <p:nvGrpSpPr>
            <p:cNvPr id="90" name="组合 89"/>
            <p:cNvGrpSpPr/>
            <p:nvPr>
              <p:custDataLst>
                <p:tags r:id="rId1"/>
              </p:custDataLst>
            </p:nvPr>
          </p:nvGrpSpPr>
          <p:grpSpPr>
            <a:xfrm rot="0">
              <a:off x="348" y="7526"/>
              <a:ext cx="13593" cy="2929"/>
              <a:chOff x="790" y="4952"/>
              <a:chExt cx="3791" cy="2929"/>
            </a:xfrm>
          </p:grpSpPr>
          <p:grpSp>
            <p:nvGrpSpPr>
              <p:cNvPr id="91" name="组合 90"/>
              <p:cNvGrpSpPr/>
              <p:nvPr/>
            </p:nvGrpSpPr>
            <p:grpSpPr>
              <a:xfrm>
                <a:off x="790" y="4952"/>
                <a:ext cx="3791" cy="2929"/>
                <a:chOff x="334" y="5920"/>
                <a:chExt cx="5673" cy="2929"/>
              </a:xfrm>
            </p:grpSpPr>
            <p:sp>
              <p:nvSpPr>
                <p:cNvPr id="92" name="Shape 25"/>
                <p:cNvSpPr/>
                <p:nvPr>
                  <p:custDataLst>
                    <p:tags r:id="rId2"/>
                  </p:custDataLst>
                </p:nvPr>
              </p:nvSpPr>
              <p:spPr>
                <a:xfrm>
                  <a:off x="334" y="6936"/>
                  <a:ext cx="5672" cy="1913"/>
                </a:xfrm>
                <a:prstGeom prst="rect">
                  <a:avLst/>
                </a:prstGeom>
                <a:solidFill>
                  <a:srgbClr val="F59E0B">
                    <a:alpha val="10000"/>
                  </a:srgbClr>
                </a:solidFill>
                <a:ln w="19050">
                  <a:solidFill>
                    <a:srgbClr val="F59E0B"/>
                  </a:solidFill>
                  <a:prstDash val="solid"/>
                </a:ln>
              </p:spPr>
            </p:sp>
            <p:sp>
              <p:nvSpPr>
                <p:cNvPr id="93" name="Shape 26"/>
                <p:cNvSpPr/>
                <p:nvPr>
                  <p:custDataLst>
                    <p:tags r:id="rId3"/>
                  </p:custDataLst>
                </p:nvPr>
              </p:nvSpPr>
              <p:spPr>
                <a:xfrm>
                  <a:off x="335" y="5920"/>
                  <a:ext cx="5672" cy="1016"/>
                </a:xfrm>
                <a:prstGeom prst="rect">
                  <a:avLst/>
                </a:prstGeom>
                <a:solidFill>
                  <a:srgbClr val="F59E0B"/>
                </a:solidFill>
                <a:ln w="19050">
                  <a:solidFill>
                    <a:srgbClr val="F59E0B"/>
                  </a:solidFill>
                  <a:prstDash val="solid"/>
                </a:ln>
              </p:spPr>
            </p:sp>
          </p:grpSp>
          <p:sp>
            <p:nvSpPr>
              <p:cNvPr id="94" name="Text 27"/>
              <p:cNvSpPr/>
              <p:nvPr>
                <p:custDataLst>
                  <p:tags r:id="rId4"/>
                </p:custDataLst>
              </p:nvPr>
            </p:nvSpPr>
            <p:spPr>
              <a:xfrm>
                <a:off x="790" y="4952"/>
                <a:ext cx="3790" cy="1016"/>
              </a:xfrm>
              <a:prstGeom prst="rect">
                <a:avLst/>
              </a:prstGeom>
              <a:noFill/>
            </p:spPr>
            <p:txBody>
              <a:bodyPr wrap="square" lIns="0" tIns="0" rIns="0" bIns="0" rtlCol="0" anchor="ctr"/>
              <a:lstStyle/>
              <a:p>
                <a:pPr marL="0" indent="0" algn="ctr">
                  <a:buNone/>
                </a:pPr>
                <a:r>
                  <a:rPr lang="en-US" altLang="zh-CN" b="1" dirty="0">
                    <a:sym typeface="+mn-ea"/>
                  </a:rPr>
                  <a:t>Research </a:t>
                </a:r>
                <a:r>
                  <a:rPr lang="en-US" altLang="zh-CN" b="1" dirty="0">
                    <a:sym typeface="Avenir Heavy"/>
                  </a:rPr>
                  <a:t>Question</a:t>
                </a:r>
                <a:endParaRPr lang="en-US" altLang="zh-CN" b="1" dirty="0"/>
              </a:p>
            </p:txBody>
          </p:sp>
        </p:grpSp>
        <p:sp>
          <p:nvSpPr>
            <p:cNvPr id="95" name="文本框 94"/>
            <p:cNvSpPr txBox="1"/>
            <p:nvPr>
              <p:custDataLst>
                <p:tags r:id="rId5"/>
              </p:custDataLst>
            </p:nvPr>
          </p:nvSpPr>
          <p:spPr>
            <a:xfrm>
              <a:off x="348" y="8542"/>
              <a:ext cx="13590" cy="1913"/>
            </a:xfrm>
            <a:prstGeom prst="rect">
              <a:avLst/>
            </a:prstGeom>
            <a:noFill/>
          </p:spPr>
          <p:txBody>
            <a:bodyPr wrap="square" rtlCol="0" anchor="t">
              <a:noAutofit/>
            </a:bodyPr>
            <a:p>
              <a:r>
                <a:rPr lang="en-US" altLang="zh-CN">
                  <a:ea typeface="宋体" panose="02010600030101010101" pitchFamily="2" charset="-122"/>
                </a:rPr>
                <a:t>Is it possible to use a camera and other sensors to achieve automatic, continuous </a:t>
              </a:r>
              <a:r>
                <a:rPr lang="en-US" altLang="zh-CN">
                  <a:ea typeface="宋体" panose="02010600030101010101" pitchFamily="2" charset="-122"/>
                  <a:sym typeface="+mn-ea"/>
                </a:rPr>
                <a:t>adjustment</a:t>
              </a:r>
              <a:r>
                <a:rPr lang="en-US" altLang="zh-CN">
                  <a:ea typeface="宋体" panose="02010600030101010101" pitchFamily="2" charset="-122"/>
                  <a:sym typeface="+mn-ea"/>
                </a:rPr>
                <a:t> </a:t>
              </a:r>
              <a:r>
                <a:rPr lang="en-US" altLang="zh-CN">
                  <a:ea typeface="宋体" panose="02010600030101010101" pitchFamily="2" charset="-122"/>
                </a:rPr>
                <a:t>during the grasping process.</a:t>
              </a:r>
              <a:endParaRPr lang="en-US" altLang="zh-CN">
                <a:ea typeface="宋体" panose="02010600030101010101" pitchFamily="2" charset="-122"/>
              </a:endParaRPr>
            </a:p>
          </p:txBody>
        </p:sp>
      </p:grpSp>
      <p:grpSp>
        <p:nvGrpSpPr>
          <p:cNvPr id="31" name="组合 30"/>
          <p:cNvGrpSpPr/>
          <p:nvPr>
            <p:custDataLst>
              <p:tags r:id="rId6"/>
            </p:custDataLst>
          </p:nvPr>
        </p:nvGrpSpPr>
        <p:grpSpPr>
          <a:xfrm>
            <a:off x="253365" y="1292225"/>
            <a:ext cx="3715385" cy="1268730"/>
            <a:chOff x="15576" y="4203"/>
            <a:chExt cx="5851" cy="1998"/>
          </a:xfrm>
        </p:grpSpPr>
        <p:grpSp>
          <p:nvGrpSpPr>
            <p:cNvPr id="32" name="组合 31"/>
            <p:cNvGrpSpPr/>
            <p:nvPr>
              <p:custDataLst>
                <p:tags r:id="rId7"/>
              </p:custDataLst>
            </p:nvPr>
          </p:nvGrpSpPr>
          <p:grpSpPr>
            <a:xfrm>
              <a:off x="16563" y="4203"/>
              <a:ext cx="4864" cy="1998"/>
              <a:chOff x="1943" y="3623"/>
              <a:chExt cx="4864" cy="1998"/>
            </a:xfrm>
          </p:grpSpPr>
          <p:sp>
            <p:nvSpPr>
              <p:cNvPr id="34" name="文本框 33"/>
              <p:cNvSpPr txBox="1"/>
              <p:nvPr>
                <p:custDataLst>
                  <p:tags r:id="rId8"/>
                </p:custDataLst>
              </p:nvPr>
            </p:nvSpPr>
            <p:spPr>
              <a:xfrm>
                <a:off x="1943" y="4169"/>
                <a:ext cx="4844" cy="1452"/>
              </a:xfrm>
              <a:prstGeom prst="rect">
                <a:avLst/>
              </a:prstGeom>
              <a:noFill/>
            </p:spPr>
            <p:txBody>
              <a:bodyPr wrap="square" rtlCol="0" anchor="t">
                <a:spAutoFit/>
              </a:bodyPr>
              <a:p>
                <a:r>
                  <a:rPr lang="en-US" altLang="zh-CN">
                    <a:sym typeface="+mn-ea"/>
                  </a:rPr>
                  <a:t>The user needs to issue multiple hand gesture commands.</a:t>
                </a:r>
                <a:endParaRPr lang="en-US" altLang="zh-CN">
                  <a:sym typeface="+mn-ea"/>
                </a:endParaRPr>
              </a:p>
            </p:txBody>
          </p:sp>
          <p:grpSp>
            <p:nvGrpSpPr>
              <p:cNvPr id="37" name="组合 36"/>
              <p:cNvGrpSpPr/>
              <p:nvPr>
                <p:custDataLst>
                  <p:tags r:id="rId9"/>
                </p:custDataLst>
              </p:nvPr>
            </p:nvGrpSpPr>
            <p:grpSpPr>
              <a:xfrm>
                <a:off x="1943" y="3623"/>
                <a:ext cx="4864" cy="580"/>
                <a:chOff x="1943" y="3623"/>
                <a:chExt cx="4864" cy="580"/>
              </a:xfrm>
            </p:grpSpPr>
            <p:sp>
              <p:nvSpPr>
                <p:cNvPr id="38" name="文本框 37"/>
                <p:cNvSpPr txBox="1"/>
                <p:nvPr>
                  <p:custDataLst>
                    <p:tags r:id="rId10"/>
                  </p:custDataLst>
                </p:nvPr>
              </p:nvSpPr>
              <p:spPr>
                <a:xfrm>
                  <a:off x="1943" y="3623"/>
                  <a:ext cx="4864" cy="580"/>
                </a:xfrm>
                <a:prstGeom prst="rect">
                  <a:avLst/>
                </a:prstGeom>
                <a:noFill/>
              </p:spPr>
              <p:txBody>
                <a:bodyPr wrap="square" rtlCol="0" anchor="t">
                  <a:spAutoFit/>
                </a:bodyPr>
                <a:p>
                  <a:pPr marL="0" indent="0" algn="l">
                    <a:buNone/>
                  </a:pPr>
                  <a:r>
                    <a:rPr lang="en-US" altLang="zh-CN" b="1" dirty="0">
                      <a:sym typeface="+mn-ea"/>
                    </a:rPr>
                    <a:t>Multiple Commands</a:t>
                  </a:r>
                  <a:endParaRPr lang="en-US" altLang="zh-CN" b="1" dirty="0">
                    <a:sym typeface="+mn-ea"/>
                  </a:endParaRPr>
                </a:p>
              </p:txBody>
            </p:sp>
            <p:cxnSp>
              <p:nvCxnSpPr>
                <p:cNvPr id="40" name="直接连接符 39"/>
                <p:cNvCxnSpPr/>
                <p:nvPr>
                  <p:custDataLst>
                    <p:tags r:id="rId11"/>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41" name="组合 40"/>
            <p:cNvGrpSpPr>
              <a:grpSpLocks noChangeAspect="1"/>
            </p:cNvGrpSpPr>
            <p:nvPr/>
          </p:nvGrpSpPr>
          <p:grpSpPr>
            <a:xfrm>
              <a:off x="15576" y="4310"/>
              <a:ext cx="927" cy="927"/>
              <a:chOff x="4973" y="4190"/>
              <a:chExt cx="1700" cy="1700"/>
            </a:xfrm>
          </p:grpSpPr>
          <p:sp>
            <p:nvSpPr>
              <p:cNvPr id="42" name="椭圆 41"/>
              <p:cNvSpPr>
                <a:spLocks noChangeAspect="1"/>
              </p:cNvSpPr>
              <p:nvPr>
                <p:custDataLst>
                  <p:tags r:id="rId12"/>
                </p:custDataLst>
              </p:nvPr>
            </p:nvSpPr>
            <p:spPr>
              <a:xfrm>
                <a:off x="4973" y="4190"/>
                <a:ext cx="1701" cy="1701"/>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3" name="图片 42" descr="danger"/>
              <p:cNvPicPr>
                <a:picLocks noChangeAspect="1"/>
              </p:cNvPicPr>
              <p:nvPr>
                <p:custDataLst>
                  <p:tags r:id="rId13"/>
                </p:custDataLst>
              </p:nvPr>
            </p:nvPicPr>
            <p:blipFill>
              <a:blip r:embed="rId14"/>
              <a:stretch>
                <a:fillRect/>
              </a:stretch>
            </p:blipFill>
            <p:spPr>
              <a:xfrm>
                <a:off x="5344" y="4515"/>
                <a:ext cx="959" cy="959"/>
              </a:xfrm>
              <a:prstGeom prst="rect">
                <a:avLst/>
              </a:prstGeom>
            </p:spPr>
          </p:pic>
        </p:grpSp>
      </p:grpSp>
      <p:grpSp>
        <p:nvGrpSpPr>
          <p:cNvPr id="71" name="组合 70"/>
          <p:cNvGrpSpPr/>
          <p:nvPr>
            <p:custDataLst>
              <p:tags r:id="rId15"/>
            </p:custDataLst>
          </p:nvPr>
        </p:nvGrpSpPr>
        <p:grpSpPr>
          <a:xfrm>
            <a:off x="215265" y="2831465"/>
            <a:ext cx="4111625" cy="1268730"/>
            <a:chOff x="15576" y="4203"/>
            <a:chExt cx="6475" cy="1998"/>
          </a:xfrm>
        </p:grpSpPr>
        <p:grpSp>
          <p:nvGrpSpPr>
            <p:cNvPr id="72" name="组合 71"/>
            <p:cNvGrpSpPr/>
            <p:nvPr>
              <p:custDataLst>
                <p:tags r:id="rId16"/>
              </p:custDataLst>
            </p:nvPr>
          </p:nvGrpSpPr>
          <p:grpSpPr>
            <a:xfrm>
              <a:off x="16563" y="4203"/>
              <a:ext cx="5488" cy="1998"/>
              <a:chOff x="1943" y="3623"/>
              <a:chExt cx="5488" cy="1998"/>
            </a:xfrm>
          </p:grpSpPr>
          <p:sp>
            <p:nvSpPr>
              <p:cNvPr id="83" name="文本框 82"/>
              <p:cNvSpPr txBox="1"/>
              <p:nvPr>
                <p:custDataLst>
                  <p:tags r:id="rId17"/>
                </p:custDataLst>
              </p:nvPr>
            </p:nvSpPr>
            <p:spPr>
              <a:xfrm>
                <a:off x="1943" y="4169"/>
                <a:ext cx="4442" cy="1452"/>
              </a:xfrm>
              <a:prstGeom prst="rect">
                <a:avLst/>
              </a:prstGeom>
              <a:noFill/>
            </p:spPr>
            <p:txBody>
              <a:bodyPr wrap="square" rtlCol="0" anchor="t">
                <a:spAutoFit/>
              </a:bodyPr>
              <a:p>
                <a:r>
                  <a:rPr lang="en-US" altLang="zh-CN">
                    <a:sym typeface="+mn-ea"/>
                  </a:rPr>
                  <a:t>It functions like a one-shot decision. once made, it is never revisited or adjusted.</a:t>
                </a:r>
                <a:endParaRPr lang="en-US" altLang="zh-CN">
                  <a:sym typeface="+mn-ea"/>
                </a:endParaRPr>
              </a:p>
            </p:txBody>
          </p:sp>
          <p:grpSp>
            <p:nvGrpSpPr>
              <p:cNvPr id="84" name="组合 83"/>
              <p:cNvGrpSpPr/>
              <p:nvPr>
                <p:custDataLst>
                  <p:tags r:id="rId18"/>
                </p:custDataLst>
              </p:nvPr>
            </p:nvGrpSpPr>
            <p:grpSpPr>
              <a:xfrm>
                <a:off x="1943" y="3623"/>
                <a:ext cx="5488" cy="580"/>
                <a:chOff x="1943" y="3623"/>
                <a:chExt cx="5488" cy="580"/>
              </a:xfrm>
            </p:grpSpPr>
            <p:sp>
              <p:nvSpPr>
                <p:cNvPr id="85" name="文本框 84"/>
                <p:cNvSpPr txBox="1"/>
                <p:nvPr>
                  <p:custDataLst>
                    <p:tags r:id="rId19"/>
                  </p:custDataLst>
                </p:nvPr>
              </p:nvSpPr>
              <p:spPr>
                <a:xfrm>
                  <a:off x="1943" y="3623"/>
                  <a:ext cx="5488" cy="580"/>
                </a:xfrm>
                <a:prstGeom prst="rect">
                  <a:avLst/>
                </a:prstGeom>
                <a:noFill/>
              </p:spPr>
              <p:txBody>
                <a:bodyPr wrap="square" rtlCol="0" anchor="t">
                  <a:spAutoFit/>
                </a:bodyPr>
                <a:p>
                  <a:pPr marL="0" indent="0" algn="l">
                    <a:buNone/>
                  </a:pPr>
                  <a:r>
                    <a:rPr lang="en-US" altLang="zh-CN" b="1" dirty="0">
                      <a:sym typeface="+mn-ea"/>
                    </a:rPr>
                    <a:t>No </a:t>
                  </a:r>
                  <a:r>
                    <a:rPr lang="en-US" altLang="zh-CN" b="1" dirty="0">
                      <a:sym typeface="+mn-ea"/>
                    </a:rPr>
                    <a:t>F</a:t>
                  </a:r>
                  <a:r>
                    <a:rPr lang="en-US" altLang="zh-CN" b="1" dirty="0">
                      <a:sym typeface="+mn-ea"/>
                    </a:rPr>
                    <a:t>ine-Tuning </a:t>
                  </a:r>
                  <a:r>
                    <a:rPr lang="en-US" altLang="zh-CN" b="1" dirty="0">
                      <a:sym typeface="+mn-ea"/>
                    </a:rPr>
                    <a:t>After Decision</a:t>
                  </a:r>
                  <a:endParaRPr lang="en-US" altLang="zh-CN" b="1" dirty="0">
                    <a:sym typeface="+mn-ea"/>
                  </a:endParaRPr>
                </a:p>
              </p:txBody>
            </p:sp>
            <p:cxnSp>
              <p:nvCxnSpPr>
                <p:cNvPr id="86" name="直接连接符 85"/>
                <p:cNvCxnSpPr/>
                <p:nvPr>
                  <p:custDataLst>
                    <p:tags r:id="rId20"/>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87" name="组合 86"/>
            <p:cNvGrpSpPr>
              <a:grpSpLocks noChangeAspect="1"/>
            </p:cNvGrpSpPr>
            <p:nvPr/>
          </p:nvGrpSpPr>
          <p:grpSpPr>
            <a:xfrm>
              <a:off x="15576" y="4310"/>
              <a:ext cx="927" cy="927"/>
              <a:chOff x="4973" y="4190"/>
              <a:chExt cx="1700" cy="1700"/>
            </a:xfrm>
          </p:grpSpPr>
          <p:sp>
            <p:nvSpPr>
              <p:cNvPr id="88" name="椭圆 87"/>
              <p:cNvSpPr>
                <a:spLocks noChangeAspect="1"/>
              </p:cNvSpPr>
              <p:nvPr>
                <p:custDataLst>
                  <p:tags r:id="rId21"/>
                </p:custDataLst>
              </p:nvPr>
            </p:nvSpPr>
            <p:spPr>
              <a:xfrm>
                <a:off x="4973" y="4190"/>
                <a:ext cx="1701" cy="1701"/>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9" name="图片 88" descr="danger"/>
              <p:cNvPicPr>
                <a:picLocks noChangeAspect="1"/>
              </p:cNvPicPr>
              <p:nvPr>
                <p:custDataLst>
                  <p:tags r:id="rId22"/>
                </p:custDataLst>
              </p:nvPr>
            </p:nvPicPr>
            <p:blipFill>
              <a:blip r:embed="rId14"/>
              <a:stretch>
                <a:fillRect/>
              </a:stretch>
            </p:blipFill>
            <p:spPr>
              <a:xfrm>
                <a:off x="5344" y="4515"/>
                <a:ext cx="959" cy="959"/>
              </a:xfrm>
              <a:prstGeom prst="rect">
                <a:avLst/>
              </a:prstGeom>
            </p:spPr>
          </p:pic>
        </p:grpSp>
      </p:grpSp>
      <p:sp>
        <p:nvSpPr>
          <p:cNvPr id="97" name="右箭头 96"/>
          <p:cNvSpPr/>
          <p:nvPr>
            <p:custDataLst>
              <p:tags r:id="rId23"/>
            </p:custDataLst>
          </p:nvPr>
        </p:nvSpPr>
        <p:spPr>
          <a:xfrm>
            <a:off x="3938270" y="1486535"/>
            <a:ext cx="1002665" cy="685800"/>
          </a:xfrm>
          <a:prstGeom prst="rightArrow">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98" name="组合 97"/>
          <p:cNvGrpSpPr/>
          <p:nvPr>
            <p:custDataLst>
              <p:tags r:id="rId24"/>
            </p:custDataLst>
          </p:nvPr>
        </p:nvGrpSpPr>
        <p:grpSpPr>
          <a:xfrm>
            <a:off x="5217160" y="1263650"/>
            <a:ext cx="3715385" cy="991870"/>
            <a:chOff x="8226" y="3049"/>
            <a:chExt cx="5851" cy="1562"/>
          </a:xfrm>
        </p:grpSpPr>
        <p:grpSp>
          <p:nvGrpSpPr>
            <p:cNvPr id="99" name="组合 98"/>
            <p:cNvGrpSpPr/>
            <p:nvPr>
              <p:custDataLst>
                <p:tags r:id="rId25"/>
              </p:custDataLst>
            </p:nvPr>
          </p:nvGrpSpPr>
          <p:grpSpPr>
            <a:xfrm rot="0">
              <a:off x="9213" y="3049"/>
              <a:ext cx="4864" cy="1562"/>
              <a:chOff x="1943" y="3623"/>
              <a:chExt cx="4864" cy="1562"/>
            </a:xfrm>
          </p:grpSpPr>
          <p:sp>
            <p:nvSpPr>
              <p:cNvPr id="100" name="文本框 99"/>
              <p:cNvSpPr txBox="1"/>
              <p:nvPr>
                <p:custDataLst>
                  <p:tags r:id="rId26"/>
                </p:custDataLst>
              </p:nvPr>
            </p:nvSpPr>
            <p:spPr>
              <a:xfrm>
                <a:off x="1943" y="4169"/>
                <a:ext cx="4863" cy="1016"/>
              </a:xfrm>
              <a:prstGeom prst="rect">
                <a:avLst/>
              </a:prstGeom>
              <a:noFill/>
            </p:spPr>
            <p:txBody>
              <a:bodyPr wrap="square" rtlCol="0" anchor="t">
                <a:spAutoFit/>
              </a:bodyPr>
              <a:p>
                <a:r>
                  <a:rPr lang="en-US" altLang="zh-CN">
                    <a:sym typeface="+mn-ea"/>
                  </a:rPr>
                  <a:t>Simplified to only two commands: grasp and release.</a:t>
                </a:r>
                <a:endParaRPr lang="en-US" altLang="zh-CN">
                  <a:sym typeface="+mn-ea"/>
                </a:endParaRPr>
              </a:p>
            </p:txBody>
          </p:sp>
          <p:grpSp>
            <p:nvGrpSpPr>
              <p:cNvPr id="101" name="组合 100"/>
              <p:cNvGrpSpPr/>
              <p:nvPr>
                <p:custDataLst>
                  <p:tags r:id="rId27"/>
                </p:custDataLst>
              </p:nvPr>
            </p:nvGrpSpPr>
            <p:grpSpPr>
              <a:xfrm>
                <a:off x="1943" y="3623"/>
                <a:ext cx="4864" cy="580"/>
                <a:chOff x="1943" y="3623"/>
                <a:chExt cx="4864" cy="580"/>
              </a:xfrm>
            </p:grpSpPr>
            <p:sp>
              <p:nvSpPr>
                <p:cNvPr id="102" name="文本框 101"/>
                <p:cNvSpPr txBox="1"/>
                <p:nvPr>
                  <p:custDataLst>
                    <p:tags r:id="rId28"/>
                  </p:custDataLst>
                </p:nvPr>
              </p:nvSpPr>
              <p:spPr>
                <a:xfrm>
                  <a:off x="1943" y="3623"/>
                  <a:ext cx="4864" cy="580"/>
                </a:xfrm>
                <a:prstGeom prst="rect">
                  <a:avLst/>
                </a:prstGeom>
                <a:noFill/>
              </p:spPr>
              <p:txBody>
                <a:bodyPr wrap="square" rtlCol="0" anchor="t">
                  <a:spAutoFit/>
                </a:bodyPr>
                <a:p>
                  <a:pPr marL="0" indent="0" algn="l">
                    <a:buNone/>
                  </a:pPr>
                  <a:r>
                    <a:rPr lang="en-US" altLang="zh-CN" b="1" dirty="0">
                      <a:sym typeface="+mn-ea"/>
                    </a:rPr>
                    <a:t>Simplified Commands</a:t>
                  </a:r>
                  <a:endParaRPr lang="en-US" altLang="zh-CN" b="1" dirty="0">
                    <a:sym typeface="+mn-ea"/>
                  </a:endParaRPr>
                </a:p>
              </p:txBody>
            </p:sp>
            <p:cxnSp>
              <p:nvCxnSpPr>
                <p:cNvPr id="103" name="直接连接符 102"/>
                <p:cNvCxnSpPr/>
                <p:nvPr>
                  <p:custDataLst>
                    <p:tags r:id="rId29"/>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104" name="组合 103"/>
            <p:cNvGrpSpPr/>
            <p:nvPr/>
          </p:nvGrpSpPr>
          <p:grpSpPr>
            <a:xfrm>
              <a:off x="8226" y="3156"/>
              <a:ext cx="926" cy="928"/>
              <a:chOff x="8226" y="3156"/>
              <a:chExt cx="926" cy="928"/>
            </a:xfrm>
          </p:grpSpPr>
          <p:sp>
            <p:nvSpPr>
              <p:cNvPr id="105" name="椭圆 104"/>
              <p:cNvSpPr>
                <a:spLocks noChangeAspect="1"/>
              </p:cNvSpPr>
              <p:nvPr>
                <p:custDataLst>
                  <p:tags r:id="rId30"/>
                </p:custDataLst>
              </p:nvPr>
            </p:nvSpPr>
            <p:spPr>
              <a:xfrm>
                <a:off x="8226" y="3156"/>
                <a:ext cx="927" cy="928"/>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06" name="图片 105" descr="security"/>
              <p:cNvPicPr>
                <a:picLocks noChangeAspect="1"/>
              </p:cNvPicPr>
              <p:nvPr>
                <p:custDataLst>
                  <p:tags r:id="rId31"/>
                </p:custDataLst>
              </p:nvPr>
            </p:nvPicPr>
            <p:blipFill>
              <a:blip r:embed="rId32"/>
              <a:stretch>
                <a:fillRect/>
              </a:stretch>
            </p:blipFill>
            <p:spPr>
              <a:xfrm>
                <a:off x="8394" y="3345"/>
                <a:ext cx="592" cy="592"/>
              </a:xfrm>
              <a:prstGeom prst="rect">
                <a:avLst/>
              </a:prstGeom>
            </p:spPr>
          </p:pic>
        </p:grpSp>
      </p:grpSp>
      <p:sp>
        <p:nvSpPr>
          <p:cNvPr id="117" name="右箭头 116"/>
          <p:cNvSpPr/>
          <p:nvPr>
            <p:custDataLst>
              <p:tags r:id="rId33"/>
            </p:custDataLst>
          </p:nvPr>
        </p:nvSpPr>
        <p:spPr>
          <a:xfrm>
            <a:off x="3955415" y="3199765"/>
            <a:ext cx="1002665" cy="685800"/>
          </a:xfrm>
          <a:prstGeom prst="rightArrow">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18" name="组合 117"/>
          <p:cNvGrpSpPr/>
          <p:nvPr>
            <p:custDataLst>
              <p:tags r:id="rId34"/>
            </p:custDataLst>
          </p:nvPr>
        </p:nvGrpSpPr>
        <p:grpSpPr>
          <a:xfrm>
            <a:off x="5217160" y="2831465"/>
            <a:ext cx="3715385" cy="1545590"/>
            <a:chOff x="8226" y="3049"/>
            <a:chExt cx="5851" cy="2434"/>
          </a:xfrm>
        </p:grpSpPr>
        <p:grpSp>
          <p:nvGrpSpPr>
            <p:cNvPr id="119" name="组合 118"/>
            <p:cNvGrpSpPr/>
            <p:nvPr>
              <p:custDataLst>
                <p:tags r:id="rId35"/>
              </p:custDataLst>
            </p:nvPr>
          </p:nvGrpSpPr>
          <p:grpSpPr>
            <a:xfrm rot="0">
              <a:off x="9213" y="3049"/>
              <a:ext cx="4864" cy="2434"/>
              <a:chOff x="1943" y="3623"/>
              <a:chExt cx="4864" cy="2434"/>
            </a:xfrm>
          </p:grpSpPr>
          <p:sp>
            <p:nvSpPr>
              <p:cNvPr id="120" name="文本框 119"/>
              <p:cNvSpPr txBox="1"/>
              <p:nvPr>
                <p:custDataLst>
                  <p:tags r:id="rId36"/>
                </p:custDataLst>
              </p:nvPr>
            </p:nvSpPr>
            <p:spPr>
              <a:xfrm>
                <a:off x="1943" y="4169"/>
                <a:ext cx="4382" cy="1888"/>
              </a:xfrm>
              <a:prstGeom prst="rect">
                <a:avLst/>
              </a:prstGeom>
              <a:noFill/>
            </p:spPr>
            <p:txBody>
              <a:bodyPr wrap="square" rtlCol="0" anchor="t">
                <a:spAutoFit/>
              </a:bodyPr>
              <a:p>
                <a:r>
                  <a:rPr lang="en-US" altLang="zh-CN">
                    <a:sym typeface="+mn-ea"/>
                  </a:rPr>
                  <a:t>During the grasping process, the prosthetic hand automatically fine-tunes itself to grasp the object.</a:t>
                </a:r>
                <a:endParaRPr lang="en-US" altLang="zh-CN">
                  <a:sym typeface="+mn-ea"/>
                </a:endParaRPr>
              </a:p>
            </p:txBody>
          </p:sp>
          <p:grpSp>
            <p:nvGrpSpPr>
              <p:cNvPr id="121" name="组合 120"/>
              <p:cNvGrpSpPr/>
              <p:nvPr>
                <p:custDataLst>
                  <p:tags r:id="rId37"/>
                </p:custDataLst>
              </p:nvPr>
            </p:nvGrpSpPr>
            <p:grpSpPr>
              <a:xfrm>
                <a:off x="1943" y="3623"/>
                <a:ext cx="4864" cy="580"/>
                <a:chOff x="1943" y="3623"/>
                <a:chExt cx="4864" cy="580"/>
              </a:xfrm>
            </p:grpSpPr>
            <p:sp>
              <p:nvSpPr>
                <p:cNvPr id="122" name="文本框 121"/>
                <p:cNvSpPr txBox="1"/>
                <p:nvPr>
                  <p:custDataLst>
                    <p:tags r:id="rId38"/>
                  </p:custDataLst>
                </p:nvPr>
              </p:nvSpPr>
              <p:spPr>
                <a:xfrm>
                  <a:off x="1943" y="3623"/>
                  <a:ext cx="4864" cy="580"/>
                </a:xfrm>
                <a:prstGeom prst="rect">
                  <a:avLst/>
                </a:prstGeom>
                <a:noFill/>
              </p:spPr>
              <p:txBody>
                <a:bodyPr wrap="square" rtlCol="0" anchor="t">
                  <a:spAutoFit/>
                </a:bodyPr>
                <a:p>
                  <a:pPr marL="0" indent="0" algn="l">
                    <a:buNone/>
                  </a:pPr>
                  <a:r>
                    <a:rPr lang="en-US" altLang="zh-CN" b="1" dirty="0">
                      <a:sym typeface="+mn-ea"/>
                    </a:rPr>
                    <a:t>Continuous Fine-Tuning</a:t>
                  </a:r>
                  <a:endParaRPr lang="en-US" altLang="zh-CN" b="1" dirty="0">
                    <a:sym typeface="+mn-ea"/>
                  </a:endParaRPr>
                </a:p>
              </p:txBody>
            </p:sp>
            <p:cxnSp>
              <p:nvCxnSpPr>
                <p:cNvPr id="123" name="直接连接符 122"/>
                <p:cNvCxnSpPr/>
                <p:nvPr>
                  <p:custDataLst>
                    <p:tags r:id="rId39"/>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124" name="组合 123"/>
            <p:cNvGrpSpPr/>
            <p:nvPr/>
          </p:nvGrpSpPr>
          <p:grpSpPr>
            <a:xfrm>
              <a:off x="8226" y="3156"/>
              <a:ext cx="926" cy="928"/>
              <a:chOff x="8226" y="3156"/>
              <a:chExt cx="926" cy="928"/>
            </a:xfrm>
          </p:grpSpPr>
          <p:sp>
            <p:nvSpPr>
              <p:cNvPr id="125" name="椭圆 124"/>
              <p:cNvSpPr>
                <a:spLocks noChangeAspect="1"/>
              </p:cNvSpPr>
              <p:nvPr>
                <p:custDataLst>
                  <p:tags r:id="rId40"/>
                </p:custDataLst>
              </p:nvPr>
            </p:nvSpPr>
            <p:spPr>
              <a:xfrm>
                <a:off x="8226" y="3156"/>
                <a:ext cx="927" cy="928"/>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26" name="图片 125" descr="security"/>
              <p:cNvPicPr>
                <a:picLocks noChangeAspect="1"/>
              </p:cNvPicPr>
              <p:nvPr>
                <p:custDataLst>
                  <p:tags r:id="rId41"/>
                </p:custDataLst>
              </p:nvPr>
            </p:nvPicPr>
            <p:blipFill>
              <a:blip r:embed="rId32"/>
              <a:stretch>
                <a:fillRect/>
              </a:stretch>
            </p:blipFill>
            <p:spPr>
              <a:xfrm>
                <a:off x="8394" y="3345"/>
                <a:ext cx="592" cy="592"/>
              </a:xfrm>
              <a:prstGeom prst="rect">
                <a:avLst/>
              </a:prstGeom>
            </p:spPr>
          </p:pic>
        </p:gr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sym typeface="+mn-ea"/>
              </a:rPr>
              <a:t>System Architecture</a:t>
            </a:r>
            <a:endParaRPr lang="en-US" altLang="zh-CN" sz="3200" b="1">
              <a:latin typeface="Times New Roman" panose="02020603050405020304" charset="0"/>
              <a:ea typeface="宋体" panose="02010600030101010101" pitchFamily="2" charset="-122"/>
              <a:cs typeface="Times New Roman" panose="02020603050405020304" charset="0"/>
            </a:endParaRPr>
          </a:p>
        </p:txBody>
      </p:sp>
      <p:sp>
        <p:nvSpPr>
          <p:cNvPr id="210" name="Card2BG"/>
          <p:cNvSpPr>
            <a:spLocks noGrp="1"/>
          </p:cNvSpPr>
          <p:nvPr>
            <p:custDataLst>
              <p:tags r:id="rId1"/>
            </p:custDataLst>
          </p:nvPr>
        </p:nvSpPr>
        <p:spPr>
          <a:xfrm>
            <a:off x="7524750" y="1626870"/>
            <a:ext cx="1101090" cy="2359660"/>
          </a:xfrm>
          <a:prstGeom prst="roundRect">
            <a:avLst>
              <a:gd name="adj" fmla="val 0"/>
            </a:avLst>
          </a:prstGeom>
          <a:solidFill>
            <a:schemeClr val="accent2">
              <a:lumMod val="60000"/>
              <a:lumOff val="40000"/>
              <a:alpha val="50000"/>
            </a:schemeClr>
          </a:solidFill>
          <a:ln w="15875">
            <a:solidFill>
              <a:srgbClr val="F09A70"/>
            </a:solidFill>
          </a:ln>
        </p:spPr>
        <p:txBody>
          <a:bodyPr anchor="ctr" anchorCtr="0"/>
          <a:p>
            <a:pPr algn="ctr"/>
            <a:r>
              <a:rPr lang="en-US" altLang="zh-CN"/>
              <a:t>Decision</a:t>
            </a:r>
            <a:r>
              <a:rPr lang="en-US"/>
              <a:t>Fusion</a:t>
            </a:r>
            <a:endParaRPr lang="en-US"/>
          </a:p>
        </p:txBody>
      </p:sp>
      <p:sp>
        <p:nvSpPr>
          <p:cNvPr id="200" name="Card1BG"/>
          <p:cNvSpPr>
            <a:spLocks noGrp="1"/>
          </p:cNvSpPr>
          <p:nvPr>
            <p:custDataLst>
              <p:tags r:id="rId2"/>
            </p:custDataLst>
          </p:nvPr>
        </p:nvSpPr>
        <p:spPr>
          <a:xfrm>
            <a:off x="117475" y="1012190"/>
            <a:ext cx="1450975" cy="1593215"/>
          </a:xfrm>
          <a:prstGeom prst="roundRect">
            <a:avLst>
              <a:gd name="adj" fmla="val 0"/>
            </a:avLst>
          </a:prstGeom>
          <a:solidFill>
            <a:srgbClr val="F5F5F5"/>
          </a:solidFill>
          <a:ln w="19050">
            <a:solidFill>
              <a:srgbClr val="DDDDDD"/>
            </a:solidFill>
          </a:ln>
        </p:spPr>
        <p:txBody>
          <a:bodyPr/>
          <a:p/>
        </p:txBody>
      </p:sp>
      <p:pic>
        <p:nvPicPr>
          <p:cNvPr id="202" name="EMGImg"/>
          <p:cNvPicPr>
            <a:picLocks noChangeAspect="1"/>
          </p:cNvPicPr>
          <p:nvPr>
            <p:custDataLst>
              <p:tags r:id="rId3"/>
            </p:custDataLst>
          </p:nvPr>
        </p:nvPicPr>
        <p:blipFill>
          <a:blip r:embed="rId4"/>
          <a:stretch>
            <a:fillRect/>
          </a:stretch>
        </p:blipFill>
        <p:spPr>
          <a:xfrm>
            <a:off x="205740" y="1266190"/>
            <a:ext cx="1270000" cy="1270000"/>
          </a:xfrm>
          <a:prstGeom prst="rect">
            <a:avLst/>
          </a:prstGeom>
        </p:spPr>
      </p:pic>
      <p:sp>
        <p:nvSpPr>
          <p:cNvPr id="203" name="Card1Text"/>
          <p:cNvSpPr txBox="1"/>
          <p:nvPr>
            <p:custDataLst>
              <p:tags r:id="rId5"/>
            </p:custDataLst>
          </p:nvPr>
        </p:nvSpPr>
        <p:spPr>
          <a:xfrm>
            <a:off x="205740" y="1011555"/>
            <a:ext cx="1270635" cy="254635"/>
          </a:xfrm>
          <a:prstGeom prst="rect">
            <a:avLst/>
          </a:prstGeom>
          <a:noFill/>
        </p:spPr>
        <p:txBody>
          <a:bodyPr wrap="square" rtlCol="0" anchor="ctr" anchorCtr="0">
            <a:noAutofit/>
          </a:bodyPr>
          <a:p>
            <a:pPr algn="ctr"/>
            <a:r>
              <a:rPr lang="en-US" sz="1600" b="1" dirty="0">
                <a:solidFill>
                  <a:srgbClr val="1E3A5F"/>
                </a:solidFill>
                <a:latin typeface="Calibri" panose="020F0502020204030204"/>
              </a:rPr>
              <a:t>EMG Sensor</a:t>
            </a:r>
            <a:endParaRPr lang="zh-CN" altLang="en-US" sz="1100" dirty="0">
              <a:solidFill>
                <a:srgbClr val="444444"/>
              </a:solidFill>
              <a:latin typeface="Calibri" panose="020F0502020204030204"/>
            </a:endParaRPr>
          </a:p>
        </p:txBody>
      </p:sp>
      <p:sp>
        <p:nvSpPr>
          <p:cNvPr id="2" name="Card1BG"/>
          <p:cNvSpPr>
            <a:spLocks noGrp="1"/>
          </p:cNvSpPr>
          <p:nvPr>
            <p:custDataLst>
              <p:tags r:id="rId6"/>
            </p:custDataLst>
          </p:nvPr>
        </p:nvSpPr>
        <p:spPr>
          <a:xfrm>
            <a:off x="111125" y="2855595"/>
            <a:ext cx="1450975" cy="1593215"/>
          </a:xfrm>
          <a:prstGeom prst="roundRect">
            <a:avLst>
              <a:gd name="adj" fmla="val 0"/>
            </a:avLst>
          </a:prstGeom>
          <a:solidFill>
            <a:srgbClr val="F5F5F5"/>
          </a:solidFill>
          <a:ln w="19050">
            <a:solidFill>
              <a:srgbClr val="DDDDDD"/>
            </a:solidFill>
          </a:ln>
        </p:spPr>
        <p:txBody>
          <a:bodyPr/>
          <a:p/>
        </p:txBody>
      </p:sp>
      <p:sp>
        <p:nvSpPr>
          <p:cNvPr id="4" name="Card1Text"/>
          <p:cNvSpPr txBox="1"/>
          <p:nvPr>
            <p:custDataLst>
              <p:tags r:id="rId7"/>
            </p:custDataLst>
          </p:nvPr>
        </p:nvSpPr>
        <p:spPr>
          <a:xfrm>
            <a:off x="198755" y="2855595"/>
            <a:ext cx="1270635" cy="254000"/>
          </a:xfrm>
          <a:prstGeom prst="rect">
            <a:avLst/>
          </a:prstGeom>
          <a:noFill/>
        </p:spPr>
        <p:txBody>
          <a:bodyPr wrap="square" rtlCol="0" anchor="ctr" anchorCtr="0">
            <a:noAutofit/>
          </a:bodyPr>
          <a:p>
            <a:pPr algn="ctr"/>
            <a:r>
              <a:rPr lang="en-US" sz="1600" b="1" dirty="0">
                <a:solidFill>
                  <a:srgbClr val="1E3A5F"/>
                </a:solidFill>
                <a:latin typeface="Calibri" panose="020F0502020204030204"/>
              </a:rPr>
              <a:t>Camera</a:t>
            </a:r>
            <a:endParaRPr lang="zh-CN" altLang="en-US" sz="1100" dirty="0">
              <a:solidFill>
                <a:srgbClr val="444444"/>
              </a:solidFill>
              <a:latin typeface="Calibri" panose="020F0502020204030204"/>
            </a:endParaRPr>
          </a:p>
        </p:txBody>
      </p:sp>
      <p:pic>
        <p:nvPicPr>
          <p:cNvPr id="212" name="CameraImg"/>
          <p:cNvPicPr>
            <a:picLocks noChangeAspect="1"/>
          </p:cNvPicPr>
          <p:nvPr>
            <p:custDataLst>
              <p:tags r:id="rId8"/>
            </p:custDataLst>
          </p:nvPr>
        </p:nvPicPr>
        <p:blipFill>
          <a:blip r:embed="rId9"/>
          <a:stretch>
            <a:fillRect/>
          </a:stretch>
        </p:blipFill>
        <p:spPr>
          <a:xfrm>
            <a:off x="199390" y="3109595"/>
            <a:ext cx="1270000" cy="1270000"/>
          </a:xfrm>
          <a:prstGeom prst="rect">
            <a:avLst/>
          </a:prstGeom>
        </p:spPr>
      </p:pic>
      <p:sp>
        <p:nvSpPr>
          <p:cNvPr id="22" name="Card1BG"/>
          <p:cNvSpPr>
            <a:spLocks noGrp="1"/>
          </p:cNvSpPr>
          <p:nvPr>
            <p:custDataLst>
              <p:tags r:id="rId10"/>
            </p:custDataLst>
          </p:nvPr>
        </p:nvSpPr>
        <p:spPr>
          <a:xfrm>
            <a:off x="2956560" y="3366770"/>
            <a:ext cx="1229995" cy="619760"/>
          </a:xfrm>
          <a:prstGeom prst="roundRect">
            <a:avLst>
              <a:gd name="adj" fmla="val 0"/>
            </a:avLst>
          </a:prstGeom>
          <a:solidFill>
            <a:srgbClr val="F5F5F5"/>
          </a:solidFill>
          <a:ln w="19050">
            <a:solidFill>
              <a:srgbClr val="DDDDDD"/>
            </a:solidFill>
          </a:ln>
        </p:spPr>
        <p:txBody>
          <a:bodyPr anchor="ctr" anchorCtr="0"/>
          <a:p>
            <a:pPr algn="ctr"/>
            <a:r>
              <a:rPr lang="en-US" altLang="ja-JP">
                <a:sym typeface="+mn-ea"/>
              </a:rPr>
              <a:t>ResNet18</a:t>
            </a:r>
            <a:endParaRPr lang="en-US" altLang="zh-CN"/>
          </a:p>
        </p:txBody>
      </p:sp>
      <p:sp>
        <p:nvSpPr>
          <p:cNvPr id="24" name="Shape 15"/>
          <p:cNvSpPr/>
          <p:nvPr/>
        </p:nvSpPr>
        <p:spPr>
          <a:xfrm flipV="1">
            <a:off x="1710055" y="1891030"/>
            <a:ext cx="946785" cy="9525"/>
          </a:xfrm>
          <a:prstGeom prst="line">
            <a:avLst/>
          </a:prstGeom>
          <a:noFill/>
          <a:ln w="19050">
            <a:solidFill>
              <a:srgbClr val="14B8A6"/>
            </a:solidFill>
            <a:prstDash val="solid"/>
            <a:tailEnd type="triangle"/>
          </a:ln>
        </p:spPr>
      </p:sp>
      <p:sp>
        <p:nvSpPr>
          <p:cNvPr id="5" name="Shape 15"/>
          <p:cNvSpPr/>
          <p:nvPr/>
        </p:nvSpPr>
        <p:spPr>
          <a:xfrm flipV="1">
            <a:off x="1710055" y="3647440"/>
            <a:ext cx="946785" cy="9525"/>
          </a:xfrm>
          <a:prstGeom prst="line">
            <a:avLst/>
          </a:prstGeom>
          <a:noFill/>
          <a:ln w="19050">
            <a:solidFill>
              <a:srgbClr val="14B8A6"/>
            </a:solidFill>
            <a:prstDash val="solid"/>
            <a:tailEnd type="triangle"/>
          </a:ln>
        </p:spPr>
      </p:sp>
      <p:sp>
        <p:nvSpPr>
          <p:cNvPr id="8" name="文本框 7"/>
          <p:cNvSpPr txBox="1"/>
          <p:nvPr/>
        </p:nvSpPr>
        <p:spPr>
          <a:xfrm>
            <a:off x="1710055" y="3310255"/>
            <a:ext cx="946785" cy="337185"/>
          </a:xfrm>
          <a:prstGeom prst="rect">
            <a:avLst/>
          </a:prstGeom>
          <a:noFill/>
        </p:spPr>
        <p:txBody>
          <a:bodyPr wrap="square" rtlCol="0" anchor="t">
            <a:spAutoFit/>
          </a:bodyPr>
          <a:p>
            <a:pPr algn="ctr"/>
            <a:r>
              <a:rPr lang="en-US" altLang="ja-JP" sz="1600">
                <a:sym typeface="+mn-ea"/>
              </a:rPr>
              <a:t>Image</a:t>
            </a:r>
            <a:endParaRPr lang="en-US" altLang="ja-JP" sz="1600">
              <a:sym typeface="+mn-ea"/>
            </a:endParaRPr>
          </a:p>
        </p:txBody>
      </p:sp>
      <p:sp>
        <p:nvSpPr>
          <p:cNvPr id="10" name="文本框 9"/>
          <p:cNvSpPr txBox="1"/>
          <p:nvPr/>
        </p:nvSpPr>
        <p:spPr>
          <a:xfrm>
            <a:off x="1569720" y="1486535"/>
            <a:ext cx="1235075" cy="337185"/>
          </a:xfrm>
          <a:prstGeom prst="rect">
            <a:avLst/>
          </a:prstGeom>
          <a:noFill/>
        </p:spPr>
        <p:txBody>
          <a:bodyPr wrap="square" rtlCol="0" anchor="t">
            <a:spAutoFit/>
          </a:bodyPr>
          <a:p>
            <a:pPr algn="ctr"/>
            <a:r>
              <a:rPr lang="en-US" altLang="ja-JP" sz="1600">
                <a:sym typeface="+mn-ea"/>
              </a:rPr>
              <a:t>EMG Signal</a:t>
            </a:r>
            <a:endParaRPr lang="en-US" altLang="ja-JP" sz="1600">
              <a:sym typeface="+mn-ea"/>
            </a:endParaRPr>
          </a:p>
        </p:txBody>
      </p:sp>
      <p:sp>
        <p:nvSpPr>
          <p:cNvPr id="9" name="Shape 15"/>
          <p:cNvSpPr/>
          <p:nvPr/>
        </p:nvSpPr>
        <p:spPr>
          <a:xfrm flipV="1">
            <a:off x="4288155" y="3637915"/>
            <a:ext cx="468000" cy="9525"/>
          </a:xfrm>
          <a:prstGeom prst="line">
            <a:avLst/>
          </a:prstGeom>
          <a:noFill/>
          <a:ln w="19050">
            <a:solidFill>
              <a:srgbClr val="14B8A6"/>
            </a:solidFill>
            <a:prstDash val="solid"/>
            <a:tailEnd type="triangle"/>
          </a:ln>
        </p:spPr>
      </p:sp>
      <p:sp>
        <p:nvSpPr>
          <p:cNvPr id="3" name="矩形 2"/>
          <p:cNvSpPr/>
          <p:nvPr/>
        </p:nvSpPr>
        <p:spPr>
          <a:xfrm>
            <a:off x="2804795" y="825500"/>
            <a:ext cx="6045835" cy="3380105"/>
          </a:xfrm>
          <a:prstGeom prst="rect">
            <a:avLst/>
          </a:prstGeom>
          <a:noFill/>
          <a:ln w="25400" cmpd="sng">
            <a:solidFill>
              <a:srgbClr val="F59E0B"/>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Card2BG"/>
          <p:cNvSpPr>
            <a:spLocks noGrp="1"/>
          </p:cNvSpPr>
          <p:nvPr>
            <p:custDataLst>
              <p:tags r:id="rId11"/>
            </p:custDataLst>
          </p:nvPr>
        </p:nvSpPr>
        <p:spPr>
          <a:xfrm>
            <a:off x="2956560" y="1626235"/>
            <a:ext cx="1158875" cy="540000"/>
          </a:xfrm>
          <a:prstGeom prst="roundRect">
            <a:avLst>
              <a:gd name="adj" fmla="val 0"/>
            </a:avLst>
          </a:prstGeom>
          <a:noFill/>
          <a:ln w="15875">
            <a:solidFill>
              <a:srgbClr val="F09A70"/>
            </a:solidFill>
          </a:ln>
        </p:spPr>
        <p:txBody>
          <a:bodyPr anchor="ctr" anchorCtr="0"/>
          <a:p>
            <a:pPr algn="ctr"/>
            <a:r>
              <a:rPr lang="en-US" altLang="zh-CN">
                <a:sym typeface="+mn-ea"/>
              </a:rPr>
              <a:t>1D CNN</a:t>
            </a:r>
            <a:endParaRPr lang="en-US"/>
          </a:p>
        </p:txBody>
      </p:sp>
      <p:sp>
        <p:nvSpPr>
          <p:cNvPr id="19" name="任意多边形 18"/>
          <p:cNvSpPr/>
          <p:nvPr/>
        </p:nvSpPr>
        <p:spPr>
          <a:xfrm>
            <a:off x="5396865" y="1109980"/>
            <a:ext cx="538480" cy="309245"/>
          </a:xfrm>
          <a:custGeom>
            <a:avLst/>
            <a:gdLst>
              <a:gd name="connisteX0" fmla="*/ 810260 w 810260"/>
              <a:gd name="connsiteY0" fmla="*/ 0 h 309245"/>
              <a:gd name="connisteX1" fmla="*/ 144780 w 810260"/>
              <a:gd name="connsiteY1" fmla="*/ 0 h 309245"/>
              <a:gd name="connisteX2" fmla="*/ 0 w 810260"/>
              <a:gd name="connsiteY2" fmla="*/ 309245 h 309245"/>
            </a:gdLst>
            <a:ahLst/>
            <a:cxnLst>
              <a:cxn ang="0">
                <a:pos x="connisteX0" y="connsiteY0"/>
              </a:cxn>
              <a:cxn ang="0">
                <a:pos x="connisteX1" y="connsiteY1"/>
              </a:cxn>
              <a:cxn ang="0">
                <a:pos x="connisteX2" y="connsiteY2"/>
              </a:cxn>
            </a:cxnLst>
            <a:rect l="l" t="t" r="r" b="b"/>
            <a:pathLst>
              <a:path w="810260" h="309245">
                <a:moveTo>
                  <a:pt x="810260" y="0"/>
                </a:moveTo>
                <a:lnTo>
                  <a:pt x="144780" y="0"/>
                </a:lnTo>
                <a:lnTo>
                  <a:pt x="0" y="309245"/>
                </a:lnTo>
              </a:path>
            </a:pathLst>
          </a:custGeom>
          <a:noFill/>
          <a:ln w="25400" cmpd="sng">
            <a:solidFill>
              <a:schemeClr val="tx1"/>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Shape 15"/>
          <p:cNvSpPr/>
          <p:nvPr/>
        </p:nvSpPr>
        <p:spPr>
          <a:xfrm flipV="1">
            <a:off x="4288155" y="1900555"/>
            <a:ext cx="468000" cy="9525"/>
          </a:xfrm>
          <a:prstGeom prst="line">
            <a:avLst/>
          </a:prstGeom>
          <a:noFill/>
          <a:ln w="19050">
            <a:solidFill>
              <a:srgbClr val="14B8A6"/>
            </a:solidFill>
            <a:prstDash val="solid"/>
            <a:tailEnd type="triangle"/>
          </a:ln>
        </p:spPr>
      </p:sp>
      <p:sp>
        <p:nvSpPr>
          <p:cNvPr id="27" name="文本框 26"/>
          <p:cNvSpPr txBox="1"/>
          <p:nvPr/>
        </p:nvSpPr>
        <p:spPr>
          <a:xfrm>
            <a:off x="4756150" y="1626235"/>
            <a:ext cx="2049145" cy="583565"/>
          </a:xfrm>
          <a:prstGeom prst="rect">
            <a:avLst/>
          </a:prstGeom>
        </p:spPr>
        <p:txBody>
          <a:bodyPr wrap="square">
            <a:spAutoFit/>
          </a:bodyPr>
          <a:p>
            <a:pPr algn="ctr"/>
            <a:r>
              <a:rPr lang="en-US" altLang="ja-JP" sz="1600"/>
              <a:t>Intention classification</a:t>
            </a:r>
            <a:endParaRPr lang="en-US" altLang="ja-JP" sz="1600"/>
          </a:p>
          <a:p>
            <a:pPr algn="ctr"/>
            <a:r>
              <a:rPr lang="en-US" altLang="ja-JP" sz="1600"/>
              <a:t>Open/Close/Stay</a:t>
            </a:r>
            <a:endParaRPr lang="en-US" altLang="zh-CN" sz="1600">
              <a:ea typeface="宋体" panose="02010600030101010101" pitchFamily="2" charset="-122"/>
            </a:endParaRPr>
          </a:p>
        </p:txBody>
      </p:sp>
      <p:sp>
        <p:nvSpPr>
          <p:cNvPr id="28" name="文本框 27"/>
          <p:cNvSpPr txBox="1"/>
          <p:nvPr/>
        </p:nvSpPr>
        <p:spPr>
          <a:xfrm>
            <a:off x="4791075" y="3366770"/>
            <a:ext cx="2014220" cy="583565"/>
          </a:xfrm>
          <a:prstGeom prst="rect">
            <a:avLst/>
          </a:prstGeom>
        </p:spPr>
        <p:txBody>
          <a:bodyPr wrap="square">
            <a:spAutoFit/>
          </a:bodyPr>
          <a:p>
            <a:pPr algn="ctr"/>
            <a:r>
              <a:rPr lang="en-US" altLang="zh-CN" sz="1600"/>
              <a:t>Corresponding size /motor angle</a:t>
            </a:r>
            <a:endParaRPr lang="en-US" altLang="zh-CN" sz="1600"/>
          </a:p>
        </p:txBody>
      </p:sp>
      <p:sp>
        <p:nvSpPr>
          <p:cNvPr id="45" name="下箭头 44"/>
          <p:cNvSpPr/>
          <p:nvPr/>
        </p:nvSpPr>
        <p:spPr>
          <a:xfrm>
            <a:off x="7849235" y="4100830"/>
            <a:ext cx="452120" cy="716280"/>
          </a:xfrm>
          <a:prstGeom prst="downArrow">
            <a:avLst/>
          </a:prstGeom>
          <a:solidFill>
            <a:srgbClr val="14B8A6"/>
          </a:solidFill>
          <a:ln w="25400" cmpd="sng">
            <a:no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50" name="直接箭头连接符 49"/>
          <p:cNvCxnSpPr>
            <a:stCxn id="27" idx="3"/>
          </p:cNvCxnSpPr>
          <p:nvPr/>
        </p:nvCxnSpPr>
        <p:spPr>
          <a:xfrm>
            <a:off x="6805295" y="1918335"/>
            <a:ext cx="622935" cy="1905"/>
          </a:xfrm>
          <a:prstGeom prst="straightConnector1">
            <a:avLst/>
          </a:prstGeom>
          <a:noFill/>
          <a:ln w="19050">
            <a:solidFill>
              <a:srgbClr val="14B8A6"/>
            </a:solidFill>
            <a:prstDash val="solid"/>
            <a:tailEnd type="arrow"/>
          </a:ln>
        </p:spPr>
      </p:cxnSp>
      <p:cxnSp>
        <p:nvCxnSpPr>
          <p:cNvPr id="51" name="直接箭头连接符 50"/>
          <p:cNvCxnSpPr>
            <a:stCxn id="28" idx="3"/>
          </p:cNvCxnSpPr>
          <p:nvPr/>
        </p:nvCxnSpPr>
        <p:spPr>
          <a:xfrm>
            <a:off x="6805295" y="3658870"/>
            <a:ext cx="612775" cy="8890"/>
          </a:xfrm>
          <a:prstGeom prst="straightConnector1">
            <a:avLst/>
          </a:prstGeom>
          <a:noFill/>
          <a:ln w="19050">
            <a:solidFill>
              <a:srgbClr val="14B8A6"/>
            </a:solidFill>
            <a:prstDash val="solid"/>
            <a:tailEnd type="arrow"/>
          </a:ln>
        </p:spPr>
      </p:cxnSp>
      <p:sp>
        <p:nvSpPr>
          <p:cNvPr id="53" name="文本框 52"/>
          <p:cNvSpPr txBox="1"/>
          <p:nvPr/>
        </p:nvSpPr>
        <p:spPr>
          <a:xfrm>
            <a:off x="2956560" y="2712720"/>
            <a:ext cx="1992630" cy="368300"/>
          </a:xfrm>
          <a:prstGeom prst="rect">
            <a:avLst/>
          </a:prstGeom>
          <a:noFill/>
        </p:spPr>
        <p:txBody>
          <a:bodyPr wrap="square" rtlCol="0">
            <a:spAutoFit/>
          </a:bodyPr>
          <a:p>
            <a:pPr algn="ctr"/>
            <a:r>
              <a:rPr lang="en-US" altLang="zh-CN"/>
              <a:t>Directly map</a:t>
            </a:r>
            <a:endParaRPr lang="en-US" altLang="zh-CN"/>
          </a:p>
        </p:txBody>
      </p:sp>
      <p:sp>
        <p:nvSpPr>
          <p:cNvPr id="54" name="文本框 53"/>
          <p:cNvSpPr txBox="1"/>
          <p:nvPr/>
        </p:nvSpPr>
        <p:spPr>
          <a:xfrm>
            <a:off x="2684780" y="2344420"/>
            <a:ext cx="2504440" cy="368300"/>
          </a:xfrm>
          <a:prstGeom prst="rect">
            <a:avLst/>
          </a:prstGeom>
          <a:noFill/>
        </p:spPr>
        <p:txBody>
          <a:bodyPr wrap="square" rtlCol="0" anchor="t">
            <a:spAutoFit/>
          </a:bodyPr>
          <a:p>
            <a:pPr algn="ctr"/>
            <a:r>
              <a:rPr lang="en-US" altLang="zh-CN">
                <a:sym typeface="+mn-ea"/>
              </a:rPr>
              <a:t>End to End Approach</a:t>
            </a:r>
            <a:endParaRPr lang="en-US" altLang="zh-CN">
              <a:sym typeface="+mn-ea"/>
            </a:endParaRPr>
          </a:p>
        </p:txBody>
      </p:sp>
      <p:sp>
        <p:nvSpPr>
          <p:cNvPr id="55" name="文本框 54"/>
          <p:cNvSpPr txBox="1"/>
          <p:nvPr/>
        </p:nvSpPr>
        <p:spPr>
          <a:xfrm>
            <a:off x="286385" y="4833620"/>
            <a:ext cx="2371090" cy="368300"/>
          </a:xfrm>
          <a:prstGeom prst="rect">
            <a:avLst/>
          </a:prstGeom>
          <a:noFill/>
        </p:spPr>
        <p:txBody>
          <a:bodyPr wrap="square" rtlCol="0">
            <a:spAutoFit/>
          </a:bodyPr>
          <a:p>
            <a:pPr algn="ctr"/>
            <a:r>
              <a:rPr lang="en-US" altLang="zh-CN"/>
              <a:t>Previous Vision Branch</a:t>
            </a:r>
            <a:endParaRPr lang="en-US" altLang="zh-CN"/>
          </a:p>
        </p:txBody>
      </p:sp>
      <p:sp>
        <p:nvSpPr>
          <p:cNvPr id="56" name="Card1BG"/>
          <p:cNvSpPr>
            <a:spLocks noGrp="1"/>
          </p:cNvSpPr>
          <p:nvPr>
            <p:custDataLst>
              <p:tags r:id="rId12"/>
            </p:custDataLst>
          </p:nvPr>
        </p:nvSpPr>
        <p:spPr>
          <a:xfrm>
            <a:off x="358140" y="5868035"/>
            <a:ext cx="1450975" cy="619760"/>
          </a:xfrm>
          <a:prstGeom prst="roundRect">
            <a:avLst>
              <a:gd name="adj" fmla="val 0"/>
            </a:avLst>
          </a:prstGeom>
          <a:solidFill>
            <a:srgbClr val="F5F5F5"/>
          </a:solidFill>
          <a:ln w="19050">
            <a:solidFill>
              <a:srgbClr val="DDDDDD"/>
            </a:solidFill>
          </a:ln>
        </p:spPr>
        <p:txBody>
          <a:bodyPr anchor="ctr" anchorCtr="0"/>
          <a:p>
            <a:pPr algn="ctr"/>
            <a:r>
              <a:rPr lang="en-US" altLang="zh-CN"/>
              <a:t>Camera Image</a:t>
            </a:r>
            <a:endParaRPr lang="en-US" altLang="zh-CN"/>
          </a:p>
        </p:txBody>
      </p:sp>
      <p:sp>
        <p:nvSpPr>
          <p:cNvPr id="57" name="Shape 15"/>
          <p:cNvSpPr/>
          <p:nvPr/>
        </p:nvSpPr>
        <p:spPr>
          <a:xfrm>
            <a:off x="2000250" y="6169025"/>
            <a:ext cx="548640" cy="0"/>
          </a:xfrm>
          <a:prstGeom prst="line">
            <a:avLst/>
          </a:prstGeom>
          <a:noFill/>
          <a:ln w="19050">
            <a:solidFill>
              <a:srgbClr val="14B8A6"/>
            </a:solidFill>
            <a:prstDash val="solid"/>
            <a:tailEnd type="triangle"/>
          </a:ln>
        </p:spPr>
      </p:sp>
      <p:sp>
        <p:nvSpPr>
          <p:cNvPr id="58" name="Card1BG"/>
          <p:cNvSpPr>
            <a:spLocks noGrp="1"/>
          </p:cNvSpPr>
          <p:nvPr>
            <p:custDataLst>
              <p:tags r:id="rId13"/>
            </p:custDataLst>
          </p:nvPr>
        </p:nvSpPr>
        <p:spPr>
          <a:xfrm>
            <a:off x="2684780" y="5868035"/>
            <a:ext cx="1603375" cy="629285"/>
          </a:xfrm>
          <a:prstGeom prst="roundRect">
            <a:avLst>
              <a:gd name="adj" fmla="val 0"/>
            </a:avLst>
          </a:prstGeom>
          <a:solidFill>
            <a:srgbClr val="F5F5F5"/>
          </a:solidFill>
          <a:ln w="19050">
            <a:solidFill>
              <a:srgbClr val="DDDDDD"/>
            </a:solidFill>
          </a:ln>
        </p:spPr>
        <p:txBody>
          <a:bodyPr anchor="ctr" anchorCtr="0"/>
          <a:p>
            <a:pPr algn="ctr"/>
            <a:r>
              <a:rPr lang="en-US" altLang="zh-CN"/>
              <a:t>YOLO Object Classification</a:t>
            </a:r>
            <a:endParaRPr lang="en-US" altLang="zh-CN"/>
          </a:p>
        </p:txBody>
      </p:sp>
      <p:grpSp>
        <p:nvGrpSpPr>
          <p:cNvPr id="68" name="组合 67"/>
          <p:cNvGrpSpPr/>
          <p:nvPr/>
        </p:nvGrpSpPr>
        <p:grpSpPr>
          <a:xfrm>
            <a:off x="7030720" y="4899660"/>
            <a:ext cx="2040255" cy="388620"/>
            <a:chOff x="2430" y="3065"/>
            <a:chExt cx="4204" cy="612"/>
          </a:xfrm>
        </p:grpSpPr>
        <p:sp>
          <p:nvSpPr>
            <p:cNvPr id="69" name="Shape 26"/>
            <p:cNvSpPr/>
            <p:nvPr>
              <p:custDataLst>
                <p:tags r:id="rId14"/>
              </p:custDataLst>
            </p:nvPr>
          </p:nvSpPr>
          <p:spPr>
            <a:xfrm>
              <a:off x="2430" y="3065"/>
              <a:ext cx="4204" cy="613"/>
            </a:xfrm>
            <a:prstGeom prst="rect">
              <a:avLst/>
            </a:prstGeom>
            <a:solidFill>
              <a:srgbClr val="F59E0B"/>
            </a:solidFill>
            <a:ln w="19050">
              <a:solidFill>
                <a:srgbClr val="F59E0B"/>
              </a:solidFill>
              <a:prstDash val="solid"/>
            </a:ln>
          </p:spPr>
          <p:txBody>
            <a:bodyPr/>
            <a:p>
              <a:endParaRPr lang="zh-CN" altLang="en-US"/>
            </a:p>
          </p:txBody>
        </p:sp>
        <p:sp>
          <p:nvSpPr>
            <p:cNvPr id="70" name="Text 27"/>
            <p:cNvSpPr/>
            <p:nvPr>
              <p:custDataLst>
                <p:tags r:id="rId15"/>
              </p:custDataLst>
            </p:nvPr>
          </p:nvSpPr>
          <p:spPr>
            <a:xfrm>
              <a:off x="2430" y="3065"/>
              <a:ext cx="4204" cy="613"/>
            </a:xfrm>
            <a:prstGeom prst="rect">
              <a:avLst/>
            </a:prstGeom>
            <a:noFill/>
          </p:spPr>
          <p:txBody>
            <a:bodyPr wrap="square" lIns="0" tIns="0" rIns="0" bIns="0" rtlCol="0" anchor="ctr"/>
            <a:lstStyle/>
            <a:p>
              <a:pPr marL="0" indent="0" algn="ctr">
                <a:buNone/>
              </a:pPr>
              <a:r>
                <a:rPr lang="en-US" altLang="zh-CN" b="1" dirty="0"/>
                <a:t>Control Output</a:t>
              </a:r>
              <a:endParaRPr lang="en-US" altLang="zh-CN" b="1" dirty="0"/>
            </a:p>
          </p:txBody>
        </p:sp>
      </p:grpSp>
      <p:sp>
        <p:nvSpPr>
          <p:cNvPr id="73" name="矩形 72"/>
          <p:cNvSpPr/>
          <p:nvPr/>
        </p:nvSpPr>
        <p:spPr>
          <a:xfrm>
            <a:off x="220980" y="4822190"/>
            <a:ext cx="6672580" cy="1885950"/>
          </a:xfrm>
          <a:prstGeom prst="rect">
            <a:avLst/>
          </a:prstGeom>
          <a:noFill/>
          <a:ln w="25400" cmpd="sng">
            <a:solidFill>
              <a:srgbClr val="C00000"/>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4688205" y="5016500"/>
            <a:ext cx="2117090" cy="368300"/>
          </a:xfrm>
          <a:prstGeom prst="rect">
            <a:avLst/>
          </a:prstGeom>
          <a:noFill/>
        </p:spPr>
        <p:txBody>
          <a:bodyPr wrap="square" rtlCol="0">
            <a:spAutoFit/>
          </a:bodyPr>
          <a:p>
            <a:r>
              <a:rPr lang="en-US" altLang="zh-CN"/>
              <a:t>Object Recognition</a:t>
            </a:r>
            <a:endParaRPr lang="en-US" altLang="zh-CN"/>
          </a:p>
        </p:txBody>
      </p:sp>
      <p:sp>
        <p:nvSpPr>
          <p:cNvPr id="17" name="文本框 16"/>
          <p:cNvSpPr txBox="1"/>
          <p:nvPr/>
        </p:nvSpPr>
        <p:spPr>
          <a:xfrm>
            <a:off x="4688205" y="5518150"/>
            <a:ext cx="3048000" cy="368300"/>
          </a:xfrm>
          <a:prstGeom prst="rect">
            <a:avLst/>
          </a:prstGeom>
          <a:noFill/>
        </p:spPr>
        <p:txBody>
          <a:bodyPr wrap="square" rtlCol="0">
            <a:spAutoFit/>
          </a:bodyPr>
          <a:p>
            <a:r>
              <a:rPr lang="en-US" altLang="zh-CN"/>
              <a:t>Predict Bounding Box</a:t>
            </a:r>
            <a:endParaRPr lang="en-US" altLang="zh-CN"/>
          </a:p>
        </p:txBody>
      </p:sp>
      <p:sp>
        <p:nvSpPr>
          <p:cNvPr id="26" name="任意多边形 25"/>
          <p:cNvSpPr/>
          <p:nvPr/>
        </p:nvSpPr>
        <p:spPr>
          <a:xfrm>
            <a:off x="2143125" y="2712720"/>
            <a:ext cx="3641090" cy="674370"/>
          </a:xfrm>
          <a:custGeom>
            <a:avLst/>
            <a:gdLst>
              <a:gd name="connisteX0" fmla="*/ 9525 w 3463290"/>
              <a:gd name="connsiteY0" fmla="*/ 585470 h 674370"/>
              <a:gd name="connisteX1" fmla="*/ 0 w 3463290"/>
              <a:gd name="connsiteY1" fmla="*/ 0 h 674370"/>
              <a:gd name="connisteX2" fmla="*/ 3463290 w 3463290"/>
              <a:gd name="connsiteY2" fmla="*/ 0 h 674370"/>
              <a:gd name="connisteX3" fmla="*/ 3463290 w 3463290"/>
              <a:gd name="connsiteY3" fmla="*/ 674370 h 674370"/>
            </a:gdLst>
            <a:ahLst/>
            <a:cxnLst>
              <a:cxn ang="0">
                <a:pos x="connisteX0" y="connsiteY0"/>
              </a:cxn>
              <a:cxn ang="0">
                <a:pos x="connisteX1" y="connsiteY1"/>
              </a:cxn>
              <a:cxn ang="0">
                <a:pos x="connisteX2" y="connsiteY2"/>
              </a:cxn>
              <a:cxn ang="0">
                <a:pos x="connisteX3" y="connsiteY3"/>
              </a:cxn>
            </a:cxnLst>
            <a:rect l="l" t="t" r="r" b="b"/>
            <a:pathLst>
              <a:path w="3463290" h="674370">
                <a:moveTo>
                  <a:pt x="9525" y="585470"/>
                </a:moveTo>
                <a:lnTo>
                  <a:pt x="0" y="0"/>
                </a:lnTo>
                <a:lnTo>
                  <a:pt x="3463290" y="0"/>
                </a:lnTo>
                <a:lnTo>
                  <a:pt x="3463290" y="674370"/>
                </a:lnTo>
              </a:path>
            </a:pathLst>
          </a:custGeom>
          <a:noFill/>
          <a:ln w="25400" cmpd="sng">
            <a:solidFill>
              <a:srgbClr val="06327D"/>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任意多边形 30"/>
          <p:cNvSpPr/>
          <p:nvPr/>
        </p:nvSpPr>
        <p:spPr>
          <a:xfrm>
            <a:off x="4286885" y="5215890"/>
            <a:ext cx="401320" cy="930275"/>
          </a:xfrm>
          <a:custGeom>
            <a:avLst/>
            <a:gdLst>
              <a:gd name="connisteX0" fmla="*/ 0 w 774065"/>
              <a:gd name="connsiteY0" fmla="*/ 1160780 h 1160780"/>
              <a:gd name="connisteX1" fmla="*/ 356870 w 774065"/>
              <a:gd name="connsiteY1" fmla="*/ 1160780 h 1160780"/>
              <a:gd name="connisteX2" fmla="*/ 347345 w 774065"/>
              <a:gd name="connsiteY2" fmla="*/ 9525 h 1160780"/>
              <a:gd name="connisteX3" fmla="*/ 774065 w 774065"/>
              <a:gd name="connsiteY3" fmla="*/ 0 h 1160780"/>
            </a:gdLst>
            <a:ahLst/>
            <a:cxnLst>
              <a:cxn ang="0">
                <a:pos x="connisteX0" y="connsiteY0"/>
              </a:cxn>
              <a:cxn ang="0">
                <a:pos x="connisteX1" y="connsiteY1"/>
              </a:cxn>
              <a:cxn ang="0">
                <a:pos x="connisteX2" y="connsiteY2"/>
              </a:cxn>
              <a:cxn ang="0">
                <a:pos x="connisteX3" y="connsiteY3"/>
              </a:cxn>
            </a:cxnLst>
            <a:rect l="l" t="t" r="r" b="b"/>
            <a:pathLst>
              <a:path w="774065" h="1160780">
                <a:moveTo>
                  <a:pt x="0" y="1160780"/>
                </a:moveTo>
                <a:lnTo>
                  <a:pt x="356870" y="1160780"/>
                </a:lnTo>
                <a:lnTo>
                  <a:pt x="347345" y="9525"/>
                </a:lnTo>
                <a:lnTo>
                  <a:pt x="774065" y="0"/>
                </a:lnTo>
              </a:path>
            </a:pathLst>
          </a:custGeom>
          <a:noFill/>
          <a:ln w="25400" cmpd="sng">
            <a:solidFill>
              <a:srgbClr val="14B8A6"/>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任意多边形 32"/>
          <p:cNvSpPr/>
          <p:nvPr/>
        </p:nvSpPr>
        <p:spPr>
          <a:xfrm flipV="1">
            <a:off x="4475480" y="5650865"/>
            <a:ext cx="212725" cy="76200"/>
          </a:xfrm>
          <a:custGeom>
            <a:avLst/>
            <a:gdLst>
              <a:gd name="connisteX0" fmla="*/ 0 w 356870"/>
              <a:gd name="connsiteY0" fmla="*/ 0 h 0"/>
              <a:gd name="connisteX1" fmla="*/ 356870 w 356870"/>
              <a:gd name="connsiteY1" fmla="*/ 0 h 0"/>
            </a:gdLst>
            <a:ahLst/>
            <a:cxnLst>
              <a:cxn ang="0">
                <a:pos x="connisteX0" y="connsiteY0"/>
              </a:cxn>
              <a:cxn ang="0">
                <a:pos x="connisteX1" y="connsiteY1"/>
              </a:cxn>
            </a:cxnLst>
            <a:rect l="l" t="t" r="r" b="b"/>
            <a:pathLst>
              <a:path w="356870">
                <a:moveTo>
                  <a:pt x="0" y="0"/>
                </a:moveTo>
                <a:lnTo>
                  <a:pt x="356870" y="0"/>
                </a:lnTo>
              </a:path>
            </a:pathLst>
          </a:custGeom>
          <a:noFill/>
          <a:ln w="25400" cmpd="sng">
            <a:solidFill>
              <a:srgbClr val="14B8A6"/>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任意多边形 33"/>
          <p:cNvSpPr/>
          <p:nvPr/>
        </p:nvSpPr>
        <p:spPr>
          <a:xfrm flipV="1">
            <a:off x="4475480" y="6069965"/>
            <a:ext cx="212725" cy="76200"/>
          </a:xfrm>
          <a:custGeom>
            <a:avLst/>
            <a:gdLst>
              <a:gd name="connisteX0" fmla="*/ 0 w 356870"/>
              <a:gd name="connsiteY0" fmla="*/ 0 h 0"/>
              <a:gd name="connisteX1" fmla="*/ 356870 w 356870"/>
              <a:gd name="connsiteY1" fmla="*/ 0 h 0"/>
            </a:gdLst>
            <a:ahLst/>
            <a:cxnLst>
              <a:cxn ang="0">
                <a:pos x="connisteX0" y="connsiteY0"/>
              </a:cxn>
              <a:cxn ang="0">
                <a:pos x="connisteX1" y="connsiteY1"/>
              </a:cxn>
            </a:cxnLst>
            <a:rect l="l" t="t" r="r" b="b"/>
            <a:pathLst>
              <a:path w="356870">
                <a:moveTo>
                  <a:pt x="0" y="0"/>
                </a:moveTo>
                <a:lnTo>
                  <a:pt x="356870" y="0"/>
                </a:lnTo>
              </a:path>
            </a:pathLst>
          </a:custGeom>
          <a:noFill/>
          <a:ln w="25400" cmpd="sng">
            <a:solidFill>
              <a:srgbClr val="14B8A6"/>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文本框 34"/>
          <p:cNvSpPr txBox="1"/>
          <p:nvPr/>
        </p:nvSpPr>
        <p:spPr>
          <a:xfrm>
            <a:off x="4687570" y="5984875"/>
            <a:ext cx="2117725" cy="368300"/>
          </a:xfrm>
          <a:prstGeom prst="rect">
            <a:avLst/>
          </a:prstGeom>
        </p:spPr>
        <p:txBody>
          <a:bodyPr wrap="square">
            <a:spAutoFit/>
          </a:bodyPr>
          <a:p>
            <a:r>
              <a:rPr lang="en-US" altLang="ja-JP"/>
              <a:t>Compute the Size</a:t>
            </a:r>
            <a:endParaRPr lang="en-US" altLang="ja-JP"/>
          </a:p>
        </p:txBody>
      </p:sp>
      <p:sp>
        <p:nvSpPr>
          <p:cNvPr id="37" name="上下箭头 36"/>
          <p:cNvSpPr/>
          <p:nvPr/>
        </p:nvSpPr>
        <p:spPr>
          <a:xfrm>
            <a:off x="3237230" y="4286885"/>
            <a:ext cx="221615" cy="718820"/>
          </a:xfrm>
          <a:prstGeom prst="upDownArrow">
            <a:avLst/>
          </a:prstGeom>
          <a:solidFill>
            <a:srgbClr val="06327D"/>
          </a:solidFill>
          <a:ln w="25400" cmpd="sng">
            <a:no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文本框 37"/>
          <p:cNvSpPr txBox="1"/>
          <p:nvPr/>
        </p:nvSpPr>
        <p:spPr>
          <a:xfrm>
            <a:off x="3370580" y="4448810"/>
            <a:ext cx="2026920" cy="368300"/>
          </a:xfrm>
          <a:prstGeom prst="rect">
            <a:avLst/>
          </a:prstGeom>
        </p:spPr>
        <p:txBody>
          <a:bodyPr wrap="square">
            <a:spAutoFit/>
          </a:bodyPr>
          <a:p>
            <a:r>
              <a:rPr lang="en-US" altLang="ja-JP"/>
              <a:t>Different </a:t>
            </a:r>
            <a:r>
              <a:rPr lang="en-US" altLang="zh-CN"/>
              <a:t>Approach</a:t>
            </a:r>
            <a:endParaRPr lang="en-US" altLang="zh-CN"/>
          </a:p>
        </p:txBody>
      </p:sp>
      <p:sp>
        <p:nvSpPr>
          <p:cNvPr id="7" name="文本框 6"/>
          <p:cNvSpPr txBox="1"/>
          <p:nvPr/>
        </p:nvSpPr>
        <p:spPr>
          <a:xfrm>
            <a:off x="5935345" y="883285"/>
            <a:ext cx="2915920" cy="645160"/>
          </a:xfrm>
          <a:prstGeom prst="rect">
            <a:avLst/>
          </a:prstGeom>
          <a:noFill/>
        </p:spPr>
        <p:txBody>
          <a:bodyPr wrap="square" rtlCol="0" anchor="t">
            <a:spAutoFit/>
          </a:bodyPr>
          <a:p>
            <a:r>
              <a:rPr lang="en-US" altLang="zh-CN">
                <a:sym typeface="+mn-ea"/>
              </a:rPr>
              <a:t> responsible for </a:t>
            </a:r>
            <a:r>
              <a:rPr lang="en-US" altLang="zh-CN">
                <a:sym typeface="+mn-ea"/>
              </a:rPr>
              <a:t>determining</a:t>
            </a:r>
            <a:r>
              <a:rPr lang="en-US" altLang="zh-CN">
                <a:sym typeface="+mn-ea"/>
              </a:rPr>
              <a:t> the user's general intention.</a:t>
            </a:r>
            <a:endParaRPr lang="en-US" altLang="zh-CN">
              <a:sym typeface="+mn-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rPr>
              <a:t>Real-Time Inference Demo</a:t>
            </a:r>
            <a:endParaRPr lang="en-US" altLang="zh-CN" sz="3200" b="1" dirty="0">
              <a:latin typeface="Times New Roman" panose="02020603050405020304"/>
            </a:endParaRPr>
          </a:p>
        </p:txBody>
      </p:sp>
      <p:pic>
        <p:nvPicPr>
          <p:cNvPr id="9" name="7月7日(2)">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220345" y="1687195"/>
            <a:ext cx="8717915" cy="3178175"/>
          </a:xfrm>
          <a:prstGeom prst="rect">
            <a:avLst/>
          </a:prstGeom>
        </p:spPr>
      </p:pic>
      <p:sp>
        <p:nvSpPr>
          <p:cNvPr id="12" name="文本框 11"/>
          <p:cNvSpPr txBox="1"/>
          <p:nvPr/>
        </p:nvSpPr>
        <p:spPr>
          <a:xfrm>
            <a:off x="220980" y="5939155"/>
            <a:ext cx="8718550" cy="368300"/>
          </a:xfrm>
          <a:prstGeom prst="rect">
            <a:avLst/>
          </a:prstGeom>
        </p:spPr>
        <p:txBody>
          <a:bodyPr wrap="square">
            <a:spAutoFit/>
          </a:bodyPr>
          <a:p>
            <a:r>
              <a:rPr lang="en-US" altLang="ja-JP" b="1">
                <a:solidFill>
                  <a:srgbClr val="FF0000"/>
                </a:solidFill>
              </a:rPr>
              <a:t>#</a:t>
            </a:r>
            <a:r>
              <a:rPr lang="en-US" altLang="ja-JP"/>
              <a:t> At the current, only the </a:t>
            </a:r>
            <a:r>
              <a:rPr lang="en-US" altLang="zh-CN"/>
              <a:t>p</a:t>
            </a:r>
            <a:r>
              <a:rPr lang="en-US" altLang="zh-CN"/>
              <a:t>reliminary system</a:t>
            </a:r>
            <a:r>
              <a:rPr lang="en-US" altLang="ja-JP"/>
              <a:t> has been tested</a:t>
            </a:r>
            <a:endParaRPr lang="en-US" altLang="ja-JP"/>
          </a:p>
        </p:txBody>
      </p:sp>
      <p:sp>
        <p:nvSpPr>
          <p:cNvPr id="13" name="文本框 12"/>
          <p:cNvSpPr txBox="1"/>
          <p:nvPr/>
        </p:nvSpPr>
        <p:spPr>
          <a:xfrm>
            <a:off x="221615" y="6209030"/>
            <a:ext cx="8717915" cy="368300"/>
          </a:xfrm>
          <a:prstGeom prst="rect">
            <a:avLst/>
          </a:prstGeom>
        </p:spPr>
        <p:txBody>
          <a:bodyPr wrap="square">
            <a:spAutoFit/>
          </a:bodyPr>
          <a:p>
            <a:r>
              <a:rPr lang="en-US" altLang="ja-JP" b="1">
                <a:solidFill>
                  <a:srgbClr val="FF0000"/>
                </a:solidFill>
                <a:sym typeface="+mn-ea"/>
              </a:rPr>
              <a:t>#</a:t>
            </a:r>
            <a:r>
              <a:rPr lang="en-US" altLang="ja-JP">
                <a:sym typeface="+mn-ea"/>
              </a:rPr>
              <a:t> </a:t>
            </a:r>
            <a:r>
              <a:rPr lang="en-US" altLang="ja-JP"/>
              <a:t>next step is to </a:t>
            </a:r>
            <a:r>
              <a:rPr lang="en-US" altLang="ja-JP">
                <a:sym typeface="+mn-ea"/>
              </a:rPr>
              <a:t>test that </a:t>
            </a:r>
            <a:r>
              <a:rPr lang="en-US" altLang="zh-CN">
                <a:sym typeface="+mn-ea"/>
              </a:rPr>
              <a:t> grasp different objects.</a:t>
            </a:r>
            <a:endParaRPr lang="en-US" altLang="zh-CN">
              <a:sym typeface="+mn-ea"/>
            </a:endParaRPr>
          </a:p>
        </p:txBody>
      </p:sp>
      <p:sp>
        <p:nvSpPr>
          <p:cNvPr id="4" name="任意多边形 3"/>
          <p:cNvSpPr/>
          <p:nvPr/>
        </p:nvSpPr>
        <p:spPr>
          <a:xfrm>
            <a:off x="5732145" y="1476000"/>
            <a:ext cx="10795" cy="792000"/>
          </a:xfrm>
          <a:custGeom>
            <a:avLst/>
            <a:gdLst>
              <a:gd name="connisteX0" fmla="*/ 10795 w 10795"/>
              <a:gd name="connsiteY0" fmla="*/ 1316355 h 1316355"/>
              <a:gd name="connisteX1" fmla="*/ 0 w 10795"/>
              <a:gd name="connsiteY1" fmla="*/ 0 h 1316355"/>
            </a:gdLst>
            <a:ahLst/>
            <a:cxnLst>
              <a:cxn ang="0">
                <a:pos x="connisteX0" y="connsiteY0"/>
              </a:cxn>
              <a:cxn ang="0">
                <a:pos x="connisteX1" y="connsiteY1"/>
              </a:cxn>
            </a:cxnLst>
            <a:rect l="l" t="t" r="r" b="b"/>
            <a:pathLst>
              <a:path w="10795" h="1316355">
                <a:moveTo>
                  <a:pt x="10795" y="1316355"/>
                </a:moveTo>
                <a:lnTo>
                  <a:pt x="0" y="0"/>
                </a:lnTo>
              </a:path>
            </a:pathLst>
          </a:custGeom>
          <a:noFill/>
          <a:ln w="38100" cmpd="sng">
            <a:solidFill>
              <a:srgbClr val="14B8A6"/>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任意多边形 4"/>
          <p:cNvSpPr/>
          <p:nvPr/>
        </p:nvSpPr>
        <p:spPr>
          <a:xfrm>
            <a:off x="6369050" y="1476000"/>
            <a:ext cx="10795" cy="792000"/>
          </a:xfrm>
          <a:custGeom>
            <a:avLst/>
            <a:gdLst>
              <a:gd name="connisteX0" fmla="*/ 10795 w 10795"/>
              <a:gd name="connsiteY0" fmla="*/ 1316355 h 1316355"/>
              <a:gd name="connisteX1" fmla="*/ 0 w 10795"/>
              <a:gd name="connsiteY1" fmla="*/ 0 h 1316355"/>
            </a:gdLst>
            <a:ahLst/>
            <a:cxnLst>
              <a:cxn ang="0">
                <a:pos x="connisteX0" y="connsiteY0"/>
              </a:cxn>
              <a:cxn ang="0">
                <a:pos x="connisteX1" y="connsiteY1"/>
              </a:cxn>
            </a:cxnLst>
            <a:rect l="l" t="t" r="r" b="b"/>
            <a:pathLst>
              <a:path w="10795" h="1316355">
                <a:moveTo>
                  <a:pt x="10795" y="1316355"/>
                </a:moveTo>
                <a:lnTo>
                  <a:pt x="0" y="0"/>
                </a:lnTo>
              </a:path>
            </a:pathLst>
          </a:custGeom>
          <a:noFill/>
          <a:ln w="38100" cmpd="sng">
            <a:solidFill>
              <a:srgbClr val="14B8A6"/>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nvSpPr>
        <p:spPr>
          <a:xfrm>
            <a:off x="4427855" y="830345"/>
            <a:ext cx="3336290" cy="645160"/>
          </a:xfrm>
          <a:prstGeom prst="rect">
            <a:avLst/>
          </a:prstGeom>
          <a:noFill/>
        </p:spPr>
        <p:txBody>
          <a:bodyPr wrap="square" rtlCol="0">
            <a:spAutoFit/>
          </a:bodyPr>
          <a:p>
            <a:pPr algn="ctr"/>
            <a:r>
              <a:rPr lang="en-US" altLang="zh-CN">
                <a:sym typeface="+mn-ea"/>
              </a:rPr>
              <a:t>Open and Close angle</a:t>
            </a:r>
            <a:endParaRPr lang="en-US" altLang="zh-CN"/>
          </a:p>
          <a:p>
            <a:pPr algn="ctr"/>
            <a:r>
              <a:rPr lang="en-US" altLang="zh-CN"/>
              <a:t>Small continusly adjust</a:t>
            </a:r>
            <a:endParaRPr lang="en-US" altLang="zh-CN">
              <a:ea typeface="宋体" panose="02010600030101010101" pitchFamily="2" charset="-122"/>
            </a:endParaRPr>
          </a:p>
        </p:txBody>
      </p:sp>
      <p:sp>
        <p:nvSpPr>
          <p:cNvPr id="10" name="文本框 9"/>
          <p:cNvSpPr txBox="1"/>
          <p:nvPr/>
        </p:nvSpPr>
        <p:spPr>
          <a:xfrm>
            <a:off x="267335" y="4946015"/>
            <a:ext cx="6190615" cy="368300"/>
          </a:xfrm>
          <a:prstGeom prst="rect">
            <a:avLst/>
          </a:prstGeom>
        </p:spPr>
        <p:txBody>
          <a:bodyPr wrap="square">
            <a:spAutoFit/>
          </a:bodyPr>
          <a:p>
            <a:r>
              <a:rPr lang="en-US" altLang="ja-JP"/>
              <a:t>Robotic hand automatically open and close the </a:t>
            </a:r>
            <a:r>
              <a:rPr lang="en-US" altLang="zh-CN">
                <a:sym typeface="+mn-ea"/>
              </a:rPr>
              <a:t>suitable</a:t>
            </a:r>
            <a:r>
              <a:rPr lang="en-US" altLang="ja-JP"/>
              <a:t> size.</a:t>
            </a:r>
            <a:endParaRPr lang="en-US" altLang="ja-JP"/>
          </a:p>
        </p:txBody>
      </p:sp>
      <p:sp>
        <p:nvSpPr>
          <p:cNvPr id="11" name="下箭头 10"/>
          <p:cNvSpPr/>
          <p:nvPr/>
        </p:nvSpPr>
        <p:spPr>
          <a:xfrm rot="10800000">
            <a:off x="4428000" y="4572000"/>
            <a:ext cx="255270" cy="425450"/>
          </a:xfrm>
          <a:prstGeom prst="downArrow">
            <a:avLst/>
          </a:prstGeom>
          <a:solidFill>
            <a:srgbClr val="14B8A6"/>
          </a:solidFill>
          <a:ln w="25400" cmpd="sng">
            <a:no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video fullScrn="0">
              <p:cMediaNode>
                <p:cTn id="2" fill="hold" display="1">
                  <p:stCondLst>
                    <p:cond delay="indefinite"/>
                  </p:stCondLst>
                </p:cTn>
                <p:tgtEl>
                  <p:spTgt spid="9"/>
                </p:tgtEl>
              </p:cMediaNode>
            </p:video>
            <p:seq concurrent="1" nextAc="seek">
              <p:cTn id="3" restart="whenNotActive" fill="hold" evtFilter="cancelBubble" nodeType="interactiveSeq">
                <p:stCondLst>
                  <p:cond evt="onClick" delay="0">
                    <p:tgtEl>
                      <p:spTgt spid="9"/>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sym typeface="+mn-ea"/>
              </a:rPr>
              <a:t>Training</a:t>
            </a:r>
            <a:endParaRPr lang="en-US" altLang="zh-CN" sz="3200" b="1" dirty="0">
              <a:latin typeface="Times New Roman" panose="02020603050405020304"/>
            </a:endParaRPr>
          </a:p>
          <a:p>
            <a:endParaRPr lang="en-US" altLang="zh-CN" sz="3200" b="1" dirty="0">
              <a:latin typeface="Times New Roman" panose="02020603050405020304"/>
            </a:endParaRPr>
          </a:p>
        </p:txBody>
      </p:sp>
      <p:pic>
        <p:nvPicPr>
          <p:cNvPr id="3" name="7月7日">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220980" y="3515360"/>
            <a:ext cx="8717280" cy="3166110"/>
          </a:xfrm>
          <a:prstGeom prst="rect">
            <a:avLst/>
          </a:prstGeom>
        </p:spPr>
      </p:pic>
      <p:sp>
        <p:nvSpPr>
          <p:cNvPr id="28" name="Shape 25"/>
          <p:cNvSpPr/>
          <p:nvPr>
            <p:custDataLst>
              <p:tags r:id="rId4"/>
            </p:custDataLst>
          </p:nvPr>
        </p:nvSpPr>
        <p:spPr>
          <a:xfrm>
            <a:off x="220980" y="877570"/>
            <a:ext cx="8718550" cy="958215"/>
          </a:xfrm>
          <a:prstGeom prst="rect">
            <a:avLst/>
          </a:prstGeom>
          <a:solidFill>
            <a:srgbClr val="F59E0B">
              <a:alpha val="10000"/>
            </a:srgbClr>
          </a:solidFill>
          <a:ln w="19050">
            <a:solidFill>
              <a:srgbClr val="F59E0B"/>
            </a:solidFill>
            <a:prstDash val="solid"/>
          </a:ln>
        </p:spPr>
        <p:txBody>
          <a:bodyPr/>
          <a:p>
            <a:r>
              <a:rPr lang="en-US" altLang="zh-CN"/>
              <a:t>Imitation learning:</a:t>
            </a:r>
            <a:endParaRPr lang="en-US" altLang="zh-CN"/>
          </a:p>
          <a:p>
            <a:r>
              <a:rPr lang="en-US" altLang="zh-CN"/>
              <a:t>Records the operator </a:t>
            </a:r>
            <a:r>
              <a:rPr lang="en-US" altLang="zh-CN">
                <a:sym typeface="+mn-ea"/>
              </a:rPr>
              <a:t>use </a:t>
            </a:r>
            <a:r>
              <a:rPr lang="en-US" altLang="zh-CN"/>
              <a:t>EMG-Only mode (manual mode) </a:t>
            </a:r>
            <a:r>
              <a:rPr lang="en-US" altLang="zh-CN">
                <a:sym typeface="+mn-ea"/>
              </a:rPr>
              <a:t>to grasp </a:t>
            </a:r>
            <a:r>
              <a:rPr lang="en-US" altLang="zh-CN">
                <a:sym typeface="+mn-ea"/>
              </a:rPr>
              <a:t>objects</a:t>
            </a:r>
            <a:r>
              <a:rPr lang="en-US" altLang="zh-CN"/>
              <a:t>.</a:t>
            </a:r>
            <a:endParaRPr lang="en-US" altLang="zh-CN"/>
          </a:p>
          <a:p>
            <a:r>
              <a:rPr lang="en-US" altLang="zh-CN">
                <a:sym typeface="+mn-ea"/>
              </a:rPr>
              <a:t>The model directly maps the input image data to the output servo motor angle</a:t>
            </a:r>
            <a:endParaRPr lang="en-US" altLang="zh-CN"/>
          </a:p>
        </p:txBody>
      </p:sp>
      <p:sp>
        <p:nvSpPr>
          <p:cNvPr id="5" name="任意多边形 4"/>
          <p:cNvSpPr/>
          <p:nvPr/>
        </p:nvSpPr>
        <p:spPr>
          <a:xfrm>
            <a:off x="6055360" y="2176145"/>
            <a:ext cx="883920" cy="1622425"/>
          </a:xfrm>
          <a:custGeom>
            <a:avLst/>
            <a:gdLst>
              <a:gd name="connisteX0" fmla="*/ 2099945 w 2099945"/>
              <a:gd name="connsiteY0" fmla="*/ 0 h 720090"/>
              <a:gd name="connisteX1" fmla="*/ 0 w 2099945"/>
              <a:gd name="connsiteY1" fmla="*/ 0 h 720090"/>
              <a:gd name="connisteX2" fmla="*/ 10160 w 2099945"/>
              <a:gd name="connsiteY2" fmla="*/ 720090 h 720090"/>
            </a:gdLst>
            <a:ahLst/>
            <a:cxnLst>
              <a:cxn ang="0">
                <a:pos x="connisteX0" y="connsiteY0"/>
              </a:cxn>
              <a:cxn ang="0">
                <a:pos x="connisteX1" y="connsiteY1"/>
              </a:cxn>
              <a:cxn ang="0">
                <a:pos x="connisteX2" y="connsiteY2"/>
              </a:cxn>
            </a:cxnLst>
            <a:rect l="l" t="t" r="r" b="b"/>
            <a:pathLst>
              <a:path w="2099945" h="720090">
                <a:moveTo>
                  <a:pt x="2099945" y="0"/>
                </a:moveTo>
                <a:lnTo>
                  <a:pt x="0" y="0"/>
                </a:lnTo>
                <a:lnTo>
                  <a:pt x="10160" y="720090"/>
                </a:lnTo>
              </a:path>
            </a:pathLst>
          </a:custGeom>
          <a:noFill/>
          <a:ln w="63500" cmpd="sng">
            <a:solidFill>
              <a:srgbClr val="14B8A6"/>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6939280" y="1982470"/>
            <a:ext cx="1732915" cy="368300"/>
          </a:xfrm>
          <a:prstGeom prst="rect">
            <a:avLst/>
          </a:prstGeom>
        </p:spPr>
        <p:txBody>
          <a:bodyPr wrap="square">
            <a:spAutoFit/>
          </a:bodyPr>
          <a:p>
            <a:pPr algn="ctr"/>
            <a:r>
              <a:rPr lang="en-US" altLang="ja-JP" b="1"/>
              <a:t>Recorded data:</a:t>
            </a:r>
            <a:endParaRPr lang="en-US" altLang="ja-JP" b="1"/>
          </a:p>
        </p:txBody>
      </p:sp>
      <p:sp>
        <p:nvSpPr>
          <p:cNvPr id="8" name="文本框 7"/>
          <p:cNvSpPr txBox="1"/>
          <p:nvPr/>
        </p:nvSpPr>
        <p:spPr>
          <a:xfrm>
            <a:off x="6939280" y="2332990"/>
            <a:ext cx="1793240" cy="368300"/>
          </a:xfrm>
          <a:prstGeom prst="rect">
            <a:avLst/>
          </a:prstGeom>
          <a:noFill/>
        </p:spPr>
        <p:txBody>
          <a:bodyPr wrap="square" rtlCol="0" anchor="t">
            <a:spAutoFit/>
          </a:bodyPr>
          <a:p>
            <a:r>
              <a:rPr lang="zh-CN" altLang="en-US"/>
              <a:t>①</a:t>
            </a:r>
            <a:r>
              <a:rPr lang="en-US" altLang="zh-CN"/>
              <a:t> Image</a:t>
            </a:r>
            <a:endParaRPr lang="en-US" altLang="zh-CN"/>
          </a:p>
        </p:txBody>
      </p:sp>
      <p:sp>
        <p:nvSpPr>
          <p:cNvPr id="9" name="文本框 8"/>
          <p:cNvSpPr txBox="1"/>
          <p:nvPr/>
        </p:nvSpPr>
        <p:spPr>
          <a:xfrm>
            <a:off x="6939280" y="2701290"/>
            <a:ext cx="1793240" cy="368300"/>
          </a:xfrm>
          <a:prstGeom prst="rect">
            <a:avLst/>
          </a:prstGeom>
          <a:noFill/>
        </p:spPr>
        <p:txBody>
          <a:bodyPr wrap="square" rtlCol="0" anchor="t">
            <a:spAutoFit/>
          </a:bodyPr>
          <a:p>
            <a:r>
              <a:rPr lang="zh-CN" altLang="en-US"/>
              <a:t>②</a:t>
            </a:r>
            <a:r>
              <a:rPr lang="en-US" altLang="zh-CN"/>
              <a:t> EMG Signal</a:t>
            </a:r>
            <a:endParaRPr lang="en-US" altLang="zh-CN"/>
          </a:p>
        </p:txBody>
      </p:sp>
      <p:sp>
        <p:nvSpPr>
          <p:cNvPr id="10" name="文本框 9"/>
          <p:cNvSpPr txBox="1"/>
          <p:nvPr/>
        </p:nvSpPr>
        <p:spPr>
          <a:xfrm>
            <a:off x="6939280" y="3086735"/>
            <a:ext cx="1793240" cy="368300"/>
          </a:xfrm>
          <a:prstGeom prst="rect">
            <a:avLst/>
          </a:prstGeom>
          <a:noFill/>
        </p:spPr>
        <p:txBody>
          <a:bodyPr wrap="square" rtlCol="0" anchor="t">
            <a:spAutoFit/>
          </a:bodyPr>
          <a:p>
            <a:r>
              <a:rPr lang="zh-CN" altLang="en-US"/>
              <a:t>③</a:t>
            </a:r>
            <a:r>
              <a:rPr lang="en-US" altLang="zh-CN"/>
              <a:t> Motor Angle</a:t>
            </a:r>
            <a:endParaRPr lang="en-US" altLang="zh-CN"/>
          </a:p>
        </p:txBody>
      </p:sp>
    </p:spTree>
  </p:cSld>
  <p:clrMapOvr>
    <a:masterClrMapping/>
  </p:clrMapOvr>
  <p:timing>
    <p:tnLst>
      <p:par>
        <p:cTn id="1" dur="indefinite" restart="never" nodeType="tmRoot">
          <p:childTnLst>
            <p:video fullScrn="0">
              <p:cMediaNode>
                <p:cTn id="2" fill="hold" display="1">
                  <p:stCondLst>
                    <p:cond delay="indefinite"/>
                  </p:stCondLst>
                </p:cTn>
                <p:tgtEl>
                  <p:spTgt spid="3"/>
                </p:tgtEl>
              </p:cMediaNode>
            </p:video>
            <p:seq concurrent="1" nextAc="seek">
              <p:cTn id="3" restart="whenNotActive" fill="hold" evtFilter="cancelBubble" nodeType="interactiveSeq">
                <p:stCondLst>
                  <p:cond evt="onClick" delay="0">
                    <p:tgtEl>
                      <p:spTgt spid="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sym typeface="+mn-ea"/>
              </a:rPr>
              <a:t>Training </a:t>
            </a:r>
            <a:r>
              <a:rPr lang="en-US" altLang="zh-CN" sz="3200" b="1" dirty="0">
                <a:latin typeface="Times New Roman" panose="02020603050405020304"/>
                <a:sym typeface="+mn-ea"/>
              </a:rPr>
              <a:t>Data</a:t>
            </a:r>
            <a:endParaRPr lang="en-US" altLang="zh-CN" sz="3200" b="1" dirty="0">
              <a:latin typeface="Times New Roman" panose="02020603050405020304"/>
            </a:endParaRPr>
          </a:p>
          <a:p>
            <a:endParaRPr lang="en-US" altLang="zh-CN" sz="3200" b="1" dirty="0">
              <a:latin typeface="Times New Roman" panose="02020603050405020304"/>
            </a:endParaRPr>
          </a:p>
        </p:txBody>
      </p:sp>
      <p:pic>
        <p:nvPicPr>
          <p:cNvPr id="2" name="图片 1" descr="Figure_1"/>
          <p:cNvPicPr>
            <a:picLocks noChangeAspect="1"/>
          </p:cNvPicPr>
          <p:nvPr/>
        </p:nvPicPr>
        <p:blipFill>
          <a:blip r:embed="rId1"/>
          <a:stretch>
            <a:fillRect/>
          </a:stretch>
        </p:blipFill>
        <p:spPr>
          <a:xfrm>
            <a:off x="220980" y="1880870"/>
            <a:ext cx="8715375" cy="4702810"/>
          </a:xfrm>
          <a:prstGeom prst="rect">
            <a:avLst/>
          </a:prstGeom>
        </p:spPr>
      </p:pic>
      <p:sp>
        <p:nvSpPr>
          <p:cNvPr id="3" name="任意多边形 2"/>
          <p:cNvSpPr/>
          <p:nvPr/>
        </p:nvSpPr>
        <p:spPr>
          <a:xfrm>
            <a:off x="4743450" y="1754505"/>
            <a:ext cx="715010" cy="454025"/>
          </a:xfrm>
          <a:custGeom>
            <a:avLst/>
            <a:gdLst>
              <a:gd name="connisteX0" fmla="*/ 1273175 w 1273175"/>
              <a:gd name="connsiteY0" fmla="*/ 9525 h 916305"/>
              <a:gd name="connisteX1" fmla="*/ 9525 w 1273175"/>
              <a:gd name="connsiteY1" fmla="*/ 0 h 916305"/>
              <a:gd name="connisteX2" fmla="*/ 0 w 1273175"/>
              <a:gd name="connsiteY2" fmla="*/ 916305 h 916305"/>
            </a:gdLst>
            <a:ahLst/>
            <a:cxnLst>
              <a:cxn ang="0">
                <a:pos x="connisteX0" y="connsiteY0"/>
              </a:cxn>
              <a:cxn ang="0">
                <a:pos x="connisteX1" y="connsiteY1"/>
              </a:cxn>
              <a:cxn ang="0">
                <a:pos x="connisteX2" y="connsiteY2"/>
              </a:cxn>
            </a:cxnLst>
            <a:rect l="l" t="t" r="r" b="b"/>
            <a:pathLst>
              <a:path w="1273175" h="916305">
                <a:moveTo>
                  <a:pt x="1273175" y="9525"/>
                </a:moveTo>
                <a:lnTo>
                  <a:pt x="9525" y="0"/>
                </a:lnTo>
                <a:lnTo>
                  <a:pt x="0" y="916305"/>
                </a:lnTo>
              </a:path>
            </a:pathLst>
          </a:custGeom>
          <a:noFill/>
          <a:ln w="50800" cmpd="sng">
            <a:solidFill>
              <a:srgbClr val="00B050"/>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5403850" y="1563370"/>
            <a:ext cx="3803650" cy="645160"/>
          </a:xfrm>
          <a:prstGeom prst="rect">
            <a:avLst/>
          </a:prstGeom>
          <a:noFill/>
        </p:spPr>
        <p:txBody>
          <a:bodyPr wrap="square" rtlCol="0">
            <a:spAutoFit/>
          </a:bodyPr>
          <a:p>
            <a:r>
              <a:rPr lang="en-US" altLang="zh-CN"/>
              <a:t>Mark valid data </a:t>
            </a:r>
            <a:endParaRPr lang="en-US" altLang="zh-CN"/>
          </a:p>
          <a:p>
            <a:r>
              <a:rPr lang="en-US" altLang="zh-CN"/>
              <a:t>(by pressing a button during recording)</a:t>
            </a:r>
            <a:endParaRPr lang="en-US" altLang="zh-CN"/>
          </a:p>
        </p:txBody>
      </p:sp>
      <p:sp>
        <p:nvSpPr>
          <p:cNvPr id="21" name="文本框 20"/>
          <p:cNvSpPr txBox="1"/>
          <p:nvPr/>
        </p:nvSpPr>
        <p:spPr>
          <a:xfrm>
            <a:off x="300355" y="756920"/>
            <a:ext cx="8636000" cy="997585"/>
          </a:xfrm>
          <a:prstGeom prst="rect">
            <a:avLst/>
          </a:prstGeom>
        </p:spPr>
        <p:txBody>
          <a:bodyPr wrap="square">
            <a:noAutofit/>
          </a:bodyPr>
          <a:p>
            <a:r>
              <a:rPr lang="en-US" altLang="ja-JP"/>
              <a:t>Grasping </a:t>
            </a:r>
            <a:r>
              <a:rPr lang="en-US" altLang="zh-CN"/>
              <a:t>process</a:t>
            </a:r>
            <a:r>
              <a:rPr lang="en-US" altLang="ja-JP"/>
              <a:t>: </a:t>
            </a:r>
            <a:endParaRPr lang="en-US" altLang="ja-JP"/>
          </a:p>
          <a:p>
            <a:r>
              <a:rPr lang="en-US" altLang="ja-JP"/>
              <a:t>Closed state → Moving toward object → Opening hand → Closing to grasp.</a:t>
            </a:r>
            <a:endParaRPr lang="en-US" altLang="ja-JP"/>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 name="文本框 61"/>
          <p:cNvSpPr txBox="1"/>
          <p:nvPr/>
        </p:nvSpPr>
        <p:spPr>
          <a:xfrm>
            <a:off x="220980" y="973455"/>
            <a:ext cx="4641850" cy="1889760"/>
          </a:xfrm>
          <a:prstGeom prst="rect">
            <a:avLst/>
          </a:prstGeom>
          <a:noFill/>
        </p:spPr>
        <p:txBody>
          <a:bodyPr wrap="square" rtlCol="0">
            <a:noAutofit/>
          </a:bodyPr>
          <a:p>
            <a:pPr marL="285750" indent="-285750">
              <a:buFont typeface="Wingdings" panose="05000000000000000000" charset="0"/>
              <a:buChar char="n"/>
            </a:pPr>
            <a:r>
              <a:rPr lang="en-US" altLang="zh-CN">
                <a:sym typeface="+mn-ea"/>
              </a:rPr>
              <a:t>Objective : </a:t>
            </a:r>
            <a:endParaRPr lang="en-US" altLang="zh-CN">
              <a:sym typeface="+mn-ea"/>
            </a:endParaRPr>
          </a:p>
          <a:p>
            <a:pPr indent="0">
              <a:buFont typeface="Wingdings" panose="05000000000000000000" charset="0"/>
              <a:buNone/>
            </a:pPr>
            <a:r>
              <a:rPr lang="en-US" altLang="zh-CN">
                <a:sym typeface="+mn-ea"/>
              </a:rPr>
              <a:t>Evaluate the system’s performance, and its ability to reduce the operator’s cognitive load</a:t>
            </a:r>
            <a:endParaRPr lang="en-US" altLang="zh-CN">
              <a:sym typeface="+mn-ea"/>
            </a:endParaRPr>
          </a:p>
          <a:p>
            <a:pPr indent="0">
              <a:buFont typeface="Wingdings" panose="05000000000000000000" charset="0"/>
              <a:buNone/>
            </a:pPr>
            <a:endParaRPr lang="en-US" altLang="zh-CN">
              <a:sym typeface="+mn-ea"/>
            </a:endParaRPr>
          </a:p>
          <a:p>
            <a:pPr marL="285750" indent="-285750">
              <a:buFont typeface="Wingdings" panose="05000000000000000000" charset="0"/>
              <a:buChar char="n"/>
            </a:pPr>
            <a:r>
              <a:rPr lang="en-US" altLang="zh-CN">
                <a:sym typeface="+mn-ea"/>
              </a:rPr>
              <a:t>Participants : </a:t>
            </a:r>
            <a:endParaRPr lang="en-US" altLang="zh-CN">
              <a:sym typeface="+mn-ea"/>
            </a:endParaRPr>
          </a:p>
          <a:p>
            <a:r>
              <a:rPr lang="en-US" altLang="zh-CN">
                <a:ea typeface="宋体" panose="02010600030101010101" pitchFamily="2" charset="-122"/>
                <a:sym typeface="+mn-ea"/>
              </a:rPr>
              <a:t>10 healthy adults</a:t>
            </a:r>
            <a:endParaRPr lang="zh-CN" altLang="en-US" sz="1400">
              <a:ea typeface="宋体" panose="02010600030101010101" pitchFamily="2" charset="-122"/>
              <a:sym typeface="+mn-ea"/>
            </a:endParaRPr>
          </a:p>
        </p:txBody>
      </p:sp>
      <p:sp>
        <p:nvSpPr>
          <p:cNvPr id="6" name="文本框 5"/>
          <p:cNvSpPr txBox="1"/>
          <p:nvPr/>
        </p:nvSpPr>
        <p:spPr>
          <a:xfrm>
            <a:off x="220980" y="226695"/>
            <a:ext cx="8717915" cy="656590"/>
          </a:xfrm>
          <a:prstGeom prst="rect">
            <a:avLst/>
          </a:prstGeom>
          <a:noFill/>
        </p:spPr>
        <p:txBody>
          <a:bodyPr wrap="square" rtlCol="0">
            <a:noAutofit/>
          </a:bodyPr>
          <a:p>
            <a:r>
              <a:rPr lang="en-US" altLang="zh-CN" sz="3200" b="1">
                <a:latin typeface="Times New Roman" panose="02020603050405020304" charset="0"/>
                <a:ea typeface="宋体" panose="02010600030101010101" pitchFamily="2" charset="-122"/>
                <a:cs typeface="Times New Roman" panose="02020603050405020304" charset="0"/>
              </a:rPr>
              <a:t>E</a:t>
            </a:r>
            <a:r>
              <a:rPr lang="en-US" altLang="zh-CN" sz="3200" b="1">
                <a:latin typeface="Times New Roman" panose="02020603050405020304" charset="0"/>
                <a:ea typeface="宋体" panose="02010600030101010101" pitchFamily="2" charset="-122"/>
                <a:cs typeface="Times New Roman" panose="02020603050405020304" charset="0"/>
              </a:rPr>
              <a:t>xperiment</a:t>
            </a:r>
            <a:endParaRPr lang="en-US" altLang="zh-CN" sz="3200" b="1">
              <a:latin typeface="Times New Roman" panose="02020603050405020304" charset="0"/>
              <a:ea typeface="宋体" panose="02010600030101010101" pitchFamily="2" charset="-122"/>
              <a:cs typeface="Times New Roman" panose="02020603050405020304" charset="0"/>
            </a:endParaRPr>
          </a:p>
        </p:txBody>
      </p:sp>
      <p:grpSp>
        <p:nvGrpSpPr>
          <p:cNvPr id="61" name="组合 60"/>
          <p:cNvGrpSpPr/>
          <p:nvPr/>
        </p:nvGrpSpPr>
        <p:grpSpPr>
          <a:xfrm>
            <a:off x="655955" y="3984625"/>
            <a:ext cx="3691890" cy="2357755"/>
            <a:chOff x="8025" y="3001"/>
            <a:chExt cx="4293" cy="2887"/>
          </a:xfrm>
        </p:grpSpPr>
        <p:grpSp>
          <p:nvGrpSpPr>
            <p:cNvPr id="59" name="组合 58"/>
            <p:cNvGrpSpPr/>
            <p:nvPr/>
          </p:nvGrpSpPr>
          <p:grpSpPr>
            <a:xfrm>
              <a:off x="8025" y="3001"/>
              <a:ext cx="4293" cy="2887"/>
              <a:chOff x="8857" y="1916"/>
              <a:chExt cx="4293" cy="2887"/>
            </a:xfrm>
          </p:grpSpPr>
          <p:grpSp>
            <p:nvGrpSpPr>
              <p:cNvPr id="3" name="组合 2"/>
              <p:cNvGrpSpPr>
                <a:grpSpLocks noChangeAspect="1"/>
              </p:cNvGrpSpPr>
              <p:nvPr/>
            </p:nvGrpSpPr>
            <p:grpSpPr>
              <a:xfrm>
                <a:off x="8857" y="1916"/>
                <a:ext cx="4293" cy="2887"/>
                <a:chOff x="3392" y="2238"/>
                <a:chExt cx="5359" cy="3372"/>
              </a:xfrm>
            </p:grpSpPr>
            <p:sp>
              <p:nvSpPr>
                <p:cNvPr id="5" name="フローチャート: データ 3"/>
                <p:cNvSpPr/>
                <p:nvPr/>
              </p:nvSpPr>
              <p:spPr>
                <a:xfrm>
                  <a:off x="3392" y="3294"/>
                  <a:ext cx="3488" cy="1746"/>
                </a:xfrm>
                <a:prstGeom prst="flowChartInputOutpu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 name="组合 6"/>
                <p:cNvGrpSpPr/>
                <p:nvPr/>
              </p:nvGrpSpPr>
              <p:grpSpPr>
                <a:xfrm>
                  <a:off x="5950" y="2238"/>
                  <a:ext cx="2801" cy="3372"/>
                  <a:chOff x="8391" y="2469"/>
                  <a:chExt cx="2801" cy="3372"/>
                </a:xfrm>
              </p:grpSpPr>
              <p:grpSp>
                <p:nvGrpSpPr>
                  <p:cNvPr id="8" name="组合 7"/>
                  <p:cNvGrpSpPr/>
                  <p:nvPr/>
                </p:nvGrpSpPr>
                <p:grpSpPr>
                  <a:xfrm>
                    <a:off x="9560" y="2469"/>
                    <a:ext cx="1633" cy="3373"/>
                    <a:chOff x="9560" y="2469"/>
                    <a:chExt cx="1633" cy="3373"/>
                  </a:xfrm>
                </p:grpSpPr>
                <p:sp>
                  <p:nvSpPr>
                    <p:cNvPr id="9" name="フリーフォーム: 図形 6"/>
                    <p:cNvSpPr/>
                    <p:nvPr/>
                  </p:nvSpPr>
                  <p:spPr bwMode="auto">
                    <a:xfrm rot="21227523">
                      <a:off x="9837" y="3496"/>
                      <a:ext cx="1357" cy="2346"/>
                    </a:xfrm>
                    <a:custGeom>
                      <a:avLst/>
                      <a:gdLst>
                        <a:gd name="connsiteX0" fmla="*/ 455339 w 980001"/>
                        <a:gd name="connsiteY0" fmla="*/ 317 h 1483570"/>
                        <a:gd name="connsiteX1" fmla="*/ 479456 w 980001"/>
                        <a:gd name="connsiteY1" fmla="*/ 3956 h 1483570"/>
                        <a:gd name="connsiteX2" fmla="*/ 488638 w 980001"/>
                        <a:gd name="connsiteY2" fmla="*/ 2871 h 1483570"/>
                        <a:gd name="connsiteX3" fmla="*/ 660744 w 980001"/>
                        <a:gd name="connsiteY3" fmla="*/ 46415 h 1483570"/>
                        <a:gd name="connsiteX4" fmla="*/ 764008 w 980001"/>
                        <a:gd name="connsiteY4" fmla="*/ 126971 h 1483570"/>
                        <a:gd name="connsiteX5" fmla="*/ 842030 w 980001"/>
                        <a:gd name="connsiteY5" fmla="*/ 229299 h 1483570"/>
                        <a:gd name="connsiteX6" fmla="*/ 903988 w 980001"/>
                        <a:gd name="connsiteY6" fmla="*/ 322917 h 1483570"/>
                        <a:gd name="connsiteX7" fmla="*/ 945294 w 980001"/>
                        <a:gd name="connsiteY7" fmla="*/ 464435 h 1483570"/>
                        <a:gd name="connsiteX8" fmla="*/ 961357 w 980001"/>
                        <a:gd name="connsiteY8" fmla="*/ 738760 h 1483570"/>
                        <a:gd name="connsiteX9" fmla="*/ 977420 w 980001"/>
                        <a:gd name="connsiteY9" fmla="*/ 1026149 h 1483570"/>
                        <a:gd name="connsiteX10" fmla="*/ 972831 w 980001"/>
                        <a:gd name="connsiteY10" fmla="*/ 1224273 h 1483570"/>
                        <a:gd name="connsiteX11" fmla="*/ 910873 w 980001"/>
                        <a:gd name="connsiteY11" fmla="*/ 1365790 h 1483570"/>
                        <a:gd name="connsiteX12" fmla="*/ 773188 w 980001"/>
                        <a:gd name="connsiteY12" fmla="*/ 1455055 h 1483570"/>
                        <a:gd name="connsiteX13" fmla="*/ 603375 w 980001"/>
                        <a:gd name="connsiteY13" fmla="*/ 1483358 h 1483570"/>
                        <a:gd name="connsiteX14" fmla="*/ 364722 w 980001"/>
                        <a:gd name="connsiteY14" fmla="*/ 1465941 h 1483570"/>
                        <a:gd name="connsiteX15" fmla="*/ 190320 w 980001"/>
                        <a:gd name="connsiteY15" fmla="*/ 1428929 h 1483570"/>
                        <a:gd name="connsiteX16" fmla="*/ 73288 w 980001"/>
                        <a:gd name="connsiteY16" fmla="*/ 1372321 h 1483570"/>
                        <a:gd name="connsiteX17" fmla="*/ 9035 w 980001"/>
                        <a:gd name="connsiteY17" fmla="*/ 1241690 h 1483570"/>
                        <a:gd name="connsiteX18" fmla="*/ 2151 w 980001"/>
                        <a:gd name="connsiteY18" fmla="*/ 1100173 h 1483570"/>
                        <a:gd name="connsiteX19" fmla="*/ 25098 w 980001"/>
                        <a:gd name="connsiteY19" fmla="*/ 775773 h 1483570"/>
                        <a:gd name="connsiteX20" fmla="*/ 67083 w 980001"/>
                        <a:gd name="connsiteY20" fmla="*/ 598007 h 1483570"/>
                        <a:gd name="connsiteX21" fmla="*/ 114708 w 980001"/>
                        <a:gd name="connsiteY21" fmla="*/ 454930 h 1483570"/>
                        <a:gd name="connsiteX22" fmla="*/ 178604 w 980001"/>
                        <a:gd name="connsiteY22" fmla="*/ 204950 h 1483570"/>
                        <a:gd name="connsiteX23" fmla="*/ 455339 w 980001"/>
                        <a:gd name="connsiteY23" fmla="*/ 317 h 148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80001" h="1483570">
                          <a:moveTo>
                            <a:pt x="455339" y="317"/>
                          </a:moveTo>
                          <a:lnTo>
                            <a:pt x="479456" y="3956"/>
                          </a:lnTo>
                          <a:lnTo>
                            <a:pt x="488638" y="2871"/>
                          </a:lnTo>
                          <a:cubicBezTo>
                            <a:pt x="541035" y="5411"/>
                            <a:pt x="614849" y="25732"/>
                            <a:pt x="660744" y="46415"/>
                          </a:cubicBezTo>
                          <a:cubicBezTo>
                            <a:pt x="706639" y="67098"/>
                            <a:pt x="733794" y="96490"/>
                            <a:pt x="764008" y="126971"/>
                          </a:cubicBezTo>
                          <a:cubicBezTo>
                            <a:pt x="794222" y="157451"/>
                            <a:pt x="818700" y="196641"/>
                            <a:pt x="842030" y="229299"/>
                          </a:cubicBezTo>
                          <a:cubicBezTo>
                            <a:pt x="865360" y="261956"/>
                            <a:pt x="886777" y="283728"/>
                            <a:pt x="903988" y="322917"/>
                          </a:cubicBezTo>
                          <a:cubicBezTo>
                            <a:pt x="921198" y="362107"/>
                            <a:pt x="935733" y="395128"/>
                            <a:pt x="945294" y="464435"/>
                          </a:cubicBezTo>
                          <a:cubicBezTo>
                            <a:pt x="954855" y="533742"/>
                            <a:pt x="956003" y="645142"/>
                            <a:pt x="961357" y="738760"/>
                          </a:cubicBezTo>
                          <a:cubicBezTo>
                            <a:pt x="966711" y="832379"/>
                            <a:pt x="975508" y="945230"/>
                            <a:pt x="977420" y="1026149"/>
                          </a:cubicBezTo>
                          <a:cubicBezTo>
                            <a:pt x="979332" y="1107067"/>
                            <a:pt x="983922" y="1167666"/>
                            <a:pt x="972831" y="1224273"/>
                          </a:cubicBezTo>
                          <a:cubicBezTo>
                            <a:pt x="961740" y="1280880"/>
                            <a:pt x="944147" y="1327327"/>
                            <a:pt x="910873" y="1365790"/>
                          </a:cubicBezTo>
                          <a:cubicBezTo>
                            <a:pt x="877599" y="1404254"/>
                            <a:pt x="824437" y="1435460"/>
                            <a:pt x="773188" y="1455055"/>
                          </a:cubicBezTo>
                          <a:cubicBezTo>
                            <a:pt x="721938" y="1474650"/>
                            <a:pt x="671453" y="1481544"/>
                            <a:pt x="603375" y="1483358"/>
                          </a:cubicBezTo>
                          <a:cubicBezTo>
                            <a:pt x="535298" y="1485173"/>
                            <a:pt x="433565" y="1475013"/>
                            <a:pt x="364722" y="1465941"/>
                          </a:cubicBezTo>
                          <a:cubicBezTo>
                            <a:pt x="295879" y="1456869"/>
                            <a:pt x="238892" y="1444532"/>
                            <a:pt x="190320" y="1428929"/>
                          </a:cubicBezTo>
                          <a:cubicBezTo>
                            <a:pt x="141748" y="1413326"/>
                            <a:pt x="103502" y="1403528"/>
                            <a:pt x="73288" y="1372321"/>
                          </a:cubicBezTo>
                          <a:cubicBezTo>
                            <a:pt x="43074" y="1341115"/>
                            <a:pt x="20891" y="1287048"/>
                            <a:pt x="9035" y="1241690"/>
                          </a:cubicBezTo>
                          <a:cubicBezTo>
                            <a:pt x="-2821" y="1196333"/>
                            <a:pt x="-526" y="1177826"/>
                            <a:pt x="2151" y="1100173"/>
                          </a:cubicBezTo>
                          <a:cubicBezTo>
                            <a:pt x="4828" y="1022521"/>
                            <a:pt x="3950" y="890489"/>
                            <a:pt x="25098" y="775773"/>
                          </a:cubicBezTo>
                          <a:cubicBezTo>
                            <a:pt x="35672" y="718414"/>
                            <a:pt x="49713" y="658908"/>
                            <a:pt x="67083" y="598007"/>
                          </a:cubicBezTo>
                          <a:lnTo>
                            <a:pt x="114708" y="454930"/>
                          </a:lnTo>
                          <a:lnTo>
                            <a:pt x="178604" y="204950"/>
                          </a:lnTo>
                          <a:cubicBezTo>
                            <a:pt x="211193" y="77449"/>
                            <a:pt x="328823" y="-5812"/>
                            <a:pt x="455339" y="317"/>
                          </a:cubicBezTo>
                          <a:close/>
                        </a:path>
                      </a:pathLst>
                    </a:cu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noAutofit/>
                    </a:bodyPr>
                    <a:lstStyle/>
                    <a:p>
                      <a:pPr marL="0" marR="0" indent="0" algn="l" defTabSz="1043305" rtl="0" eaLnBrk="1" fontAlgn="base" latinLnBrk="0" hangingPunct="1">
                        <a:lnSpc>
                          <a:spcPct val="100000"/>
                        </a:lnSpc>
                        <a:spcBef>
                          <a:spcPct val="0"/>
                        </a:spcBef>
                        <a:spcAft>
                          <a:spcPct val="0"/>
                        </a:spcAft>
                        <a:buClrTx/>
                        <a:buSzTx/>
                        <a:buFontTx/>
                        <a:buNone/>
                      </a:pPr>
                      <a:endParaRPr kumimoji="1" lang="ja-JP" altLang="en-US" sz="2700" b="0" i="0" u="none" strike="noStrike" cap="none" normalizeH="0" baseline="0" dirty="0">
                        <a:ln>
                          <a:noFill/>
                        </a:ln>
                        <a:solidFill>
                          <a:srgbClr val="000000"/>
                        </a:solidFill>
                        <a:effectLst/>
                        <a:latin typeface="Times New Roman" panose="02020603050405020304" charset="0"/>
                        <a:ea typeface="MS PGothic" panose="020B0600070205080204" charset="-128"/>
                      </a:endParaRPr>
                    </a:p>
                  </p:txBody>
                </p:sp>
                <p:sp>
                  <p:nvSpPr>
                    <p:cNvPr id="11" name="フリーフォーム 10"/>
                    <p:cNvSpPr/>
                    <p:nvPr/>
                  </p:nvSpPr>
                  <p:spPr bwMode="auto">
                    <a:xfrm rot="2493260">
                      <a:off x="9560" y="3658"/>
                      <a:ext cx="824" cy="798"/>
                    </a:xfrm>
                    <a:custGeom>
                      <a:avLst/>
                      <a:gdLst>
                        <a:gd name="connsiteX0" fmla="*/ 643847 w 1123308"/>
                        <a:gd name="connsiteY0" fmla="*/ 616449 h 2106202"/>
                        <a:gd name="connsiteX1" fmla="*/ 636998 w 1123308"/>
                        <a:gd name="connsiteY1" fmla="*/ 777411 h 2106202"/>
                        <a:gd name="connsiteX2" fmla="*/ 643847 w 1123308"/>
                        <a:gd name="connsiteY2" fmla="*/ 887002 h 2106202"/>
                        <a:gd name="connsiteX3" fmla="*/ 654121 w 1123308"/>
                        <a:gd name="connsiteY3" fmla="*/ 1027416 h 2106202"/>
                        <a:gd name="connsiteX4" fmla="*/ 674669 w 1123308"/>
                        <a:gd name="connsiteY4" fmla="*/ 1157555 h 2106202"/>
                        <a:gd name="connsiteX5" fmla="*/ 705492 w 1123308"/>
                        <a:gd name="connsiteY5" fmla="*/ 1260297 h 2106202"/>
                        <a:gd name="connsiteX6" fmla="*/ 500009 w 1123308"/>
                        <a:gd name="connsiteY6" fmla="*/ 1380162 h 2106202"/>
                        <a:gd name="connsiteX7" fmla="*/ 410966 w 1123308"/>
                        <a:gd name="connsiteY7" fmla="*/ 1472629 h 2106202"/>
                        <a:gd name="connsiteX8" fmla="*/ 315074 w 1123308"/>
                        <a:gd name="connsiteY8" fmla="*/ 1571946 h 2106202"/>
                        <a:gd name="connsiteX9" fmla="*/ 212332 w 1123308"/>
                        <a:gd name="connsiteY9" fmla="*/ 1657564 h 2106202"/>
                        <a:gd name="connsiteX10" fmla="*/ 78768 w 1123308"/>
                        <a:gd name="connsiteY10" fmla="*/ 1760306 h 2106202"/>
                        <a:gd name="connsiteX11" fmla="*/ 0 w 1123308"/>
                        <a:gd name="connsiteY11" fmla="*/ 1815101 h 2106202"/>
                        <a:gd name="connsiteX12" fmla="*/ 157537 w 1123308"/>
                        <a:gd name="connsiteY12" fmla="*/ 2106202 h 2106202"/>
                        <a:gd name="connsiteX13" fmla="*/ 287676 w 1123308"/>
                        <a:gd name="connsiteY13" fmla="*/ 2054832 h 2106202"/>
                        <a:gd name="connsiteX14" fmla="*/ 513708 w 1123308"/>
                        <a:gd name="connsiteY14" fmla="*/ 1955515 h 2106202"/>
                        <a:gd name="connsiteX15" fmla="*/ 643847 w 1123308"/>
                        <a:gd name="connsiteY15" fmla="*/ 1883596 h 2106202"/>
                        <a:gd name="connsiteX16" fmla="*/ 801384 w 1123308"/>
                        <a:gd name="connsiteY16" fmla="*/ 1698661 h 2106202"/>
                        <a:gd name="connsiteX17" fmla="*/ 934948 w 1123308"/>
                        <a:gd name="connsiteY17" fmla="*/ 1530849 h 2106202"/>
                        <a:gd name="connsiteX18" fmla="*/ 1027415 w 1123308"/>
                        <a:gd name="connsiteY18" fmla="*/ 1359614 h 2106202"/>
                        <a:gd name="connsiteX19" fmla="*/ 1078786 w 1123308"/>
                        <a:gd name="connsiteY19" fmla="*/ 1171254 h 2106202"/>
                        <a:gd name="connsiteX20" fmla="*/ 1123308 w 1123308"/>
                        <a:gd name="connsiteY20" fmla="*/ 808234 h 2106202"/>
                        <a:gd name="connsiteX21" fmla="*/ 1119883 w 1123308"/>
                        <a:gd name="connsiteY21" fmla="*/ 623299 h 2106202"/>
                        <a:gd name="connsiteX22" fmla="*/ 1109609 w 1123308"/>
                        <a:gd name="connsiteY22" fmla="*/ 469187 h 2106202"/>
                        <a:gd name="connsiteX23" fmla="*/ 1078786 w 1123308"/>
                        <a:gd name="connsiteY23" fmla="*/ 311649 h 2106202"/>
                        <a:gd name="connsiteX24" fmla="*/ 1023991 w 1123308"/>
                        <a:gd name="connsiteY24" fmla="*/ 157537 h 2106202"/>
                        <a:gd name="connsiteX25" fmla="*/ 969195 w 1123308"/>
                        <a:gd name="connsiteY25" fmla="*/ 68494 h 2106202"/>
                        <a:gd name="connsiteX26" fmla="*/ 893851 w 1123308"/>
                        <a:gd name="connsiteY26" fmla="*/ 0 h 2106202"/>
                        <a:gd name="connsiteX27" fmla="*/ 797959 w 1123308"/>
                        <a:gd name="connsiteY27" fmla="*/ 41097 h 2106202"/>
                        <a:gd name="connsiteX28" fmla="*/ 729465 w 1123308"/>
                        <a:gd name="connsiteY28" fmla="*/ 167811 h 2106202"/>
                        <a:gd name="connsiteX29" fmla="*/ 681519 w 1123308"/>
                        <a:gd name="connsiteY29" fmla="*/ 339047 h 2106202"/>
                        <a:gd name="connsiteX30" fmla="*/ 671245 w 1123308"/>
                        <a:gd name="connsiteY30" fmla="*/ 410966 h 2106202"/>
                        <a:gd name="connsiteX31" fmla="*/ 664395 w 1123308"/>
                        <a:gd name="connsiteY31" fmla="*/ 458912 h 2106202"/>
                        <a:gd name="connsiteX0-1" fmla="*/ 643847 w 1123308"/>
                        <a:gd name="connsiteY0-2" fmla="*/ 616449 h 2106202"/>
                        <a:gd name="connsiteX1-3" fmla="*/ 636998 w 1123308"/>
                        <a:gd name="connsiteY1-4" fmla="*/ 777411 h 2106202"/>
                        <a:gd name="connsiteX2-5" fmla="*/ 643847 w 1123308"/>
                        <a:gd name="connsiteY2-6" fmla="*/ 887002 h 2106202"/>
                        <a:gd name="connsiteX3-7" fmla="*/ 654121 w 1123308"/>
                        <a:gd name="connsiteY3-8" fmla="*/ 1027416 h 2106202"/>
                        <a:gd name="connsiteX4-9" fmla="*/ 674669 w 1123308"/>
                        <a:gd name="connsiteY4-10" fmla="*/ 1157555 h 2106202"/>
                        <a:gd name="connsiteX5-11" fmla="*/ 705492 w 1123308"/>
                        <a:gd name="connsiteY5-12" fmla="*/ 1260297 h 2106202"/>
                        <a:gd name="connsiteX6-13" fmla="*/ 500009 w 1123308"/>
                        <a:gd name="connsiteY6-14" fmla="*/ 1380162 h 2106202"/>
                        <a:gd name="connsiteX7-15" fmla="*/ 410966 w 1123308"/>
                        <a:gd name="connsiteY7-16" fmla="*/ 1472629 h 2106202"/>
                        <a:gd name="connsiteX8-17" fmla="*/ 315074 w 1123308"/>
                        <a:gd name="connsiteY8-18" fmla="*/ 1571946 h 2106202"/>
                        <a:gd name="connsiteX9-19" fmla="*/ 212332 w 1123308"/>
                        <a:gd name="connsiteY9-20" fmla="*/ 1657564 h 2106202"/>
                        <a:gd name="connsiteX10-21" fmla="*/ 78768 w 1123308"/>
                        <a:gd name="connsiteY10-22" fmla="*/ 1760306 h 2106202"/>
                        <a:gd name="connsiteX11-23" fmla="*/ 0 w 1123308"/>
                        <a:gd name="connsiteY11-24" fmla="*/ 1815101 h 2106202"/>
                        <a:gd name="connsiteX12-25" fmla="*/ 157537 w 1123308"/>
                        <a:gd name="connsiteY12-26" fmla="*/ 2106202 h 2106202"/>
                        <a:gd name="connsiteX13-27" fmla="*/ 287676 w 1123308"/>
                        <a:gd name="connsiteY13-28" fmla="*/ 2054832 h 2106202"/>
                        <a:gd name="connsiteX14-29" fmla="*/ 513708 w 1123308"/>
                        <a:gd name="connsiteY14-30" fmla="*/ 1955515 h 2106202"/>
                        <a:gd name="connsiteX15-31" fmla="*/ 643847 w 1123308"/>
                        <a:gd name="connsiteY15-32" fmla="*/ 1883596 h 2106202"/>
                        <a:gd name="connsiteX16-33" fmla="*/ 801384 w 1123308"/>
                        <a:gd name="connsiteY16-34" fmla="*/ 1698661 h 2106202"/>
                        <a:gd name="connsiteX17-35" fmla="*/ 934948 w 1123308"/>
                        <a:gd name="connsiteY17-36" fmla="*/ 1530849 h 2106202"/>
                        <a:gd name="connsiteX18-37" fmla="*/ 1027415 w 1123308"/>
                        <a:gd name="connsiteY18-38" fmla="*/ 1359614 h 2106202"/>
                        <a:gd name="connsiteX19-39" fmla="*/ 1078786 w 1123308"/>
                        <a:gd name="connsiteY19-40" fmla="*/ 1171254 h 2106202"/>
                        <a:gd name="connsiteX20-41" fmla="*/ 1123308 w 1123308"/>
                        <a:gd name="connsiteY20-42" fmla="*/ 808234 h 2106202"/>
                        <a:gd name="connsiteX21-43" fmla="*/ 1119883 w 1123308"/>
                        <a:gd name="connsiteY21-44" fmla="*/ 623299 h 2106202"/>
                        <a:gd name="connsiteX22-45" fmla="*/ 1109609 w 1123308"/>
                        <a:gd name="connsiteY22-46" fmla="*/ 469187 h 2106202"/>
                        <a:gd name="connsiteX23-47" fmla="*/ 1078786 w 1123308"/>
                        <a:gd name="connsiteY23-48" fmla="*/ 311649 h 2106202"/>
                        <a:gd name="connsiteX24-49" fmla="*/ 1023991 w 1123308"/>
                        <a:gd name="connsiteY24-50" fmla="*/ 157537 h 2106202"/>
                        <a:gd name="connsiteX25-51" fmla="*/ 969195 w 1123308"/>
                        <a:gd name="connsiteY25-52" fmla="*/ 68494 h 2106202"/>
                        <a:gd name="connsiteX26-53" fmla="*/ 893851 w 1123308"/>
                        <a:gd name="connsiteY26-54" fmla="*/ 0 h 2106202"/>
                        <a:gd name="connsiteX27-55" fmla="*/ 797959 w 1123308"/>
                        <a:gd name="connsiteY27-56" fmla="*/ 41097 h 2106202"/>
                        <a:gd name="connsiteX28-57" fmla="*/ 729465 w 1123308"/>
                        <a:gd name="connsiteY28-58" fmla="*/ 167811 h 2106202"/>
                        <a:gd name="connsiteX29-59" fmla="*/ 681519 w 1123308"/>
                        <a:gd name="connsiteY29-60" fmla="*/ 339047 h 2106202"/>
                        <a:gd name="connsiteX30-61" fmla="*/ 671245 w 1123308"/>
                        <a:gd name="connsiteY30-62" fmla="*/ 410966 h 2106202"/>
                        <a:gd name="connsiteX0-63" fmla="*/ 643847 w 1123308"/>
                        <a:gd name="connsiteY0-64" fmla="*/ 616449 h 2106202"/>
                        <a:gd name="connsiteX1-65" fmla="*/ 636998 w 1123308"/>
                        <a:gd name="connsiteY1-66" fmla="*/ 777411 h 2106202"/>
                        <a:gd name="connsiteX2-67" fmla="*/ 643847 w 1123308"/>
                        <a:gd name="connsiteY2-68" fmla="*/ 887002 h 2106202"/>
                        <a:gd name="connsiteX3-69" fmla="*/ 654121 w 1123308"/>
                        <a:gd name="connsiteY3-70" fmla="*/ 1027416 h 2106202"/>
                        <a:gd name="connsiteX4-71" fmla="*/ 674669 w 1123308"/>
                        <a:gd name="connsiteY4-72" fmla="*/ 1157555 h 2106202"/>
                        <a:gd name="connsiteX5-73" fmla="*/ 705492 w 1123308"/>
                        <a:gd name="connsiteY5-74" fmla="*/ 1260297 h 2106202"/>
                        <a:gd name="connsiteX6-75" fmla="*/ 500009 w 1123308"/>
                        <a:gd name="connsiteY6-76" fmla="*/ 1380162 h 2106202"/>
                        <a:gd name="connsiteX7-77" fmla="*/ 410966 w 1123308"/>
                        <a:gd name="connsiteY7-78" fmla="*/ 1472629 h 2106202"/>
                        <a:gd name="connsiteX8-79" fmla="*/ 315074 w 1123308"/>
                        <a:gd name="connsiteY8-80" fmla="*/ 1571946 h 2106202"/>
                        <a:gd name="connsiteX9-81" fmla="*/ 212332 w 1123308"/>
                        <a:gd name="connsiteY9-82" fmla="*/ 1657564 h 2106202"/>
                        <a:gd name="connsiteX10-83" fmla="*/ 78768 w 1123308"/>
                        <a:gd name="connsiteY10-84" fmla="*/ 1760306 h 2106202"/>
                        <a:gd name="connsiteX11-85" fmla="*/ 0 w 1123308"/>
                        <a:gd name="connsiteY11-86" fmla="*/ 1815101 h 2106202"/>
                        <a:gd name="connsiteX12-87" fmla="*/ 157537 w 1123308"/>
                        <a:gd name="connsiteY12-88" fmla="*/ 2106202 h 2106202"/>
                        <a:gd name="connsiteX13-89" fmla="*/ 287676 w 1123308"/>
                        <a:gd name="connsiteY13-90" fmla="*/ 2054832 h 2106202"/>
                        <a:gd name="connsiteX14-91" fmla="*/ 513708 w 1123308"/>
                        <a:gd name="connsiteY14-92" fmla="*/ 1955515 h 2106202"/>
                        <a:gd name="connsiteX15-93" fmla="*/ 643847 w 1123308"/>
                        <a:gd name="connsiteY15-94" fmla="*/ 1883596 h 2106202"/>
                        <a:gd name="connsiteX16-95" fmla="*/ 801384 w 1123308"/>
                        <a:gd name="connsiteY16-96" fmla="*/ 1698661 h 2106202"/>
                        <a:gd name="connsiteX17-97" fmla="*/ 934948 w 1123308"/>
                        <a:gd name="connsiteY17-98" fmla="*/ 1530849 h 2106202"/>
                        <a:gd name="connsiteX18-99" fmla="*/ 1027415 w 1123308"/>
                        <a:gd name="connsiteY18-100" fmla="*/ 1359614 h 2106202"/>
                        <a:gd name="connsiteX19-101" fmla="*/ 1078786 w 1123308"/>
                        <a:gd name="connsiteY19-102" fmla="*/ 1171254 h 2106202"/>
                        <a:gd name="connsiteX20-103" fmla="*/ 1123308 w 1123308"/>
                        <a:gd name="connsiteY20-104" fmla="*/ 808234 h 2106202"/>
                        <a:gd name="connsiteX21-105" fmla="*/ 1119883 w 1123308"/>
                        <a:gd name="connsiteY21-106" fmla="*/ 623299 h 2106202"/>
                        <a:gd name="connsiteX22-107" fmla="*/ 1109609 w 1123308"/>
                        <a:gd name="connsiteY22-108" fmla="*/ 469187 h 2106202"/>
                        <a:gd name="connsiteX23-109" fmla="*/ 1078786 w 1123308"/>
                        <a:gd name="connsiteY23-110" fmla="*/ 311649 h 2106202"/>
                        <a:gd name="connsiteX24-111" fmla="*/ 1023991 w 1123308"/>
                        <a:gd name="connsiteY24-112" fmla="*/ 157537 h 2106202"/>
                        <a:gd name="connsiteX25-113" fmla="*/ 969195 w 1123308"/>
                        <a:gd name="connsiteY25-114" fmla="*/ 68494 h 2106202"/>
                        <a:gd name="connsiteX26-115" fmla="*/ 893851 w 1123308"/>
                        <a:gd name="connsiteY26-116" fmla="*/ 0 h 2106202"/>
                        <a:gd name="connsiteX27-117" fmla="*/ 797959 w 1123308"/>
                        <a:gd name="connsiteY27-118" fmla="*/ 41097 h 2106202"/>
                        <a:gd name="connsiteX28-119" fmla="*/ 729465 w 1123308"/>
                        <a:gd name="connsiteY28-120" fmla="*/ 167811 h 2106202"/>
                        <a:gd name="connsiteX29-121" fmla="*/ 681519 w 1123308"/>
                        <a:gd name="connsiteY29-122" fmla="*/ 339047 h 2106202"/>
                        <a:gd name="connsiteX0-123" fmla="*/ 643847 w 1123308"/>
                        <a:gd name="connsiteY0-124" fmla="*/ 616449 h 2106202"/>
                        <a:gd name="connsiteX1-125" fmla="*/ 636998 w 1123308"/>
                        <a:gd name="connsiteY1-126" fmla="*/ 777411 h 2106202"/>
                        <a:gd name="connsiteX2-127" fmla="*/ 643847 w 1123308"/>
                        <a:gd name="connsiteY2-128" fmla="*/ 887002 h 2106202"/>
                        <a:gd name="connsiteX3-129" fmla="*/ 654121 w 1123308"/>
                        <a:gd name="connsiteY3-130" fmla="*/ 1027416 h 2106202"/>
                        <a:gd name="connsiteX4-131" fmla="*/ 674669 w 1123308"/>
                        <a:gd name="connsiteY4-132" fmla="*/ 1157555 h 2106202"/>
                        <a:gd name="connsiteX5-133" fmla="*/ 705492 w 1123308"/>
                        <a:gd name="connsiteY5-134" fmla="*/ 1260297 h 2106202"/>
                        <a:gd name="connsiteX6-135" fmla="*/ 500009 w 1123308"/>
                        <a:gd name="connsiteY6-136" fmla="*/ 1380162 h 2106202"/>
                        <a:gd name="connsiteX7-137" fmla="*/ 410966 w 1123308"/>
                        <a:gd name="connsiteY7-138" fmla="*/ 1472629 h 2106202"/>
                        <a:gd name="connsiteX8-139" fmla="*/ 315074 w 1123308"/>
                        <a:gd name="connsiteY8-140" fmla="*/ 1571946 h 2106202"/>
                        <a:gd name="connsiteX9-141" fmla="*/ 212332 w 1123308"/>
                        <a:gd name="connsiteY9-142" fmla="*/ 1657564 h 2106202"/>
                        <a:gd name="connsiteX10-143" fmla="*/ 78768 w 1123308"/>
                        <a:gd name="connsiteY10-144" fmla="*/ 1760306 h 2106202"/>
                        <a:gd name="connsiteX11-145" fmla="*/ 0 w 1123308"/>
                        <a:gd name="connsiteY11-146" fmla="*/ 1815101 h 2106202"/>
                        <a:gd name="connsiteX12-147" fmla="*/ 157537 w 1123308"/>
                        <a:gd name="connsiteY12-148" fmla="*/ 2106202 h 2106202"/>
                        <a:gd name="connsiteX13-149" fmla="*/ 287676 w 1123308"/>
                        <a:gd name="connsiteY13-150" fmla="*/ 2054832 h 2106202"/>
                        <a:gd name="connsiteX14-151" fmla="*/ 513708 w 1123308"/>
                        <a:gd name="connsiteY14-152" fmla="*/ 1955515 h 2106202"/>
                        <a:gd name="connsiteX15-153" fmla="*/ 643847 w 1123308"/>
                        <a:gd name="connsiteY15-154" fmla="*/ 1883596 h 2106202"/>
                        <a:gd name="connsiteX16-155" fmla="*/ 801384 w 1123308"/>
                        <a:gd name="connsiteY16-156" fmla="*/ 1698661 h 2106202"/>
                        <a:gd name="connsiteX17-157" fmla="*/ 934948 w 1123308"/>
                        <a:gd name="connsiteY17-158" fmla="*/ 1530849 h 2106202"/>
                        <a:gd name="connsiteX18-159" fmla="*/ 1027415 w 1123308"/>
                        <a:gd name="connsiteY18-160" fmla="*/ 1359614 h 2106202"/>
                        <a:gd name="connsiteX19-161" fmla="*/ 1078786 w 1123308"/>
                        <a:gd name="connsiteY19-162" fmla="*/ 1171254 h 2106202"/>
                        <a:gd name="connsiteX20-163" fmla="*/ 1123308 w 1123308"/>
                        <a:gd name="connsiteY20-164" fmla="*/ 808234 h 2106202"/>
                        <a:gd name="connsiteX21-165" fmla="*/ 1119883 w 1123308"/>
                        <a:gd name="connsiteY21-166" fmla="*/ 623299 h 2106202"/>
                        <a:gd name="connsiteX22-167" fmla="*/ 1109609 w 1123308"/>
                        <a:gd name="connsiteY22-168" fmla="*/ 469187 h 2106202"/>
                        <a:gd name="connsiteX23-169" fmla="*/ 1078786 w 1123308"/>
                        <a:gd name="connsiteY23-170" fmla="*/ 311649 h 2106202"/>
                        <a:gd name="connsiteX24-171" fmla="*/ 1023991 w 1123308"/>
                        <a:gd name="connsiteY24-172" fmla="*/ 157537 h 2106202"/>
                        <a:gd name="connsiteX25-173" fmla="*/ 969195 w 1123308"/>
                        <a:gd name="connsiteY25-174" fmla="*/ 68494 h 2106202"/>
                        <a:gd name="connsiteX26-175" fmla="*/ 893851 w 1123308"/>
                        <a:gd name="connsiteY26-176" fmla="*/ 0 h 2106202"/>
                        <a:gd name="connsiteX27-177" fmla="*/ 797959 w 1123308"/>
                        <a:gd name="connsiteY27-178" fmla="*/ 41097 h 2106202"/>
                        <a:gd name="connsiteX28-179" fmla="*/ 729465 w 1123308"/>
                        <a:gd name="connsiteY28-180" fmla="*/ 167811 h 2106202"/>
                        <a:gd name="connsiteX0-181" fmla="*/ 643847 w 1123308"/>
                        <a:gd name="connsiteY0-182" fmla="*/ 616449 h 2106202"/>
                        <a:gd name="connsiteX1-183" fmla="*/ 636998 w 1123308"/>
                        <a:gd name="connsiteY1-184" fmla="*/ 777411 h 2106202"/>
                        <a:gd name="connsiteX2-185" fmla="*/ 643847 w 1123308"/>
                        <a:gd name="connsiteY2-186" fmla="*/ 887002 h 2106202"/>
                        <a:gd name="connsiteX3-187" fmla="*/ 654121 w 1123308"/>
                        <a:gd name="connsiteY3-188" fmla="*/ 1027416 h 2106202"/>
                        <a:gd name="connsiteX4-189" fmla="*/ 674669 w 1123308"/>
                        <a:gd name="connsiteY4-190" fmla="*/ 1157555 h 2106202"/>
                        <a:gd name="connsiteX5-191" fmla="*/ 705492 w 1123308"/>
                        <a:gd name="connsiteY5-192" fmla="*/ 1260297 h 2106202"/>
                        <a:gd name="connsiteX6-193" fmla="*/ 500009 w 1123308"/>
                        <a:gd name="connsiteY6-194" fmla="*/ 1380162 h 2106202"/>
                        <a:gd name="connsiteX7-195" fmla="*/ 410966 w 1123308"/>
                        <a:gd name="connsiteY7-196" fmla="*/ 1472629 h 2106202"/>
                        <a:gd name="connsiteX8-197" fmla="*/ 315074 w 1123308"/>
                        <a:gd name="connsiteY8-198" fmla="*/ 1571946 h 2106202"/>
                        <a:gd name="connsiteX9-199" fmla="*/ 212332 w 1123308"/>
                        <a:gd name="connsiteY9-200" fmla="*/ 1657564 h 2106202"/>
                        <a:gd name="connsiteX10-201" fmla="*/ 78768 w 1123308"/>
                        <a:gd name="connsiteY10-202" fmla="*/ 1760306 h 2106202"/>
                        <a:gd name="connsiteX11-203" fmla="*/ 0 w 1123308"/>
                        <a:gd name="connsiteY11-204" fmla="*/ 1815101 h 2106202"/>
                        <a:gd name="connsiteX12-205" fmla="*/ 157537 w 1123308"/>
                        <a:gd name="connsiteY12-206" fmla="*/ 2106202 h 2106202"/>
                        <a:gd name="connsiteX13-207" fmla="*/ 287676 w 1123308"/>
                        <a:gd name="connsiteY13-208" fmla="*/ 2054832 h 2106202"/>
                        <a:gd name="connsiteX14-209" fmla="*/ 513708 w 1123308"/>
                        <a:gd name="connsiteY14-210" fmla="*/ 1955515 h 2106202"/>
                        <a:gd name="connsiteX15-211" fmla="*/ 643847 w 1123308"/>
                        <a:gd name="connsiteY15-212" fmla="*/ 1883596 h 2106202"/>
                        <a:gd name="connsiteX16-213" fmla="*/ 801384 w 1123308"/>
                        <a:gd name="connsiteY16-214" fmla="*/ 1698661 h 2106202"/>
                        <a:gd name="connsiteX17-215" fmla="*/ 934948 w 1123308"/>
                        <a:gd name="connsiteY17-216" fmla="*/ 1530849 h 2106202"/>
                        <a:gd name="connsiteX18-217" fmla="*/ 1027415 w 1123308"/>
                        <a:gd name="connsiteY18-218" fmla="*/ 1359614 h 2106202"/>
                        <a:gd name="connsiteX19-219" fmla="*/ 1078786 w 1123308"/>
                        <a:gd name="connsiteY19-220" fmla="*/ 1171254 h 2106202"/>
                        <a:gd name="connsiteX20-221" fmla="*/ 1123308 w 1123308"/>
                        <a:gd name="connsiteY20-222" fmla="*/ 808234 h 2106202"/>
                        <a:gd name="connsiteX21-223" fmla="*/ 1119883 w 1123308"/>
                        <a:gd name="connsiteY21-224" fmla="*/ 623299 h 2106202"/>
                        <a:gd name="connsiteX22-225" fmla="*/ 1109609 w 1123308"/>
                        <a:gd name="connsiteY22-226" fmla="*/ 469187 h 2106202"/>
                        <a:gd name="connsiteX23-227" fmla="*/ 1078786 w 1123308"/>
                        <a:gd name="connsiteY23-228" fmla="*/ 311649 h 2106202"/>
                        <a:gd name="connsiteX24-229" fmla="*/ 1023991 w 1123308"/>
                        <a:gd name="connsiteY24-230" fmla="*/ 157537 h 2106202"/>
                        <a:gd name="connsiteX25-231" fmla="*/ 969195 w 1123308"/>
                        <a:gd name="connsiteY25-232" fmla="*/ 68494 h 2106202"/>
                        <a:gd name="connsiteX26-233" fmla="*/ 893851 w 1123308"/>
                        <a:gd name="connsiteY26-234" fmla="*/ 0 h 2106202"/>
                        <a:gd name="connsiteX27-235" fmla="*/ 797959 w 1123308"/>
                        <a:gd name="connsiteY27-236" fmla="*/ 41097 h 2106202"/>
                        <a:gd name="connsiteX0-237" fmla="*/ 643847 w 1123308"/>
                        <a:gd name="connsiteY0-238" fmla="*/ 616449 h 2106202"/>
                        <a:gd name="connsiteX1-239" fmla="*/ 636998 w 1123308"/>
                        <a:gd name="connsiteY1-240" fmla="*/ 777411 h 2106202"/>
                        <a:gd name="connsiteX2-241" fmla="*/ 643847 w 1123308"/>
                        <a:gd name="connsiteY2-242" fmla="*/ 887002 h 2106202"/>
                        <a:gd name="connsiteX3-243" fmla="*/ 654121 w 1123308"/>
                        <a:gd name="connsiteY3-244" fmla="*/ 1027416 h 2106202"/>
                        <a:gd name="connsiteX4-245" fmla="*/ 674669 w 1123308"/>
                        <a:gd name="connsiteY4-246" fmla="*/ 1157555 h 2106202"/>
                        <a:gd name="connsiteX5-247" fmla="*/ 705492 w 1123308"/>
                        <a:gd name="connsiteY5-248" fmla="*/ 1260297 h 2106202"/>
                        <a:gd name="connsiteX6-249" fmla="*/ 500009 w 1123308"/>
                        <a:gd name="connsiteY6-250" fmla="*/ 1380162 h 2106202"/>
                        <a:gd name="connsiteX7-251" fmla="*/ 410966 w 1123308"/>
                        <a:gd name="connsiteY7-252" fmla="*/ 1472629 h 2106202"/>
                        <a:gd name="connsiteX8-253" fmla="*/ 315074 w 1123308"/>
                        <a:gd name="connsiteY8-254" fmla="*/ 1571946 h 2106202"/>
                        <a:gd name="connsiteX9-255" fmla="*/ 212332 w 1123308"/>
                        <a:gd name="connsiteY9-256" fmla="*/ 1657564 h 2106202"/>
                        <a:gd name="connsiteX10-257" fmla="*/ 78768 w 1123308"/>
                        <a:gd name="connsiteY10-258" fmla="*/ 1760306 h 2106202"/>
                        <a:gd name="connsiteX11-259" fmla="*/ 0 w 1123308"/>
                        <a:gd name="connsiteY11-260" fmla="*/ 1815101 h 2106202"/>
                        <a:gd name="connsiteX12-261" fmla="*/ 157537 w 1123308"/>
                        <a:gd name="connsiteY12-262" fmla="*/ 2106202 h 2106202"/>
                        <a:gd name="connsiteX13-263" fmla="*/ 287676 w 1123308"/>
                        <a:gd name="connsiteY13-264" fmla="*/ 2054832 h 2106202"/>
                        <a:gd name="connsiteX14-265" fmla="*/ 513708 w 1123308"/>
                        <a:gd name="connsiteY14-266" fmla="*/ 1955515 h 2106202"/>
                        <a:gd name="connsiteX15-267" fmla="*/ 643847 w 1123308"/>
                        <a:gd name="connsiteY15-268" fmla="*/ 1883596 h 2106202"/>
                        <a:gd name="connsiteX16-269" fmla="*/ 801384 w 1123308"/>
                        <a:gd name="connsiteY16-270" fmla="*/ 1698661 h 2106202"/>
                        <a:gd name="connsiteX17-271" fmla="*/ 934948 w 1123308"/>
                        <a:gd name="connsiteY17-272" fmla="*/ 1530849 h 2106202"/>
                        <a:gd name="connsiteX18-273" fmla="*/ 1027415 w 1123308"/>
                        <a:gd name="connsiteY18-274" fmla="*/ 1359614 h 2106202"/>
                        <a:gd name="connsiteX19-275" fmla="*/ 1078786 w 1123308"/>
                        <a:gd name="connsiteY19-276" fmla="*/ 1171254 h 2106202"/>
                        <a:gd name="connsiteX20-277" fmla="*/ 1123308 w 1123308"/>
                        <a:gd name="connsiteY20-278" fmla="*/ 808234 h 2106202"/>
                        <a:gd name="connsiteX21-279" fmla="*/ 1119883 w 1123308"/>
                        <a:gd name="connsiteY21-280" fmla="*/ 623299 h 2106202"/>
                        <a:gd name="connsiteX22-281" fmla="*/ 1109609 w 1123308"/>
                        <a:gd name="connsiteY22-282" fmla="*/ 469187 h 2106202"/>
                        <a:gd name="connsiteX23-283" fmla="*/ 1078786 w 1123308"/>
                        <a:gd name="connsiteY23-284" fmla="*/ 311649 h 2106202"/>
                        <a:gd name="connsiteX24-285" fmla="*/ 1023991 w 1123308"/>
                        <a:gd name="connsiteY24-286" fmla="*/ 157537 h 2106202"/>
                        <a:gd name="connsiteX25-287" fmla="*/ 969195 w 1123308"/>
                        <a:gd name="connsiteY25-288" fmla="*/ 68494 h 2106202"/>
                        <a:gd name="connsiteX26-289" fmla="*/ 893851 w 1123308"/>
                        <a:gd name="connsiteY26-290" fmla="*/ 0 h 210620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Lst>
                      <a:rect l="l" t="t" r="r" b="b"/>
                      <a:pathLst>
                        <a:path w="1123308" h="2106202">
                          <a:moveTo>
                            <a:pt x="643847" y="616449"/>
                          </a:moveTo>
                          <a:lnTo>
                            <a:pt x="636998" y="777411"/>
                          </a:lnTo>
                          <a:lnTo>
                            <a:pt x="643847" y="887002"/>
                          </a:lnTo>
                          <a:lnTo>
                            <a:pt x="654121" y="1027416"/>
                          </a:lnTo>
                          <a:lnTo>
                            <a:pt x="674669" y="1157555"/>
                          </a:lnTo>
                          <a:lnTo>
                            <a:pt x="705492" y="1260297"/>
                          </a:lnTo>
                          <a:lnTo>
                            <a:pt x="500009" y="1380162"/>
                          </a:lnTo>
                          <a:lnTo>
                            <a:pt x="410966" y="1472629"/>
                          </a:lnTo>
                          <a:lnTo>
                            <a:pt x="315074" y="1571946"/>
                          </a:lnTo>
                          <a:lnTo>
                            <a:pt x="212332" y="1657564"/>
                          </a:lnTo>
                          <a:lnTo>
                            <a:pt x="78768" y="1760306"/>
                          </a:lnTo>
                          <a:lnTo>
                            <a:pt x="0" y="1815101"/>
                          </a:lnTo>
                          <a:lnTo>
                            <a:pt x="157537" y="2106202"/>
                          </a:lnTo>
                          <a:lnTo>
                            <a:pt x="287676" y="2054832"/>
                          </a:lnTo>
                          <a:lnTo>
                            <a:pt x="513708" y="1955515"/>
                          </a:lnTo>
                          <a:lnTo>
                            <a:pt x="643847" y="1883596"/>
                          </a:lnTo>
                          <a:lnTo>
                            <a:pt x="801384" y="1698661"/>
                          </a:lnTo>
                          <a:lnTo>
                            <a:pt x="934948" y="1530849"/>
                          </a:lnTo>
                          <a:lnTo>
                            <a:pt x="1027415" y="1359614"/>
                          </a:lnTo>
                          <a:lnTo>
                            <a:pt x="1078786" y="1171254"/>
                          </a:lnTo>
                          <a:lnTo>
                            <a:pt x="1123308" y="808234"/>
                          </a:lnTo>
                          <a:cubicBezTo>
                            <a:pt x="1122166" y="746589"/>
                            <a:pt x="1121025" y="684944"/>
                            <a:pt x="1119883" y="623299"/>
                          </a:cubicBezTo>
                          <a:lnTo>
                            <a:pt x="1109609" y="469187"/>
                          </a:lnTo>
                          <a:lnTo>
                            <a:pt x="1078786" y="311649"/>
                          </a:lnTo>
                          <a:lnTo>
                            <a:pt x="1023991" y="157537"/>
                          </a:lnTo>
                          <a:lnTo>
                            <a:pt x="969195" y="68494"/>
                          </a:lnTo>
                          <a:lnTo>
                            <a:pt x="893851" y="0"/>
                          </a:lnTo>
                        </a:path>
                      </a:pathLst>
                    </a:cu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1043305" rtl="0" eaLnBrk="1" fontAlgn="base" latinLnBrk="0" hangingPunct="1">
                        <a:lnSpc>
                          <a:spcPct val="100000"/>
                        </a:lnSpc>
                        <a:spcBef>
                          <a:spcPct val="0"/>
                        </a:spcBef>
                        <a:spcAft>
                          <a:spcPct val="0"/>
                        </a:spcAft>
                        <a:buClrTx/>
                        <a:buSzTx/>
                        <a:buFontTx/>
                        <a:buNone/>
                      </a:pPr>
                      <a:endParaRPr kumimoji="1" lang="ja-JP" altLang="en-US" sz="2700" b="0" i="0" u="none" strike="noStrike" cap="none" normalizeH="0" baseline="0" dirty="0">
                        <a:ln>
                          <a:noFill/>
                        </a:ln>
                        <a:solidFill>
                          <a:srgbClr val="000000"/>
                        </a:solidFill>
                        <a:effectLst/>
                        <a:latin typeface="Times New Roman" panose="02020603050405020304" charset="0"/>
                        <a:ea typeface="MS PGothic" panose="020B0600070205080204" charset="-128"/>
                      </a:endParaRPr>
                    </a:p>
                  </p:txBody>
                </p:sp>
                <p:sp>
                  <p:nvSpPr>
                    <p:cNvPr id="12" name="円/楕円 11"/>
                    <p:cNvSpPr/>
                    <p:nvPr/>
                  </p:nvSpPr>
                  <p:spPr>
                    <a:xfrm>
                      <a:off x="9889" y="2469"/>
                      <a:ext cx="1072" cy="1264"/>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975" dirty="0">
                        <a:latin typeface="MS PGothic" panose="020B0600070205080204" charset="-128"/>
                        <a:ea typeface="MS PGothic" panose="020B0600070205080204" charset="-128"/>
                      </a:endParaRPr>
                    </a:p>
                  </p:txBody>
                </p:sp>
              </p:grpSp>
              <p:grpSp>
                <p:nvGrpSpPr>
                  <p:cNvPr id="40" name="组合 39"/>
                  <p:cNvGrpSpPr/>
                  <p:nvPr/>
                </p:nvGrpSpPr>
                <p:grpSpPr>
                  <a:xfrm>
                    <a:off x="8391" y="3184"/>
                    <a:ext cx="1145" cy="1305"/>
                    <a:chOff x="8161" y="4243"/>
                    <a:chExt cx="1145" cy="1305"/>
                  </a:xfrm>
                </p:grpSpPr>
                <p:grpSp>
                  <p:nvGrpSpPr>
                    <p:cNvPr id="10" name="グループ化 10"/>
                    <p:cNvGrpSpPr/>
                    <p:nvPr/>
                  </p:nvGrpSpPr>
                  <p:grpSpPr>
                    <a:xfrm rot="290409">
                      <a:off x="8161" y="4824"/>
                      <a:ext cx="1088" cy="725"/>
                      <a:chOff x="3047465" y="4059226"/>
                      <a:chExt cx="922569" cy="720307"/>
                    </a:xfrm>
                  </p:grpSpPr>
                  <p:sp>
                    <p:nvSpPr>
                      <p:cNvPr id="15" name="フリーフォーム 170"/>
                      <p:cNvSpPr/>
                      <p:nvPr/>
                    </p:nvSpPr>
                    <p:spPr>
                      <a:xfrm rot="20273636">
                        <a:off x="3789087" y="4126983"/>
                        <a:ext cx="180947" cy="370157"/>
                      </a:xfrm>
                      <a:custGeom>
                        <a:avLst/>
                        <a:gdLst>
                          <a:gd name="connsiteX0" fmla="*/ 1038 w 296005"/>
                          <a:gd name="connsiteY0" fmla="*/ 65085 h 605531"/>
                          <a:gd name="connsiteX1" fmla="*/ 65930 w 296005"/>
                          <a:gd name="connsiteY1" fmla="*/ 283361 h 605531"/>
                          <a:gd name="connsiteX2" fmla="*/ 71830 w 296005"/>
                          <a:gd name="connsiteY2" fmla="*/ 430845 h 605531"/>
                          <a:gd name="connsiteX3" fmla="*/ 42333 w 296005"/>
                          <a:gd name="connsiteY3" fmla="*/ 554732 h 605531"/>
                          <a:gd name="connsiteX4" fmla="*/ 219314 w 296005"/>
                          <a:gd name="connsiteY4" fmla="*/ 601926 h 605531"/>
                          <a:gd name="connsiteX5" fmla="*/ 278307 w 296005"/>
                          <a:gd name="connsiteY5" fmla="*/ 466241 h 605531"/>
                          <a:gd name="connsiteX6" fmla="*/ 296005 w 296005"/>
                          <a:gd name="connsiteY6" fmla="*/ 289261 h 605531"/>
                          <a:gd name="connsiteX7" fmla="*/ 278307 w 296005"/>
                          <a:gd name="connsiteY7" fmla="*/ 112280 h 605531"/>
                          <a:gd name="connsiteX8" fmla="*/ 260609 w 296005"/>
                          <a:gd name="connsiteY8" fmla="*/ 6092 h 605531"/>
                          <a:gd name="connsiteX9" fmla="*/ 124924 w 296005"/>
                          <a:gd name="connsiteY9" fmla="*/ 17890 h 605531"/>
                          <a:gd name="connsiteX10" fmla="*/ 1038 w 296005"/>
                          <a:gd name="connsiteY10" fmla="*/ 65085 h 60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6005" h="605531">
                            <a:moveTo>
                              <a:pt x="1038" y="65085"/>
                            </a:moveTo>
                            <a:cubicBezTo>
                              <a:pt x="-8794" y="109330"/>
                              <a:pt x="54131" y="222401"/>
                              <a:pt x="65930" y="283361"/>
                            </a:cubicBezTo>
                            <a:cubicBezTo>
                              <a:pt x="77729" y="344321"/>
                              <a:pt x="75763" y="385617"/>
                              <a:pt x="71830" y="430845"/>
                            </a:cubicBezTo>
                            <a:cubicBezTo>
                              <a:pt x="67897" y="476074"/>
                              <a:pt x="17752" y="526219"/>
                              <a:pt x="42333" y="554732"/>
                            </a:cubicBezTo>
                            <a:cubicBezTo>
                              <a:pt x="66914" y="583245"/>
                              <a:pt x="179985" y="616675"/>
                              <a:pt x="219314" y="601926"/>
                            </a:cubicBezTo>
                            <a:cubicBezTo>
                              <a:pt x="258643" y="587178"/>
                              <a:pt x="265525" y="518352"/>
                              <a:pt x="278307" y="466241"/>
                            </a:cubicBezTo>
                            <a:cubicBezTo>
                              <a:pt x="291089" y="414130"/>
                              <a:pt x="296005" y="348254"/>
                              <a:pt x="296005" y="289261"/>
                            </a:cubicBezTo>
                            <a:cubicBezTo>
                              <a:pt x="296005" y="230268"/>
                              <a:pt x="284206" y="159475"/>
                              <a:pt x="278307" y="112280"/>
                            </a:cubicBezTo>
                            <a:cubicBezTo>
                              <a:pt x="272408" y="65085"/>
                              <a:pt x="286173" y="21824"/>
                              <a:pt x="260609" y="6092"/>
                            </a:cubicBezTo>
                            <a:cubicBezTo>
                              <a:pt x="235045" y="-9640"/>
                              <a:pt x="161303" y="9041"/>
                              <a:pt x="124924" y="17890"/>
                            </a:cubicBezTo>
                            <a:cubicBezTo>
                              <a:pt x="88545" y="26739"/>
                              <a:pt x="10870" y="20840"/>
                              <a:pt x="1038" y="65085"/>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MS PGothic" panose="020B0600070205080204" charset="-128"/>
                          <a:ea typeface="MS PGothic" panose="020B0600070205080204" charset="-128"/>
                        </a:endParaRPr>
                      </a:p>
                    </p:txBody>
                  </p:sp>
                  <p:sp>
                    <p:nvSpPr>
                      <p:cNvPr id="16" name="円/楕円 12"/>
                      <p:cNvSpPr/>
                      <p:nvPr/>
                    </p:nvSpPr>
                    <p:spPr>
                      <a:xfrm>
                        <a:off x="3429947" y="4126137"/>
                        <a:ext cx="440191" cy="504237"/>
                      </a:xfrm>
                      <a:custGeom>
                        <a:avLst/>
                        <a:gdLst>
                          <a:gd name="connsiteX0" fmla="*/ 0 w 1406381"/>
                          <a:gd name="connsiteY0" fmla="*/ 762684 h 1525367"/>
                          <a:gd name="connsiteX1" fmla="*/ 703191 w 1406381"/>
                          <a:gd name="connsiteY1" fmla="*/ 0 h 1525367"/>
                          <a:gd name="connsiteX2" fmla="*/ 1406382 w 1406381"/>
                          <a:gd name="connsiteY2" fmla="*/ 762684 h 1525367"/>
                          <a:gd name="connsiteX3" fmla="*/ 703191 w 1406381"/>
                          <a:gd name="connsiteY3" fmla="*/ 1525368 h 1525367"/>
                          <a:gd name="connsiteX4" fmla="*/ 0 w 1406381"/>
                          <a:gd name="connsiteY4" fmla="*/ 762684 h 1525367"/>
                          <a:gd name="connsiteX0-1" fmla="*/ 2902 w 1409284"/>
                          <a:gd name="connsiteY0-2" fmla="*/ 647071 h 1409755"/>
                          <a:gd name="connsiteX1-3" fmla="*/ 537928 w 1409284"/>
                          <a:gd name="connsiteY1-4" fmla="*/ 0 h 1409755"/>
                          <a:gd name="connsiteX2-5" fmla="*/ 1409284 w 1409284"/>
                          <a:gd name="connsiteY2-6" fmla="*/ 647071 h 1409755"/>
                          <a:gd name="connsiteX3-7" fmla="*/ 706093 w 1409284"/>
                          <a:gd name="connsiteY3-8" fmla="*/ 1409755 h 1409755"/>
                          <a:gd name="connsiteX4-9" fmla="*/ 2902 w 1409284"/>
                          <a:gd name="connsiteY4-10" fmla="*/ 647071 h 1409755"/>
                          <a:gd name="connsiteX0-11" fmla="*/ 2902 w 1409284"/>
                          <a:gd name="connsiteY0-12" fmla="*/ 648835 h 1411519"/>
                          <a:gd name="connsiteX1-13" fmla="*/ 537928 w 1409284"/>
                          <a:gd name="connsiteY1-14" fmla="*/ 1764 h 1411519"/>
                          <a:gd name="connsiteX2-15" fmla="*/ 1409284 w 1409284"/>
                          <a:gd name="connsiteY2-16" fmla="*/ 648835 h 1411519"/>
                          <a:gd name="connsiteX3-17" fmla="*/ 706093 w 1409284"/>
                          <a:gd name="connsiteY3-18" fmla="*/ 1411519 h 1411519"/>
                          <a:gd name="connsiteX4-19" fmla="*/ 2902 w 1409284"/>
                          <a:gd name="connsiteY4-20" fmla="*/ 648835 h 1411519"/>
                          <a:gd name="connsiteX0-21" fmla="*/ 2902 w 1434226"/>
                          <a:gd name="connsiteY0-22" fmla="*/ 648835 h 1411519"/>
                          <a:gd name="connsiteX1-23" fmla="*/ 537928 w 1434226"/>
                          <a:gd name="connsiteY1-24" fmla="*/ 1764 h 1411519"/>
                          <a:gd name="connsiteX2-25" fmla="*/ 1409284 w 1434226"/>
                          <a:gd name="connsiteY2-26" fmla="*/ 648835 h 1411519"/>
                          <a:gd name="connsiteX3-27" fmla="*/ 706093 w 1434226"/>
                          <a:gd name="connsiteY3-28" fmla="*/ 1411519 h 1411519"/>
                          <a:gd name="connsiteX4-29" fmla="*/ 2902 w 1434226"/>
                          <a:gd name="connsiteY4-30" fmla="*/ 648835 h 1411519"/>
                          <a:gd name="connsiteX0-31" fmla="*/ 2902 w 1429310"/>
                          <a:gd name="connsiteY0-32" fmla="*/ 648835 h 1421223"/>
                          <a:gd name="connsiteX1-33" fmla="*/ 537928 w 1429310"/>
                          <a:gd name="connsiteY1-34" fmla="*/ 1764 h 1421223"/>
                          <a:gd name="connsiteX2-35" fmla="*/ 1409284 w 1429310"/>
                          <a:gd name="connsiteY2-36" fmla="*/ 648835 h 1421223"/>
                          <a:gd name="connsiteX3-37" fmla="*/ 706093 w 1429310"/>
                          <a:gd name="connsiteY3-38" fmla="*/ 1411519 h 1421223"/>
                          <a:gd name="connsiteX4-39" fmla="*/ 2902 w 1429310"/>
                          <a:gd name="connsiteY4-40" fmla="*/ 648835 h 1421223"/>
                          <a:gd name="connsiteX0-41" fmla="*/ 3222 w 1429931"/>
                          <a:gd name="connsiteY0-42" fmla="*/ 648835 h 1483603"/>
                          <a:gd name="connsiteX1-43" fmla="*/ 538248 w 1429931"/>
                          <a:gd name="connsiteY1-44" fmla="*/ 1764 h 1483603"/>
                          <a:gd name="connsiteX2-45" fmla="*/ 1409604 w 1429931"/>
                          <a:gd name="connsiteY2-46" fmla="*/ 648835 h 1483603"/>
                          <a:gd name="connsiteX3-47" fmla="*/ 716924 w 1429931"/>
                          <a:gd name="connsiteY3-48" fmla="*/ 1474581 h 1483603"/>
                          <a:gd name="connsiteX4-49" fmla="*/ 3222 w 1429931"/>
                          <a:gd name="connsiteY4-50" fmla="*/ 648835 h 1483603"/>
                          <a:gd name="connsiteX0-51" fmla="*/ 3222 w 1429931"/>
                          <a:gd name="connsiteY0-52" fmla="*/ 648835 h 1484124"/>
                          <a:gd name="connsiteX1-53" fmla="*/ 538248 w 1429931"/>
                          <a:gd name="connsiteY1-54" fmla="*/ 1764 h 1484124"/>
                          <a:gd name="connsiteX2-55" fmla="*/ 1409604 w 1429931"/>
                          <a:gd name="connsiteY2-56" fmla="*/ 648835 h 1484124"/>
                          <a:gd name="connsiteX3-57" fmla="*/ 716924 w 1429931"/>
                          <a:gd name="connsiteY3-58" fmla="*/ 1474581 h 1484124"/>
                          <a:gd name="connsiteX4-59" fmla="*/ 3222 w 1429931"/>
                          <a:gd name="connsiteY4-60" fmla="*/ 648835 h 1484124"/>
                          <a:gd name="connsiteX0-61" fmla="*/ 2861 w 1281581"/>
                          <a:gd name="connsiteY0-62" fmla="*/ 637738 h 1474000"/>
                          <a:gd name="connsiteX1-63" fmla="*/ 390742 w 1281581"/>
                          <a:gd name="connsiteY1-64" fmla="*/ 1177 h 1474000"/>
                          <a:gd name="connsiteX2-65" fmla="*/ 1262098 w 1281581"/>
                          <a:gd name="connsiteY2-66" fmla="*/ 648248 h 1474000"/>
                          <a:gd name="connsiteX3-67" fmla="*/ 569418 w 1281581"/>
                          <a:gd name="connsiteY3-68" fmla="*/ 1473994 h 1474000"/>
                          <a:gd name="connsiteX4-69" fmla="*/ 2861 w 1281581"/>
                          <a:gd name="connsiteY4-70" fmla="*/ 637738 h 1474000"/>
                          <a:gd name="connsiteX0-71" fmla="*/ 36382 w 1315102"/>
                          <a:gd name="connsiteY0-72" fmla="*/ 637738 h 1474000"/>
                          <a:gd name="connsiteX1-73" fmla="*/ 424263 w 1315102"/>
                          <a:gd name="connsiteY1-74" fmla="*/ 1177 h 1474000"/>
                          <a:gd name="connsiteX2-75" fmla="*/ 1295619 w 1315102"/>
                          <a:gd name="connsiteY2-76" fmla="*/ 648248 h 1474000"/>
                          <a:gd name="connsiteX3-77" fmla="*/ 602939 w 1315102"/>
                          <a:gd name="connsiteY3-78" fmla="*/ 1473994 h 1474000"/>
                          <a:gd name="connsiteX4-79" fmla="*/ 36382 w 1315102"/>
                          <a:gd name="connsiteY4-80" fmla="*/ 637738 h 1474000"/>
                          <a:gd name="connsiteX0-81" fmla="*/ 69692 w 1348412"/>
                          <a:gd name="connsiteY0-82" fmla="*/ 708338 h 1544600"/>
                          <a:gd name="connsiteX1-83" fmla="*/ 457573 w 1348412"/>
                          <a:gd name="connsiteY1-84" fmla="*/ 71777 h 1544600"/>
                          <a:gd name="connsiteX2-85" fmla="*/ 1328929 w 1348412"/>
                          <a:gd name="connsiteY2-86" fmla="*/ 718848 h 1544600"/>
                          <a:gd name="connsiteX3-87" fmla="*/ 636249 w 1348412"/>
                          <a:gd name="connsiteY3-88" fmla="*/ 1544594 h 1544600"/>
                          <a:gd name="connsiteX4-89" fmla="*/ 69692 w 1348412"/>
                          <a:gd name="connsiteY4-90" fmla="*/ 708338 h 15446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48412" h="1544600">
                            <a:moveTo>
                              <a:pt x="69692" y="708338"/>
                            </a:moveTo>
                            <a:cubicBezTo>
                              <a:pt x="-75700" y="63475"/>
                              <a:pt x="-15058" y="-119162"/>
                              <a:pt x="457573" y="71777"/>
                            </a:cubicBezTo>
                            <a:cubicBezTo>
                              <a:pt x="930204" y="262716"/>
                              <a:pt x="992598" y="3339"/>
                              <a:pt x="1328929" y="718848"/>
                            </a:cubicBezTo>
                            <a:cubicBezTo>
                              <a:pt x="1465564" y="1171598"/>
                              <a:pt x="846122" y="1546346"/>
                              <a:pt x="636249" y="1544594"/>
                            </a:cubicBezTo>
                            <a:cubicBezTo>
                              <a:pt x="426376" y="1542842"/>
                              <a:pt x="215084" y="1353201"/>
                              <a:pt x="69692" y="708338"/>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円/楕円 176"/>
                      <p:cNvSpPr/>
                      <p:nvPr/>
                    </p:nvSpPr>
                    <p:spPr>
                      <a:xfrm>
                        <a:off x="3224219" y="4101354"/>
                        <a:ext cx="229191" cy="8124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円/楕円 177"/>
                      <p:cNvSpPr/>
                      <p:nvPr/>
                    </p:nvSpPr>
                    <p:spPr>
                      <a:xfrm rot="18723341">
                        <a:off x="3407984" y="4567390"/>
                        <a:ext cx="229191" cy="130795"/>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178"/>
                      <p:cNvSpPr/>
                      <p:nvPr/>
                    </p:nvSpPr>
                    <p:spPr>
                      <a:xfrm rot="20718969">
                        <a:off x="3190089" y="4306199"/>
                        <a:ext cx="293640" cy="146447"/>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楕円 179"/>
                      <p:cNvSpPr/>
                      <p:nvPr/>
                    </p:nvSpPr>
                    <p:spPr>
                      <a:xfrm>
                        <a:off x="3242593" y="4192523"/>
                        <a:ext cx="229191" cy="8124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円/楕円 180"/>
                      <p:cNvSpPr/>
                      <p:nvPr/>
                    </p:nvSpPr>
                    <p:spPr>
                      <a:xfrm rot="19105625">
                        <a:off x="3047465" y="4168450"/>
                        <a:ext cx="229191" cy="8124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円/楕円 181"/>
                      <p:cNvSpPr/>
                      <p:nvPr/>
                    </p:nvSpPr>
                    <p:spPr>
                      <a:xfrm rot="19105625">
                        <a:off x="3084464" y="4258587"/>
                        <a:ext cx="229191" cy="8124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円/楕円 182"/>
                      <p:cNvSpPr/>
                      <p:nvPr/>
                    </p:nvSpPr>
                    <p:spPr>
                      <a:xfrm rot="16755692">
                        <a:off x="3058967" y="4494801"/>
                        <a:ext cx="292462" cy="10016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円/楕円 183"/>
                      <p:cNvSpPr/>
                      <p:nvPr/>
                    </p:nvSpPr>
                    <p:spPr>
                      <a:xfrm rot="20206640">
                        <a:off x="3301011" y="4675841"/>
                        <a:ext cx="192498" cy="103692"/>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円柱 24"/>
                      <p:cNvSpPr/>
                      <p:nvPr/>
                    </p:nvSpPr>
                    <p:spPr>
                      <a:xfrm rot="10800000">
                        <a:off x="3408555" y="4059226"/>
                        <a:ext cx="71152" cy="145111"/>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円柱 25"/>
                      <p:cNvSpPr/>
                      <p:nvPr/>
                    </p:nvSpPr>
                    <p:spPr>
                      <a:xfrm rot="10474734">
                        <a:off x="3416350" y="4159325"/>
                        <a:ext cx="71151" cy="145111"/>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円柱 26"/>
                      <p:cNvSpPr/>
                      <p:nvPr/>
                    </p:nvSpPr>
                    <p:spPr>
                      <a:xfrm rot="9758492">
                        <a:off x="3447727" y="4287451"/>
                        <a:ext cx="67222" cy="145111"/>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円柱 27"/>
                      <p:cNvSpPr/>
                      <p:nvPr/>
                    </p:nvSpPr>
                    <p:spPr>
                      <a:xfrm rot="8504862">
                        <a:off x="3553843" y="4503969"/>
                        <a:ext cx="69949" cy="145111"/>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柱 28"/>
                      <p:cNvSpPr/>
                      <p:nvPr/>
                    </p:nvSpPr>
                    <p:spPr>
                      <a:xfrm rot="9906573">
                        <a:off x="3225345" y="4080595"/>
                        <a:ext cx="55239" cy="108823"/>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円柱 30"/>
                      <p:cNvSpPr/>
                      <p:nvPr/>
                    </p:nvSpPr>
                    <p:spPr>
                      <a:xfrm rot="9906573">
                        <a:off x="3260138" y="4190660"/>
                        <a:ext cx="52223" cy="108823"/>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円柱 31"/>
                      <p:cNvSpPr/>
                      <p:nvPr/>
                    </p:nvSpPr>
                    <p:spPr>
                      <a:xfrm rot="7547432">
                        <a:off x="3211970" y="4366416"/>
                        <a:ext cx="56335" cy="138593"/>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円柱 32"/>
                      <p:cNvSpPr/>
                      <p:nvPr/>
                    </p:nvSpPr>
                    <p:spPr>
                      <a:xfrm rot="8499449">
                        <a:off x="3435980" y="4618733"/>
                        <a:ext cx="44830" cy="138593"/>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グループ化 40"/>
                    <p:cNvGrpSpPr/>
                    <p:nvPr/>
                  </p:nvGrpSpPr>
                  <p:grpSpPr>
                    <a:xfrm rot="0">
                      <a:off x="8438" y="4243"/>
                      <a:ext cx="869" cy="836"/>
                      <a:chOff x="548845" y="2977005"/>
                      <a:chExt cx="2700000" cy="2700000"/>
                    </a:xfrm>
                  </p:grpSpPr>
                  <p:pic>
                    <p:nvPicPr>
                      <p:cNvPr id="55" name="グラフィックス 41" descr="セキュリティ カメラ 単色塗りつぶし"/>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flipH="1">
                        <a:off x="548845" y="2977005"/>
                        <a:ext cx="2700000" cy="2700000"/>
                      </a:xfrm>
                      <a:prstGeom prst="rect">
                        <a:avLst/>
                      </a:prstGeom>
                    </p:spPr>
                  </p:pic>
                  <p:sp>
                    <p:nvSpPr>
                      <p:cNvPr id="56" name="正方形/長方形 42"/>
                      <p:cNvSpPr/>
                      <p:nvPr/>
                    </p:nvSpPr>
                    <p:spPr>
                      <a:xfrm>
                        <a:off x="2720049" y="3305593"/>
                        <a:ext cx="370390" cy="13387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grpSp>
              </p:grpSp>
            </p:grpSp>
            <p:sp>
              <p:nvSpPr>
                <p:cNvPr id="57" name="フローチャート: 磁気ディスク 2"/>
                <p:cNvSpPr/>
                <p:nvPr/>
              </p:nvSpPr>
              <p:spPr>
                <a:xfrm>
                  <a:off x="4945" y="3772"/>
                  <a:ext cx="629" cy="819"/>
                </a:xfrm>
                <a:prstGeom prst="flowChartMagneticDisk">
                  <a:avLst/>
                </a:prstGeom>
                <a:solidFill>
                  <a:schemeClr val="bg1">
                    <a:lumMod val="50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58" name="图片 57" descr="cube"/>
              <p:cNvPicPr>
                <a:picLocks noChangeAspect="1"/>
              </p:cNvPicPr>
              <p:nvPr/>
            </p:nvPicPr>
            <p:blipFill>
              <a:blip r:embed="rId3"/>
              <a:stretch>
                <a:fillRect/>
              </a:stretch>
            </p:blipFill>
            <p:spPr>
              <a:xfrm>
                <a:off x="9340" y="2826"/>
                <a:ext cx="588" cy="588"/>
              </a:xfrm>
              <a:prstGeom prst="rect">
                <a:avLst/>
              </a:prstGeom>
            </p:spPr>
          </p:pic>
        </p:grpSp>
        <p:pic>
          <p:nvPicPr>
            <p:cNvPr id="60" name="图片 59" descr="triangular"/>
            <p:cNvPicPr>
              <a:picLocks noChangeAspect="1"/>
            </p:cNvPicPr>
            <p:nvPr/>
          </p:nvPicPr>
          <p:blipFill>
            <a:blip r:embed="rId4"/>
            <a:stretch>
              <a:fillRect/>
            </a:stretch>
          </p:blipFill>
          <p:spPr>
            <a:xfrm>
              <a:off x="8406" y="4606"/>
              <a:ext cx="690" cy="690"/>
            </a:xfrm>
            <a:prstGeom prst="rect">
              <a:avLst/>
            </a:prstGeom>
          </p:spPr>
        </p:pic>
      </p:grpSp>
      <p:sp>
        <p:nvSpPr>
          <p:cNvPr id="68" name="文本框 67"/>
          <p:cNvSpPr txBox="1"/>
          <p:nvPr/>
        </p:nvSpPr>
        <p:spPr>
          <a:xfrm>
            <a:off x="220980" y="2953385"/>
            <a:ext cx="4733925" cy="922020"/>
          </a:xfrm>
          <a:prstGeom prst="rect">
            <a:avLst/>
          </a:prstGeom>
          <a:noFill/>
        </p:spPr>
        <p:txBody>
          <a:bodyPr wrap="square" rtlCol="0" anchor="t">
            <a:spAutoFit/>
          </a:bodyPr>
          <a:p>
            <a:pPr marL="285750" indent="-285750">
              <a:buFont typeface="Wingdings" panose="05000000000000000000" charset="0"/>
              <a:buChar char="n"/>
            </a:pPr>
            <a:r>
              <a:rPr lang="en-US" altLang="zh-CN">
                <a:sym typeface="+mn-ea"/>
              </a:rPr>
              <a:t>Scene:</a:t>
            </a:r>
            <a:endParaRPr lang="en-US" altLang="zh-CN">
              <a:sym typeface="+mn-ea"/>
            </a:endParaRPr>
          </a:p>
          <a:p>
            <a:pPr indent="457200">
              <a:buFont typeface="Wingdings" panose="05000000000000000000" charset="0"/>
              <a:buNone/>
            </a:pPr>
            <a:r>
              <a:rPr lang="en-US" altLang="zh-CN">
                <a:ea typeface="宋体" panose="02010600030101010101" pitchFamily="2" charset="-122"/>
                <a:sym typeface="+mn-ea"/>
              </a:rPr>
              <a:t>Grasping different size objects under two conditions</a:t>
            </a:r>
            <a:endParaRPr lang="en-US" altLang="zh-CN">
              <a:ea typeface="宋体" panose="02010600030101010101" pitchFamily="2" charset="-122"/>
              <a:sym typeface="+mn-ea"/>
            </a:endParaRPr>
          </a:p>
        </p:txBody>
      </p:sp>
      <p:sp>
        <p:nvSpPr>
          <p:cNvPr id="82" name="Card1"/>
          <p:cNvSpPr>
            <a:spLocks noGrp="1"/>
          </p:cNvSpPr>
          <p:nvPr/>
        </p:nvSpPr>
        <p:spPr>
          <a:xfrm>
            <a:off x="5160010" y="1435735"/>
            <a:ext cx="3712210" cy="1954530"/>
          </a:xfrm>
          <a:prstGeom prst="roundRect">
            <a:avLst>
              <a:gd name="adj" fmla="val 0"/>
            </a:avLst>
          </a:prstGeom>
          <a:solidFill>
            <a:srgbClr val="F9F4EE"/>
          </a:solidFill>
          <a:ln w="19050">
            <a:noFill/>
          </a:ln>
        </p:spPr>
        <p:txBody>
          <a:bodyPr lIns="685800" tIns="182880" rIns="182880" bIns="182880" anchor="ctr">
            <a:noAutofit/>
          </a:bodyPr>
          <a:p>
            <a:r>
              <a:rPr lang="en-US" sz="2400" dirty="0">
                <a:solidFill>
                  <a:srgbClr val="555555"/>
                </a:solidFill>
                <a:latin typeface="+mj-lt"/>
                <a:cs typeface="+mj-lt"/>
              </a:rPr>
              <a:t>   </a:t>
            </a:r>
            <a:endParaRPr lang="en-US" sz="2400" dirty="0">
              <a:solidFill>
                <a:srgbClr val="555555"/>
              </a:solidFill>
              <a:latin typeface="+mj-lt"/>
              <a:cs typeface="+mj-lt"/>
            </a:endParaRPr>
          </a:p>
        </p:txBody>
      </p:sp>
      <p:sp>
        <p:nvSpPr>
          <p:cNvPr id="70" name="文本框 69"/>
          <p:cNvSpPr txBox="1"/>
          <p:nvPr>
            <p:custDataLst>
              <p:tags r:id="rId5"/>
            </p:custDataLst>
          </p:nvPr>
        </p:nvSpPr>
        <p:spPr>
          <a:xfrm>
            <a:off x="5319395" y="1522095"/>
            <a:ext cx="3616960" cy="368300"/>
          </a:xfrm>
          <a:prstGeom prst="rect">
            <a:avLst/>
          </a:prstGeom>
          <a:noFill/>
        </p:spPr>
        <p:txBody>
          <a:bodyPr wrap="square" rtlCol="0">
            <a:spAutoFit/>
          </a:bodyPr>
          <a:p>
            <a:pPr algn="ctr"/>
            <a:r>
              <a:rPr lang="en-US" altLang="zh-CN"/>
              <a:t>Condition A: EMG-Only Control</a:t>
            </a:r>
            <a:endParaRPr lang="en-US" altLang="zh-CN"/>
          </a:p>
        </p:txBody>
      </p:sp>
      <p:pic>
        <p:nvPicPr>
          <p:cNvPr id="78" name="图片 77" descr="屏幕截图 2026-04-29 162033"/>
          <p:cNvPicPr>
            <a:picLocks noChangeAspect="1"/>
          </p:cNvPicPr>
          <p:nvPr/>
        </p:nvPicPr>
        <p:blipFill>
          <a:blip r:embed="rId6"/>
          <a:stretch>
            <a:fillRect/>
          </a:stretch>
        </p:blipFill>
        <p:spPr>
          <a:xfrm>
            <a:off x="5986145" y="1974215"/>
            <a:ext cx="1998980" cy="1258570"/>
          </a:xfrm>
          <a:prstGeom prst="rect">
            <a:avLst/>
          </a:prstGeom>
        </p:spPr>
      </p:pic>
      <p:sp>
        <p:nvSpPr>
          <p:cNvPr id="85" name="Card1"/>
          <p:cNvSpPr>
            <a:spLocks noGrp="1"/>
          </p:cNvSpPr>
          <p:nvPr/>
        </p:nvSpPr>
        <p:spPr>
          <a:xfrm>
            <a:off x="5160010" y="3942715"/>
            <a:ext cx="3712210" cy="2016125"/>
          </a:xfrm>
          <a:prstGeom prst="roundRect">
            <a:avLst>
              <a:gd name="adj" fmla="val 0"/>
            </a:avLst>
          </a:prstGeom>
          <a:solidFill>
            <a:srgbClr val="F9F4EE"/>
          </a:solidFill>
          <a:ln w="19050">
            <a:noFill/>
          </a:ln>
        </p:spPr>
        <p:txBody>
          <a:bodyPr lIns="685800" tIns="182880" rIns="182880" bIns="182880" anchor="ctr">
            <a:noAutofit/>
          </a:bodyPr>
          <a:p>
            <a:r>
              <a:rPr lang="en-US" sz="2400" dirty="0">
                <a:solidFill>
                  <a:srgbClr val="555555"/>
                </a:solidFill>
                <a:latin typeface="+mj-lt"/>
                <a:cs typeface="+mj-lt"/>
              </a:rPr>
              <a:t>   </a:t>
            </a:r>
            <a:endParaRPr lang="en-US" sz="2400" dirty="0">
              <a:solidFill>
                <a:srgbClr val="555555"/>
              </a:solidFill>
              <a:latin typeface="+mj-lt"/>
              <a:cs typeface="+mj-lt"/>
            </a:endParaRPr>
          </a:p>
        </p:txBody>
      </p:sp>
      <p:sp>
        <p:nvSpPr>
          <p:cNvPr id="72" name="文本框 71"/>
          <p:cNvSpPr txBox="1"/>
          <p:nvPr>
            <p:custDataLst>
              <p:tags r:id="rId7"/>
            </p:custDataLst>
          </p:nvPr>
        </p:nvSpPr>
        <p:spPr>
          <a:xfrm>
            <a:off x="5133975" y="4060190"/>
            <a:ext cx="3816350" cy="337185"/>
          </a:xfrm>
          <a:prstGeom prst="rect">
            <a:avLst/>
          </a:prstGeom>
          <a:noFill/>
        </p:spPr>
        <p:txBody>
          <a:bodyPr wrap="square" rtlCol="0">
            <a:spAutoFit/>
          </a:bodyPr>
          <a:p>
            <a:pPr algn="ctr"/>
            <a:r>
              <a:rPr lang="en-US" altLang="zh-CN" sz="1600"/>
              <a:t>Condition B: Proposed System </a:t>
            </a:r>
            <a:r>
              <a:rPr lang="en-US" altLang="zh-CN" sz="1600">
                <a:sym typeface="+mn-ea"/>
              </a:rPr>
              <a:t>Control</a:t>
            </a:r>
            <a:endParaRPr lang="en-US" altLang="zh-CN" sz="1600"/>
          </a:p>
        </p:txBody>
      </p:sp>
      <p:pic>
        <p:nvPicPr>
          <p:cNvPr id="65" name="图片 64" descr="屏幕截图 333"/>
          <p:cNvPicPr>
            <a:picLocks noChangeAspect="1"/>
          </p:cNvPicPr>
          <p:nvPr/>
        </p:nvPicPr>
        <p:blipFill>
          <a:blip r:embed="rId8"/>
          <a:stretch>
            <a:fillRect/>
          </a:stretch>
        </p:blipFill>
        <p:spPr>
          <a:xfrm>
            <a:off x="5986145" y="4406900"/>
            <a:ext cx="1998980" cy="139954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ea typeface="宋体" panose="02010600030101010101" pitchFamily="2" charset="-122"/>
                <a:sym typeface="+mn-ea"/>
              </a:rPr>
              <a:t>Evaluation</a:t>
            </a:r>
            <a:endParaRPr lang="en-US" altLang="zh-CN" sz="3200" b="1">
              <a:latin typeface="Times New Roman" panose="02020603050405020304" charset="0"/>
              <a:ea typeface="宋体" panose="02010600030101010101" pitchFamily="2" charset="-122"/>
              <a:cs typeface="Times New Roman" panose="02020603050405020304" charset="0"/>
            </a:endParaRPr>
          </a:p>
        </p:txBody>
      </p:sp>
      <p:cxnSp>
        <p:nvCxnSpPr>
          <p:cNvPr id="21" name="Divider"/>
          <p:cNvCxnSpPr/>
          <p:nvPr/>
        </p:nvCxnSpPr>
        <p:spPr>
          <a:xfrm>
            <a:off x="4554220" y="895985"/>
            <a:ext cx="40005" cy="5347335"/>
          </a:xfrm>
          <a:prstGeom prst="line">
            <a:avLst/>
          </a:prstGeom>
          <a:ln w="12700" cmpd="sng">
            <a:solidFill>
              <a:srgbClr val="BBCCDD"/>
            </a:solidFill>
            <a:prstDash val="dash"/>
          </a:ln>
        </p:spPr>
        <p:style>
          <a:lnRef idx="2">
            <a:schemeClr val="accent1"/>
          </a:lnRef>
          <a:fillRef idx="0">
            <a:schemeClr val="accent1"/>
          </a:fillRef>
          <a:effectRef idx="1">
            <a:schemeClr val="accent1"/>
          </a:effectRef>
          <a:fontRef idx="minor">
            <a:schemeClr val="tx1"/>
          </a:fontRef>
        </p:style>
      </p:cxnSp>
      <p:sp>
        <p:nvSpPr>
          <p:cNvPr id="200" name="LeftBar"/>
          <p:cNvSpPr>
            <a:spLocks noGrp="1"/>
          </p:cNvSpPr>
          <p:nvPr/>
        </p:nvSpPr>
        <p:spPr>
          <a:xfrm>
            <a:off x="304800" y="950000"/>
            <a:ext cx="190500" cy="457200"/>
          </a:xfrm>
          <a:prstGeom prst="rect">
            <a:avLst/>
          </a:prstGeom>
          <a:solidFill>
            <a:srgbClr val="1E3A5F"/>
          </a:solidFill>
          <a:ln>
            <a:noFill/>
          </a:ln>
        </p:spPr>
        <p:txBody>
          <a:bodyPr/>
          <a:p/>
        </p:txBody>
      </p:sp>
      <p:sp>
        <p:nvSpPr>
          <p:cNvPr id="201" name="LeftHeader"/>
          <p:cNvSpPr txBox="1"/>
          <p:nvPr/>
        </p:nvSpPr>
        <p:spPr>
          <a:xfrm>
            <a:off x="571500" y="950000"/>
            <a:ext cx="3600000" cy="457200"/>
          </a:xfrm>
          <a:prstGeom prst="rect">
            <a:avLst/>
          </a:prstGeom>
          <a:noFill/>
        </p:spPr>
        <p:txBody>
          <a:bodyPr wrap="square" rtlCol="0">
            <a:noAutofit/>
          </a:bodyPr>
          <a:p>
            <a:r>
              <a:rPr lang="en-US" altLang="zh-CN" sz="2000" b="1" dirty="0">
                <a:solidFill>
                  <a:srgbClr val="1E3A5F"/>
                </a:solidFill>
                <a:latin typeface="+mj-lt"/>
                <a:ea typeface="宋体" panose="02010600030101010101" pitchFamily="2" charset="-122"/>
                <a:cs typeface="+mj-lt"/>
              </a:rPr>
              <a:t>Performance</a:t>
            </a:r>
            <a:endParaRPr lang="en-US" altLang="zh-CN" sz="2000" b="1" dirty="0">
              <a:solidFill>
                <a:srgbClr val="1E3A5F"/>
              </a:solidFill>
              <a:latin typeface="+mj-lt"/>
              <a:ea typeface="宋体" panose="02010600030101010101" pitchFamily="2" charset="-122"/>
              <a:cs typeface="+mj-lt"/>
            </a:endParaRPr>
          </a:p>
        </p:txBody>
      </p:sp>
      <p:sp>
        <p:nvSpPr>
          <p:cNvPr id="300" name="RightBar"/>
          <p:cNvSpPr>
            <a:spLocks noGrp="1"/>
          </p:cNvSpPr>
          <p:nvPr/>
        </p:nvSpPr>
        <p:spPr>
          <a:xfrm>
            <a:off x="4876020" y="950000"/>
            <a:ext cx="190500" cy="457200"/>
          </a:xfrm>
          <a:prstGeom prst="rect">
            <a:avLst/>
          </a:prstGeom>
          <a:solidFill>
            <a:srgbClr val="7A1E5F"/>
          </a:solidFill>
          <a:ln>
            <a:noFill/>
          </a:ln>
        </p:spPr>
        <p:txBody>
          <a:bodyPr/>
          <a:p/>
        </p:txBody>
      </p:sp>
      <p:sp>
        <p:nvSpPr>
          <p:cNvPr id="301" name="RightHeader"/>
          <p:cNvSpPr txBox="1"/>
          <p:nvPr/>
        </p:nvSpPr>
        <p:spPr>
          <a:xfrm>
            <a:off x="5142720" y="950000"/>
            <a:ext cx="3600000" cy="457200"/>
          </a:xfrm>
          <a:prstGeom prst="rect">
            <a:avLst/>
          </a:prstGeom>
          <a:noFill/>
        </p:spPr>
        <p:txBody>
          <a:bodyPr wrap="square" rtlCol="0">
            <a:noAutofit/>
          </a:bodyPr>
          <a:p>
            <a:r>
              <a:rPr lang="en-US" altLang="zh-CN" sz="2000" b="1" dirty="0">
                <a:solidFill>
                  <a:srgbClr val="7A1E5F"/>
                </a:solidFill>
                <a:latin typeface="+mj-lt"/>
                <a:ea typeface="宋体" panose="02010600030101010101" pitchFamily="2" charset="-122"/>
                <a:cs typeface="+mj-lt"/>
              </a:rPr>
              <a:t>Cognitive load</a:t>
            </a:r>
            <a:endParaRPr lang="en-US" altLang="zh-CN" sz="2000" b="1" dirty="0">
              <a:solidFill>
                <a:srgbClr val="7A1E5F"/>
              </a:solidFill>
              <a:latin typeface="+mj-lt"/>
              <a:ea typeface="宋体" panose="02010600030101010101" pitchFamily="2" charset="-122"/>
              <a:cs typeface="+mj-lt"/>
            </a:endParaRPr>
          </a:p>
        </p:txBody>
      </p:sp>
      <p:sp>
        <p:nvSpPr>
          <p:cNvPr id="210" name="Card1"/>
          <p:cNvSpPr>
            <a:spLocks noGrp="1"/>
          </p:cNvSpPr>
          <p:nvPr/>
        </p:nvSpPr>
        <p:spPr>
          <a:xfrm>
            <a:off x="304800" y="1803200"/>
            <a:ext cx="3962400" cy="1500000"/>
          </a:xfrm>
          <a:prstGeom prst="roundRect">
            <a:avLst>
              <a:gd name="adj" fmla="val 0"/>
            </a:avLst>
          </a:prstGeom>
          <a:solidFill>
            <a:srgbClr val="EEF3F8"/>
          </a:solidFill>
          <a:ln w="19050">
            <a:noFill/>
          </a:ln>
        </p:spPr>
        <p:txBody>
          <a:bodyPr lIns="685800" tIns="182880" rIns="182880" bIns="182880" anchor="ctr">
            <a:noAutofit/>
          </a:bodyPr>
          <a:p>
            <a:r>
              <a:rPr lang="en-US" sz="2400" dirty="0">
                <a:solidFill>
                  <a:srgbClr val="555555"/>
                </a:solidFill>
                <a:latin typeface="+mj-lt"/>
                <a:cs typeface="+mj-lt"/>
              </a:rPr>
              <a:t>   Task Completion Time</a:t>
            </a:r>
            <a:endParaRPr lang="en-US" sz="2400" dirty="0">
              <a:solidFill>
                <a:srgbClr val="555555"/>
              </a:solidFill>
              <a:latin typeface="+mj-lt"/>
              <a:cs typeface="+mj-lt"/>
            </a:endParaRPr>
          </a:p>
        </p:txBody>
      </p:sp>
      <p:pic>
        <p:nvPicPr>
          <p:cNvPr id="2" name="图片 1" descr="clock"/>
          <p:cNvPicPr>
            <a:picLocks noChangeAspect="1"/>
          </p:cNvPicPr>
          <p:nvPr/>
        </p:nvPicPr>
        <p:blipFill>
          <a:blip r:embed="rId1"/>
          <a:stretch>
            <a:fillRect/>
          </a:stretch>
        </p:blipFill>
        <p:spPr>
          <a:xfrm>
            <a:off x="426720" y="2248535"/>
            <a:ext cx="609600" cy="609600"/>
          </a:xfrm>
          <a:prstGeom prst="rect">
            <a:avLst/>
          </a:prstGeom>
        </p:spPr>
      </p:pic>
      <p:sp>
        <p:nvSpPr>
          <p:cNvPr id="4" name="Card1"/>
          <p:cNvSpPr>
            <a:spLocks noGrp="1"/>
          </p:cNvSpPr>
          <p:nvPr/>
        </p:nvSpPr>
        <p:spPr>
          <a:xfrm>
            <a:off x="304800" y="3819960"/>
            <a:ext cx="3962400" cy="1500000"/>
          </a:xfrm>
          <a:prstGeom prst="roundRect">
            <a:avLst>
              <a:gd name="adj" fmla="val 0"/>
            </a:avLst>
          </a:prstGeom>
          <a:solidFill>
            <a:srgbClr val="EEF3F8"/>
          </a:solidFill>
          <a:ln w="19050">
            <a:noFill/>
          </a:ln>
        </p:spPr>
        <p:txBody>
          <a:bodyPr lIns="685800" tIns="182880" rIns="182880" bIns="182880" anchor="ctr">
            <a:noAutofit/>
          </a:bodyPr>
          <a:p>
            <a:r>
              <a:rPr lang="en-US" sz="2400" dirty="0">
                <a:solidFill>
                  <a:srgbClr val="555555"/>
                </a:solidFill>
                <a:latin typeface="+mj-lt"/>
                <a:cs typeface="+mj-lt"/>
              </a:rPr>
              <a:t>   </a:t>
            </a:r>
            <a:r>
              <a:rPr lang="en-US" altLang="zh-CN" sz="2400" dirty="0">
                <a:solidFill>
                  <a:srgbClr val="555555"/>
                </a:solidFill>
                <a:latin typeface="+mj-lt"/>
                <a:cs typeface="+mj-lt"/>
              </a:rPr>
              <a:t>Grasp Success Rate</a:t>
            </a:r>
            <a:endParaRPr lang="en-US" altLang="zh-CN" sz="2400" dirty="0">
              <a:solidFill>
                <a:srgbClr val="555555"/>
              </a:solidFill>
              <a:latin typeface="+mj-lt"/>
              <a:cs typeface="+mj-lt"/>
            </a:endParaRPr>
          </a:p>
        </p:txBody>
      </p:sp>
      <p:pic>
        <p:nvPicPr>
          <p:cNvPr id="13" name="图片 12" descr="C:/Users/Di/Desktop/achieve-goal (1).pngachieve-goal (1)"/>
          <p:cNvPicPr>
            <a:picLocks noChangeAspect="1"/>
          </p:cNvPicPr>
          <p:nvPr/>
        </p:nvPicPr>
        <p:blipFill>
          <a:blip r:embed="rId2"/>
          <a:srcRect/>
          <a:stretch>
            <a:fillRect/>
          </a:stretch>
        </p:blipFill>
        <p:spPr>
          <a:xfrm>
            <a:off x="426720" y="4265295"/>
            <a:ext cx="609600" cy="609600"/>
          </a:xfrm>
          <a:prstGeom prst="rect">
            <a:avLst/>
          </a:prstGeom>
        </p:spPr>
      </p:pic>
      <p:sp>
        <p:nvSpPr>
          <p:cNvPr id="17" name="Card1"/>
          <p:cNvSpPr>
            <a:spLocks noGrp="1"/>
          </p:cNvSpPr>
          <p:nvPr/>
        </p:nvSpPr>
        <p:spPr>
          <a:xfrm>
            <a:off x="4876165" y="1803200"/>
            <a:ext cx="3962400" cy="1500000"/>
          </a:xfrm>
          <a:prstGeom prst="roundRect">
            <a:avLst>
              <a:gd name="adj" fmla="val 0"/>
            </a:avLst>
          </a:prstGeom>
          <a:solidFill>
            <a:srgbClr val="F5EEF5"/>
          </a:solidFill>
          <a:ln w="19050">
            <a:noFill/>
          </a:ln>
        </p:spPr>
        <p:txBody>
          <a:bodyPr lIns="685800" tIns="182880" rIns="182880" bIns="182880" anchor="ctr">
            <a:noAutofit/>
          </a:bodyPr>
          <a:p>
            <a:r>
              <a:rPr lang="en-US" sz="2400" dirty="0">
                <a:solidFill>
                  <a:srgbClr val="555555"/>
                </a:solidFill>
                <a:latin typeface="+mj-lt"/>
                <a:cs typeface="+mj-lt"/>
              </a:rPr>
              <a:t>   </a:t>
            </a:r>
            <a:r>
              <a:rPr lang="en-US" altLang="zh-CN" sz="2400" dirty="0">
                <a:solidFill>
                  <a:srgbClr val="555555"/>
                </a:solidFill>
                <a:latin typeface="+mj-lt"/>
                <a:cs typeface="+mj-lt"/>
              </a:rPr>
              <a:t>NASA-TLX [5]</a:t>
            </a:r>
            <a:endParaRPr lang="en-US" altLang="zh-CN" sz="2400" dirty="0">
              <a:solidFill>
                <a:srgbClr val="555555"/>
              </a:solidFill>
              <a:latin typeface="+mj-lt"/>
              <a:cs typeface="+mj-lt"/>
            </a:endParaRPr>
          </a:p>
        </p:txBody>
      </p:sp>
      <p:pic>
        <p:nvPicPr>
          <p:cNvPr id="18" name="图片 17" descr="C:/Users/Di/Desktop/exam.pngexam"/>
          <p:cNvPicPr>
            <a:picLocks noChangeAspect="1"/>
          </p:cNvPicPr>
          <p:nvPr/>
        </p:nvPicPr>
        <p:blipFill>
          <a:blip r:embed="rId3"/>
          <a:srcRect/>
          <a:stretch>
            <a:fillRect/>
          </a:stretch>
        </p:blipFill>
        <p:spPr>
          <a:xfrm>
            <a:off x="5066665" y="2248535"/>
            <a:ext cx="609600" cy="60960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a:latin typeface="Times New Roman" panose="02020603050405020304" charset="0"/>
                <a:ea typeface="宋体" panose="02010600030101010101" pitchFamily="2" charset="-122"/>
                <a:cs typeface="Times New Roman" panose="02020603050405020304" charset="0"/>
                <a:sym typeface="+mn-ea"/>
              </a:rPr>
              <a:t>Summary</a:t>
            </a:r>
            <a:endParaRPr lang="en-US" altLang="zh-CN" sz="3200" b="1">
              <a:latin typeface="Times New Roman" panose="02020603050405020304" charset="0"/>
              <a:ea typeface="宋体" panose="02010600030101010101" pitchFamily="2" charset="-122"/>
              <a:cs typeface="Times New Roman" panose="02020603050405020304" charset="0"/>
            </a:endParaRPr>
          </a:p>
          <a:p>
            <a:endParaRPr lang="en-US" altLang="zh-CN" sz="3200" b="1">
              <a:latin typeface="Times New Roman" panose="02020603050405020304" charset="0"/>
              <a:ea typeface="宋体" panose="02010600030101010101" pitchFamily="2" charset="-122"/>
              <a:cs typeface="Times New Roman" panose="02020603050405020304" charset="0"/>
            </a:endParaRPr>
          </a:p>
        </p:txBody>
      </p:sp>
      <p:sp>
        <p:nvSpPr>
          <p:cNvPr id="2" name="文本框 1"/>
          <p:cNvSpPr txBox="1"/>
          <p:nvPr/>
        </p:nvSpPr>
        <p:spPr>
          <a:xfrm>
            <a:off x="220980" y="3190240"/>
            <a:ext cx="8717915" cy="656590"/>
          </a:xfrm>
          <a:prstGeom prst="rect">
            <a:avLst/>
          </a:prstGeom>
          <a:noFill/>
        </p:spPr>
        <p:txBody>
          <a:bodyPr wrap="square" rtlCol="0">
            <a:noAutofit/>
          </a:bodyPr>
          <a:p>
            <a:r>
              <a:rPr lang="en-US" altLang="zh-CN" sz="3200" b="1">
                <a:latin typeface="Times New Roman" panose="02020603050405020304" charset="0"/>
                <a:ea typeface="宋体" panose="02010600030101010101" pitchFamily="2" charset="-122"/>
                <a:cs typeface="Times New Roman" panose="02020603050405020304" charset="0"/>
              </a:rPr>
              <a:t>Next Steps</a:t>
            </a:r>
            <a:endParaRPr lang="en-US" altLang="zh-CN" sz="3200" b="1">
              <a:latin typeface="Times New Roman" panose="02020603050405020304" charset="0"/>
              <a:ea typeface="宋体" panose="02010600030101010101" pitchFamily="2" charset="-122"/>
              <a:cs typeface="Times New Roman" panose="02020603050405020304" charset="0"/>
            </a:endParaRPr>
          </a:p>
        </p:txBody>
      </p:sp>
      <p:sp>
        <p:nvSpPr>
          <p:cNvPr id="4" name="文本框 3"/>
          <p:cNvSpPr txBox="1"/>
          <p:nvPr/>
        </p:nvSpPr>
        <p:spPr>
          <a:xfrm>
            <a:off x="306705" y="3785235"/>
            <a:ext cx="8441055" cy="727710"/>
          </a:xfrm>
          <a:prstGeom prst="rect">
            <a:avLst/>
          </a:prstGeom>
          <a:noFill/>
        </p:spPr>
        <p:txBody>
          <a:bodyPr wrap="square" rtlCol="0" anchor="t">
            <a:noAutofit/>
          </a:bodyPr>
          <a:p>
            <a:pPr indent="457200">
              <a:buFont typeface="Wingdings" panose="05000000000000000000" charset="0"/>
              <a:buNone/>
            </a:pPr>
            <a:r>
              <a:rPr lang="en-US" altLang="zh-CN"/>
              <a:t>Will switch the data recording from the prosthetic hand to the human hand, in order to learn a more natural grasping process.</a:t>
            </a:r>
            <a:endParaRPr lang="en-US" altLang="zh-CN"/>
          </a:p>
        </p:txBody>
      </p:sp>
      <p:sp>
        <p:nvSpPr>
          <p:cNvPr id="5" name="文本框 4"/>
          <p:cNvSpPr txBox="1"/>
          <p:nvPr/>
        </p:nvSpPr>
        <p:spPr>
          <a:xfrm>
            <a:off x="306705" y="883285"/>
            <a:ext cx="8441055" cy="1568450"/>
          </a:xfrm>
          <a:prstGeom prst="rect">
            <a:avLst/>
          </a:prstGeom>
        </p:spPr>
        <p:txBody>
          <a:bodyPr wrap="square">
            <a:noAutofit/>
          </a:bodyPr>
          <a:p>
            <a:pPr marL="285750" indent="-285750">
              <a:buFont typeface="Wingdings" panose="05000000000000000000" charset="0"/>
              <a:buChar char="Ø"/>
            </a:pPr>
            <a:r>
              <a:rPr lang="en-US" altLang="zh-CN"/>
              <a:t>The two sensors, the camera and EMG, have been successfully integrated.</a:t>
            </a:r>
            <a:endParaRPr lang="en-US" altLang="zh-CN"/>
          </a:p>
          <a:p>
            <a:pPr marL="285750" indent="-285750">
              <a:buFont typeface="Wingdings" panose="05000000000000000000" charset="0"/>
              <a:buChar char="Ø"/>
            </a:pPr>
            <a:endParaRPr lang="en-US" altLang="zh-CN"/>
          </a:p>
          <a:p>
            <a:pPr marL="285750" indent="-285750">
              <a:buFont typeface="Wingdings" panose="05000000000000000000" charset="0"/>
              <a:buChar char="Ø"/>
            </a:pPr>
            <a:r>
              <a:rPr lang="en-US" altLang="zh-CN"/>
              <a:t>Synchronized data acquisition and recording have been successfully implemented.</a:t>
            </a:r>
            <a:endParaRPr lang="en-US" altLang="zh-CN"/>
          </a:p>
          <a:p>
            <a:pPr marL="285750" indent="-285750">
              <a:buFont typeface="Wingdings" panose="05000000000000000000" charset="0"/>
              <a:buChar char="Ø"/>
            </a:pPr>
            <a:endParaRPr lang="en-US" altLang="zh-CN"/>
          </a:p>
          <a:p>
            <a:pPr marL="285750" indent="-285750">
              <a:buFont typeface="Wingdings" panose="05000000000000000000" charset="0"/>
              <a:buChar char="Ø"/>
            </a:pPr>
            <a:r>
              <a:rPr lang="en-US" altLang="zh-CN"/>
              <a:t>Achieved decision fusion, successfully enabling real-time inference.</a:t>
            </a:r>
            <a:endParaRPr lang="en-US" altLang="zh-CN"/>
          </a:p>
          <a:p>
            <a:pPr marL="285750" indent="-285750">
              <a:buFont typeface="Wingdings" panose="05000000000000000000" charset="0"/>
              <a:buChar char="Ø"/>
            </a:pPr>
            <a:endParaRPr lang="en-US" altLang="zh-CN"/>
          </a:p>
          <a:p>
            <a:pPr marL="285750" indent="-285750">
              <a:buFont typeface="Wingdings" panose="05000000000000000000" charset="0"/>
              <a:buChar char="Ø"/>
            </a:pPr>
            <a:endParaRPr lang="en-US" altLang="zh-CN"/>
          </a:p>
        </p:txBody>
      </p:sp>
      <p:pic>
        <p:nvPicPr>
          <p:cNvPr id="3" name="图片 2" descr="T1_result"/>
          <p:cNvPicPr>
            <a:picLocks noChangeAspect="1"/>
          </p:cNvPicPr>
          <p:nvPr/>
        </p:nvPicPr>
        <p:blipFill>
          <a:blip r:embed="rId1"/>
          <a:stretch>
            <a:fillRect/>
          </a:stretch>
        </p:blipFill>
        <p:spPr>
          <a:xfrm>
            <a:off x="2576195" y="4512945"/>
            <a:ext cx="3902710" cy="2195195"/>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75590" y="226695"/>
            <a:ext cx="8192135" cy="583565"/>
          </a:xfrm>
          <a:prstGeom prst="rect">
            <a:avLst/>
          </a:prstGeom>
          <a:noFill/>
        </p:spPr>
        <p:txBody>
          <a:bodyPr wrap="square" rtlCol="0">
            <a:spAutoFit/>
          </a:bodyPr>
          <a:p>
            <a:r>
              <a:rPr lang="en-US" sz="3200" b="1" dirty="0">
                <a:latin typeface="Times New Roman" panose="02020603050405020304" charset="0"/>
                <a:cs typeface="Times New Roman" panose="02020603050405020304" charset="0"/>
                <a:sym typeface="+mn-ea"/>
              </a:rPr>
              <a:t>References</a:t>
            </a:r>
            <a:endParaRPr lang="en-US" altLang="zh-CN" sz="3200" b="1">
              <a:latin typeface="Times New Roman" panose="02020603050405020304" charset="0"/>
              <a:ea typeface="宋体" panose="02010600030101010101" pitchFamily="2" charset="-122"/>
              <a:cs typeface="Times New Roman" panose="02020603050405020304" charset="0"/>
            </a:endParaRPr>
          </a:p>
        </p:txBody>
      </p:sp>
      <p:sp>
        <p:nvSpPr>
          <p:cNvPr id="3" name="文本框 2"/>
          <p:cNvSpPr txBox="1"/>
          <p:nvPr/>
        </p:nvSpPr>
        <p:spPr>
          <a:xfrm>
            <a:off x="275590" y="902970"/>
            <a:ext cx="8529955" cy="5892800"/>
          </a:xfrm>
          <a:prstGeom prst="rect">
            <a:avLst/>
          </a:prstGeom>
          <a:noFill/>
        </p:spPr>
        <p:txBody>
          <a:bodyPr wrap="square" rtlCol="0" anchor="t">
            <a:spAutoFit/>
          </a:bodyPr>
          <a:p>
            <a:pPr marL="0" indent="0">
              <a:lnSpc>
                <a:spcPct val="120000"/>
              </a:lnSpc>
              <a:buNone/>
            </a:pPr>
            <a:r>
              <a:rPr lang="en-US" sz="1600">
                <a:sym typeface="+mn-ea"/>
              </a:rPr>
              <a:t>[1] </a:t>
            </a:r>
            <a:r>
              <a:rPr lang="en-US" altLang="zh-CN" sz="1600" dirty="0">
                <a:sym typeface="+mn-ea"/>
              </a:rPr>
              <a:t>McDonald C L, Westcott-McCoy S, Weaver M R, et al. Global prevalence of traumatic non-fatal limb amputation[J]. Prosthetics and orthotics international, 2021, 45(2): 105-114.</a:t>
            </a:r>
            <a:endParaRPr lang="en-US" altLang="zh-CN" sz="1600" dirty="0">
              <a:sym typeface="+mn-ea"/>
            </a:endParaRPr>
          </a:p>
          <a:p>
            <a:pPr marL="0" indent="0">
              <a:lnSpc>
                <a:spcPct val="120000"/>
              </a:lnSpc>
              <a:buNone/>
            </a:pPr>
            <a:endParaRPr lang="en-US" altLang="zh-CN" sz="1600" dirty="0">
              <a:sym typeface="+mn-ea"/>
            </a:endParaRPr>
          </a:p>
          <a:p>
            <a:pPr marL="0" indent="0">
              <a:lnSpc>
                <a:spcPct val="120000"/>
              </a:lnSpc>
              <a:buNone/>
            </a:pPr>
            <a:r>
              <a:rPr lang="en-US" sz="1600">
                <a:sym typeface="+mn-ea"/>
              </a:rPr>
              <a:t>[2] </a:t>
            </a:r>
            <a:r>
              <a:rPr lang="en-US" altLang="zh-CN" sz="1600"/>
              <a:t>Chen, Z., Min, H., Wang, D., Xia, Z., Sun, F., &amp; Fang, B. (2023). A review of myoelectric control for prosthetic hand manipulation. Biomimetics, 8(3), 328.</a:t>
            </a:r>
            <a:endParaRPr lang="en-US" altLang="zh-CN" sz="1600"/>
          </a:p>
          <a:p>
            <a:pPr marL="0" indent="0">
              <a:lnSpc>
                <a:spcPct val="120000"/>
              </a:lnSpc>
              <a:buNone/>
            </a:pPr>
            <a:endParaRPr lang="en-US" altLang="zh-CN" sz="1600"/>
          </a:p>
          <a:p>
            <a:pPr marL="0" indent="0">
              <a:lnSpc>
                <a:spcPct val="120000"/>
              </a:lnSpc>
              <a:buNone/>
            </a:pPr>
            <a:r>
              <a:rPr lang="en-US" sz="1600">
                <a:sym typeface="+mn-ea"/>
              </a:rPr>
              <a:t>[3] </a:t>
            </a:r>
            <a:r>
              <a:rPr lang="en-US" altLang="zh-CN" sz="1600"/>
              <a:t>V</a:t>
            </a:r>
            <a:r>
              <a:rPr lang="en-US" altLang="en-US" sz="1600"/>
              <a:t>á</a:t>
            </a:r>
            <a:r>
              <a:rPr lang="en-US" altLang="zh-CN" sz="1600"/>
              <a:t>sconez, J. P., Barona L</a:t>
            </a:r>
            <a:r>
              <a:rPr lang="en-US" altLang="en-US" sz="1600"/>
              <a:t>ó</a:t>
            </a:r>
            <a:r>
              <a:rPr lang="en-US" altLang="zh-CN" sz="1600"/>
              <a:t>pez, L. I., Valdivieso Caraguay, </a:t>
            </a:r>
            <a:r>
              <a:rPr lang="en-US" altLang="en-US" sz="1600"/>
              <a:t>Á. </a:t>
            </a:r>
            <a:r>
              <a:rPr lang="en-US" altLang="zh-CN" sz="1600"/>
              <a:t>L., &amp; Benalc</a:t>
            </a:r>
            <a:r>
              <a:rPr lang="en-US" altLang="en-US" sz="1600"/>
              <a:t>á</a:t>
            </a:r>
            <a:r>
              <a:rPr lang="en-US" altLang="zh-CN" sz="1600"/>
              <a:t>zar, M. E. (2022). Hand gesture recognition using EMG-IMU signals and deep q-networks. Sensors, 22(24), 9613.</a:t>
            </a:r>
            <a:endParaRPr lang="en-US" altLang="zh-CN" sz="1600"/>
          </a:p>
          <a:p>
            <a:pPr marL="0" indent="0">
              <a:lnSpc>
                <a:spcPct val="120000"/>
              </a:lnSpc>
              <a:buNone/>
            </a:pPr>
            <a:endParaRPr lang="en-US" altLang="zh-CN" sz="1600"/>
          </a:p>
          <a:p>
            <a:pPr marL="0" indent="0">
              <a:lnSpc>
                <a:spcPct val="120000"/>
              </a:lnSpc>
              <a:buNone/>
            </a:pPr>
            <a:r>
              <a:rPr lang="en-US" sz="1600">
                <a:sym typeface="+mn-ea"/>
              </a:rPr>
              <a:t>[4] </a:t>
            </a:r>
            <a:r>
              <a:rPr lang="en-US" altLang="zh-CN" sz="1600">
                <a:sym typeface="+mn-ea"/>
              </a:rPr>
              <a:t>Zandigohar, M., Han, M., Sharif, M., G</a:t>
            </a:r>
            <a:r>
              <a:rPr lang="en-US" altLang="en-US" sz="1600">
                <a:sym typeface="+mn-ea"/>
              </a:rPr>
              <a:t>ü</a:t>
            </a:r>
            <a:r>
              <a:rPr lang="en-US" altLang="zh-CN" sz="1600">
                <a:sym typeface="+mn-ea"/>
              </a:rPr>
              <a:t>nay, S. Y., Furmanek, M. P., Yarossi, M., ... &amp; Schirner, G. (2024). Multimodal fusion of EMG and vision for human grasp intent inference in prosthetic hand control. Frontiers in Robotics and AI, 11, 1312554.</a:t>
            </a:r>
            <a:endParaRPr lang="en-US" altLang="zh-CN" sz="1600">
              <a:sym typeface="+mn-ea"/>
            </a:endParaRPr>
          </a:p>
          <a:p>
            <a:pPr marL="0" indent="0">
              <a:lnSpc>
                <a:spcPct val="120000"/>
              </a:lnSpc>
              <a:buNone/>
            </a:pPr>
            <a:endParaRPr lang="en-US" altLang="zh-CN" sz="1600">
              <a:sym typeface="+mn-ea"/>
            </a:endParaRPr>
          </a:p>
          <a:p>
            <a:pPr marL="0" indent="0">
              <a:lnSpc>
                <a:spcPct val="120000"/>
              </a:lnSpc>
              <a:buNone/>
            </a:pPr>
            <a:r>
              <a:rPr lang="en-US" sz="1600">
                <a:sym typeface="+mn-ea"/>
              </a:rPr>
              <a:t>[5] </a:t>
            </a:r>
            <a:r>
              <a:rPr lang="en-US" altLang="zh-CN" sz="1600">
                <a:sym typeface="+mn-ea"/>
              </a:rPr>
              <a:t>Lalle, A., Migliore, S., Stevenson, J., Bell, E., Pradeep, M., Gunnell, D., ... &amp; Manero II, A. (2026). Multigesture Electromyographic Control Complexity in Upper Limb Prostheses Actuated via Single Sensor Input Contraction Magnitude: Qualitative Study for Evaluating Performance and Cognitive Load. JMIR Rehabilitation and Assistive Technologies, 13(1), e88528.</a:t>
            </a:r>
            <a:endParaRPr lang="en-US" altLang="zh-CN" sz="1600">
              <a:sym typeface="+mn-ea"/>
            </a:endParaRPr>
          </a:p>
          <a:p>
            <a:pPr marL="0" indent="0">
              <a:lnSpc>
                <a:spcPct val="120000"/>
              </a:lnSpc>
              <a:buNone/>
            </a:pPr>
            <a:endParaRPr lang="en-US" altLang="zh-CN" sz="1600" dirty="0"/>
          </a:p>
          <a:p>
            <a:pPr marL="0" indent="0" fontAlgn="t">
              <a:spcBef>
                <a:spcPct val="0"/>
              </a:spcBef>
              <a:spcAft>
                <a:spcPct val="0"/>
              </a:spcAft>
            </a:pPr>
            <a:r>
              <a:rPr lang="en-US" sz="1600">
                <a:sym typeface="+mn-ea"/>
              </a:rPr>
              <a:t>[6] </a:t>
            </a:r>
            <a:r>
              <a:rPr lang="en-US" altLang="zh-CN" sz="1600">
                <a:sym typeface="+mn-ea"/>
              </a:rPr>
              <a:t>Thomas, N., Miller, A. J., Ayaz, H., &amp; Brown, J. D. (2023). Haptic shared control improves neural efficiency during myoelectric prosthesis use. Scientific reports, 13(1), 484.</a:t>
            </a:r>
            <a:endParaRPr lang="en-US" altLang="zh-CN" sz="1600">
              <a:sym typeface="+mn-ea"/>
            </a:endParaRPr>
          </a:p>
        </p:txBody>
      </p:sp>
    </p:spTree>
  </p:cSld>
  <p:clrMapOvr>
    <a:masterClrMapping/>
  </p:clrMapOvr>
</p:sld>
</file>

<file path=ppt/tags/tag1.xml><?xml version="1.0" encoding="utf-8"?>
<p:tagLst xmlns:p="http://schemas.openxmlformats.org/presentationml/2006/main">
  <p:tag name="KSO_WM_DIAGRAM_VIRTUALLY_FRAME" val="{&quot;height&quot;:344.5,&quot;left&quot;:17.4,&quot;top&quot;:66.3,&quot;width&quot;:686.4}"/>
</p:tagLst>
</file>

<file path=ppt/tags/tag2.xml><?xml version="1.0" encoding="utf-8"?>
<p:tagLst xmlns:p="http://schemas.openxmlformats.org/presentationml/2006/main">
  <p:tag name="KSO_WM_DIAGRAM_VIRTUALLY_FRAME" val="{&quot;height&quot;:344.5,&quot;left&quot;:17.4,&quot;top&quot;:66.3,&quot;width&quot;:686.4}"/>
</p:tagLst>
</file>

<file path=ppt/tags/tag3.xml><?xml version="1.0" encoding="utf-8"?>
<p:tagLst xmlns:p="http://schemas.openxmlformats.org/presentationml/2006/main">
  <p:tag name="KSO_WM_DIAGRAM_VIRTUALLY_FRAME" val="{&quot;height&quot;:344.5,&quot;left&quot;:17.4,&quot;top&quot;:66.3,&quot;width&quot;:686.4}"/>
</p:tagLst>
</file>

<file path=ppt/tags/tag4.xml><?xml version="1.0" encoding="utf-8"?>
<p:tagLst xmlns:p="http://schemas.openxmlformats.org/presentationml/2006/main">
  <p:tag name="KSO_WM_DIAGRAM_VIRTUALLY_FRAME" val="{&quot;height&quot;:344.5,&quot;left&quot;:17.4,&quot;top&quot;:66.3,&quot;width&quot;:686.4}"/>
</p:tagLst>
</file>

<file path=ppt/tags/tag5.xml><?xml version="1.0" encoding="utf-8"?>
<p:tagLst xmlns:p="http://schemas.openxmlformats.org/presentationml/2006/main">
  <p:tag name="KSO_WM_DIAGRAM_VIRTUALLY_FRAME" val="{&quot;height&quot;:344.5,&quot;left&quot;:17.4,&quot;top&quot;:66.3,&quot;width&quot;:686.4}"/>
</p:tagLst>
</file>

<file path=ppt/tags/tag6.xml><?xml version="1.0" encoding="utf-8"?>
<p:tagLst xmlns:p="http://schemas.openxmlformats.org/presentationml/2006/main">
  <p:tag name="KSO_WM_DIAGRAM_VIRTUALLY_FRAME" val="{&quot;height&quot;:344.5,&quot;left&quot;:17.4,&quot;top&quot;:66.3,&quot;width&quot;:686.4}"/>
</p:tagLst>
</file>

<file path=ppt/tags/tag7.xml><?xml version="1.0" encoding="utf-8"?>
<p:tagLst xmlns:p="http://schemas.openxmlformats.org/presentationml/2006/main">
  <p:tag name="KSO_WM_DIAGRAM_VIRTUALLY_FRAME" val="{&quot;height&quot;:464.4,&quot;left&quot;:12.9,&quot;top&quot;:99.5,&quot;width&quot;:1501.65}"/>
</p:tagLst>
</file>

<file path=ppt/tags/tag8.xml><?xml version="1.0" encoding="utf-8"?>
<p:tagLst xmlns:p="http://schemas.openxmlformats.org/presentationml/2006/main">
  <p:tag name="KSO_WM_DIAGRAM_VIRTUALLY_FRAME" val="{&quot;height&quot;:275.65,&quot;left&quot;:17.5,&quot;top&quot;:193.7,&quot;width&quot;:687.2}"/>
</p:tagLst>
</file>

<file path=ppt/tags/tag9.xml><?xml version="1.0" encoding="utf-8"?>
<p:tagLst xmlns:p="http://schemas.openxmlformats.org/presentationml/2006/main">
  <p:tag name="KSO_WM_DIAGRAM_VIRTUALLY_FRAME" val="{&quot;height&quot;:275.65,&quot;left&quot;:17.5,&quot;top&quot;:193.7,&quot;width&quot;:687.2}"/>
</p:tagLst>
</file>

<file path=ppt/tags/tag10.xml><?xml version="1.0" encoding="utf-8"?>
<p:tagLst xmlns:p="http://schemas.openxmlformats.org/presentationml/2006/main">
  <p:tag name="KSO_WM_DIAGRAM_VIRTUALLY_FRAME" val="{&quot;height&quot;:275.65,&quot;left&quot;:17.5,&quot;top&quot;:193.7,&quot;width&quot;:687.2}"/>
</p:tagLst>
</file>

<file path=ppt/tags/tag11.xml><?xml version="1.0" encoding="utf-8"?>
<p:tagLst xmlns:p="http://schemas.openxmlformats.org/presentationml/2006/main">
  <p:tag name="KSO_WM_DIAGRAM_VIRTUALLY_FRAME" val="{&quot;height&quot;:275.65,&quot;left&quot;:17.5,&quot;top&quot;:193.7,&quot;width&quot;:687.2}"/>
</p:tagLst>
</file>

<file path=ppt/tags/tag12.xml><?xml version="1.0" encoding="utf-8"?>
<p:tagLst xmlns:p="http://schemas.openxmlformats.org/presentationml/2006/main">
  <p:tag name="KSO_WM_DIAGRAM_VIRTUALLY_FRAME" val="{&quot;height&quot;:275.65,&quot;left&quot;:17.5,&quot;top&quot;:193.7,&quot;width&quot;:687.2}"/>
</p:tagLst>
</file>

<file path=ppt/tags/tag13.xml><?xml version="1.0" encoding="utf-8"?>
<p:tagLst xmlns:p="http://schemas.openxmlformats.org/presentationml/2006/main">
  <p:tag name="KSO_WM_DIAGRAM_VIRTUALLY_FRAME" val="{&quot;height&quot;:464.4,&quot;left&quot;:12.9,&quot;top&quot;:99.5,&quot;width&quot;:1501.65}"/>
</p:tagLst>
</file>

<file path=ppt/tags/tag14.xml><?xml version="1.0" encoding="utf-8"?>
<p:tagLst xmlns:p="http://schemas.openxmlformats.org/presentationml/2006/main">
  <p:tag name="KSO_WM_DIAGRAM_VIRTUALLY_FRAME" val="{&quot;height&quot;:278.25,&quot;left&quot;:12.9,&quot;top&quot;:181.15,&quot;width&quot;:1501.65}"/>
</p:tagLst>
</file>

<file path=ppt/tags/tag15.xml><?xml version="1.0" encoding="utf-8"?>
<p:tagLst xmlns:p="http://schemas.openxmlformats.org/presentationml/2006/main">
  <p:tag name="KSO_WM_DIAGRAM_VIRTUALLY_FRAME" val="{&quot;height&quot;:464.4,&quot;left&quot;:12.9,&quot;top&quot;:99.5,&quot;width&quot;:1501.65}"/>
</p:tagLst>
</file>

<file path=ppt/tags/tag16.xml><?xml version="1.0" encoding="utf-8"?>
<p:tagLst xmlns:p="http://schemas.openxmlformats.org/presentationml/2006/main">
  <p:tag name="KSO_WM_DIAGRAM_VIRTUALLY_FRAME" val="{&quot;height&quot;:278.25,&quot;left&quot;:12.9,&quot;top&quot;:181.15,&quot;width&quot;:770.7}"/>
</p:tagLst>
</file>

<file path=ppt/tags/tag17.xml><?xml version="1.0" encoding="utf-8"?>
<p:tagLst xmlns:p="http://schemas.openxmlformats.org/presentationml/2006/main">
  <p:tag name="KSO_WM_DIAGRAM_VIRTUALLY_FRAME" val="{&quot;height&quot;:464.4,&quot;left&quot;:12.9,&quot;top&quot;:99.5,&quot;width&quot;:1501.65}"/>
</p:tagLst>
</file>

<file path=ppt/tags/tag18.xml><?xml version="1.0" encoding="utf-8"?>
<p:tagLst xmlns:p="http://schemas.openxmlformats.org/presentationml/2006/main">
  <p:tag name="KSO_WM_DIAGRAM_VIRTUALLY_FRAME" val="{&quot;height&quot;:464.4,&quot;left&quot;:12.9,&quot;top&quot;:99.5,&quot;width&quot;:1501.65}"/>
</p:tagLst>
</file>

<file path=ppt/tags/tag19.xml><?xml version="1.0" encoding="utf-8"?>
<p:tagLst xmlns:p="http://schemas.openxmlformats.org/presentationml/2006/main">
  <p:tag name="KSO_WM_DIAGRAM_VIRTUALLY_FRAME" val="{&quot;height&quot;:464.4,&quot;left&quot;:12.9,&quot;top&quot;:99.5,&quot;width&quot;:1501.65}"/>
</p:tagLst>
</file>

<file path=ppt/tags/tag20.xml><?xml version="1.0" encoding="utf-8"?>
<p:tagLst xmlns:p="http://schemas.openxmlformats.org/presentationml/2006/main">
  <p:tag name="KSO_WM_DIAGRAM_VIRTUALLY_FRAME" val="{&quot;height&quot;:464.4,&quot;left&quot;:12.9,&quot;top&quot;:99.5,&quot;width&quot;:1501.65}"/>
</p:tagLst>
</file>

<file path=ppt/tags/tag21.xml><?xml version="1.0" encoding="utf-8"?>
<p:tagLst xmlns:p="http://schemas.openxmlformats.org/presentationml/2006/main">
  <p:tag name="KSO_WM_DIAGRAM_VIRTUALLY_FRAME" val="{&quot;height&quot;:464.4,&quot;left&quot;:12.9,&quot;top&quot;:99.5,&quot;width&quot;:1501.65}"/>
</p:tagLst>
</file>

<file path=ppt/tags/tag22.xml><?xml version="1.0" encoding="utf-8"?>
<p:tagLst xmlns:p="http://schemas.openxmlformats.org/presentationml/2006/main">
  <p:tag name="KSO_WM_DIAGRAM_VIRTUALLY_FRAME" val="{&quot;height&quot;:278.25,&quot;left&quot;:12.9,&quot;top&quot;:181.15,&quot;width&quot;:1501.65}"/>
</p:tagLst>
</file>

<file path=ppt/tags/tag23.xml><?xml version="1.0" encoding="utf-8"?>
<p:tagLst xmlns:p="http://schemas.openxmlformats.org/presentationml/2006/main">
  <p:tag name="KSO_WM_DIAGRAM_VIRTUALLY_FRAME" val="{&quot;height&quot;:464.4,&quot;left&quot;:12.9,&quot;top&quot;:99.5,&quot;width&quot;:1501.65}"/>
</p:tagLst>
</file>

<file path=ppt/tags/tag24.xml><?xml version="1.0" encoding="utf-8"?>
<p:tagLst xmlns:p="http://schemas.openxmlformats.org/presentationml/2006/main">
  <p:tag name="KSO_WM_DIAGRAM_VIRTUALLY_FRAME" val="{&quot;height&quot;:278.25,&quot;left&quot;:12.9,&quot;top&quot;:181.15,&quot;width&quot;:770.7}"/>
</p:tagLst>
</file>

<file path=ppt/tags/tag25.xml><?xml version="1.0" encoding="utf-8"?>
<p:tagLst xmlns:p="http://schemas.openxmlformats.org/presentationml/2006/main">
  <p:tag name="KSO_WM_DIAGRAM_VIRTUALLY_FRAME" val="{&quot;height&quot;:464.4,&quot;left&quot;:12.9,&quot;top&quot;:99.5,&quot;width&quot;:1501.65}"/>
</p:tagLst>
</file>

<file path=ppt/tags/tag26.xml><?xml version="1.0" encoding="utf-8"?>
<p:tagLst xmlns:p="http://schemas.openxmlformats.org/presentationml/2006/main">
  <p:tag name="KSO_WM_DIAGRAM_VIRTUALLY_FRAME" val="{&quot;height&quot;:464.4,&quot;left&quot;:12.9,&quot;top&quot;:99.5,&quot;width&quot;:1501.65}"/>
</p:tagLst>
</file>

<file path=ppt/tags/tag27.xml><?xml version="1.0" encoding="utf-8"?>
<p:tagLst xmlns:p="http://schemas.openxmlformats.org/presentationml/2006/main">
  <p:tag name="KSO_WM_DIAGRAM_VIRTUALLY_FRAME" val="{&quot;height&quot;:464.4,&quot;left&quot;:12.9,&quot;top&quot;:99.5,&quot;width&quot;:1501.65}"/>
</p:tagLst>
</file>

<file path=ppt/tags/tag28.xml><?xml version="1.0" encoding="utf-8"?>
<p:tagLst xmlns:p="http://schemas.openxmlformats.org/presentationml/2006/main">
  <p:tag name="KSO_WM_DIAGRAM_VIRTUALLY_FRAME" val="{&quot;height&quot;:464.4,&quot;left&quot;:12.9,&quot;top&quot;:99.5,&quot;width&quot;:1501.65}"/>
</p:tagLst>
</file>

<file path=ppt/tags/tag29.xml><?xml version="1.0" encoding="utf-8"?>
<p:tagLst xmlns:p="http://schemas.openxmlformats.org/presentationml/2006/main">
  <p:tag name="KSO_WM_DIAGRAM_VIRTUALLY_FRAME" val="{&quot;height&quot;:464.4,&quot;left&quot;:12.9,&quot;top&quot;:99.5,&quot;width&quot;:1501.65}"/>
</p:tagLst>
</file>

<file path=ppt/tags/tag30.xml><?xml version="1.0" encoding="utf-8"?>
<p:tagLst xmlns:p="http://schemas.openxmlformats.org/presentationml/2006/main">
  <p:tag name="KSO_WM_DIAGRAM_VIRTUALLY_FRAME" val="{&quot;height&quot;:464.4,&quot;left&quot;:12.9,&quot;top&quot;:99.5,&quot;width&quot;:1501.65}"/>
</p:tagLst>
</file>

<file path=ppt/tags/tag31.xml><?xml version="1.0" encoding="utf-8"?>
<p:tagLst xmlns:p="http://schemas.openxmlformats.org/presentationml/2006/main">
  <p:tag name="KSO_WM_DIAGRAM_VIRTUALLY_FRAME" val="{&quot;height&quot;:278.25,&quot;left&quot;:12.9,&quot;top&quot;:181.15,&quot;width&quot;:1501.65}"/>
</p:tagLst>
</file>

<file path=ppt/tags/tag32.xml><?xml version="1.0" encoding="utf-8"?>
<p:tagLst xmlns:p="http://schemas.openxmlformats.org/presentationml/2006/main">
  <p:tag name="KSO_WM_DIAGRAM_VIRTUALLY_FRAME" val="{&quot;height&quot;:464.4,&quot;left&quot;:12.9,&quot;top&quot;:99.5,&quot;width&quot;:1501.65}"/>
</p:tagLst>
</file>

<file path=ppt/tags/tag33.xml><?xml version="1.0" encoding="utf-8"?>
<p:tagLst xmlns:p="http://schemas.openxmlformats.org/presentationml/2006/main">
  <p:tag name="KSO_WM_DIAGRAM_VIRTUALLY_FRAME" val="{&quot;height&quot;:278.25,&quot;left&quot;:12.9,&quot;top&quot;:181.15,&quot;width&quot;:770.7}"/>
</p:tagLst>
</file>

<file path=ppt/tags/tag34.xml><?xml version="1.0" encoding="utf-8"?>
<p:tagLst xmlns:p="http://schemas.openxmlformats.org/presentationml/2006/main">
  <p:tag name="KSO_WM_DIAGRAM_VIRTUALLY_FRAME" val="{&quot;height&quot;:464.4,&quot;left&quot;:12.9,&quot;top&quot;:99.5,&quot;width&quot;:1501.65}"/>
</p:tagLst>
</file>

<file path=ppt/tags/tag35.xml><?xml version="1.0" encoding="utf-8"?>
<p:tagLst xmlns:p="http://schemas.openxmlformats.org/presentationml/2006/main">
  <p:tag name="KSO_WM_DIAGRAM_VIRTUALLY_FRAME" val="{&quot;height&quot;:464.4,&quot;left&quot;:12.9,&quot;top&quot;:99.5,&quot;width&quot;:1501.65}"/>
</p:tagLst>
</file>

<file path=ppt/tags/tag36.xml><?xml version="1.0" encoding="utf-8"?>
<p:tagLst xmlns:p="http://schemas.openxmlformats.org/presentationml/2006/main">
  <p:tag name="KSO_WM_DIAGRAM_VIRTUALLY_FRAME" val="{&quot;height&quot;:464.4,&quot;left&quot;:12.9,&quot;top&quot;:99.5,&quot;width&quot;:1501.65}"/>
</p:tagLst>
</file>

<file path=ppt/tags/tag37.xml><?xml version="1.0" encoding="utf-8"?>
<p:tagLst xmlns:p="http://schemas.openxmlformats.org/presentationml/2006/main">
  <p:tag name="KSO_WM_DIAGRAM_VIRTUALLY_FRAME" val="{&quot;height&quot;:464.4,&quot;left&quot;:12.9,&quot;top&quot;:99.5,&quot;width&quot;:1501.65}"/>
</p:tagLst>
</file>

<file path=ppt/tags/tag38.xml><?xml version="1.0" encoding="utf-8"?>
<p:tagLst xmlns:p="http://schemas.openxmlformats.org/presentationml/2006/main">
  <p:tag name="KSO_WM_DIAGRAM_VIRTUALLY_FRAME" val="{&quot;height&quot;:464.4,&quot;left&quot;:12.9,&quot;top&quot;:99.5,&quot;width&quot;:1501.65}"/>
</p:tagLst>
</file>

<file path=ppt/tags/tag39.xml><?xml version="1.0" encoding="utf-8"?>
<p:tagLst xmlns:p="http://schemas.openxmlformats.org/presentationml/2006/main">
  <p:tag name="KSO_WM_DIAGRAM_VIRTUALLY_FRAME" val="{&quot;height&quot;:464.4,&quot;left&quot;:12.9,&quot;top&quot;:99.5,&quot;width&quot;:1501.65}"/>
</p:tagLst>
</file>

<file path=ppt/tags/tag40.xml><?xml version="1.0" encoding="utf-8"?>
<p:tagLst xmlns:p="http://schemas.openxmlformats.org/presentationml/2006/main">
  <p:tag name="KSO_WM_DIAGRAM_VIRTUALLY_FRAME" val="{&quot;height&quot;:278.25,&quot;left&quot;:12.9,&quot;top&quot;:181.15,&quot;width&quot;:1501.65}"/>
</p:tagLst>
</file>

<file path=ppt/tags/tag41.xml><?xml version="1.0" encoding="utf-8"?>
<p:tagLst xmlns:p="http://schemas.openxmlformats.org/presentationml/2006/main">
  <p:tag name="KSO_WM_DIAGRAM_VIRTUALLY_FRAME" val="{&quot;height&quot;:464.4,&quot;left&quot;:12.9,&quot;top&quot;:99.5,&quot;width&quot;:1501.65}"/>
</p:tagLst>
</file>

<file path=ppt/tags/tag42.xml><?xml version="1.0" encoding="utf-8"?>
<p:tagLst xmlns:p="http://schemas.openxmlformats.org/presentationml/2006/main">
  <p:tag name="KSO_WM_DIAGRAM_VIRTUALLY_FRAME" val="{&quot;height&quot;:278.25,&quot;left&quot;:12.9,&quot;top&quot;:181.15,&quot;width&quot;:770.7}"/>
</p:tagLst>
</file>

<file path=ppt/tags/tag43.xml><?xml version="1.0" encoding="utf-8"?>
<p:tagLst xmlns:p="http://schemas.openxmlformats.org/presentationml/2006/main">
  <p:tag name="KSO_WM_DIAGRAM_VIRTUALLY_FRAME" val="{&quot;height&quot;:464.4,&quot;left&quot;:12.9,&quot;top&quot;:99.5,&quot;width&quot;:1501.65}"/>
</p:tagLst>
</file>

<file path=ppt/tags/tag44.xml><?xml version="1.0" encoding="utf-8"?>
<p:tagLst xmlns:p="http://schemas.openxmlformats.org/presentationml/2006/main">
  <p:tag name="KSO_WM_DIAGRAM_VIRTUALLY_FRAME" val="{&quot;height&quot;:464.4,&quot;left&quot;:12.9,&quot;top&quot;:99.5,&quot;width&quot;:1501.65}"/>
</p:tagLst>
</file>

<file path=ppt/tags/tag45.xml><?xml version="1.0" encoding="utf-8"?>
<p:tagLst xmlns:p="http://schemas.openxmlformats.org/presentationml/2006/main">
  <p:tag name="KSO_WM_DIAGRAM_VIRTUALLY_FRAME" val="{&quot;height&quot;:464.4,&quot;left&quot;:12.9,&quot;top&quot;:99.5,&quot;width&quot;:1501.65}"/>
</p:tagLst>
</file>

<file path=ppt/tags/tag46.xml><?xml version="1.0" encoding="utf-8"?>
<p:tagLst xmlns:p="http://schemas.openxmlformats.org/presentationml/2006/main">
  <p:tag name="KSO_WM_DIAGRAM_VIRTUALLY_FRAME" val="{&quot;height&quot;:464.4,&quot;left&quot;:12.9,&quot;top&quot;:99.5,&quot;width&quot;:1501.65}"/>
</p:tagLst>
</file>

<file path=ppt/tags/tag47.xml><?xml version="1.0" encoding="utf-8"?>
<p:tagLst xmlns:p="http://schemas.openxmlformats.org/presentationml/2006/main">
  <p:tag name="KSO_WM_DIAGRAM_VIRTUALLY_FRAME" val="{&quot;height&quot;:409.9212598425197,&quot;left&quot;:36,&quot;top&quot;:94,&quot;width&quot;:283.46456692913387}"/>
</p:tagLst>
</file>

<file path=ppt/tags/tag48.xml><?xml version="1.0" encoding="utf-8"?>
<p:tagLst xmlns:p="http://schemas.openxmlformats.org/presentationml/2006/main">
  <p:tag name="KSO_WM_DIAGRAM_VIRTUALLY_FRAME" val="{&quot;height&quot;:409.9212598425197,&quot;left&quot;:36,&quot;top&quot;:94,&quot;width&quot;:283.46456692913387}"/>
</p:tagLst>
</file>

<file path=ppt/tags/tag49.xml><?xml version="1.0" encoding="utf-8"?>
<p:tagLst xmlns:p="http://schemas.openxmlformats.org/presentationml/2006/main">
  <p:tag name="KSO_WM_DIAGRAM_VIRTUALLY_FRAME" val="{&quot;height&quot;:409.9212598425197,&quot;left&quot;:36,&quot;top&quot;:94,&quot;width&quot;:283.46456692913387}"/>
</p:tagLst>
</file>

<file path=ppt/tags/tag50.xml><?xml version="1.0" encoding="utf-8"?>
<p:tagLst xmlns:p="http://schemas.openxmlformats.org/presentationml/2006/main">
  <p:tag name="KSO_WM_DIAGRAM_VIRTUALLY_FRAME" val="{&quot;height&quot;:409.9212598425197,&quot;left&quot;:36,&quot;top&quot;:94,&quot;width&quot;:283.46456692913387}"/>
</p:tagLst>
</file>

<file path=ppt/tags/tag51.xml><?xml version="1.0" encoding="utf-8"?>
<p:tagLst xmlns:p="http://schemas.openxmlformats.org/presentationml/2006/main">
  <p:tag name="KSO_WM_DIAGRAM_VIRTUALLY_FRAME" val="{&quot;height&quot;:409.9212598425197,&quot;left&quot;:36,&quot;top&quot;:94,&quot;width&quot;:283.46456692913387}"/>
</p:tagLst>
</file>

<file path=ppt/tags/tag52.xml><?xml version="1.0" encoding="utf-8"?>
<p:tagLst xmlns:p="http://schemas.openxmlformats.org/presentationml/2006/main">
  <p:tag name="KSO_WM_DIAGRAM_VIRTUALLY_FRAME" val="{&quot;height&quot;:409.9212598425197,&quot;left&quot;:36,&quot;top&quot;:94,&quot;width&quot;:283.46456692913387}"/>
</p:tagLst>
</file>

<file path=ppt/tags/tag53.xml><?xml version="1.0" encoding="utf-8"?>
<p:tagLst xmlns:p="http://schemas.openxmlformats.org/presentationml/2006/main">
  <p:tag name="KSO_WM_DIAGRAM_VIRTUALLY_FRAME" val="{&quot;height&quot;:409.9212598425197,&quot;left&quot;:36,&quot;top&quot;:94,&quot;width&quot;:283.46456692913387}"/>
</p:tagLst>
</file>

<file path=ppt/tags/tag54.xml><?xml version="1.0" encoding="utf-8"?>
<p:tagLst xmlns:p="http://schemas.openxmlformats.org/presentationml/2006/main">
  <p:tag name="KSO_WM_DIAGRAM_VIRTUALLY_FRAME" val="{&quot;height&quot;:409.9212598425197,&quot;left&quot;:36,&quot;top&quot;:94,&quot;width&quot;:283.46456692913387}"/>
</p:tagLst>
</file>

<file path=ppt/tags/tag55.xml><?xml version="1.0" encoding="utf-8"?>
<p:tagLst xmlns:p="http://schemas.openxmlformats.org/presentationml/2006/main">
  <p:tag name="KSO_WM_DIAGRAM_VIRTUALLY_FRAME" val="{&quot;height&quot;:409.9212598425197,&quot;left&quot;:36,&quot;top&quot;:94,&quot;width&quot;:283.46456692913387}"/>
</p:tagLst>
</file>

<file path=ppt/tags/tag56.xml><?xml version="1.0" encoding="utf-8"?>
<p:tagLst xmlns:p="http://schemas.openxmlformats.org/presentationml/2006/main">
  <p:tag name="KSO_WM_DIAGRAM_VIRTUALLY_FRAME" val="{&quot;height&quot;:409.9212598425197,&quot;left&quot;:36,&quot;top&quot;:94,&quot;width&quot;:283.46456692913387}"/>
</p:tagLst>
</file>

<file path=ppt/tags/tag57.xml><?xml version="1.0" encoding="utf-8"?>
<p:tagLst xmlns:p="http://schemas.openxmlformats.org/presentationml/2006/main">
  <p:tag name="KSO_WM_DIAGRAM_VIRTUALLY_FRAME" val="{&quot;height&quot;:409.9212598425197,&quot;left&quot;:36,&quot;top&quot;:94,&quot;width&quot;:283.46456692913387}"/>
</p:tagLst>
</file>

<file path=ppt/tags/tag58.xml><?xml version="1.0" encoding="utf-8"?>
<p:tagLst xmlns:p="http://schemas.openxmlformats.org/presentationml/2006/main">
  <p:tag name="KSO_WM_DIAGRAM_VIRTUALLY_FRAME" val="{&quot;height&quot;:275.65,&quot;left&quot;:17.5,&quot;top&quot;:193.7,&quot;width&quot;:687.2}"/>
</p:tagLst>
</file>

<file path=ppt/tags/tag59.xml><?xml version="1.0" encoding="utf-8"?>
<p:tagLst xmlns:p="http://schemas.openxmlformats.org/presentationml/2006/main">
  <p:tag name="KSO_WM_DIAGRAM_VIRTUALLY_FRAME" val="{&quot;height&quot;:275.65,&quot;left&quot;:17.5,&quot;top&quot;:193.7,&quot;width&quot;:687.2}"/>
</p:tagLst>
</file>

<file path=ppt/tags/tag60.xml><?xml version="1.0" encoding="utf-8"?>
<p:tagLst xmlns:p="http://schemas.openxmlformats.org/presentationml/2006/main">
  <p:tag name="KSO_WM_DIAGRAM_VIRTUALLY_FRAME" val="{&quot;height&quot;:275.65,&quot;left&quot;:17.5,&quot;top&quot;:193.7,&quot;width&quot;:687.2}"/>
</p:tagLst>
</file>

<file path=ppt/tags/tag61.xml><?xml version="1.0" encoding="utf-8"?>
<p:tagLst xmlns:p="http://schemas.openxmlformats.org/presentationml/2006/main">
  <p:tag name="KSO_WM_DIAGRAM_VIRTUALLY_FRAME" val="{&quot;height&quot;:294.05,&quot;left&quot;:382.85,&quot;top&quot;:206.6,&quot;width&quot;:321.5}"/>
</p:tagLst>
</file>

<file path=ppt/tags/tag62.xml><?xml version="1.0" encoding="utf-8"?>
<p:tagLst xmlns:p="http://schemas.openxmlformats.org/presentationml/2006/main">
  <p:tag name="KSO_WM_DIAGRAM_VIRTUALLY_FRAME" val="{&quot;height&quot;:294.05,&quot;left&quot;:382.85,&quot;top&quot;:206.6,&quot;width&quot;:321.5}"/>
</p:tagLst>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PS">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5400" cmpd="sng">
          <a:solidFill>
            <a:schemeClr val="tx1"/>
          </a:solidFill>
          <a:prstDash val="solid"/>
          <a:tailEnd type="arrow"/>
        </a:ln>
      </a:spPr>
      <a:bodyPr rtlCol="0" anchor="ctr"/>
      <a:lstStyle>
        <a:defPPr algn="ctr">
          <a:defRPr lang="zh-CN" altLang="en-US"/>
        </a:defPPr>
      </a:lstStyle>
      <a:style>
        <a:lnRef idx="2">
          <a:schemeClr val="accent1">
            <a:lumMod val="75000"/>
          </a:schemeClr>
        </a:lnRef>
        <a:fillRef idx="1">
          <a:schemeClr val="accent1"/>
        </a:fillRef>
        <a:effectRef idx="0">
          <a:srgbClr val="FFFFFF"/>
        </a:effectRef>
        <a:fontRef idx="minor">
          <a:schemeClr val="lt1"/>
        </a:fontRef>
      </a:style>
    </a:spDef>
    <a:lnDef>
      <a:spPr>
        <a:noFill/>
        <a:ln w="19050">
          <a:solidFill>
            <a:srgbClr val="14B8A6"/>
          </a:solidFill>
          <a:prstDash val="solid"/>
          <a:tailEnd type="triangle"/>
        </a:ln>
      </a:spPr>
      <a:body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65.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a3c59a-3bb1-4ac4-8580-9b2ba74cfe5b">
      <Terms xmlns="http://schemas.microsoft.com/office/infopath/2007/PartnerControls"/>
    </lcf76f155ced4ddcb4097134ff3c332f>
    <TaxCatchAll xmlns="56bf2a1e-b0f5-401e-a825-4d0cd333482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EEEA4EB4B1C87045B2C7B9E34AE6DFF4" ma:contentTypeVersion="19" ma:contentTypeDescription="新しいドキュメントを作成します。" ma:contentTypeScope="" ma:versionID="195f4af887e8b02337b1b142d1f847de">
  <xsd:schema xmlns:xsd="http://www.w3.org/2001/XMLSchema" xmlns:xs="http://www.w3.org/2001/XMLSchema" xmlns:p="http://schemas.microsoft.com/office/2006/metadata/properties" xmlns:ns2="c8a3c59a-3bb1-4ac4-8580-9b2ba74cfe5b" xmlns:ns3="56bf2a1e-b0f5-401e-a825-4d0cd333482d" targetNamespace="http://schemas.microsoft.com/office/2006/metadata/properties" ma:root="true" ma:fieldsID="81e6449237d2fc142489e0904e1e7166" ns2:_="" ns3:_="">
    <xsd:import namespace="c8a3c59a-3bb1-4ac4-8580-9b2ba74cfe5b"/>
    <xsd:import namespace="56bf2a1e-b0f5-401e-a825-4d0cd333482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a3c59a-3bb1-4ac4-8580-9b2ba74cfe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60da577d-8c11-42e1-9807-59d1f71190c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6bf2a1e-b0f5-401e-a825-4d0cd333482d" elementFormDefault="qualified">
    <xsd:import namespace="http://schemas.microsoft.com/office/2006/documentManagement/types"/>
    <xsd:import namespace="http://schemas.microsoft.com/office/infopath/2007/PartnerControls"/>
    <xsd:element name="SharedWithUsers" ma:index="1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afb7adad-3fb7-4e7a-8b83-8b41f07d25c8}" ma:internalName="TaxCatchAll" ma:showField="CatchAllData" ma:web="56bf2a1e-b0f5-401e-a825-4d0cd333482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63.xml><?xml version="1.0" encoding="utf-8"?>
<ds:datastoreItem xmlns:ds="http://schemas.openxmlformats.org/officeDocument/2006/customXml" ds:itemID="{D3FA7E84-7FC5-4C41-A4F9-8872414BB2F4}">
  <ds:schemaRefs/>
</ds:datastoreItem>
</file>

<file path=customXml/itemProps64.xml><?xml version="1.0" encoding="utf-8"?>
<ds:datastoreItem xmlns:ds="http://schemas.openxmlformats.org/officeDocument/2006/customXml" ds:itemID="{0E5148B6-4531-42C7-8EF9-49C77F467C6E}">
  <ds:schemaRefs/>
</ds:datastoreItem>
</file>

<file path=customXml/itemProps65.xml><?xml version="1.0" encoding="utf-8"?>
<ds:datastoreItem xmlns:ds="http://schemas.openxmlformats.org/officeDocument/2006/customXml" ds:itemID="{9FF3F963-4824-4617-9390-F81F48A450C9}">
  <ds:schemaRefs/>
</ds:datastoreItem>
</file>

<file path=docProps/app.xml><?xml version="1.0" encoding="utf-8"?>
<Properties xmlns="http://schemas.openxmlformats.org/officeDocument/2006/extended-properties" xmlns:vt="http://schemas.openxmlformats.org/officeDocument/2006/docPropsVTypes">
  <TotalTime>0</TotalTime>
  <Words>4869</Words>
  <Application>WPS 演示</Application>
  <PresentationFormat>画面に合わせる (4:3)</PresentationFormat>
  <Paragraphs>219</Paragraphs>
  <Slides>13</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13</vt:i4>
      </vt:variant>
    </vt:vector>
  </HeadingPairs>
  <TitlesOfParts>
    <vt:vector size="28" baseType="lpstr">
      <vt:lpstr>Arial</vt:lpstr>
      <vt:lpstr>宋体</vt:lpstr>
      <vt:lpstr>Wingdings</vt:lpstr>
      <vt:lpstr>Times New Roman</vt:lpstr>
      <vt:lpstr>Source Han Sans JP Bold</vt:lpstr>
      <vt:lpstr>Segoe Print</vt:lpstr>
      <vt:lpstr>Avenir Heavy</vt:lpstr>
      <vt:lpstr>Times New Roman</vt:lpstr>
      <vt:lpstr>Calibri</vt:lpstr>
      <vt:lpstr>Wingdings</vt:lpstr>
      <vt:lpstr>MS PGothic</vt:lpstr>
      <vt:lpstr>微软雅黑</vt:lpstr>
      <vt:lpstr>Arial Unicode MS</vt:lpstr>
      <vt:lpstr>Calibri</vt:lpstr>
      <vt:lpstr>Office テーマ</vt:lpstr>
      <vt:lpstr>Multimodal Shared Control for Prosthetic Hands: Continuous Adjustment for Reduced Cognitive Load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24742101 石津七海</dc:creator>
  <cp:lastModifiedBy>down down down down down</cp:lastModifiedBy>
  <cp:revision>394</cp:revision>
  <dcterms:created xsi:type="dcterms:W3CDTF">2025-10-02T04:01:00Z</dcterms:created>
  <dcterms:modified xsi:type="dcterms:W3CDTF">2026-07-28T16:18:39Z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0x010100EEEA4EB4B1C87045B2C7B9E34AE6DFF4</vt:lpwstr>
  </property>
  <property fmtid="{D5CDD505-2E9C-101B-9397-08002B2CF9AE}" pid="3" name="ICV">
    <vt:lpwstr>B70015103C7249FE8210DA285DD4FDE3_12</vt:lpwstr>
  </property>
  <property fmtid="{D5CDD505-2E9C-101B-9397-08002B2CF9AE}" pid="4" name="KSOProductBuildVer">
    <vt:lpwstr>2052-12.1.0.26895</vt:lpwstr>
  </property>
</Properties>
</file>