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63" r:id="rId3"/>
    <p:sldId id="564" r:id="rId5"/>
    <p:sldId id="565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FDE75-3379-4F81-9EAD-1D632438B6F5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4A47D-7BDB-4C41-AF5A-D59BB44550C0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7F237-91A9-485E-B563-801D6A79A31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B1803-DBAD-40F0-B8A3-FE29A4ABB2A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image" Target="../media/image5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90" y="165786"/>
            <a:ext cx="745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R</a:t>
            </a: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esearch Introduction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296660" y="2326640"/>
            <a:ext cx="5603875" cy="4325045"/>
            <a:chOff x="10614" y="3677"/>
            <a:chExt cx="7940" cy="6128"/>
          </a:xfrm>
        </p:grpSpPr>
        <p:sp>
          <p:nvSpPr>
            <p:cNvPr id="9" name="文本框 8"/>
            <p:cNvSpPr txBox="1"/>
            <p:nvPr/>
          </p:nvSpPr>
          <p:spPr>
            <a:xfrm>
              <a:off x="10614" y="9415"/>
              <a:ext cx="7940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MS PMincho" panose="02020600040205080304" charset="-128"/>
                  <a:ea typeface="MS PMincho" panose="02020600040205080304" charset="-128"/>
                </a:rPr>
                <a:t>Eye-tracking technology has been adopted in multiple research works.</a:t>
              </a:r>
              <a:endParaRPr lang="en-US" altLang="zh-CN" sz="1200" dirty="0">
                <a:latin typeface="MS PMincho" panose="02020600040205080304" charset="-128"/>
                <a:ea typeface="MS PMincho" panose="02020600040205080304" charset="-128"/>
              </a:endParaRPr>
            </a:p>
          </p:txBody>
        </p:sp>
        <p:pic>
          <p:nvPicPr>
            <p:cNvPr id="5" name="图片 4" descr="未标题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31" y="3677"/>
              <a:ext cx="7305" cy="5550"/>
            </a:xfrm>
            <a:prstGeom prst="rect">
              <a:avLst/>
            </a:prstGeom>
          </p:spPr>
        </p:pic>
      </p:grpSp>
      <p:grpSp>
        <p:nvGrpSpPr>
          <p:cNvPr id="12" name="组合 11"/>
          <p:cNvGrpSpPr>
            <a:grpSpLocks noChangeAspect="1"/>
          </p:cNvGrpSpPr>
          <p:nvPr/>
        </p:nvGrpSpPr>
        <p:grpSpPr>
          <a:xfrm>
            <a:off x="762635" y="2245360"/>
            <a:ext cx="4449445" cy="4355080"/>
            <a:chOff x="1880" y="3664"/>
            <a:chExt cx="6400" cy="6264"/>
          </a:xfrm>
        </p:grpSpPr>
        <p:pic>
          <p:nvPicPr>
            <p:cNvPr id="8" name="图片 7" descr="QQ截图202412082133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0" y="3664"/>
              <a:ext cx="6392" cy="5751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880" y="9532"/>
              <a:ext cx="6400" cy="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MS PMincho" panose="02020600040205080304" charset="-128"/>
                  <a:ea typeface="MS PMincho" panose="02020600040205080304" charset="-128"/>
                  <a:cs typeface="MS PMincho" panose="02020600040205080304" charset="-128"/>
                </a:rPr>
                <a:t>CPS LABO Prosthetic Hand</a:t>
              </a:r>
              <a:endParaRPr lang="en-US" altLang="zh-CN" sz="1200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23520" y="720207"/>
            <a:ext cx="1126236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Research Theme:</a:t>
            </a:r>
            <a:r>
              <a:rPr lang="ja-JP" altLang="zh-CN" sz="1700" dirty="0"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「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Prosthetic Hand Control System depends on Eye Tracking, Computer Vision, and EMG</a:t>
            </a:r>
            <a:r>
              <a:rPr lang="ja-JP" altLang="en-US" sz="1700" dirty="0"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」</a:t>
            </a:r>
            <a:endParaRPr lang="ja-JP" altLang="en-US" sz="17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654" y="1101277"/>
            <a:ext cx="108822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</a:rPr>
              <a:t>Research</a:t>
            </a:r>
            <a:r>
              <a:rPr lang="en-US" altLang="ja-JP" sz="1700" dirty="0"/>
              <a:t> </a:t>
            </a:r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</a:rPr>
              <a:t>Content: Add an eye-tracking to the CPS LABO vision-based prosthetic hand</a:t>
            </a:r>
            <a:endParaRPr lang="ja-JP" altLang="en-US" sz="1700" dirty="0">
              <a:latin typeface="MS Mincho" panose="02020609040205080304" charset="-128"/>
              <a:ea typeface="MS Mincho" panose="0202060904020508030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3654" y="1489058"/>
            <a:ext cx="116909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</a:rPr>
              <a:t>Research</a:t>
            </a:r>
            <a:r>
              <a:rPr lang="en-US" altLang="ja-JP" sz="1700" dirty="0"/>
              <a:t> </a:t>
            </a:r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</a:rPr>
              <a:t>Objective: The system smoothly runs</a:t>
            </a:r>
            <a:r>
              <a:rPr lang="ja-JP" altLang="en-US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。</a:t>
            </a:r>
            <a:r>
              <a:rPr lang="en-US" altLang="ja-JP" sz="1700" dirty="0">
                <a:latin typeface="MS Mincho" panose="02020609040205080304" charset="-128"/>
                <a:ea typeface="MS Mincho" panose="02020609040205080304" charset="-128"/>
              </a:rPr>
              <a:t>Improve the recognition accuracy and robustness of the prosthetic hand.</a:t>
            </a:r>
            <a:endParaRPr lang="zh-CN" altLang="en-US" sz="1700" dirty="0">
              <a:latin typeface="MS Mincho" panose="02020609040205080304" charset="-128"/>
              <a:ea typeface="MS Mincho" panose="02020609040205080304" charset="-128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377190" y="2592070"/>
            <a:ext cx="11492230" cy="4018280"/>
            <a:chOff x="594" y="3562"/>
            <a:chExt cx="18098" cy="6328"/>
          </a:xfrm>
        </p:grpSpPr>
        <p:pic>
          <p:nvPicPr>
            <p:cNvPr id="4" name="ECB019B1-382A-4266-B25C-5B523AA43C14-2" descr="wps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4" y="3562"/>
              <a:ext cx="18098" cy="57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6398" y="9456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MS PMincho" panose="02020600040205080304" charset="-128"/>
                  <a:ea typeface="MS PMincho" panose="02020600040205080304" charset="-128"/>
                </a:rPr>
                <a:t>System flowchart</a:t>
              </a:r>
              <a:endParaRPr lang="ja-JP" altLang="zh-CN" sz="1200" dirty="0">
                <a:latin typeface="MS PMincho" panose="02020600040205080304" charset="-128"/>
                <a:ea typeface="MS PMincho" panose="02020600040205080304" charset="-128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82245" y="828675"/>
            <a:ext cx="9048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· 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Step1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</a:rPr>
              <a:t>：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obtain gaze object.</a:t>
            </a:r>
            <a:endParaRPr lang="zh-CN" altLang="en-US" sz="1700" dirty="0">
              <a:latin typeface="MS Mincho" panose="02020609040205080304" charset="-128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2245" y="1319530"/>
            <a:ext cx="1188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· 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Step2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</a:rPr>
              <a:t>：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comparing gaze object image and hand vision image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，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confirming the target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 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in image cognition module</a:t>
            </a:r>
            <a:endParaRPr lang="ja-JP" altLang="en-US" sz="1700" dirty="0">
              <a:latin typeface="MS Mincho" panose="02020609040205080304" charset="-128"/>
              <a:ea typeface="MS Mincho" panose="02020609040205080304" charset="-128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245" y="1810385"/>
            <a:ext cx="11732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· 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Step3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</a:rPr>
              <a:t>：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Fusing image features with </a:t>
            </a:r>
            <a:r>
              <a:rPr lang="en-US" altLang="zh-CN" sz="1700" dirty="0" err="1">
                <a:latin typeface="MS Mincho" panose="02020609040205080304" charset="-128"/>
                <a:ea typeface="MS Mincho" panose="02020609040205080304" charset="-128"/>
              </a:rPr>
              <a:t>sEMG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 signal features, and then 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decide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</a:rPr>
              <a:t> motion</a:t>
            </a:r>
            <a:endParaRPr lang="en-US" altLang="zh-CN" sz="1700" dirty="0">
              <a:latin typeface="MS Mincho" panose="02020609040205080304" charset="-128"/>
              <a:ea typeface="MS Mincho" panose="02020609040205080304" charset="-128"/>
            </a:endParaRPr>
          </a:p>
        </p:txBody>
      </p: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90" y="167233"/>
            <a:ext cx="745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R</a:t>
            </a: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esearch Introduction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図 4" descr="ダイアグラム&#10;&#10;AI によって生成されたコンテンツは間違っている可能性があります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" y="1102947"/>
            <a:ext cx="6115050" cy="3124200"/>
          </a:xfrm>
          <a:prstGeom prst="rect">
            <a:avLst/>
          </a:prstGeom>
        </p:spPr>
      </p:pic>
      <p:sp>
        <p:nvSpPr>
          <p:cNvPr id="3" name="文本框 15"/>
          <p:cNvSpPr txBox="1"/>
          <p:nvPr/>
        </p:nvSpPr>
        <p:spPr>
          <a:xfrm>
            <a:off x="275590" y="4097134"/>
            <a:ext cx="1173226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step1: obtain gaze object </a:t>
            </a:r>
            <a:endParaRPr lang="en-US" altLang="zh-CN" sz="1700" dirty="0">
              <a:latin typeface="MS Mincho" panose="02020609040205080304" charset="-128"/>
              <a:ea typeface="MS Mincho" panose="02020609040205080304" charset="-128"/>
              <a:sym typeface="+mn-ea"/>
            </a:endParaRPr>
          </a:p>
        </p:txBody>
      </p:sp>
      <p:sp>
        <p:nvSpPr>
          <p:cNvPr id="4" name="文本框 15"/>
          <p:cNvSpPr txBox="1"/>
          <p:nvPr/>
        </p:nvSpPr>
        <p:spPr>
          <a:xfrm>
            <a:off x="459740" y="4690876"/>
            <a:ext cx="1173226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solidFill>
                  <a:srgbClr val="FF0000"/>
                </a:solidFill>
                <a:latin typeface="MS Mincho" panose="02020609040205080304" charset="-128"/>
                <a:ea typeface="MS Mincho" panose="02020609040205080304" charset="-128"/>
                <a:sym typeface="+mn-ea"/>
              </a:rPr>
              <a:t>1.coding program</a:t>
            </a:r>
            <a:r>
              <a:rPr lang="zh-CN" altLang="en-US" sz="1700" dirty="0">
                <a:solidFill>
                  <a:srgbClr val="FF0000"/>
                </a:solidFill>
                <a:latin typeface="MS Mincho" panose="02020609040205080304" charset="-128"/>
                <a:ea typeface="MS Mincho" panose="02020609040205080304" charset="-128"/>
                <a:sym typeface="+mn-ea"/>
              </a:rPr>
              <a:t>：</a:t>
            </a:r>
            <a:r>
              <a:rPr lang="en-US" altLang="zh-CN" sz="1700" dirty="0">
                <a:solidFill>
                  <a:srgbClr val="FF0000"/>
                </a:solidFill>
                <a:latin typeface="MS Mincho" panose="02020609040205080304" charset="-128"/>
                <a:ea typeface="MS Mincho" panose="02020609040205080304" charset="-128"/>
                <a:sym typeface="+mn-ea"/>
              </a:rPr>
              <a:t>get gaze vector/Gaze Estimation</a:t>
            </a:r>
            <a:endParaRPr lang="en-US" altLang="zh-CN" sz="1700" dirty="0">
              <a:solidFill>
                <a:srgbClr val="FF0000"/>
              </a:solidFill>
              <a:latin typeface="MS Mincho" panose="02020609040205080304" charset="-128"/>
              <a:ea typeface="MS Mincho" panose="02020609040205080304" charset="-128"/>
              <a:sym typeface="+mn-ea"/>
            </a:endParaRPr>
          </a:p>
        </p:txBody>
      </p:sp>
      <p:sp>
        <p:nvSpPr>
          <p:cNvPr id="6" name="文本框 15"/>
          <p:cNvSpPr txBox="1"/>
          <p:nvPr/>
        </p:nvSpPr>
        <p:spPr>
          <a:xfrm>
            <a:off x="459740" y="5141010"/>
            <a:ext cx="1173226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2.develop hardware: camera + Raspberry Pi system</a:t>
            </a:r>
            <a:r>
              <a:rPr lang="zh-CN" altLang="en-US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，</a:t>
            </a:r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capture scene &amp; capture gaze</a:t>
            </a:r>
            <a:endParaRPr lang="en-US" altLang="zh-CN" sz="1700" dirty="0">
              <a:latin typeface="MS Mincho" panose="02020609040205080304" charset="-128"/>
              <a:ea typeface="MS Mincho" panose="02020609040205080304" charset="-128"/>
              <a:sym typeface="+mn-ea"/>
            </a:endParaRPr>
          </a:p>
        </p:txBody>
      </p:sp>
      <p:sp>
        <p:nvSpPr>
          <p:cNvPr id="8" name="文本框 15"/>
          <p:cNvSpPr txBox="1"/>
          <p:nvPr/>
        </p:nvSpPr>
        <p:spPr>
          <a:xfrm>
            <a:off x="459740" y="5648979"/>
            <a:ext cx="1173226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latin typeface="MS Mincho" panose="02020609040205080304" charset="-128"/>
                <a:ea typeface="MS Mincho" panose="02020609040205080304" charset="-128"/>
                <a:sym typeface="+mn-ea"/>
              </a:rPr>
              <a:t>3.obtain gaze object image</a:t>
            </a:r>
            <a:endParaRPr lang="en-US" altLang="zh-CN" sz="1700" dirty="0">
              <a:latin typeface="MS Mincho" panose="02020609040205080304" charset="-128"/>
              <a:ea typeface="MS Mincho" panose="02020609040205080304" charset="-128"/>
              <a:sym typeface="+mn-ea"/>
            </a:endParaRPr>
          </a:p>
        </p:txBody>
      </p:sp>
      <p:sp>
        <p:nvSpPr>
          <p:cNvPr id="9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90" y="167233"/>
            <a:ext cx="745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R</a:t>
            </a: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esearch Introduction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pic>
        <p:nvPicPr>
          <p:cNvPr id="10" name="vi0417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83680" y="1092835"/>
            <a:ext cx="5274310" cy="32759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WPS 演示</Application>
  <PresentationFormat>ワイド画面</PresentationFormat>
  <Paragraphs>32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MS PMincho</vt:lpstr>
      <vt:lpstr>MS Mincho</vt:lpstr>
      <vt:lpstr>Yu Gothic</vt:lpstr>
      <vt:lpstr>微软雅黑</vt:lpstr>
      <vt:lpstr>Arial Unicode MS</vt:lpstr>
      <vt:lpstr>Yu Gothic Light</vt:lpstr>
      <vt:lpstr>等线</vt:lpstr>
      <vt:lpstr>Office テーマ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</dc:creator>
  <cp:lastModifiedBy>down down down down down</cp:lastModifiedBy>
  <cp:revision>6</cp:revision>
  <dcterms:created xsi:type="dcterms:W3CDTF">2025-04-16T07:39:00Z</dcterms:created>
  <dcterms:modified xsi:type="dcterms:W3CDTF">2025-04-17T11:26:42Z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82745AC4450342099569184A55C0C972_12</vt:lpwstr>
  </property>
  <property fmtid="{D5CDD505-2E9C-101B-9397-08002B2CF9AE}" pid="3" name="KSOProductBuildVer">
    <vt:lpwstr>2052-12.1.0.20784</vt:lpwstr>
  </property>
</Properties>
</file>