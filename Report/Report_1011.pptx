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85" r:id="rId3"/>
    <p:sldId id="278" r:id="rId5"/>
    <p:sldId id="287" r:id="rId6"/>
    <p:sldId id="282" r:id="rId7"/>
    <p:sldId id="283" r:id="rId8"/>
    <p:sldId id="276" r:id="rId9"/>
    <p:sldId id="275" r:id="rId10"/>
    <p:sldId id="271" r:id="rId11"/>
    <p:sldId id="272" r:id="rId12"/>
    <p:sldId id="273" r:id="rId13"/>
  </p:sld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9E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1"/>
          <a:sy n="1" d="1"/>
        </p:scale>
        <p:origin x="0" y="0"/>
      </p:cViewPr>
      <p:guideLst/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zh-CN"/>
              <a:t>So in my research, objective is to Replace classification models to Regression Models.</a:t>
            </a:r>
            <a:br>
              <a:rPr lang="en-US" altLang="zh-CN"/>
            </a:br>
            <a:r>
              <a:rPr lang="en-US" altLang="zh-CN"/>
              <a:t>From modular approach to end to end approach to reduce </a:t>
            </a:r>
            <a:r>
              <a:rPr lang="en-US" altLang="zh-CN">
                <a:sym typeface="+mn-ea"/>
              </a:rPr>
              <a:t>system complexity and loss of important information</a:t>
            </a:r>
            <a:endParaRPr lang="en-US" altLang="zh-CN"/>
          </a:p>
          <a:p>
            <a:r>
              <a:rPr lang="en-US" altLang="zh-CN"/>
              <a:t>RQ is to verify that can the system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build </a:t>
            </a:r>
            <a:r>
              <a:rPr lang="en-US" altLang="zh-CN"/>
              <a:t>on an end-to-end </a:t>
            </a:r>
            <a:r>
              <a:rPr lang="en-US" altLang="zh-CN">
                <a:ea typeface="SimSun" panose="02010600030101010101" pitchFamily="2" charset="-122"/>
                <a:sym typeface="+mn-ea"/>
              </a:rPr>
              <a:t>approach combined with regression be successfully applied, </a:t>
            </a:r>
            <a:endParaRPr lang="en-US" altLang="zh-C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buNone/>
              <a:defRPr sz="45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8" name="フッター プレースホルダー 7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9" name="スライド番号プレースホルダー 8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05954" y="94797"/>
            <a:ext cx="7886700" cy="488889"/>
          </a:xfrm>
        </p:spPr>
        <p:txBody>
          <a:bodyPr>
            <a:normAutofit/>
          </a:bodyPr>
          <a:lstStyle>
            <a:lvl1pPr>
              <a:buNone/>
              <a:defRPr sz="28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4" name="フッター プレースホルダー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直線コネクタ 6"/>
          <p:cNvSpPr>
            <a:spLocks noGrp="1"/>
          </p:cNvSpPr>
          <p:nvPr/>
        </p:nvSpPr>
        <p:spPr>
          <a:xfrm>
            <a:off x="171450" y="94086"/>
            <a:ext cx="0" cy="489600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sp>
      <p:sp>
        <p:nvSpPr>
          <p:cNvPr id="5" name="スライド番号プレースホルダー 4"/>
          <p:cNvSpPr>
            <a:spLocks noGrp="1"/>
          </p:cNvSpPr>
          <p:nvPr>
            <p:ph type="sldNum" idx="12"/>
          </p:nvPr>
        </p:nvSpPr>
        <p:spPr>
          <a:xfrm>
            <a:off x="7063954" y="6574305"/>
            <a:ext cx="2057400" cy="365125"/>
          </a:xfrm>
        </p:spPr>
        <p:txBody>
          <a:bodyPr/>
          <a:lstStyle>
            <a:lvl1pPr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/>
      <p:sp>
        <p:nvSpPr>
          <p:cNvPr id="2" name="日付プレースホルダー 1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3" name="フッター プレースホルダー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4" name="スライド番号プレースホルダー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buNone/>
              <a:defRPr sz="2400"/>
            </a:lvl1pPr>
            <a:lvl2pPr>
              <a:buNone/>
              <a:defRPr sz="2100"/>
            </a:lvl2pPr>
            <a:lvl3pPr>
              <a:buNone/>
              <a:defRPr sz="1800"/>
            </a:lvl3pPr>
            <a:lvl4pPr>
              <a:buNone/>
              <a:defRPr sz="1500"/>
            </a:lvl4pPr>
            <a:lvl5pPr>
              <a:buNone/>
              <a:defRPr sz="1500"/>
            </a:lvl5pPr>
            <a:lvl6pPr>
              <a:buNone/>
              <a:defRPr sz="1500"/>
            </a:lvl6pPr>
            <a:lvl7pPr>
              <a:buNone/>
              <a:defRPr sz="1500"/>
            </a:lvl7pPr>
            <a:lvl8pPr>
              <a:buNone/>
              <a:defRPr sz="1500"/>
            </a:lvl8pPr>
            <a:lvl9pPr>
              <a:buNone/>
              <a:defRPr sz="15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buNone/>
              <a:defRPr sz="24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/>
        </p:txBody>
      </p:sp>
      <p:sp>
        <p:nvSpPr>
          <p:cNvPr id="4" name="テキスト プレースホルダー 3"/>
          <p:cNvSpPr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6" name="フッター プレースホルダー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7" name="スライド番号プレースホルダー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/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/>
      <p:sp>
        <p:nvSpPr>
          <p:cNvPr id="2" name="縦書きタイトル 1"/>
          <p:cNvSpPr>
            <a:spLocks noGrp="1"/>
          </p:cNvSpPr>
          <p:nvPr>
            <p:ph type="title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/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</a:t>
            </a:r>
            <a:r>
              <a:t>2 </a:t>
            </a:r>
            <a:r>
              <a:t>レベル</a:t>
            </a:r>
          </a:p>
          <a:p>
            <a:pPr lvl="2">
              <a:buNone/>
            </a:pPr>
            <a:r>
              <a:t>第 </a:t>
            </a:r>
            <a:r>
              <a:t>3 </a:t>
            </a:r>
            <a:r>
              <a:t>レベル</a:t>
            </a:r>
          </a:p>
          <a:p>
            <a:pPr lvl="3">
              <a:buNone/>
            </a:pPr>
            <a:r>
              <a:t>第 </a:t>
            </a:r>
            <a:r>
              <a:t>4 </a:t>
            </a:r>
            <a:r>
              <a:t>レベル</a:t>
            </a:r>
          </a:p>
          <a:p>
            <a:pPr lvl="4">
              <a:buNone/>
            </a:pPr>
            <a:r>
              <a:t>第 </a:t>
            </a:r>
            <a:r>
              <a:t>5 </a:t>
            </a:r>
            <a:r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5" name="フッター プレースホルダー 4"/>
          <p:cNvSpPr>
            <a:spLocks noGrp="1"/>
          </p:cNvSpPr>
          <p:nvPr>
            <p:ph type="ft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6" name="スライド番号プレースホルダー 5"/>
          <p:cNvSpPr>
            <a:spLocks noGrp="1"/>
          </p:cNvSpPr>
          <p:nvPr>
            <p:ph type="sldNum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171450" indent="-171450" algn="l" defTabSz="685800">
        <a:lnSpc>
          <a:spcPct val="90000"/>
        </a:lnSpc>
        <a:spcBef>
          <a:spcPts val="750"/>
        </a:spcBef>
        <a:buFont typeface="Arial" panose="020B0604020202020204"/>
        <a:buChar char="•"/>
        <a:defRPr sz="2100" kern="1200">
          <a:solidFill>
            <a:schemeClr val="tx1"/>
          </a:solidFill>
          <a:latin typeface="+mn-lt"/>
          <a:ea typeface="+mn-lt"/>
          <a:cs typeface="+mn-lt"/>
        </a:defRPr>
      </a:lvl1pPr>
      <a:lvl2pPr marL="5143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8572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500" kern="1200">
          <a:solidFill>
            <a:schemeClr val="tx1"/>
          </a:solidFill>
          <a:latin typeface="+mn-lt"/>
          <a:ea typeface="+mn-lt"/>
          <a:cs typeface="+mn-lt"/>
        </a:defRPr>
      </a:lvl3pPr>
      <a:lvl4pPr marL="12001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5430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8859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2288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5717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914650" indent="-171450" algn="l" defTabSz="685800">
        <a:lnSpc>
          <a:spcPct val="90000"/>
        </a:lnSpc>
        <a:spcBef>
          <a:spcPts val="375"/>
        </a:spcBef>
        <a:buFont typeface="Arial" panose="020B0604020202020204"/>
        <a:buChar char="•"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1pPr>
      <a:lvl2pPr marL="3429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3pPr>
      <a:lvl4pPr marL="10287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4pPr>
      <a:lvl5pPr marL="13716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5pPr>
      <a:lvl6pPr marL="17145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6pPr>
      <a:lvl7pPr marL="20574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7pPr>
      <a:lvl8pPr marL="24003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8pPr>
      <a:lvl9pPr marL="2743200" algn="l" defTabSz="685800">
        <a:buNone/>
        <a:defRPr sz="135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.jpeg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3.xml"/><Relationship Id="rId3" Type="http://schemas.openxmlformats.org/officeDocument/2006/relationships/slideLayout" Target="../slideLayouts/slideLayout2.xml"/><Relationship Id="rId2" Type="http://schemas.openxmlformats.org/officeDocument/2006/relationships/tags" Target="../tags/tag15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tags" Target="../tags/tag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220980" y="226695"/>
            <a:ext cx="8717915" cy="760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3200" b="1" dirty="0"/>
              <a:t>Research Objective </a:t>
            </a:r>
            <a:r>
              <a:rPr lang="en-US" altLang="zh-CN" sz="3200" b="1" dirty="0">
                <a:sym typeface="Avenir Heavy"/>
              </a:rPr>
              <a:t>&amp; Question</a:t>
            </a:r>
            <a:endParaRPr lang="en-US" altLang="zh-CN" sz="3200" b="1" dirty="0"/>
          </a:p>
          <a:p>
            <a:endParaRPr lang="en-US" altLang="zh-CN" sz="3200" b="1">
              <a:latin typeface="Times New Roman" panose="02020603050405020304" charset="0"/>
              <a:ea typeface="SimSun" panose="02010600030101010101" pitchFamily="2" charset="-122"/>
              <a:cs typeface="Times New Roman" panose="02020603050405020304" charset="0"/>
            </a:endParaRPr>
          </a:p>
        </p:txBody>
      </p:sp>
      <p:grpSp>
        <p:nvGrpSpPr>
          <p:cNvPr id="96" name="组合 95"/>
          <p:cNvGrpSpPr/>
          <p:nvPr>
            <p:custDataLst>
              <p:tags r:id="rId1"/>
            </p:custDataLst>
          </p:nvPr>
        </p:nvGrpSpPr>
        <p:grpSpPr>
          <a:xfrm>
            <a:off x="219710" y="2963545"/>
            <a:ext cx="8630920" cy="1564005"/>
            <a:chOff x="348" y="7526"/>
            <a:chExt cx="13592" cy="2928"/>
          </a:xfrm>
        </p:grpSpPr>
        <p:grpSp>
          <p:nvGrpSpPr>
            <p:cNvPr id="90" name="组合 89"/>
            <p:cNvGrpSpPr/>
            <p:nvPr>
              <p:custDataLst>
                <p:tags r:id="rId2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91" name="组合 90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92" name="Shape 25"/>
                <p:cNvSpPr/>
                <p:nvPr>
                  <p:custDataLst>
                    <p:tags r:id="rId3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93" name="Shape 26"/>
                <p:cNvSpPr/>
                <p:nvPr>
                  <p:custDataLst>
                    <p:tags r:id="rId4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4" name="Text 27"/>
              <p:cNvSpPr/>
              <p:nvPr>
                <p:custDataLst>
                  <p:tags r:id="rId5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1</a:t>
                </a:r>
                <a:endParaRPr lang="en-US" altLang="zh-CN" b="1" dirty="0"/>
              </a:p>
            </p:txBody>
          </p:sp>
        </p:grpSp>
        <p:sp>
          <p:nvSpPr>
            <p:cNvPr id="95" name="文本框 94"/>
            <p:cNvSpPr txBox="1"/>
            <p:nvPr>
              <p:custDataLst>
                <p:tags r:id="rId6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sym typeface="+mn-ea"/>
                </a:rPr>
                <a:t>Is there a consistent relationship among </a:t>
              </a:r>
              <a:r>
                <a:rPr kumimoji="1" lang="en-US" altLang="zh-CN" dirty="0">
                  <a:sym typeface="+mn-ea"/>
                </a:rPr>
                <a:t>object apparent size</a:t>
              </a:r>
              <a:r>
                <a:rPr lang="en-US" altLang="zh-CN">
                  <a:sym typeface="+mn-ea"/>
                </a:rPr>
                <a:t>, fingertip aperture, and hand acceleration during reach-to-grasp movements</a:t>
              </a:r>
              <a:r>
                <a:rPr lang="en-US" altLang="zh-CN">
                  <a:ea typeface="SimSun" panose="02010600030101010101" pitchFamily="2" charset="-122"/>
                </a:rPr>
                <a:t>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2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6F00E456-75B8-4C92-99E8-A0CAB60115A8}" type="slidenum">
              <a:rPr kumimoji="1" lang="ja-JP" altLang="en-US" smtClean="0"/>
            </a:fld>
            <a:endParaRPr kumimoji="1" lang="ja-JP" altLang="en-US"/>
          </a:p>
        </p:txBody>
      </p:sp>
      <p:grpSp>
        <p:nvGrpSpPr>
          <p:cNvPr id="3" name="组合 2"/>
          <p:cNvGrpSpPr/>
          <p:nvPr>
            <p:custDataLst>
              <p:tags r:id="rId7"/>
            </p:custDataLst>
          </p:nvPr>
        </p:nvGrpSpPr>
        <p:grpSpPr>
          <a:xfrm>
            <a:off x="219710" y="4939030"/>
            <a:ext cx="8630920" cy="1564005"/>
            <a:chOff x="348" y="7526"/>
            <a:chExt cx="13592" cy="2928"/>
          </a:xfrm>
        </p:grpSpPr>
        <p:grpSp>
          <p:nvGrpSpPr>
            <p:cNvPr id="4" name="组合 3"/>
            <p:cNvGrpSpPr/>
            <p:nvPr>
              <p:custDataLst>
                <p:tags r:id="rId8"/>
              </p:custDataLst>
            </p:nvPr>
          </p:nvGrpSpPr>
          <p:grpSpPr>
            <a:xfrm rot="0">
              <a:off x="348" y="7526"/>
              <a:ext cx="13593" cy="2929"/>
              <a:chOff x="790" y="4952"/>
              <a:chExt cx="3791" cy="2929"/>
            </a:xfrm>
          </p:grpSpPr>
          <p:grpSp>
            <p:nvGrpSpPr>
              <p:cNvPr id="5" name="组合 4"/>
              <p:cNvGrpSpPr/>
              <p:nvPr/>
            </p:nvGrpSpPr>
            <p:grpSpPr>
              <a:xfrm>
                <a:off x="790" y="4952"/>
                <a:ext cx="3791" cy="2929"/>
                <a:chOff x="334" y="5920"/>
                <a:chExt cx="5673" cy="2929"/>
              </a:xfrm>
            </p:grpSpPr>
            <p:sp>
              <p:nvSpPr>
                <p:cNvPr id="7" name="Shape 25"/>
                <p:cNvSpPr/>
                <p:nvPr>
                  <p:custDataLst>
                    <p:tags r:id="rId9"/>
                  </p:custDataLst>
                </p:nvPr>
              </p:nvSpPr>
              <p:spPr>
                <a:xfrm>
                  <a:off x="334" y="6936"/>
                  <a:ext cx="5672" cy="1913"/>
                </a:xfrm>
                <a:prstGeom prst="rect">
                  <a:avLst/>
                </a:prstGeom>
                <a:solidFill>
                  <a:srgbClr val="F59E0B">
                    <a:alpha val="10000"/>
                  </a:srgbClr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  <p:sp>
              <p:nvSpPr>
                <p:cNvPr id="8" name="Shape 26"/>
                <p:cNvSpPr/>
                <p:nvPr>
                  <p:custDataLst>
                    <p:tags r:id="rId10"/>
                  </p:custDataLst>
                </p:nvPr>
              </p:nvSpPr>
              <p:spPr>
                <a:xfrm>
                  <a:off x="335" y="5920"/>
                  <a:ext cx="5672" cy="1016"/>
                </a:xfrm>
                <a:prstGeom prst="rect">
                  <a:avLst/>
                </a:prstGeom>
                <a:solidFill>
                  <a:srgbClr val="F59E0B"/>
                </a:solidFill>
                <a:ln w="19050">
                  <a:solidFill>
                    <a:srgbClr val="F59E0B"/>
                  </a:solidFill>
                  <a:prstDash val="solid"/>
                </a:ln>
              </p:spPr>
            </p:sp>
          </p:grpSp>
          <p:sp>
            <p:nvSpPr>
              <p:cNvPr id="9" name="Text 27"/>
              <p:cNvSpPr/>
              <p:nvPr>
                <p:custDataLst>
                  <p:tags r:id="rId11"/>
                </p:custDataLst>
              </p:nvPr>
            </p:nvSpPr>
            <p:spPr>
              <a:xfrm>
                <a:off x="790" y="4952"/>
                <a:ext cx="3790" cy="1016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altLang="zh-CN" b="1" dirty="0">
                    <a:sym typeface="+mn-ea"/>
                  </a:rPr>
                  <a:t>RQ</a:t>
                </a:r>
                <a:r>
                  <a:rPr lang="en-US" altLang="zh-CN" b="1" dirty="0">
                    <a:sym typeface="Avenir Heavy"/>
                  </a:rPr>
                  <a:t>2</a:t>
                </a:r>
                <a:endParaRPr lang="en-US" altLang="zh-CN" b="1" dirty="0"/>
              </a:p>
            </p:txBody>
          </p:sp>
        </p:grpSp>
        <p:sp>
          <p:nvSpPr>
            <p:cNvPr id="10" name="文本框 9"/>
            <p:cNvSpPr txBox="1"/>
            <p:nvPr>
              <p:custDataLst>
                <p:tags r:id="rId12"/>
              </p:custDataLst>
            </p:nvPr>
          </p:nvSpPr>
          <p:spPr>
            <a:xfrm>
              <a:off x="348" y="8542"/>
              <a:ext cx="13590" cy="1913"/>
            </a:xfrm>
            <a:prstGeom prst="rect">
              <a:avLst/>
            </a:prstGeom>
            <a:noFill/>
          </p:spPr>
          <p:txBody>
            <a:bodyPr wrap="square" rtlCol="0" anchor="t">
              <a:noAutofit/>
            </a:bodyPr>
            <a:p>
              <a:r>
                <a:rPr lang="en-US" altLang="zh-CN">
                  <a:ea typeface="SimSun" panose="02010600030101010101" pitchFamily="2" charset="-122"/>
                </a:rPr>
                <a:t>Can fingertip aperture during reach-to-grasp movements be predicted using object apparent size and hand acceleration?</a:t>
              </a:r>
              <a:endParaRPr lang="en-US" altLang="zh-CN">
                <a:ea typeface="SimSun" panose="02010600030101010101" pitchFamily="2" charset="-122"/>
              </a:endParaRPr>
            </a:p>
          </p:txBody>
        </p:sp>
      </p:grpSp>
      <p:sp>
        <p:nvSpPr>
          <p:cNvPr id="11" name="文本框 10"/>
          <p:cNvSpPr txBox="1"/>
          <p:nvPr/>
        </p:nvSpPr>
        <p:spPr>
          <a:xfrm>
            <a:off x="275590" y="909320"/>
            <a:ext cx="857313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During reach-to-grasp movements, finger opening/closing and hand motion are usually coordinated naturally and unconsciously.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This study aims to investigate the relationship among </a:t>
            </a:r>
            <a:r>
              <a:rPr kumimoji="1" lang="en-US" altLang="zh-CN" dirty="0">
                <a:sym typeface="+mn-ea"/>
              </a:rPr>
              <a:t>object apparent size</a:t>
            </a:r>
            <a:r>
              <a:rPr lang="en-US" altLang="zh-CN"/>
              <a:t>, fingertip aperture, and hand acceleration during grasping, and further examine whether this information can be used to predict the fingertip aperture process.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latin typeface="Times New Roman" panose="02020603050405020304"/>
                <a:ea typeface="Times New Roman" panose="02020603050405020304"/>
                <a:cs typeface="Times New Roman" panose="02020603050405020304"/>
                <a:sym typeface="+mn-ea"/>
              </a:rPr>
              <a:t>Data Collection</a:t>
            </a:r>
            <a:endParaRPr lang="zh-CN" altLang="en-US" sz="3200" b="1">
              <a:latin typeface="Times New Roman" panose="02020603050405020304"/>
              <a:ea typeface="SimSun" panose="02010600030101010101" pitchFamily="2" charset="-122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5590" y="2094230"/>
            <a:ext cx="5217160" cy="377190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90000"/>
              </a:lnSpc>
            </a:pPr>
            <a:r>
              <a:rPr lang="en-US" altLang="zh-CN">
                <a:sym typeface="+mn-ea"/>
              </a:rPr>
              <a:t>Task: natural reach-to-grasp movement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Initial hand position: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position: 30 mm from the table edge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/>
              <a:t>Target size: 20, 25, 30, 35, 40, and 45 mm cubes</a:t>
            </a:r>
            <a:endParaRPr lang="en-US" altLang="zh-CN"/>
          </a:p>
          <a:p>
            <a:pPr>
              <a:lnSpc>
                <a:spcPct val="190000"/>
              </a:lnSpc>
            </a:pPr>
            <a:r>
              <a:rPr lang="en-US" altLang="zh-CN">
                <a:ea typeface="SimSun" panose="02010600030101010101" pitchFamily="2" charset="-122"/>
                <a:sym typeface="+mn-ea"/>
              </a:rPr>
              <a:t>Equipment : A recording device consisting of a web camera and an IMU was mounted on the participant's forearm.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1"/>
            </p:custDataLst>
          </p:nvPr>
        </p:nvSpPr>
        <p:spPr>
          <a:xfrm>
            <a:off x="275590" y="963930"/>
            <a:ext cx="8522970" cy="3886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Collect participants grasping data for objects of different sizes.</a:t>
            </a:r>
            <a:endParaRPr lang="en-US" altLang="zh-CN"/>
          </a:p>
          <a:p>
            <a:pPr algn="ctr"/>
            <a:endParaRPr lang="en-US" altLang="zh-CN"/>
          </a:p>
        </p:txBody>
      </p:sp>
      <p:sp>
        <p:nvSpPr>
          <p:cNvPr id="93" name="Shape 26"/>
          <p:cNvSpPr/>
          <p:nvPr>
            <p:custDataLst>
              <p:tags r:id="rId2"/>
            </p:custDataLst>
          </p:nvPr>
        </p:nvSpPr>
        <p:spPr>
          <a:xfrm>
            <a:off x="275590" y="1724025"/>
            <a:ext cx="3247390" cy="457200"/>
          </a:xfrm>
          <a:prstGeom prst="rect">
            <a:avLst/>
          </a:prstGeom>
          <a:solidFill>
            <a:srgbClr val="F59E0B"/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r>
              <a:rPr lang="en-US" altLang="zh-CN" sz="2400">
                <a:sym typeface="+mn-ea"/>
              </a:rPr>
              <a:t>Experimental Conditions</a:t>
            </a:r>
            <a:endParaRPr lang="zh-CN" altLang="en-US" sz="2400"/>
          </a:p>
        </p:txBody>
      </p:sp>
      <p:pic>
        <p:nvPicPr>
          <p:cNvPr id="19" name="图片 18" descr="5273e5566c3c504abbb8337e55c211a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0800000">
            <a:off x="5492750" y="1963420"/>
            <a:ext cx="2531745" cy="4502785"/>
          </a:xfrm>
          <a:prstGeom prst="rect">
            <a:avLst/>
          </a:prstGeom>
        </p:spPr>
      </p:pic>
      <p:sp>
        <p:nvSpPr>
          <p:cNvPr id="20" name="任意多边形 19"/>
          <p:cNvSpPr/>
          <p:nvPr/>
        </p:nvSpPr>
        <p:spPr>
          <a:xfrm>
            <a:off x="6387465" y="1724025"/>
            <a:ext cx="621665" cy="833120"/>
          </a:xfrm>
          <a:custGeom>
            <a:avLst/>
            <a:gdLst>
              <a:gd name="connisteX0" fmla="*/ 9525 w 995680"/>
              <a:gd name="connsiteY0" fmla="*/ 1590040 h 1590040"/>
              <a:gd name="connisteX1" fmla="*/ 0 w 995680"/>
              <a:gd name="connsiteY1" fmla="*/ 0 h 1590040"/>
              <a:gd name="connisteX2" fmla="*/ 995680 w 995680"/>
              <a:gd name="connsiteY2" fmla="*/ 0 h 159004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995680" h="1590040">
                <a:moveTo>
                  <a:pt x="9525" y="1590040"/>
                </a:moveTo>
                <a:lnTo>
                  <a:pt x="0" y="0"/>
                </a:lnTo>
                <a:lnTo>
                  <a:pt x="995680" y="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任意多边形 20"/>
          <p:cNvSpPr/>
          <p:nvPr/>
        </p:nvSpPr>
        <p:spPr>
          <a:xfrm>
            <a:off x="6798945" y="5191125"/>
            <a:ext cx="530860" cy="1474470"/>
          </a:xfrm>
          <a:custGeom>
            <a:avLst/>
            <a:gdLst>
              <a:gd name="connisteX0" fmla="*/ 0 w 948690"/>
              <a:gd name="connsiteY0" fmla="*/ 0 h 1819910"/>
              <a:gd name="connisteX1" fmla="*/ 0 w 948690"/>
              <a:gd name="connsiteY1" fmla="*/ 1819910 h 1819910"/>
              <a:gd name="connisteX2" fmla="*/ 948690 w 948690"/>
              <a:gd name="connsiteY2" fmla="*/ 1819910 h 181991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</a:cxnLst>
            <a:rect l="l" t="t" r="r" b="b"/>
            <a:pathLst>
              <a:path w="948690" h="1819910">
                <a:moveTo>
                  <a:pt x="0" y="0"/>
                </a:moveTo>
                <a:lnTo>
                  <a:pt x="0" y="1819910"/>
                </a:lnTo>
                <a:lnTo>
                  <a:pt x="948690" y="1819910"/>
                </a:lnTo>
              </a:path>
            </a:pathLst>
          </a:custGeom>
          <a:noFill/>
          <a:ln>
            <a:solidFill>
              <a:schemeClr val="tx1">
                <a:lumMod val="85000"/>
                <a:lumOff val="15000"/>
              </a:schemeClr>
            </a:solidFill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7009130" y="1557655"/>
            <a:ext cx="3048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Web Camera (30hz)</a:t>
            </a:r>
            <a:endParaRPr lang="zh-CN" altLang="en-US">
              <a:ea typeface="SimSun" panose="02010600030101010101" pitchFamily="2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7449185" y="6466205"/>
            <a:ext cx="1489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50hz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Data Relationship Analysis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309245" y="864870"/>
            <a:ext cx="845439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 b="1">
                <a:solidFill>
                  <a:schemeClr val="tx2">
                    <a:lumMod val="75000"/>
                    <a:lumOff val="25000"/>
                  </a:schemeClr>
                </a:solidFill>
              </a:rPr>
              <a:t>20</a:t>
            </a:r>
            <a:r>
              <a:rPr lang="en-US" altLang="zh-CN" sz="2000" b="1">
                <a:solidFill>
                  <a:schemeClr val="tx2">
                    <a:lumMod val="75000"/>
                    <a:lumOff val="25000"/>
                  </a:schemeClr>
                </a:solidFill>
              </a:rPr>
              <a:t> experiments with a 40 mm object</a:t>
            </a:r>
            <a:endParaRPr lang="en-US" altLang="zh-CN" sz="2000" b="1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5" name="图片 4" descr="size_4cm_three_signals_horizontal_overla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34925" y="2424430"/>
            <a:ext cx="9144000" cy="213360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383280" y="4558030"/>
            <a:ext cx="2517140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Object apparent size </a:t>
            </a:r>
            <a:endParaRPr lang="en-US" altLang="zh-CN"/>
          </a:p>
          <a:p>
            <a:r>
              <a:rPr lang="en-US" altLang="zh-CN"/>
              <a:t>Normalized RMSE</a:t>
            </a:r>
            <a:endParaRPr lang="en-US" altLang="zh-CN"/>
          </a:p>
          <a:p>
            <a:r>
              <a:rPr lang="en-US" altLang="zh-CN"/>
              <a:t>0.0486 ± 0.0313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6457950" y="4558030"/>
            <a:ext cx="2516505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Object apparent size Normalized RMSE</a:t>
            </a:r>
            <a:endParaRPr lang="en-US" altLang="zh-CN"/>
          </a:p>
          <a:p>
            <a:r>
              <a:rPr lang="en-US" altLang="zh-CN"/>
              <a:t>0.0757 ± 0.0294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309245" y="4558030"/>
            <a:ext cx="2516505" cy="922020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en-US" altLang="zh-CN"/>
              <a:t>Fingertip aperture Normalized RMSE</a:t>
            </a:r>
            <a:endParaRPr lang="en-US" altLang="zh-CN"/>
          </a:p>
          <a:p>
            <a:pPr algn="l"/>
            <a:r>
              <a:rPr lang="en-US" altLang="zh-CN"/>
              <a:t>0.0415 ± 0.0160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309245" y="1640840"/>
            <a:ext cx="2698115" cy="64516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Maximum aperture timing</a:t>
            </a:r>
            <a:endParaRPr lang="zh-CN" altLang="en-US"/>
          </a:p>
          <a:p>
            <a:r>
              <a:rPr lang="en-US" altLang="zh-CN"/>
              <a:t>55.79 ± 2.45%</a:t>
            </a:r>
            <a:endParaRPr lang="en-US" altLang="zh-CN"/>
          </a:p>
        </p:txBody>
      </p:sp>
      <p:sp>
        <p:nvSpPr>
          <p:cNvPr id="14" name="文本框 13"/>
          <p:cNvSpPr txBox="1"/>
          <p:nvPr/>
        </p:nvSpPr>
        <p:spPr>
          <a:xfrm>
            <a:off x="3293110" y="1502410"/>
            <a:ext cx="2697480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Object area at maximum aperture / final object area</a:t>
            </a:r>
            <a:endParaRPr lang="en-US" altLang="zh-CN"/>
          </a:p>
          <a:p>
            <a:r>
              <a:rPr lang="en-US" altLang="zh-CN"/>
              <a:t>59.42 ± 4.15%</a:t>
            </a:r>
            <a:endParaRPr lang="en-US" altLang="zh-CN"/>
          </a:p>
        </p:txBody>
      </p:sp>
      <p:sp>
        <p:nvSpPr>
          <p:cNvPr id="15" name="文本框 14"/>
          <p:cNvSpPr txBox="1"/>
          <p:nvPr/>
        </p:nvSpPr>
        <p:spPr>
          <a:xfrm>
            <a:off x="6457950" y="1502410"/>
            <a:ext cx="2517140" cy="92202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Mean acceleration during opening</a:t>
            </a:r>
            <a:endParaRPr lang="en-US" altLang="zh-CN"/>
          </a:p>
          <a:p>
            <a:r>
              <a:rPr lang="en-US" altLang="zh-CN"/>
              <a:t>0.611 ± 0.139 m/s²</a:t>
            </a:r>
            <a:endParaRPr lang="en-US" altLang="zh-CN"/>
          </a:p>
        </p:txBody>
      </p:sp>
      <p:sp>
        <p:nvSpPr>
          <p:cNvPr id="28" name="Shape 25"/>
          <p:cNvSpPr/>
          <p:nvPr>
            <p:custDataLst>
              <p:tags r:id="rId2"/>
            </p:custDataLst>
          </p:nvPr>
        </p:nvSpPr>
        <p:spPr>
          <a:xfrm>
            <a:off x="104140" y="5738495"/>
            <a:ext cx="8870950" cy="922020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sym typeface="+mn-ea"/>
              </a:rPr>
              <a:t>The data showed high consistency across </a:t>
            </a:r>
            <a:r>
              <a:rPr lang="en-US" altLang="zh-CN">
                <a:sym typeface="+mn-ea"/>
              </a:rPr>
              <a:t>experiments, suggesting a consistent relationship among object apparent size, fingertip aperture, and hand acceleration during reach-to-grasp movements.</a:t>
            </a:r>
            <a:endParaRPr lang="en-US" altLang="zh-CN"/>
          </a:p>
          <a:p>
            <a:pPr algn="ctr"/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Model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276225" y="956945"/>
            <a:ext cx="8522335" cy="398780"/>
          </a:xfrm>
          <a:prstGeom prst="rect">
            <a:avLst/>
          </a:prstGeom>
        </p:spPr>
        <p:txBody>
          <a:bodyPr wrap="square">
            <a:spAutoFit/>
          </a:bodyPr>
          <a:p>
            <a:pPr algn="ctr"/>
            <a:r>
              <a:rPr lang="en-US" altLang="zh-CN" sz="2000"/>
              <a:t>Further validation</a:t>
            </a:r>
            <a:endParaRPr lang="en-US" altLang="zh-CN" sz="2000"/>
          </a:p>
        </p:txBody>
      </p:sp>
      <p:grpSp>
        <p:nvGrpSpPr>
          <p:cNvPr id="4" name="组合 3"/>
          <p:cNvGrpSpPr/>
          <p:nvPr/>
        </p:nvGrpSpPr>
        <p:grpSpPr>
          <a:xfrm>
            <a:off x="1586230" y="4347210"/>
            <a:ext cx="1868170" cy="1159510"/>
            <a:chOff x="4230" y="2456"/>
            <a:chExt cx="2942" cy="1826"/>
          </a:xfrm>
        </p:grpSpPr>
        <p:sp>
          <p:nvSpPr>
            <p:cNvPr id="5" name="Google Shape;4859;p44"/>
            <p:cNvSpPr/>
            <p:nvPr/>
          </p:nvSpPr>
          <p:spPr>
            <a:xfrm>
              <a:off x="4230" y="2456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8" name="直接箭头连接符 7"/>
            <p:cNvCxnSpPr>
              <a:stCxn id="5" idx="4"/>
            </p:cNvCxnSpPr>
            <p:nvPr/>
          </p:nvCxnSpPr>
          <p:spPr>
            <a:xfrm flipV="1">
              <a:off x="6265" y="3436"/>
              <a:ext cx="907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组合 16"/>
          <p:cNvGrpSpPr/>
          <p:nvPr/>
        </p:nvGrpSpPr>
        <p:grpSpPr>
          <a:xfrm>
            <a:off x="1430020" y="5198110"/>
            <a:ext cx="1906905" cy="1159510"/>
            <a:chOff x="3630" y="4675"/>
            <a:chExt cx="3003" cy="1826"/>
          </a:xfrm>
        </p:grpSpPr>
        <p:sp>
          <p:nvSpPr>
            <p:cNvPr id="18" name="Google Shape;4859;p44"/>
            <p:cNvSpPr/>
            <p:nvPr/>
          </p:nvSpPr>
          <p:spPr>
            <a:xfrm>
              <a:off x="3630" y="4675"/>
              <a:ext cx="2107" cy="1826"/>
            </a:xfrm>
            <a:prstGeom prst="cube">
              <a:avLst>
                <a:gd name="adj" fmla="val 8683"/>
              </a:avLst>
            </a:prstGeom>
            <a:solidFill>
              <a:schemeClr val="accent6">
                <a:lumMod val="60000"/>
                <a:lumOff val="4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cxnSp>
          <p:nvCxnSpPr>
            <p:cNvPr id="19" name="直接箭头连接符 18"/>
            <p:cNvCxnSpPr/>
            <p:nvPr/>
          </p:nvCxnSpPr>
          <p:spPr>
            <a:xfrm flipV="1">
              <a:off x="5669" y="5734"/>
              <a:ext cx="964" cy="12"/>
            </a:xfrm>
            <a:prstGeom prst="straightConnector1">
              <a:avLst/>
            </a:prstGeom>
            <a:ln>
              <a:solidFill>
                <a:srgbClr val="0E284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组合 20"/>
          <p:cNvGrpSpPr/>
          <p:nvPr/>
        </p:nvGrpSpPr>
        <p:grpSpPr>
          <a:xfrm>
            <a:off x="3571875" y="4609465"/>
            <a:ext cx="2215515" cy="1678940"/>
            <a:chOff x="4753" y="3707"/>
            <a:chExt cx="2440" cy="1961"/>
          </a:xfrm>
        </p:grpSpPr>
        <p:sp>
          <p:nvSpPr>
            <p:cNvPr id="5342" name="Google Shape;5342;p51"/>
            <p:cNvSpPr/>
            <p:nvPr/>
          </p:nvSpPr>
          <p:spPr>
            <a:xfrm>
              <a:off x="4761" y="3707"/>
              <a:ext cx="712" cy="705"/>
            </a:xfrm>
            <a:prstGeom prst="cube">
              <a:avLst>
                <a:gd name="adj" fmla="val 66940"/>
              </a:avLst>
            </a:prstGeom>
            <a:solidFill>
              <a:srgbClr val="FF0E0E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3" name="Google Shape;5343;p51"/>
            <p:cNvSpPr/>
            <p:nvPr/>
          </p:nvSpPr>
          <p:spPr>
            <a:xfrm>
              <a:off x="4753" y="4964"/>
              <a:ext cx="712" cy="705"/>
            </a:xfrm>
            <a:prstGeom prst="cube">
              <a:avLst>
                <a:gd name="adj" fmla="val 66940"/>
              </a:avLst>
            </a:prstGeom>
            <a:solidFill>
              <a:schemeClr val="tx2">
                <a:lumMod val="50000"/>
                <a:lumOff val="50000"/>
              </a:schemeClr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4" name="Google Shape;5344;p51"/>
            <p:cNvSpPr/>
            <p:nvPr/>
          </p:nvSpPr>
          <p:spPr>
            <a:xfrm>
              <a:off x="6481" y="4135"/>
              <a:ext cx="712" cy="705"/>
            </a:xfrm>
            <a:prstGeom prst="cube">
              <a:avLst>
                <a:gd name="adj" fmla="val 66940"/>
              </a:avLst>
            </a:prstGeom>
            <a:solidFill>
              <a:srgbClr val="4E95D9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sp>
          <p:nvSpPr>
            <p:cNvPr id="5345" name="Google Shape;5345;p51"/>
            <p:cNvSpPr/>
            <p:nvPr/>
          </p:nvSpPr>
          <p:spPr>
            <a:xfrm>
              <a:off x="5984" y="4637"/>
              <a:ext cx="712" cy="705"/>
            </a:xfrm>
            <a:prstGeom prst="cube">
              <a:avLst>
                <a:gd name="adj" fmla="val 66940"/>
              </a:avLst>
            </a:prstGeom>
            <a:solidFill>
              <a:srgbClr val="FF0E0E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</a:p>
          </p:txBody>
        </p:sp>
        <p:cxnSp>
          <p:nvCxnSpPr>
            <p:cNvPr id="5358" name="Google Shape;5358;p51"/>
            <p:cNvCxnSpPr>
              <a:stCxn id="5342" idx="5"/>
              <a:endCxn id="5344" idx="0"/>
            </p:cNvCxnSpPr>
            <p:nvPr/>
          </p:nvCxnSpPr>
          <p:spPr>
            <a:xfrm>
              <a:off x="5473" y="3824"/>
              <a:ext cx="1600" cy="311"/>
            </a:xfrm>
            <a:prstGeom prst="curvedConnector2">
              <a:avLst/>
            </a:prstGeom>
            <a:noFill/>
            <a:ln w="9525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359" name="Google Shape;5359;p51"/>
            <p:cNvCxnSpPr>
              <a:stCxn id="5343" idx="4"/>
              <a:endCxn id="5345" idx="3"/>
            </p:cNvCxnSpPr>
            <p:nvPr/>
          </p:nvCxnSpPr>
          <p:spPr>
            <a:xfrm rot="10800000" flipH="1">
              <a:off x="4994" y="5342"/>
              <a:ext cx="1111" cy="210"/>
            </a:xfrm>
            <a:prstGeom prst="curvedConnector2">
              <a:avLst/>
            </a:prstGeom>
            <a:noFill/>
            <a:ln w="9525" cap="flat" cmpd="sng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24" name="直接箭头连接符 23"/>
          <p:cNvCxnSpPr/>
          <p:nvPr/>
        </p:nvCxnSpPr>
        <p:spPr>
          <a:xfrm flipV="1">
            <a:off x="5407660" y="5622290"/>
            <a:ext cx="684000" cy="7620"/>
          </a:xfrm>
          <a:prstGeom prst="straightConnector1">
            <a:avLst/>
          </a:prstGeom>
          <a:ln>
            <a:solidFill>
              <a:srgbClr val="0E2841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1386205" y="5951855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Acceleration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539875" y="4512945"/>
            <a:ext cx="133858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>
                <a:latin typeface="Times New Roman" panose="02020603050405020304" charset="0"/>
                <a:cs typeface="Times New Roman" panose="02020603050405020304" charset="0"/>
                <a:sym typeface="+mn-ea"/>
              </a:rPr>
              <a:t>Object Size</a:t>
            </a:r>
            <a:endParaRPr lang="en-US" altLang="zh-CN" sz="1600" b="1">
              <a:latin typeface="Times New Roman" panose="02020603050405020304" charset="0"/>
              <a:cs typeface="Times New Roman" panose="02020603050405020304" charset="0"/>
              <a:sym typeface="+mn-ea"/>
            </a:endParaRPr>
          </a:p>
        </p:txBody>
      </p:sp>
      <p:grpSp>
        <p:nvGrpSpPr>
          <p:cNvPr id="29" name="组合 28"/>
          <p:cNvGrpSpPr/>
          <p:nvPr/>
        </p:nvGrpSpPr>
        <p:grpSpPr>
          <a:xfrm>
            <a:off x="6162675" y="5098415"/>
            <a:ext cx="1423670" cy="853440"/>
            <a:chOff x="9310" y="4361"/>
            <a:chExt cx="2242" cy="1344"/>
          </a:xfrm>
        </p:grpSpPr>
        <p:sp>
          <p:nvSpPr>
            <p:cNvPr id="4861" name="Google Shape;4861;p44"/>
            <p:cNvSpPr/>
            <p:nvPr/>
          </p:nvSpPr>
          <p:spPr>
            <a:xfrm>
              <a:off x="9310" y="4361"/>
              <a:ext cx="2192" cy="1344"/>
            </a:xfrm>
            <a:prstGeom prst="cube">
              <a:avLst>
                <a:gd name="adj" fmla="val 21848"/>
              </a:avLst>
            </a:prstGeom>
            <a:solidFill>
              <a:srgbClr val="09CDA6"/>
            </a:solidFill>
            <a:ln w="9525" cap="flat" cmpd="sng">
              <a:noFill/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310" y="4688"/>
              <a:ext cx="2242" cy="1016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Fingertip </a:t>
              </a:r>
              <a:endParaRPr lang="en-US" altLang="zh-CN" sz="1800" b="1">
                <a:latin typeface="Times New Roman" panose="02020603050405020304" charset="0"/>
                <a:cs typeface="Times New Roman" panose="02020603050405020304" charset="0"/>
              </a:endParaRPr>
            </a:p>
            <a:p>
              <a:r>
                <a:rPr lang="en-US" altLang="zh-CN" sz="1800" b="1">
                  <a:latin typeface="Times New Roman" panose="02020603050405020304" charset="0"/>
                  <a:cs typeface="Times New Roman" panose="02020603050405020304" charset="0"/>
                </a:rPr>
                <a:t>Aperture</a:t>
              </a:r>
              <a:endParaRPr lang="en-US" altLang="ja-JP" sz="1600"/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3157855" y="494284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/>
          </a:p>
        </p:txBody>
      </p:sp>
      <p:sp>
        <p:nvSpPr>
          <p:cNvPr id="20" name="Shape 25"/>
          <p:cNvSpPr/>
          <p:nvPr>
            <p:custDataLst>
              <p:tags r:id="rId1"/>
            </p:custDataLst>
          </p:nvPr>
        </p:nvSpPr>
        <p:spPr>
          <a:xfrm>
            <a:off x="276225" y="1398270"/>
            <a:ext cx="8522970" cy="705485"/>
          </a:xfrm>
          <a:prstGeom prst="rect">
            <a:avLst/>
          </a:prstGeom>
          <a:solidFill>
            <a:srgbClr val="F59E0B">
              <a:alpha val="10000"/>
            </a:srgbClr>
          </a:solidFill>
          <a:ln w="19050">
            <a:solidFill>
              <a:srgbClr val="F59E0B"/>
            </a:solidFill>
            <a:prstDash val="solid"/>
          </a:ln>
        </p:spPr>
        <p:txBody>
          <a:bodyPr/>
          <a:p>
            <a:pPr algn="ctr"/>
            <a:r>
              <a:rPr lang="en-US" altLang="zh-CN">
                <a:ea typeface="SimSun" panose="02010600030101010101" pitchFamily="2" charset="-122"/>
                <a:sym typeface="+mn-ea"/>
              </a:rPr>
              <a:t>Can fingertip aperture during reach-to-grasp movements be predicted using object apparent size and hand acceleration?</a:t>
            </a:r>
            <a:endParaRPr lang="en-US" altLang="zh-CN">
              <a:ea typeface="SimSun" panose="02010600030101010101" pitchFamily="2" charset="-122"/>
            </a:endParaRPr>
          </a:p>
          <a:p>
            <a:pPr algn="ctr"/>
            <a:endParaRPr lang="en-US" altLang="zh-CN"/>
          </a:p>
        </p:txBody>
      </p:sp>
      <p:sp>
        <p:nvSpPr>
          <p:cNvPr id="26" name="文本框 25"/>
          <p:cNvSpPr txBox="1"/>
          <p:nvPr/>
        </p:nvSpPr>
        <p:spPr>
          <a:xfrm>
            <a:off x="3571875" y="4231005"/>
            <a:ext cx="241300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 sz="1600" b="1"/>
              <a:t>15-frame window MLP</a:t>
            </a:r>
            <a:endParaRPr lang="en-US" altLang="zh-CN" sz="1600" b="1">
              <a:sym typeface="+mn-ea"/>
            </a:endParaRPr>
          </a:p>
        </p:txBody>
      </p:sp>
      <p:pic>
        <p:nvPicPr>
          <p:cNvPr id="31" name="图片 30" descr="QQ20261011-20475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555" y="2476500"/>
            <a:ext cx="1036320" cy="1016000"/>
          </a:xfrm>
          <a:prstGeom prst="rect">
            <a:avLst/>
          </a:prstGeom>
        </p:spPr>
      </p:pic>
      <p:sp>
        <p:nvSpPr>
          <p:cNvPr id="32" name="圆角右箭头 31"/>
          <p:cNvSpPr/>
          <p:nvPr/>
        </p:nvSpPr>
        <p:spPr>
          <a:xfrm rot="6960000">
            <a:off x="1669415" y="3329305"/>
            <a:ext cx="633730" cy="929005"/>
          </a:xfrm>
          <a:prstGeom prst="bentArrow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  <a:tailEnd type="oval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1868805" y="2595245"/>
            <a:ext cx="6167120" cy="64516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en-US" altLang="zh-CN"/>
              <a:t>20, 30, 40 mm: 15 training experiments + 5 test experiments</a:t>
            </a:r>
            <a:endParaRPr lang="en-US" altLang="zh-CN"/>
          </a:p>
          <a:p>
            <a:r>
              <a:rPr lang="en-US" altLang="zh-CN"/>
              <a:t>25, 35, 45 mm: 5 experiments for generalization testing</a:t>
            </a:r>
            <a:endParaRPr lang="en-US" altLang="zh-CN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Standard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grpSp>
        <p:nvGrpSpPr>
          <p:cNvPr id="30" name="组合 29"/>
          <p:cNvGrpSpPr/>
          <p:nvPr/>
        </p:nvGrpSpPr>
        <p:grpSpPr>
          <a:xfrm>
            <a:off x="275590" y="1195705"/>
            <a:ext cx="8793480" cy="1834515"/>
            <a:chOff x="434" y="1883"/>
            <a:chExt cx="13848" cy="2889"/>
          </a:xfrm>
        </p:grpSpPr>
        <p:sp>
          <p:nvSpPr>
            <p:cNvPr id="18" name="文本框 17"/>
            <p:cNvSpPr txBox="1"/>
            <p:nvPr/>
          </p:nvSpPr>
          <p:spPr>
            <a:xfrm>
              <a:off x="434" y="1883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Model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434" y="2955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Area only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434" y="4192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Area + Acceleration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4638" y="1884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Mean RMSE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8705" y="1884"/>
              <a:ext cx="5577" cy="580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/>
                <a:t>Mean R² ± Standard Deviation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4638" y="2955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45.12px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4638" y="4192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21.77px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8705" y="2955"/>
              <a:ext cx="4800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0.647 ± 0.069</a:t>
              </a:r>
              <a:endParaRPr lang="en-US" altLang="zh-CN"/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8705" y="4192"/>
              <a:ext cx="5577" cy="580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en-US" altLang="zh-CN"/>
                <a:t>0.917 ± 0.040</a:t>
              </a:r>
              <a:endParaRPr lang="en-US" altLang="zh-CN"/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9" name="图片 8" descr="TRIAL_Size_4cm_20261010_16393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TRIAL_Size_4cm_20261010_1640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2" name="图片 1" descr="TRIAL_Size_4cm_20261010_16414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>
            <a:spLocks noGrp="1"/>
          </p:cNvSpPr>
          <p:nvPr/>
        </p:nvSpPr>
        <p:spPr>
          <a:xfrm>
            <a:off x="275590" y="226695"/>
            <a:ext cx="8522970" cy="583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3200" b="1">
                <a:latin typeface="Times New Roman" panose="02020603050405020304"/>
                <a:ea typeface="Times New Roman" panose="02020603050405020304"/>
                <a:cs typeface="Times New Roman" panose="02020603050405020304"/>
              </a:rPr>
              <a:t>Generalization Test</a:t>
            </a:r>
            <a:endParaRPr lang="en-US" altLang="zh-CN" sz="3200" b="1">
              <a:latin typeface="Times New Roman" panose="02020603050405020304"/>
              <a:ea typeface="Times New Roman" panose="02020603050405020304"/>
              <a:cs typeface="Times New Roman" panose="02020603050405020304"/>
            </a:endParaRPr>
          </a:p>
        </p:txBody>
      </p:sp>
      <p:pic>
        <p:nvPicPr>
          <p:cNvPr id="3" name="图片 2" descr="TRIAL_Size_4cm_20261010_16385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469390"/>
            <a:ext cx="9144000" cy="39185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2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3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5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6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7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8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9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0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1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2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3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4.xml><?xml version="1.0" encoding="utf-8"?>
<p:tagLst xmlns:p="http://schemas.openxmlformats.org/presentationml/2006/main">
  <p:tag name="KSO_WM_DIAGRAM_VIRTUALLY_FRAME" val="{&quot;height&quot;:278.7,&quot;left&quot;:17.3,&quot;top&quot;:233.35,&quot;width&quot;:679.6}"/>
</p:tagLst>
</file>

<file path=ppt/tags/tag15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ags/tag16.xml><?xml version="1.0" encoding="utf-8"?>
<p:tagLst xmlns:p="http://schemas.openxmlformats.org/presentationml/2006/main">
  <p:tag name="KSO_WM_DIAGRAM_VIRTUALLY_FRAME" val="{&quot;height&quot;:275.65,&quot;left&quot;:17.5,&quot;top&quot;:193.7,&quot;width&quot;:687.2}"/>
</p:tagLst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chemeClr val="tx1">
              <a:lumMod val="85000"/>
              <a:lumOff val="15000"/>
            </a:schemeClr>
          </a:solidFill>
          <a:tailEnd type="oval"/>
        </a:ln>
      </a:spPr>
      <a:bodyPr rtlCol="0" anchor="ctr"/>
      <a:lstStyle>
        <a:defPPr algn="ctr">
          <a:defRPr lang="zh-CN" altLang="en-US"/>
        </a:defPPr>
      </a:lstStyle>
      <a:style>
        <a:lnRef idx="2">
          <a:schemeClr val="accent1">
            <a:lumMod val="75000"/>
          </a:schemeClr>
        </a:lnRef>
        <a:fillRef idx="1">
          <a:schemeClr val="accent1"/>
        </a:fillRef>
        <a:effectRef idx="0">
          <a:srgbClr val="FFFFFF"/>
        </a:effectRef>
        <a:fontRef idx="minor">
          <a:schemeClr val="lt1"/>
        </a:fontRef>
      </a:style>
    </a:spDef>
    <a:lnDef>
      <a:spPr>
        <a:ln w="12700">
          <a:solidFill>
            <a:schemeClr val="tx1">
              <a:lumMod val="95000"/>
              <a:lumOff val="5000"/>
            </a:schemeClr>
          </a:solidFill>
          <a:prstDash val="dash"/>
        </a:ln>
      </a:spPr>
      <a:bodyPr/>
      <a:lstStyle/>
      <a:style>
        <a:lnRef idx="0">
          <a:schemeClr val="accent1"/>
        </a:lnRef>
        <a:fillRef idx="0">
          <a:srgbClr val="FFFFFF"/>
        </a:fillRef>
        <a:effectRef idx="0">
          <a:srgbClr val="FFFFFF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PS">
      <a:majorFont>
        <a:latin typeface="Times New Roman"/>
        <a:ea typeface="ＭＳ Ｐゴシック"/>
        <a:cs typeface=""/>
      </a:majorFont>
      <a:minorFont>
        <a:latin typeface="Times New Roman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2128</Words>
  <Application>WPS 演示</Application>
  <PresentationFormat>Converted Presentation</PresentationFormat>
  <Paragraphs>109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SimSun</vt:lpstr>
      <vt:lpstr>Wingdings</vt:lpstr>
      <vt:lpstr>Arial</vt:lpstr>
      <vt:lpstr>Times New Roman</vt:lpstr>
      <vt:lpstr>MS PGothic</vt:lpstr>
      <vt:lpstr>Microsoft YaHei</vt:lpstr>
      <vt:lpstr>Arial Unicode MS</vt:lpstr>
      <vt:lpstr>Times New Roman</vt:lpstr>
      <vt:lpstr>Calibri</vt:lpstr>
      <vt:lpstr>Avenir Heavy</vt:lpstr>
      <vt:lpstr>Avenir Heavy</vt:lpstr>
      <vt:lpstr>Avenir LT Pro 55 Roman</vt:lpstr>
      <vt:lpstr>Office テーマ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down down down down down</cp:lastModifiedBy>
  <cp:revision>12</cp:revision>
  <dcterms:created xsi:type="dcterms:W3CDTF">2026-09-29T07:20:00Z</dcterms:created>
  <dcterms:modified xsi:type="dcterms:W3CDTF">2026-10-11T11:52:50Z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2052-12.1.0.29161</vt:lpwstr>
  </property>
  <property fmtid="{D5CDD505-2E9C-101B-9397-08002B2CF9AE}" pid="3" name="ICV">
    <vt:lpwstr>FB3ACDAA4AF54148BE5074B4117C330D_12</vt:lpwstr>
  </property>
</Properties>
</file>