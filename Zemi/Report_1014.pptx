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5" r:id="rId3"/>
    <p:sldId id="278" r:id="rId5"/>
    <p:sldId id="287" r:id="rId6"/>
    <p:sldId id="282" r:id="rId7"/>
    <p:sldId id="283" r:id="rId8"/>
    <p:sldId id="288" r:id="rId9"/>
    <p:sldId id="275" r:id="rId10"/>
    <p:sldId id="289" r:id="rId11"/>
    <p:sldId id="291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3" r:id="rId22"/>
    <p:sldId id="304" r:id="rId23"/>
    <p:sldId id="305" r:id="rId24"/>
    <p:sldId id="306" r:id="rId25"/>
    <p:sldId id="314" r:id="rId26"/>
    <p:sldId id="308" r:id="rId27"/>
    <p:sldId id="309" r:id="rId28"/>
    <p:sldId id="310" r:id="rId29"/>
    <p:sldId id="311" r:id="rId30"/>
    <p:sldId id="312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5" r:id="rId41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So in my research, objective is to Replace classification models to Regression Models.</a:t>
            </a:r>
            <a:br>
              <a:rPr lang="en-US" altLang="zh-CN"/>
            </a:br>
            <a:r>
              <a:rPr lang="en-US" altLang="zh-CN"/>
              <a:t>From modular approach to end to end approach to reduce </a:t>
            </a:r>
            <a:r>
              <a:rPr lang="en-US" altLang="zh-CN">
                <a:sym typeface="+mn-ea"/>
              </a:rPr>
              <a:t>system complexity and loss of important information</a:t>
            </a:r>
            <a:endParaRPr lang="en-US" altLang="zh-CN"/>
          </a:p>
          <a:p>
            <a:r>
              <a:rPr lang="en-US" altLang="zh-CN"/>
              <a:t>RQ is to verify that can the system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build </a:t>
            </a:r>
            <a:r>
              <a:rPr lang="en-US" altLang="zh-CN"/>
              <a:t>on an end-to-end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approach combined with regression be successfully applied, 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760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 dirty="0"/>
              <a:t>Research Objective </a:t>
            </a:r>
            <a:r>
              <a:rPr lang="en-US" altLang="zh-CN" sz="3200" b="1" dirty="0">
                <a:sym typeface="Avenir Heavy"/>
              </a:rPr>
              <a:t>&amp; Question</a:t>
            </a:r>
            <a:endParaRPr lang="en-US" altLang="zh-CN" sz="3200" b="1" dirty="0"/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grpSp>
        <p:nvGrpSpPr>
          <p:cNvPr id="96" name="组合 95"/>
          <p:cNvGrpSpPr/>
          <p:nvPr>
            <p:custDataLst>
              <p:tags r:id="rId1"/>
            </p:custDataLst>
          </p:nvPr>
        </p:nvGrpSpPr>
        <p:grpSpPr>
          <a:xfrm>
            <a:off x="219710" y="2963545"/>
            <a:ext cx="8630920" cy="1564005"/>
            <a:chOff x="348" y="7526"/>
            <a:chExt cx="13592" cy="2928"/>
          </a:xfrm>
        </p:grpSpPr>
        <p:grpSp>
          <p:nvGrpSpPr>
            <p:cNvPr id="90" name="组合 89"/>
            <p:cNvGrpSpPr/>
            <p:nvPr>
              <p:custDataLst>
                <p:tags r:id="rId2"/>
              </p:custDataLst>
            </p:nvPr>
          </p:nvGrpSpPr>
          <p:grpSpPr>
            <a:xfrm rot="0">
              <a:off x="348" y="7526"/>
              <a:ext cx="13593" cy="2929"/>
              <a:chOff x="790" y="4952"/>
              <a:chExt cx="3791" cy="2929"/>
            </a:xfrm>
          </p:grpSpPr>
          <p:grpSp>
            <p:nvGrpSpPr>
              <p:cNvPr id="91" name="组合 90"/>
              <p:cNvGrpSpPr/>
              <p:nvPr/>
            </p:nvGrpSpPr>
            <p:grpSpPr>
              <a:xfrm>
                <a:off x="790" y="4952"/>
                <a:ext cx="3791" cy="2929"/>
                <a:chOff x="334" y="5920"/>
                <a:chExt cx="5673" cy="2929"/>
              </a:xfrm>
            </p:grpSpPr>
            <p:sp>
              <p:nvSpPr>
                <p:cNvPr id="92" name="Shape 25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334" y="6936"/>
                  <a:ext cx="5672" cy="1913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93" name="Shape 26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335" y="5920"/>
                  <a:ext cx="5672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94" name="Text 27"/>
              <p:cNvSpPr/>
              <p:nvPr>
                <p:custDataLst>
                  <p:tags r:id="rId5"/>
                </p:custDataLst>
              </p:nvPr>
            </p:nvSpPr>
            <p:spPr>
              <a:xfrm>
                <a:off x="790" y="4952"/>
                <a:ext cx="3790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>
                    <a:sym typeface="+mn-ea"/>
                  </a:rPr>
                  <a:t>RQ</a:t>
                </a:r>
                <a:r>
                  <a:rPr lang="en-US" altLang="zh-CN" b="1" dirty="0">
                    <a:sym typeface="Avenir Heavy"/>
                  </a:rPr>
                  <a:t>1</a:t>
                </a:r>
                <a:endParaRPr lang="en-US" altLang="zh-CN" b="1" dirty="0"/>
              </a:p>
            </p:txBody>
          </p:sp>
        </p:grpSp>
        <p:sp>
          <p:nvSpPr>
            <p:cNvPr id="95" name="文本框 94"/>
            <p:cNvSpPr txBox="1"/>
            <p:nvPr>
              <p:custDataLst>
                <p:tags r:id="rId6"/>
              </p:custDataLst>
            </p:nvPr>
          </p:nvSpPr>
          <p:spPr>
            <a:xfrm>
              <a:off x="348" y="8542"/>
              <a:ext cx="13590" cy="19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>
                  <a:sym typeface="+mn-ea"/>
                </a:rPr>
                <a:t>Is there a consistent relationship among </a:t>
              </a:r>
              <a:r>
                <a:rPr kumimoji="1" lang="en-US" altLang="zh-CN" dirty="0">
                  <a:sym typeface="+mn-ea"/>
                </a:rPr>
                <a:t>object apparent size</a:t>
              </a:r>
              <a:r>
                <a:rPr lang="en-US" altLang="zh-CN">
                  <a:sym typeface="+mn-ea"/>
                </a:rPr>
                <a:t>, fingertip aperture, and hand acceleration during reach-to-grasp movements</a:t>
              </a:r>
              <a:r>
                <a:rPr lang="en-US" altLang="zh-CN">
                  <a:ea typeface="SimSun" panose="02010600030101010101" pitchFamily="2" charset="-122"/>
                </a:rPr>
                <a:t>?</a:t>
              </a:r>
              <a:endParaRPr lang="en-US" altLang="zh-CN">
                <a:ea typeface="SimSun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grpSp>
        <p:nvGrpSpPr>
          <p:cNvPr id="3" name="组合 2"/>
          <p:cNvGrpSpPr/>
          <p:nvPr>
            <p:custDataLst>
              <p:tags r:id="rId7"/>
            </p:custDataLst>
          </p:nvPr>
        </p:nvGrpSpPr>
        <p:grpSpPr>
          <a:xfrm>
            <a:off x="219710" y="4939030"/>
            <a:ext cx="8630920" cy="1564005"/>
            <a:chOff x="348" y="7526"/>
            <a:chExt cx="13592" cy="2928"/>
          </a:xfrm>
        </p:grpSpPr>
        <p:grpSp>
          <p:nvGrpSpPr>
            <p:cNvPr id="4" name="组合 3"/>
            <p:cNvGrpSpPr/>
            <p:nvPr>
              <p:custDataLst>
                <p:tags r:id="rId8"/>
              </p:custDataLst>
            </p:nvPr>
          </p:nvGrpSpPr>
          <p:grpSpPr>
            <a:xfrm rot="0">
              <a:off x="348" y="7526"/>
              <a:ext cx="13593" cy="2929"/>
              <a:chOff x="790" y="4952"/>
              <a:chExt cx="3791" cy="2929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790" y="4952"/>
                <a:ext cx="3791" cy="2929"/>
                <a:chOff x="334" y="5920"/>
                <a:chExt cx="5673" cy="2929"/>
              </a:xfrm>
            </p:grpSpPr>
            <p:sp>
              <p:nvSpPr>
                <p:cNvPr id="7" name="Shape 2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34" y="6936"/>
                  <a:ext cx="5672" cy="1913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8" name="Shape 26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335" y="5920"/>
                  <a:ext cx="5672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9" name="Text 27"/>
              <p:cNvSpPr/>
              <p:nvPr>
                <p:custDataLst>
                  <p:tags r:id="rId11"/>
                </p:custDataLst>
              </p:nvPr>
            </p:nvSpPr>
            <p:spPr>
              <a:xfrm>
                <a:off x="790" y="4952"/>
                <a:ext cx="3790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>
                    <a:sym typeface="+mn-ea"/>
                  </a:rPr>
                  <a:t>RQ</a:t>
                </a:r>
                <a:r>
                  <a:rPr lang="en-US" altLang="zh-CN" b="1" dirty="0">
                    <a:sym typeface="Avenir Heavy"/>
                  </a:rPr>
                  <a:t>2</a:t>
                </a:r>
                <a:endParaRPr lang="en-US" altLang="zh-CN" b="1" dirty="0"/>
              </a:p>
            </p:txBody>
          </p:sp>
        </p:grpSp>
        <p:sp>
          <p:nvSpPr>
            <p:cNvPr id="10" name="文本框 9"/>
            <p:cNvSpPr txBox="1"/>
            <p:nvPr>
              <p:custDataLst>
                <p:tags r:id="rId12"/>
              </p:custDataLst>
            </p:nvPr>
          </p:nvSpPr>
          <p:spPr>
            <a:xfrm>
              <a:off x="348" y="8542"/>
              <a:ext cx="13590" cy="19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>
                  <a:ea typeface="SimSun" panose="02010600030101010101" pitchFamily="2" charset="-122"/>
                </a:rPr>
                <a:t>Can fingertip aperture during reach-to-grasp movements be predicted using object apparent size and hand acceleration?</a:t>
              </a:r>
              <a:endParaRPr lang="en-US" altLang="zh-CN">
                <a:ea typeface="SimSun" panose="02010600030101010101" pitchFamily="2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75590" y="909320"/>
            <a:ext cx="85731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During reach-to-grasp movements, finger opening/closing and hand motion are usually coordinated naturally and unconsciously.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This study aims to investigate the relationship among </a:t>
            </a:r>
            <a:r>
              <a:rPr kumimoji="1" lang="en-US" altLang="zh-CN" dirty="0">
                <a:sym typeface="+mn-ea"/>
              </a:rPr>
              <a:t>object apparent size</a:t>
            </a:r>
            <a:r>
              <a:rPr lang="en-US" altLang="zh-CN"/>
              <a:t>, fingertip aperture, and hand acceleration during grasping, and further examine whether this information can be used to predict the fingertip aperture process.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Data Collection</a:t>
            </a:r>
            <a:endParaRPr lang="zh-CN" altLang="en-US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5590" y="2094230"/>
            <a:ext cx="5217160" cy="37719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90000"/>
              </a:lnSpc>
            </a:pPr>
            <a:r>
              <a:rPr lang="en-US" altLang="zh-CN">
                <a:sym typeface="+mn-ea"/>
              </a:rPr>
              <a:t>Task: natural reach-to-grasp movement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Initial hand position: table edge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Target position: 30 mm from the table edge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Target size: 20, 25, 30, 35, 40, and 45 mm cubes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>
                <a:ea typeface="SimSun" panose="02010600030101010101" pitchFamily="2" charset="-122"/>
                <a:sym typeface="+mn-ea"/>
              </a:rPr>
              <a:t>Equipment : A recording device consisting of a web camera and an IMU was mounted on the participant's forearm.</a:t>
            </a:r>
            <a:endParaRPr lang="en-US" altLang="zh-CN"/>
          </a:p>
        </p:txBody>
      </p:sp>
      <p:sp>
        <p:nvSpPr>
          <p:cNvPr id="28" name="Shape 25"/>
          <p:cNvSpPr/>
          <p:nvPr>
            <p:custDataLst>
              <p:tags r:id="rId1"/>
            </p:custDataLst>
          </p:nvPr>
        </p:nvSpPr>
        <p:spPr>
          <a:xfrm>
            <a:off x="275590" y="963930"/>
            <a:ext cx="8522970" cy="388620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sym typeface="+mn-ea"/>
              </a:rPr>
              <a:t>Collect participants grasping data for objects of different sizes.</a:t>
            </a:r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93" name="Shape 26"/>
          <p:cNvSpPr/>
          <p:nvPr>
            <p:custDataLst>
              <p:tags r:id="rId2"/>
            </p:custDataLst>
          </p:nvPr>
        </p:nvSpPr>
        <p:spPr>
          <a:xfrm>
            <a:off x="275590" y="1724025"/>
            <a:ext cx="3247390" cy="457200"/>
          </a:xfrm>
          <a:prstGeom prst="rect">
            <a:avLst/>
          </a:prstGeom>
          <a:solidFill>
            <a:srgbClr val="F59E0B"/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r>
              <a:rPr lang="en-US" altLang="zh-CN" sz="2400">
                <a:sym typeface="+mn-ea"/>
              </a:rPr>
              <a:t>Experimental Conditions</a:t>
            </a:r>
            <a:endParaRPr lang="zh-CN" altLang="en-US" sz="2400"/>
          </a:p>
        </p:txBody>
      </p:sp>
      <p:pic>
        <p:nvPicPr>
          <p:cNvPr id="19" name="图片 18" descr="5273e5566c3c504abbb8337e55c211a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492750" y="1963420"/>
            <a:ext cx="2531745" cy="4502785"/>
          </a:xfrm>
          <a:prstGeom prst="rect">
            <a:avLst/>
          </a:prstGeom>
        </p:spPr>
      </p:pic>
      <p:sp>
        <p:nvSpPr>
          <p:cNvPr id="20" name="任意多边形 19"/>
          <p:cNvSpPr/>
          <p:nvPr/>
        </p:nvSpPr>
        <p:spPr>
          <a:xfrm>
            <a:off x="6387465" y="1724025"/>
            <a:ext cx="621665" cy="833120"/>
          </a:xfrm>
          <a:custGeom>
            <a:avLst/>
            <a:gdLst>
              <a:gd name="connisteX0" fmla="*/ 9525 w 995680"/>
              <a:gd name="connsiteY0" fmla="*/ 1590040 h 1590040"/>
              <a:gd name="connisteX1" fmla="*/ 0 w 995680"/>
              <a:gd name="connsiteY1" fmla="*/ 0 h 1590040"/>
              <a:gd name="connisteX2" fmla="*/ 995680 w 995680"/>
              <a:gd name="connsiteY2" fmla="*/ 0 h 15900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995680" h="1590040">
                <a:moveTo>
                  <a:pt x="9525" y="1590040"/>
                </a:moveTo>
                <a:lnTo>
                  <a:pt x="0" y="0"/>
                </a:lnTo>
                <a:lnTo>
                  <a:pt x="995680" y="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/>
        </p:nvSpPr>
        <p:spPr>
          <a:xfrm>
            <a:off x="6798945" y="5191125"/>
            <a:ext cx="530860" cy="1474470"/>
          </a:xfrm>
          <a:custGeom>
            <a:avLst/>
            <a:gdLst>
              <a:gd name="connisteX0" fmla="*/ 0 w 948690"/>
              <a:gd name="connsiteY0" fmla="*/ 0 h 1819910"/>
              <a:gd name="connisteX1" fmla="*/ 0 w 948690"/>
              <a:gd name="connsiteY1" fmla="*/ 1819910 h 1819910"/>
              <a:gd name="connisteX2" fmla="*/ 948690 w 948690"/>
              <a:gd name="connsiteY2" fmla="*/ 1819910 h 18199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948690" h="1819910">
                <a:moveTo>
                  <a:pt x="0" y="0"/>
                </a:moveTo>
                <a:lnTo>
                  <a:pt x="0" y="1819910"/>
                </a:lnTo>
                <a:lnTo>
                  <a:pt x="948690" y="181991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009130" y="15576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Web Camera (30hz)</a:t>
            </a:r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449185" y="6466205"/>
            <a:ext cx="1489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IMU 50hz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 Relationship Analysis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9245" y="864870"/>
            <a:ext cx="8454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2">
                    <a:lumMod val="75000"/>
                    <a:lumOff val="25000"/>
                  </a:schemeClr>
                </a:solidFill>
              </a:rPr>
              <a:t>20</a:t>
            </a:r>
            <a:r>
              <a:rPr lang="en-US" altLang="zh-CN" sz="2000" b="1">
                <a:solidFill>
                  <a:schemeClr val="tx2">
                    <a:lumMod val="75000"/>
                    <a:lumOff val="25000"/>
                  </a:schemeClr>
                </a:solidFill>
              </a:rPr>
              <a:t> experiments with a 40 mm object</a:t>
            </a:r>
            <a:endParaRPr lang="en-US" altLang="zh-CN" sz="2000" b="1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图片 4" descr="size_4cm_three_signals_horizontal_overla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4925" y="2424430"/>
            <a:ext cx="9144000" cy="2133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383280" y="4558030"/>
            <a:ext cx="2517140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Object apparent size </a:t>
            </a:r>
            <a:endParaRPr lang="en-US" altLang="zh-CN"/>
          </a:p>
          <a:p>
            <a:r>
              <a:rPr lang="en-US" altLang="zh-CN"/>
              <a:t>Normalized RMSE</a:t>
            </a:r>
            <a:endParaRPr lang="en-US" altLang="zh-CN"/>
          </a:p>
          <a:p>
            <a:r>
              <a:rPr lang="en-US" altLang="zh-CN"/>
              <a:t>0.0486 ± 0.0313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6457950" y="4558030"/>
            <a:ext cx="2516505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Object apparent size Normalized RMSE</a:t>
            </a:r>
            <a:endParaRPr lang="en-US" altLang="zh-CN"/>
          </a:p>
          <a:p>
            <a:r>
              <a:rPr lang="en-US" altLang="zh-CN"/>
              <a:t>0.0757 ± 0.0294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09245" y="4558030"/>
            <a:ext cx="2516505" cy="92202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/>
              <a:t>Fingertip aperture Normalized RMSE</a:t>
            </a:r>
            <a:endParaRPr lang="en-US" altLang="zh-CN"/>
          </a:p>
          <a:p>
            <a:pPr algn="l"/>
            <a:r>
              <a:rPr lang="en-US" altLang="zh-CN"/>
              <a:t>0.0415 ± 0.0160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309245" y="1640840"/>
            <a:ext cx="2698115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Maximum aperture timing</a:t>
            </a:r>
            <a:endParaRPr lang="zh-CN" altLang="en-US"/>
          </a:p>
          <a:p>
            <a:r>
              <a:rPr lang="en-US" altLang="zh-CN"/>
              <a:t>55.79 ± 2.45%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3293110" y="1502410"/>
            <a:ext cx="2697480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Object area at maximum aperture / final object area</a:t>
            </a:r>
            <a:endParaRPr lang="en-US" altLang="zh-CN"/>
          </a:p>
          <a:p>
            <a:r>
              <a:rPr lang="en-US" altLang="zh-CN"/>
              <a:t>59.42 ± 4.15%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457950" y="1502410"/>
            <a:ext cx="2517140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Mean acceleration during opening</a:t>
            </a:r>
            <a:endParaRPr lang="en-US" altLang="zh-CN"/>
          </a:p>
          <a:p>
            <a:r>
              <a:rPr lang="en-US" altLang="zh-CN"/>
              <a:t>0.611 ± 0.139 m/s²</a:t>
            </a:r>
            <a:endParaRPr lang="en-US" altLang="zh-CN"/>
          </a:p>
        </p:txBody>
      </p:sp>
      <p:sp>
        <p:nvSpPr>
          <p:cNvPr id="28" name="Shape 25"/>
          <p:cNvSpPr/>
          <p:nvPr>
            <p:custDataLst>
              <p:tags r:id="rId2"/>
            </p:custDataLst>
          </p:nvPr>
        </p:nvSpPr>
        <p:spPr>
          <a:xfrm>
            <a:off x="104140" y="5738495"/>
            <a:ext cx="8870950" cy="922020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sym typeface="+mn-ea"/>
              </a:rPr>
              <a:t>The data showed high consistency across </a:t>
            </a:r>
            <a:r>
              <a:rPr lang="en-US" altLang="zh-CN">
                <a:sym typeface="+mn-ea"/>
              </a:rPr>
              <a:t>experiments, suggesting a consistent relationship among object apparent size, fingertip aperture, and hand acceleration during reach-to-grasp movements.</a:t>
            </a:r>
            <a:endParaRPr lang="en-US" altLang="zh-CN"/>
          </a:p>
          <a:p>
            <a:pPr algn="ctr"/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6225" y="956945"/>
            <a:ext cx="852233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2000"/>
              <a:t>Further validation</a:t>
            </a:r>
            <a:endParaRPr lang="en-US" altLang="zh-CN" sz="2000"/>
          </a:p>
        </p:txBody>
      </p:sp>
      <p:grpSp>
        <p:nvGrpSpPr>
          <p:cNvPr id="4" name="组合 3"/>
          <p:cNvGrpSpPr/>
          <p:nvPr/>
        </p:nvGrpSpPr>
        <p:grpSpPr>
          <a:xfrm>
            <a:off x="1586230" y="4347210"/>
            <a:ext cx="1868170" cy="1159510"/>
            <a:chOff x="4230" y="2456"/>
            <a:chExt cx="2942" cy="1826"/>
          </a:xfrm>
        </p:grpSpPr>
        <p:sp>
          <p:nvSpPr>
            <p:cNvPr id="5" name="Google Shape;4859;p44"/>
            <p:cNvSpPr/>
            <p:nvPr/>
          </p:nvSpPr>
          <p:spPr>
            <a:xfrm>
              <a:off x="4230" y="2456"/>
              <a:ext cx="2107" cy="1826"/>
            </a:xfrm>
            <a:prstGeom prst="cube">
              <a:avLst>
                <a:gd name="adj" fmla="val 868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" name="直接箭头连接符 7"/>
            <p:cNvCxnSpPr>
              <a:stCxn id="5" idx="4"/>
            </p:cNvCxnSpPr>
            <p:nvPr/>
          </p:nvCxnSpPr>
          <p:spPr>
            <a:xfrm flipV="1">
              <a:off x="6265" y="3436"/>
              <a:ext cx="907" cy="12"/>
            </a:xfrm>
            <a:prstGeom prst="straightConnector1">
              <a:avLst/>
            </a:prstGeom>
            <a:ln>
              <a:solidFill>
                <a:srgbClr val="0E284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1430020" y="5198110"/>
            <a:ext cx="1906905" cy="1159510"/>
            <a:chOff x="3630" y="4675"/>
            <a:chExt cx="3003" cy="1826"/>
          </a:xfrm>
        </p:grpSpPr>
        <p:sp>
          <p:nvSpPr>
            <p:cNvPr id="18" name="Google Shape;4859;p44"/>
            <p:cNvSpPr/>
            <p:nvPr/>
          </p:nvSpPr>
          <p:spPr>
            <a:xfrm>
              <a:off x="3630" y="4675"/>
              <a:ext cx="2107" cy="1826"/>
            </a:xfrm>
            <a:prstGeom prst="cube">
              <a:avLst>
                <a:gd name="adj" fmla="val 868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V="1">
              <a:off x="5669" y="5734"/>
              <a:ext cx="964" cy="12"/>
            </a:xfrm>
            <a:prstGeom prst="straightConnector1">
              <a:avLst/>
            </a:prstGeom>
            <a:ln>
              <a:solidFill>
                <a:srgbClr val="0E284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直接箭头连接符 23"/>
          <p:cNvCxnSpPr/>
          <p:nvPr/>
        </p:nvCxnSpPr>
        <p:spPr>
          <a:xfrm flipV="1">
            <a:off x="5765800" y="5305425"/>
            <a:ext cx="684000" cy="7620"/>
          </a:xfrm>
          <a:prstGeom prst="straightConnector1">
            <a:avLst/>
          </a:prstGeom>
          <a:ln>
            <a:solidFill>
              <a:srgbClr val="0E284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1386205" y="5951855"/>
            <a:ext cx="1338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Acceleration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39875" y="4512945"/>
            <a:ext cx="1338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 Size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6520815" y="4781550"/>
            <a:ext cx="1423670" cy="853440"/>
            <a:chOff x="9310" y="4361"/>
            <a:chExt cx="2242" cy="1344"/>
          </a:xfrm>
        </p:grpSpPr>
        <p:sp>
          <p:nvSpPr>
            <p:cNvPr id="4861" name="Google Shape;4861;p44"/>
            <p:cNvSpPr/>
            <p:nvPr/>
          </p:nvSpPr>
          <p:spPr>
            <a:xfrm>
              <a:off x="9310" y="4361"/>
              <a:ext cx="2192" cy="1344"/>
            </a:xfrm>
            <a:prstGeom prst="cube">
              <a:avLst>
                <a:gd name="adj" fmla="val 21848"/>
              </a:avLst>
            </a:prstGeom>
            <a:solidFill>
              <a:srgbClr val="09CDA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310" y="4688"/>
              <a:ext cx="2242" cy="10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Fingertip </a:t>
              </a:r>
              <a:endParaRPr lang="en-US" altLang="zh-CN" sz="18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Aperture</a:t>
              </a:r>
              <a:endParaRPr lang="en-US" altLang="ja-JP" sz="1600"/>
            </a:p>
          </p:txBody>
        </p:sp>
      </p:grpSp>
      <p:sp>
        <p:nvSpPr>
          <p:cNvPr id="20" name="Shape 25"/>
          <p:cNvSpPr/>
          <p:nvPr>
            <p:custDataLst>
              <p:tags r:id="rId1"/>
            </p:custDataLst>
          </p:nvPr>
        </p:nvSpPr>
        <p:spPr>
          <a:xfrm>
            <a:off x="276225" y="1398270"/>
            <a:ext cx="8522970" cy="705485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ea typeface="SimSun" panose="02010600030101010101" pitchFamily="2" charset="-122"/>
                <a:sym typeface="+mn-ea"/>
              </a:rPr>
              <a:t>Can fingertip aperture during reach-to-grasp movements be predicted using object apparent size and hand acceleration?</a:t>
            </a:r>
            <a:endParaRPr lang="en-US" altLang="zh-CN">
              <a:ea typeface="SimSun" panose="02010600030101010101" pitchFamily="2" charset="-122"/>
            </a:endParaRPr>
          </a:p>
          <a:p>
            <a:pPr algn="ctr"/>
            <a:endParaRPr lang="en-US" altLang="zh-CN"/>
          </a:p>
        </p:txBody>
      </p:sp>
      <p:pic>
        <p:nvPicPr>
          <p:cNvPr id="31" name="图片 30" descr="QQ20261011-2047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55" y="2476500"/>
            <a:ext cx="1036320" cy="1016000"/>
          </a:xfrm>
          <a:prstGeom prst="rect">
            <a:avLst/>
          </a:prstGeom>
        </p:spPr>
      </p:pic>
      <p:sp>
        <p:nvSpPr>
          <p:cNvPr id="32" name="圆角右箭头 31"/>
          <p:cNvSpPr/>
          <p:nvPr/>
        </p:nvSpPr>
        <p:spPr>
          <a:xfrm rot="6960000">
            <a:off x="1669415" y="3329305"/>
            <a:ext cx="633730" cy="929005"/>
          </a:xfrm>
          <a:prstGeom prst="ben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868805" y="2595245"/>
            <a:ext cx="616712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20, 30, 40 mm: 15 training experiments + 5 test experiments</a:t>
            </a:r>
            <a:endParaRPr lang="en-US" altLang="zh-CN"/>
          </a:p>
          <a:p>
            <a:r>
              <a:rPr lang="en-US" altLang="zh-CN"/>
              <a:t>25, 35, 45 mm: 5 experiments for generalization testing</a:t>
            </a:r>
            <a:endParaRPr lang="en-US" altLang="zh-CN"/>
          </a:p>
        </p:txBody>
      </p:sp>
      <p:grpSp>
        <p:nvGrpSpPr>
          <p:cNvPr id="155" name="组合 154"/>
          <p:cNvGrpSpPr/>
          <p:nvPr/>
        </p:nvGrpSpPr>
        <p:grpSpPr>
          <a:xfrm>
            <a:off x="3556635" y="4519295"/>
            <a:ext cx="2145030" cy="1884045"/>
            <a:chOff x="2243" y="1465"/>
            <a:chExt cx="8060" cy="5346"/>
          </a:xfrm>
        </p:grpSpPr>
        <p:sp>
          <p:nvSpPr>
            <p:cNvPr id="114" name="Google Shape;500;p25"/>
            <p:cNvSpPr/>
            <p:nvPr/>
          </p:nvSpPr>
          <p:spPr>
            <a:xfrm>
              <a:off x="2243" y="2689"/>
              <a:ext cx="125" cy="108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503;p25"/>
            <p:cNvSpPr/>
            <p:nvPr/>
          </p:nvSpPr>
          <p:spPr>
            <a:xfrm>
              <a:off x="9455" y="3359"/>
              <a:ext cx="849" cy="878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cxnSp>
          <p:nvCxnSpPr>
            <p:cNvPr id="116" name="Google Shape;510;p25"/>
            <p:cNvCxnSpPr>
              <a:endCxn id="115" idx="2"/>
            </p:cNvCxnSpPr>
            <p:nvPr/>
          </p:nvCxnSpPr>
          <p:spPr>
            <a:xfrm rot="10800000" flipH="1">
              <a:off x="7887" y="3798"/>
              <a:ext cx="1568" cy="250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" name="Google Shape;512;p25"/>
            <p:cNvCxnSpPr>
              <a:endCxn id="115" idx="2"/>
            </p:cNvCxnSpPr>
            <p:nvPr/>
          </p:nvCxnSpPr>
          <p:spPr>
            <a:xfrm>
              <a:off x="7887" y="3166"/>
              <a:ext cx="1568" cy="63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8" name="Google Shape;514;p25"/>
            <p:cNvCxnSpPr>
              <a:endCxn id="115" idx="2"/>
            </p:cNvCxnSpPr>
            <p:nvPr/>
          </p:nvCxnSpPr>
          <p:spPr>
            <a:xfrm>
              <a:off x="7887" y="1947"/>
              <a:ext cx="1568" cy="185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9" name="Google Shape;516;p25"/>
            <p:cNvCxnSpPr>
              <a:stCxn id="120" idx="6"/>
              <a:endCxn id="124" idx="2"/>
            </p:cNvCxnSpPr>
            <p:nvPr/>
          </p:nvCxnSpPr>
          <p:spPr>
            <a:xfrm>
              <a:off x="5658" y="1947"/>
              <a:ext cx="1182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0" name="Google Shape;517;p25"/>
            <p:cNvSpPr/>
            <p:nvPr/>
          </p:nvSpPr>
          <p:spPr>
            <a:xfrm>
              <a:off x="4724" y="1465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r>
                <a:rPr lang="en-GB" sz="1100"/>
                <a:t> </a:t>
              </a:r>
              <a:endParaRPr sz="1200" baseline="-25000"/>
            </a:p>
          </p:txBody>
        </p:sp>
        <p:sp>
          <p:nvSpPr>
            <p:cNvPr id="121" name="Google Shape;519;p25"/>
            <p:cNvSpPr/>
            <p:nvPr/>
          </p:nvSpPr>
          <p:spPr>
            <a:xfrm>
              <a:off x="4714" y="2684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r>
                <a:rPr lang="en-GB" sz="1100"/>
                <a:t> </a:t>
              </a: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2" name="Google Shape;520;p25"/>
            <p:cNvSpPr/>
            <p:nvPr/>
          </p:nvSpPr>
          <p:spPr>
            <a:xfrm>
              <a:off x="4724" y="3903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r>
                <a:rPr lang="en-GB" sz="1100"/>
                <a:t> </a:t>
              </a: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3" name="Google Shape;521;p25"/>
            <p:cNvSpPr/>
            <p:nvPr/>
          </p:nvSpPr>
          <p:spPr>
            <a:xfrm>
              <a:off x="4724" y="5849"/>
              <a:ext cx="925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100">
                <a:solidFill>
                  <a:srgbClr val="000000"/>
                </a:solidFill>
              </a:endParaRPr>
            </a:p>
          </p:txBody>
        </p:sp>
        <p:sp>
          <p:nvSpPr>
            <p:cNvPr id="124" name="Google Shape;518;p25"/>
            <p:cNvSpPr/>
            <p:nvPr/>
          </p:nvSpPr>
          <p:spPr>
            <a:xfrm>
              <a:off x="6840" y="1465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200" baseline="-25000"/>
            </a:p>
          </p:txBody>
        </p:sp>
        <p:sp>
          <p:nvSpPr>
            <p:cNvPr id="125" name="Google Shape;522;p25"/>
            <p:cNvSpPr/>
            <p:nvPr/>
          </p:nvSpPr>
          <p:spPr>
            <a:xfrm>
              <a:off x="6840" y="2743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6" name="Google Shape;523;p25"/>
            <p:cNvSpPr/>
            <p:nvPr/>
          </p:nvSpPr>
          <p:spPr>
            <a:xfrm>
              <a:off x="6840" y="3946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7" name="Google Shape;524;p25"/>
            <p:cNvSpPr/>
            <p:nvPr/>
          </p:nvSpPr>
          <p:spPr>
            <a:xfrm>
              <a:off x="6840" y="5849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cxnSp>
          <p:nvCxnSpPr>
            <p:cNvPr id="128" name="Google Shape;526;p25"/>
            <p:cNvCxnSpPr/>
            <p:nvPr/>
          </p:nvCxnSpPr>
          <p:spPr>
            <a:xfrm flipH="1">
              <a:off x="5186" y="5064"/>
              <a:ext cx="9" cy="709"/>
            </a:xfrm>
            <a:prstGeom prst="straightConnector1">
              <a:avLst/>
            </a:prstGeom>
            <a:noFill/>
            <a:ln w="28575" cap="flat" cmpd="sng">
              <a:solidFill>
                <a:srgbClr val="595959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129" name="Google Shape;530;p25"/>
            <p:cNvSpPr/>
            <p:nvPr/>
          </p:nvSpPr>
          <p:spPr>
            <a:xfrm>
              <a:off x="2243" y="5113"/>
              <a:ext cx="125" cy="108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130" name="Google Shape;531;p25"/>
            <p:cNvCxnSpPr>
              <a:endCxn id="120" idx="2"/>
            </p:cNvCxnSpPr>
            <p:nvPr/>
          </p:nvCxnSpPr>
          <p:spPr>
            <a:xfrm rot="10800000" flipH="1">
              <a:off x="2378" y="1947"/>
              <a:ext cx="2346" cy="80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1" name="Google Shape;532;p25"/>
            <p:cNvCxnSpPr>
              <a:stCxn id="114" idx="5"/>
              <a:endCxn id="121" idx="2"/>
            </p:cNvCxnSpPr>
            <p:nvPr/>
          </p:nvCxnSpPr>
          <p:spPr>
            <a:xfrm>
              <a:off x="2350" y="2781"/>
              <a:ext cx="2365" cy="38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2" name="Google Shape;533;p25"/>
            <p:cNvCxnSpPr>
              <a:stCxn id="114" idx="5"/>
              <a:endCxn id="122" idx="2"/>
            </p:cNvCxnSpPr>
            <p:nvPr/>
          </p:nvCxnSpPr>
          <p:spPr>
            <a:xfrm>
              <a:off x="2350" y="2781"/>
              <a:ext cx="2374" cy="160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3" name="Google Shape;534;p25"/>
            <p:cNvCxnSpPr>
              <a:stCxn id="114" idx="5"/>
              <a:endCxn id="123" idx="2"/>
            </p:cNvCxnSpPr>
            <p:nvPr/>
          </p:nvCxnSpPr>
          <p:spPr>
            <a:xfrm>
              <a:off x="2350" y="2781"/>
              <a:ext cx="2374" cy="355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4" name="Google Shape;555;p25"/>
            <p:cNvCxnSpPr>
              <a:stCxn id="129" idx="5"/>
              <a:endCxn id="120" idx="2"/>
            </p:cNvCxnSpPr>
            <p:nvPr/>
          </p:nvCxnSpPr>
          <p:spPr>
            <a:xfrm rot="10800000" flipH="1">
              <a:off x="2350" y="1947"/>
              <a:ext cx="2374" cy="325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5" name="Google Shape;556;p25"/>
            <p:cNvCxnSpPr>
              <a:stCxn id="129" idx="5"/>
              <a:endCxn id="121" idx="2"/>
            </p:cNvCxnSpPr>
            <p:nvPr/>
          </p:nvCxnSpPr>
          <p:spPr>
            <a:xfrm rot="10800000" flipH="1">
              <a:off x="2350" y="3166"/>
              <a:ext cx="2365" cy="203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6" name="Google Shape;557;p25"/>
            <p:cNvCxnSpPr>
              <a:stCxn id="129" idx="5"/>
              <a:endCxn id="122" idx="2"/>
            </p:cNvCxnSpPr>
            <p:nvPr/>
          </p:nvCxnSpPr>
          <p:spPr>
            <a:xfrm rot="10800000" flipH="1">
              <a:off x="2350" y="4385"/>
              <a:ext cx="2374" cy="82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7" name="Google Shape;558;p25"/>
            <p:cNvCxnSpPr>
              <a:stCxn id="129" idx="5"/>
              <a:endCxn id="123" idx="2"/>
            </p:cNvCxnSpPr>
            <p:nvPr/>
          </p:nvCxnSpPr>
          <p:spPr>
            <a:xfrm>
              <a:off x="2350" y="5205"/>
              <a:ext cx="2374" cy="112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8" name="Google Shape;559;p25"/>
            <p:cNvCxnSpPr>
              <a:stCxn id="120" idx="6"/>
              <a:endCxn id="125" idx="2"/>
            </p:cNvCxnSpPr>
            <p:nvPr/>
          </p:nvCxnSpPr>
          <p:spPr>
            <a:xfrm>
              <a:off x="5658" y="1947"/>
              <a:ext cx="1182" cy="127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9" name="Google Shape;560;p25"/>
            <p:cNvCxnSpPr>
              <a:stCxn id="120" idx="6"/>
              <a:endCxn id="126" idx="2"/>
            </p:cNvCxnSpPr>
            <p:nvPr/>
          </p:nvCxnSpPr>
          <p:spPr>
            <a:xfrm>
              <a:off x="5658" y="1947"/>
              <a:ext cx="1182" cy="248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0" name="Google Shape;561;p25"/>
            <p:cNvCxnSpPr>
              <a:stCxn id="120" idx="6"/>
              <a:endCxn id="127" idx="2"/>
            </p:cNvCxnSpPr>
            <p:nvPr/>
          </p:nvCxnSpPr>
          <p:spPr>
            <a:xfrm>
              <a:off x="5658" y="1947"/>
              <a:ext cx="1182" cy="438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1" name="Google Shape;562;p25"/>
            <p:cNvCxnSpPr>
              <a:stCxn id="121" idx="6"/>
              <a:endCxn id="124" idx="2"/>
            </p:cNvCxnSpPr>
            <p:nvPr/>
          </p:nvCxnSpPr>
          <p:spPr>
            <a:xfrm rot="10800000" flipH="1">
              <a:off x="5648" y="1946"/>
              <a:ext cx="1191" cy="121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2" name="Google Shape;563;p25"/>
            <p:cNvCxnSpPr>
              <a:stCxn id="121" idx="6"/>
              <a:endCxn id="125" idx="2"/>
            </p:cNvCxnSpPr>
            <p:nvPr/>
          </p:nvCxnSpPr>
          <p:spPr>
            <a:xfrm>
              <a:off x="5648" y="3166"/>
              <a:ext cx="1191" cy="5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3" name="Google Shape;564;p25"/>
            <p:cNvCxnSpPr>
              <a:stCxn id="121" idx="6"/>
              <a:endCxn id="126" idx="2"/>
            </p:cNvCxnSpPr>
            <p:nvPr/>
          </p:nvCxnSpPr>
          <p:spPr>
            <a:xfrm>
              <a:off x="5648" y="3166"/>
              <a:ext cx="1191" cy="126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4" name="Google Shape;565;p25"/>
            <p:cNvCxnSpPr>
              <a:stCxn id="121" idx="6"/>
              <a:endCxn id="127" idx="2"/>
            </p:cNvCxnSpPr>
            <p:nvPr/>
          </p:nvCxnSpPr>
          <p:spPr>
            <a:xfrm>
              <a:off x="5648" y="3166"/>
              <a:ext cx="1191" cy="316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5" name="Google Shape;566;p25"/>
            <p:cNvCxnSpPr>
              <a:stCxn id="122" idx="6"/>
              <a:endCxn id="124" idx="2"/>
            </p:cNvCxnSpPr>
            <p:nvPr/>
          </p:nvCxnSpPr>
          <p:spPr>
            <a:xfrm rot="10800000" flipH="1">
              <a:off x="5658" y="1947"/>
              <a:ext cx="1182" cy="243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6" name="Google Shape;567;p25"/>
            <p:cNvCxnSpPr>
              <a:stCxn id="122" idx="6"/>
              <a:endCxn id="125" idx="2"/>
            </p:cNvCxnSpPr>
            <p:nvPr/>
          </p:nvCxnSpPr>
          <p:spPr>
            <a:xfrm rot="10800000" flipH="1">
              <a:off x="5658" y="3224"/>
              <a:ext cx="1182" cy="116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7" name="Google Shape;568;p25"/>
            <p:cNvCxnSpPr>
              <a:stCxn id="122" idx="6"/>
              <a:endCxn id="126" idx="2"/>
            </p:cNvCxnSpPr>
            <p:nvPr/>
          </p:nvCxnSpPr>
          <p:spPr>
            <a:xfrm>
              <a:off x="5658" y="4385"/>
              <a:ext cx="1182" cy="4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8" name="Google Shape;569;p25"/>
            <p:cNvCxnSpPr>
              <a:stCxn id="122" idx="6"/>
              <a:endCxn id="127" idx="2"/>
            </p:cNvCxnSpPr>
            <p:nvPr/>
          </p:nvCxnSpPr>
          <p:spPr>
            <a:xfrm>
              <a:off x="5658" y="4385"/>
              <a:ext cx="1182" cy="194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9" name="Google Shape;570;p25"/>
            <p:cNvCxnSpPr>
              <a:endCxn id="124" idx="2"/>
            </p:cNvCxnSpPr>
            <p:nvPr/>
          </p:nvCxnSpPr>
          <p:spPr>
            <a:xfrm rot="10800000" flipH="1">
              <a:off x="5658" y="1947"/>
              <a:ext cx="1182" cy="444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0" name="Google Shape;571;p25"/>
            <p:cNvCxnSpPr>
              <a:stCxn id="123" idx="6"/>
              <a:endCxn id="125" idx="2"/>
            </p:cNvCxnSpPr>
            <p:nvPr/>
          </p:nvCxnSpPr>
          <p:spPr>
            <a:xfrm rot="10800000" flipH="1">
              <a:off x="5649" y="3224"/>
              <a:ext cx="1191" cy="310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1" name="Google Shape;572;p25"/>
            <p:cNvCxnSpPr>
              <a:stCxn id="123" idx="6"/>
              <a:endCxn id="126" idx="2"/>
            </p:cNvCxnSpPr>
            <p:nvPr/>
          </p:nvCxnSpPr>
          <p:spPr>
            <a:xfrm rot="10800000" flipH="1">
              <a:off x="5649" y="4428"/>
              <a:ext cx="1191" cy="190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2" name="Google Shape;573;p25"/>
            <p:cNvCxnSpPr>
              <a:stCxn id="123" idx="6"/>
              <a:endCxn id="127" idx="2"/>
            </p:cNvCxnSpPr>
            <p:nvPr/>
          </p:nvCxnSpPr>
          <p:spPr>
            <a:xfrm>
              <a:off x="5649" y="6331"/>
              <a:ext cx="1191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3" name="Google Shape;591;p25"/>
            <p:cNvCxnSpPr>
              <a:endCxn id="115" idx="2"/>
            </p:cNvCxnSpPr>
            <p:nvPr/>
          </p:nvCxnSpPr>
          <p:spPr>
            <a:xfrm rot="10800000" flipH="1">
              <a:off x="7887" y="3798"/>
              <a:ext cx="1568" cy="58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4" name="Google Shape;593;p25"/>
            <p:cNvCxnSpPr/>
            <p:nvPr/>
          </p:nvCxnSpPr>
          <p:spPr>
            <a:xfrm flipH="1">
              <a:off x="7302" y="5064"/>
              <a:ext cx="9" cy="709"/>
            </a:xfrm>
            <a:prstGeom prst="straightConnector1">
              <a:avLst/>
            </a:prstGeom>
            <a:noFill/>
            <a:ln w="28575" cap="flat" cmpd="sng">
              <a:solidFill>
                <a:srgbClr val="595959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156" name="文本框 155"/>
          <p:cNvSpPr txBox="1"/>
          <p:nvPr/>
        </p:nvSpPr>
        <p:spPr>
          <a:xfrm>
            <a:off x="3698240" y="4175760"/>
            <a:ext cx="2413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15-frame window MLP</a:t>
            </a:r>
            <a:endParaRPr lang="en-US" altLang="zh-CN" sz="1600" b="1">
              <a:sym typeface="+mn-ea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3454400" y="6403975"/>
            <a:ext cx="40709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2 hidden layer, each with 32 neurons.</a:t>
            </a:r>
            <a:endParaRPr lang="en-US" altLang="zh-CN" sz="1600" b="1"/>
          </a:p>
        </p:txBody>
      </p:sp>
      <p:sp>
        <p:nvSpPr>
          <p:cNvPr id="3" name="任意多边形 2"/>
          <p:cNvSpPr/>
          <p:nvPr/>
        </p:nvSpPr>
        <p:spPr>
          <a:xfrm>
            <a:off x="3592830" y="4347210"/>
            <a:ext cx="281940" cy="434975"/>
          </a:xfrm>
          <a:custGeom>
            <a:avLst/>
            <a:gdLst>
              <a:gd name="connisteX0" fmla="*/ 0 w 380365"/>
              <a:gd name="connsiteY0" fmla="*/ 887730 h 887730"/>
              <a:gd name="connisteX1" fmla="*/ 0 w 380365"/>
              <a:gd name="connsiteY1" fmla="*/ 0 h 887730"/>
              <a:gd name="connisteX2" fmla="*/ 380365 w 380365"/>
              <a:gd name="connsiteY2" fmla="*/ 0 h 8877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80365" h="887730">
                <a:moveTo>
                  <a:pt x="0" y="887730"/>
                </a:moveTo>
                <a:lnTo>
                  <a:pt x="0" y="0"/>
                </a:lnTo>
                <a:lnTo>
                  <a:pt x="380365" y="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Standard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图片 8" descr="C:/MineApp/Code/Multimodal_Imitation_Learning/Data/Result/generalization_20261011_185104_437403/test_predictions/TRIAL_Size_4cm_20261011_145939.pngTRIAL_Size_4cm_20261011_145939"/>
          <p:cNvPicPr>
            <a:picLocks noChangeAspect="1"/>
          </p:cNvPicPr>
          <p:nvPr/>
        </p:nvPicPr>
        <p:blipFill>
          <a:blip r:embed="rId1"/>
          <a:srcRect t="18" b="18"/>
          <a:stretch>
            <a:fillRect/>
          </a:stretch>
        </p:blipFill>
        <p:spPr>
          <a:xfrm>
            <a:off x="3893820" y="4570730"/>
            <a:ext cx="5249545" cy="2249170"/>
          </a:xfrm>
          <a:prstGeom prst="rect">
            <a:avLst/>
          </a:prstGeom>
        </p:spPr>
      </p:pic>
      <p:pic>
        <p:nvPicPr>
          <p:cNvPr id="10" name="图片 9" descr="C:/MineApp/Code/Multimodal_Imitation_Learning/Data/Result/generalization_20261011_185104_437403/test_predictions/TRIAL_Size_3cm_20261007_141420.pngTRIAL_Size_3cm_20261007_141420"/>
          <p:cNvPicPr>
            <a:picLocks noChangeAspect="1"/>
          </p:cNvPicPr>
          <p:nvPr/>
        </p:nvPicPr>
        <p:blipFill>
          <a:blip r:embed="rId2"/>
          <a:srcRect t="18" b="18"/>
          <a:stretch>
            <a:fillRect/>
          </a:stretch>
        </p:blipFill>
        <p:spPr>
          <a:xfrm>
            <a:off x="3893820" y="2304415"/>
            <a:ext cx="5249545" cy="2249170"/>
          </a:xfrm>
          <a:prstGeom prst="rect">
            <a:avLst/>
          </a:prstGeom>
        </p:spPr>
      </p:pic>
      <p:pic>
        <p:nvPicPr>
          <p:cNvPr id="11" name="图片 10" descr="C:/MineApp/Code/Multimodal_Imitation_Learning/Data/Result/generalization_20261011_185104_437403/test_predictions/TRIAL_Size_2cm_20261006_193241.pngTRIAL_Size_2cm_20261006_193241"/>
          <p:cNvPicPr>
            <a:picLocks noChangeAspect="1"/>
          </p:cNvPicPr>
          <p:nvPr/>
        </p:nvPicPr>
        <p:blipFill>
          <a:blip r:embed="rId3"/>
          <a:srcRect l="28"/>
          <a:stretch>
            <a:fillRect/>
          </a:stretch>
        </p:blipFill>
        <p:spPr>
          <a:xfrm>
            <a:off x="3893185" y="53975"/>
            <a:ext cx="5250180" cy="22504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5590" y="810260"/>
            <a:ext cx="331470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Held-out experiments at trained object sizes.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/>
        </p:nvGraphicFramePr>
        <p:xfrm>
          <a:off x="197485" y="2059940"/>
          <a:ext cx="3695700" cy="1438275"/>
        </p:xfrm>
        <a:graphic>
          <a:graphicData uri="http://schemas.openxmlformats.org/drawingml/2006/table">
            <a:tbl>
              <a:tblPr/>
              <a:tblGrid>
                <a:gridCol w="1231900"/>
                <a:gridCol w="1231900"/>
                <a:gridCol w="1231900"/>
              </a:tblGrid>
              <a:tr h="0"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Object size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 sz="1350">
                          <a:sym typeface="+mn-ea"/>
                        </a:rPr>
                        <a:t>object size</a:t>
                      </a:r>
                      <a:r>
                        <a:rPr lang="en-US" altLang="zh-CN"/>
                        <a:t> only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 sz="1350">
                          <a:sym typeface="+mn-ea"/>
                        </a:rPr>
                        <a:t>object size</a:t>
                      </a:r>
                      <a:r>
                        <a:rPr lang="en-US" altLang="zh-CN"/>
                        <a:t> + Acceleration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20 mm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27.7 ± 4.3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19.7 ± 5.8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30 mm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31.3 ± 10.9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30.2 ± 11.2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40 mm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19.1 ± 1.3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17.0 ± 6.4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>
            <p:custDataLst>
              <p:tags r:id="rId4"/>
            </p:custDataLst>
          </p:nvPr>
        </p:nvSpPr>
        <p:spPr>
          <a:xfrm>
            <a:off x="197485" y="3769995"/>
            <a:ext cx="3695065" cy="2864485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l"/>
            <a:r>
              <a:rPr lang="en-US" altLang="zh-CN">
                <a:sym typeface="+mn-ea"/>
              </a:rPr>
              <a:t>Combining object apparent size with acceleration achieved RMSE below 20 px in selected held-out experiments.</a:t>
            </a:r>
            <a:endParaRPr lang="en-US" altLang="zh-CN">
              <a:sym typeface="+mn-ea"/>
            </a:endParaRPr>
          </a:p>
          <a:p>
            <a:pPr algn="l"/>
            <a:endParaRPr lang="en-US" altLang="zh-CN"/>
          </a:p>
          <a:p>
            <a:pPr algn="l"/>
            <a:r>
              <a:rPr lang="en-US" altLang="zh-CN"/>
              <a:t>The results suggest that fingertip aperture during natural grasping can be learned from object apparent size and acceleration.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42875" y="184721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RMSE</a:t>
            </a:r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图片 8" descr="C:/MineApp/Code/Multimodal_Imitation_Learning/generalization_20261012_111640_003207/generalization_predictions/TRIAL_Size_4p5cm_20260929_104825.pngTRIAL_Size_4p5cm_20260929_104825"/>
          <p:cNvPicPr>
            <a:picLocks noChangeAspect="1"/>
          </p:cNvPicPr>
          <p:nvPr/>
        </p:nvPicPr>
        <p:blipFill>
          <a:blip r:embed="rId1"/>
          <a:srcRect b="36"/>
          <a:stretch>
            <a:fillRect/>
          </a:stretch>
        </p:blipFill>
        <p:spPr>
          <a:xfrm>
            <a:off x="3893820" y="4570730"/>
            <a:ext cx="5249545" cy="2249170"/>
          </a:xfrm>
          <a:prstGeom prst="rect">
            <a:avLst/>
          </a:prstGeom>
        </p:spPr>
      </p:pic>
      <p:pic>
        <p:nvPicPr>
          <p:cNvPr id="10" name="图片 9" descr="C:/MineApp/Code/Multimodal_Imitation_Learning/generalization_20261012_111640_003207/generalization_predictions/TRIAL_Size_3p5cm_20261011_151707.pngTRIAL_Size_3p5cm_20261011_151707"/>
          <p:cNvPicPr>
            <a:picLocks noChangeAspect="1"/>
          </p:cNvPicPr>
          <p:nvPr/>
        </p:nvPicPr>
        <p:blipFill>
          <a:blip r:embed="rId2"/>
          <a:srcRect b="36"/>
          <a:stretch>
            <a:fillRect/>
          </a:stretch>
        </p:blipFill>
        <p:spPr>
          <a:xfrm>
            <a:off x="3893820" y="2304415"/>
            <a:ext cx="5249545" cy="2249170"/>
          </a:xfrm>
          <a:prstGeom prst="rect">
            <a:avLst/>
          </a:prstGeom>
        </p:spPr>
      </p:pic>
      <p:pic>
        <p:nvPicPr>
          <p:cNvPr id="11" name="图片 10" descr="C:/MineApp/Code/Multimodal_Imitation_Learning/generalization_20261012_111640_003207/generalization_predictions/TRIAL_Size_2p5cm_20261011_152702.pngTRIAL_Size_2p5cm_20261011_152702"/>
          <p:cNvPicPr>
            <a:picLocks noChangeAspect="1"/>
          </p:cNvPicPr>
          <p:nvPr/>
        </p:nvPicPr>
        <p:blipFill>
          <a:blip r:embed="rId3"/>
          <a:srcRect l="28"/>
          <a:stretch>
            <a:fillRect/>
          </a:stretch>
        </p:blipFill>
        <p:spPr>
          <a:xfrm>
            <a:off x="3893185" y="53975"/>
            <a:ext cx="5250180" cy="2250440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/>
        </p:nvGraphicFramePr>
        <p:xfrm>
          <a:off x="79375" y="2131695"/>
          <a:ext cx="3815715" cy="1231900"/>
        </p:xfrm>
        <a:graphic>
          <a:graphicData uri="http://schemas.openxmlformats.org/drawingml/2006/table">
            <a:tbl>
              <a:tblPr/>
              <a:tblGrid>
                <a:gridCol w="1289685"/>
                <a:gridCol w="1254125"/>
                <a:gridCol w="1271905"/>
              </a:tblGrid>
              <a:tr h="492760"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Object size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object size only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object size + acceleration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25 mm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n=7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38.8 ± 6.1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26.0 ± 9.4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35 mm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n=11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37.1 ± 11.9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20.6 ± 11.3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45 mm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n=20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47.4 ± 13.5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43.2 ± 9.8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>
            <p:custDataLst>
              <p:tags r:id="rId4"/>
            </p:custDataLst>
          </p:nvPr>
        </p:nvSpPr>
        <p:spPr>
          <a:xfrm>
            <a:off x="78105" y="3557905"/>
            <a:ext cx="3816350" cy="3194685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l"/>
            <a:r>
              <a:rPr lang="en-US" altLang="zh-CN"/>
              <a:t>At unseen sizes of 25 and 35 mm, selected experiments maintained RMSE around 20 px. </a:t>
            </a:r>
            <a:endParaRPr lang="en-US" altLang="zh-CN"/>
          </a:p>
          <a:p>
            <a:pPr algn="l"/>
            <a:r>
              <a:rPr lang="en-US" altLang="zh-CN"/>
              <a:t>suggesting interpolation capability.</a:t>
            </a:r>
            <a:endParaRPr lang="en-US" altLang="zh-CN"/>
          </a:p>
          <a:p>
            <a:pPr algn="l"/>
            <a:endParaRPr lang="en-US" altLang="zh-CN"/>
          </a:p>
          <a:p>
            <a:pPr algn="l"/>
            <a:r>
              <a:rPr lang="en-US" altLang="zh-CN"/>
              <a:t> At 45 mm, </a:t>
            </a:r>
            <a:endParaRPr lang="en-US" altLang="zh-CN"/>
          </a:p>
          <a:p>
            <a:pPr algn="l"/>
            <a:r>
              <a:rPr lang="en-US" altLang="zh-CN"/>
              <a:t>beyond the training size range, prediction error increased,</a:t>
            </a:r>
            <a:endParaRPr lang="en-US" altLang="zh-CN"/>
          </a:p>
          <a:p>
            <a:pPr algn="l"/>
            <a:r>
              <a:rPr lang="en-US" altLang="zh-CN"/>
              <a:t>indicating limited extrapolation capability and motivating further investigation.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75590" y="810260"/>
            <a:ext cx="3314700" cy="75565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>
                <a:sym typeface="+mn-ea"/>
              </a:rPr>
              <a:t>Held-out experiments at unseen object sizes.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0" y="1897380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RMSE</a:t>
            </a:r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Results and Discussion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5590" y="1083310"/>
            <a:ext cx="8431530" cy="233045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The results suggest that fingertip aperture during reach-to-grasp movements can be predicted using object apparent size and hand acceleration.</a:t>
            </a:r>
            <a:endParaRPr lang="en-US" altLang="zh-CN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Adding hand acceleration generally improves aperture prediction compared with using object apparent size alone.</a:t>
            </a:r>
            <a:endParaRPr lang="en-US" altLang="zh-CN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The model shows generalization to unseen object sizes within the training size range. Prediction error increases beyond this range, indicating that extrapolation requires further investigation.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Experimental Error Analysis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5590" y="1009650"/>
            <a:ext cx="852297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ea typeface="SimSun" panose="02010600030101010101" pitchFamily="2" charset="-122"/>
              </a:rPr>
              <a:t>△</a:t>
            </a:r>
            <a:r>
              <a:rPr lang="en-US" altLang="zh-CN">
                <a:ea typeface="SimSun" panose="02010600030101010101" pitchFamily="2" charset="-122"/>
              </a:rPr>
              <a:t> </a:t>
            </a:r>
            <a:r>
              <a:rPr lang="en-US" altLang="zh-CN"/>
              <a:t>Equipment-related errors</a:t>
            </a:r>
            <a:endParaRPr lang="en-US" altLang="zh-CN"/>
          </a:p>
          <a:p>
            <a:r>
              <a:rPr lang="en-US" altLang="zh-CN"/>
              <a:t>- Visual measurement variability: Object apparent size and fingertip aperture are estimated using visual algorithms, which may introduce measurement fluctuations.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- IMU measurement uncertainty: Sensor noise may affect measurement accuracy.</a:t>
            </a:r>
            <a:endParaRPr lang="en-US" altLang="zh-CN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ea typeface="SimSun" panose="02010600030101010101" pitchFamily="2" charset="-122"/>
                <a:sym typeface="+mn-ea"/>
              </a:rPr>
              <a:t>△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 </a:t>
            </a:r>
            <a:r>
              <a:rPr lang="en-US" altLang="zh-CN"/>
              <a:t>Experiment-related variability</a:t>
            </a:r>
            <a:endParaRPr lang="en-US" altLang="zh-CN"/>
          </a:p>
          <a:p>
            <a:r>
              <a:rPr lang="en-US" altLang="zh-CN"/>
              <a:t>- Natural grasping variability: Movement speed and grasping strategy may vary between experiments.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- Object position variability: Small differences in object placement may change the reaching trajectory and visual measurements.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test_predictions/TRIAL_Size_2cm_20261006_193241.pngTRIAL_Size_2cm_20261006_193241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3322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20mm Test1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test_predictions/TRIAL_Size_2cm_20261006_193327.pngTRIAL_Size_2cm_20261006_193327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3322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20mm Test2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test_predictions/TRIAL_Size_2cm_20261011_124040.pngTRIAL_Size_2cm_20261011_124040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3322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20mm Test3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test_predictions/TRIAL_Size_2cm_20261011_124147.pngTRIAL_Size_2cm_20261011_124147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3322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20mm Test4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test_predictions/TRIAL_Size_2cm_20261011_124315.pngTRIAL_Size_2cm_20261011_124315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20mm Test5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test_predictions/TRIAL_Size_3cm_20260929_110842.pngTRIAL_Size_3cm_20260929_110842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30mm Test1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test_predictions/TRIAL_Size_3cm_20261006_161446.pngTRIAL_Size_3cm_20261006_161446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30mm Test2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test_predictions/TRIAL_Size_3cm_20261006_161720.pngTRIAL_Size_3cm_20261006_161720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0655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30mm Test3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test_predictions/TRIAL_Size_3cm_20261007_141420.pngTRIAL_Size_3cm_20261007_141420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30mm Test4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test_predictions/TRIAL_Size_3cm_20261007_141652.pngTRIAL_Size_3cm_20261007_141652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30mm Test5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test_predictions/TRIAL_Size_4cm_20261011_145837.pngTRIAL_Size_4cm_20261011_145837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40mm Test1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test_predictions/TRIAL_Size_4cm_20261011_145939.pngTRIAL_Size_4cm_20261011_145939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40mm Test2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test_predictions/TRIAL_Size_4cm_20261011_145837.pngTRIAL_Size_4cm_20261011_145837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40mm Test3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test_predictions/TRIAL_Size_4cm_20261011_150412.pngTRIAL_Size_4cm_20261011_150412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40mm Test4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test_predictions/TRIAL_Size_4cm_20261011_150605.pngTRIAL_Size_4cm_20261011_150605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40mm Test5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generalization_predictions/TRIAL_Size_2p5cm_20261011_152235.pngTRIAL_Size_2p5cm_20261011_152235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25mm Test1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generalization_predictions/TRIAL_Size_2p5cm_20261011_152316.pngTRIAL_Size_2p5cm_20261011_152316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25mm Test2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generalization_predictions/TRIAL_Size_2p5cm_20261011_152346.pngTRIAL_Size_2p5cm_20261011_152346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0655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25mm Test3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generalization_predictions/TRIAL_Size_2p5cm_20261011_152543.pngTRIAL_Size_2p5cm_20261011_152543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57988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25mm Test4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generalization_predictions/TRIAL_Size_2p5cm_20261011_152702.pngTRIAL_Size_2p5cm_20261011_152702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25mm Test5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generalization_predictions/TRIAL_Size_3p5cm_20261011_151536.pngTRIAL_Size_3p5cm_20261011_151536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35mm Test1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generalization_predictions/TRIAL_Size_3p5cm_20261011_151635.pngTRIAL_Size_3p5cm_20261011_151635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35mm Test2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generalization_predictions/TRIAL_Size_3p5cm_20261011_151707.pngTRIAL_Size_3p5cm_20261011_151707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35mm Test3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generalization_predictions/TRIAL_Size_3p5cm_20261011_152021.pngTRIAL_Size_3p5cm_20261011_152021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35mm Test4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generalization_predictions/TRIAL_Size_3p5cm_20261011_152046.pngTRIAL_Size_3p5cm_20261011_152046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35mm Test5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generalization_predictions/TRIAL_Size_4p5cm_20260929_104825.pngTRIAL_Size_4p5cm_20260929_104825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45mm Test1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generalization_predictions/TRIAL_Size_4p5cm_20261007_104705.pngTRIAL_Size_4p5cm_20261007_104705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45mm Test2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generalization_predictions/TRIAL_Size_4p5cm_20261007_104953.pngTRIAL_Size_4p5cm_20261007_104953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45mm Test3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generalization_predictions/TRIAL_Size_4p5cm_20261007_105023.pngTRIAL_Size_4p5cm_20261007_105023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45mm Test4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Detailed Result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C:/MineApp/Code/Multimodal_Imitation_Learning/Data/Result/generalization_20261011_185104_437403/generalization_predictions/TRIAL_Size_4p5cm_20261007_105106.pngTRIAL_Size_4p5cm_20261007_105106"/>
          <p:cNvPicPr>
            <a:picLocks noChangeAspect="1"/>
          </p:cNvPicPr>
          <p:nvPr/>
        </p:nvPicPr>
        <p:blipFill>
          <a:blip r:embed="rId1"/>
          <a:srcRect l="16"/>
          <a:stretch>
            <a:fillRect/>
          </a:stretch>
        </p:blipFill>
        <p:spPr>
          <a:xfrm>
            <a:off x="0" y="1615440"/>
            <a:ext cx="9144000" cy="3919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946785"/>
            <a:ext cx="4850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45mm Test5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2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3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4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5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6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7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8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9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0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1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2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3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4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5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6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7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8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>
              <a:lumMod val="85000"/>
              <a:lumOff val="15000"/>
            </a:schemeClr>
          </a:solidFill>
          <a:tailEnd type="oval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95000"/>
              <a:lumOff val="5000"/>
            </a:schemeClr>
          </a:solidFill>
          <a:prstDash val="dash"/>
        </a:ln>
      </a:spPr>
      <a:bodyPr/>
      <a:lstStyle/>
      <a:style>
        <a:lnRef idx="0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4633</Words>
  <Application>WPS 演示</Application>
  <PresentationFormat>Converted Presentation</PresentationFormat>
  <Paragraphs>300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0" baseType="lpstr">
      <vt:lpstr>Arial</vt:lpstr>
      <vt:lpstr>SimSun</vt:lpstr>
      <vt:lpstr>Wingdings</vt:lpstr>
      <vt:lpstr>Arial</vt:lpstr>
      <vt:lpstr>Avenir Heavy</vt:lpstr>
      <vt:lpstr>Segoe Print</vt:lpstr>
      <vt:lpstr>Times New Roman</vt:lpstr>
      <vt:lpstr>Times New Roman</vt:lpstr>
      <vt:lpstr>Microsoft YaHei</vt:lpstr>
      <vt:lpstr>Arial Unicode MS</vt:lpstr>
      <vt:lpstr>MS PGothic</vt:lpstr>
      <vt:lpstr>Office テーマ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21</cp:revision>
  <dcterms:created xsi:type="dcterms:W3CDTF">2026-09-29T07:20:00Z</dcterms:created>
  <dcterms:modified xsi:type="dcterms:W3CDTF">2026-10-14T05:24:52Z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FB3ACDAA4AF54148BE5074B4117C330D_12</vt:lpwstr>
  </property>
</Properties>
</file>