
<file path=[Content_Types].xml><?xml version="1.0" encoding="utf-8"?>
<Types xmlns="http://schemas.openxmlformats.org/package/2006/content-types">
  <Default Extension="xml" ContentType="application/xml"/>
  <Default Extension="jpeg" ContentType="image/jpeg"/>
  <Default Extension="JPG" ContentType="image/.jpg"/>
  <Default Extension="gif" ContentType="image/gif"/>
  <Default Extension="png" ContentType="image/png"/>
  <Default Extension="mp4" ContentType="video/mp4"/>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2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80" r:id="rId3"/>
    <p:sldId id="282" r:id="rId5"/>
    <p:sldId id="283" r:id="rId6"/>
    <p:sldId id="284" r:id="rId7"/>
    <p:sldId id="268" r:id="rId8"/>
    <p:sldId id="279" r:id="rId9"/>
    <p:sldId id="286" r:id="rId10"/>
    <p:sldId id="288" r:id="rId11"/>
    <p:sldId id="289" r:id="rId12"/>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2828"/>
    <a:srgbClr val="F7D6D6"/>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114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customXml" Target="../customXml/item3.xml"/><Relationship Id="rId17" Type="http://schemas.openxmlformats.org/officeDocument/2006/relationships/customXml" Target="../customXml/item2.xml"/><Relationship Id="rId16" Type="http://schemas.openxmlformats.org/officeDocument/2006/relationships/customXml" Target="../customXml/item1.xml"/><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143000" y="1122363"/>
            <a:ext cx="6858000" cy="2387600"/>
          </a:xfrm>
        </p:spPr>
        <p:txBody>
          <a:bodyPr anchor="b"/>
          <a:lstStyle>
            <a:lvl1pPr algn="ctr">
              <a:defRPr sz="4500"/>
            </a:lvl1pPr>
          </a:lstStyle>
          <a:p>
            <a:r>
              <a:rPr kumimoji="1" lang="ja-JP" altLang="en-US"/>
              <a:t>マスター タイトルの書式設定</a:t>
            </a:r>
            <a:endParaRPr kumimoji="1" lang="ja-JP" altLang="en-US"/>
          </a:p>
        </p:txBody>
      </p:sp>
      <p:sp>
        <p:nvSpPr>
          <p:cNvPr id="3" name="字幕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kumimoji="1" lang="ja-JP" altLang="en-US"/>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623888" y="1709739"/>
            <a:ext cx="7886700" cy="2852737"/>
          </a:xfrm>
        </p:spPr>
        <p:txBody>
          <a:bodyPr anchor="b"/>
          <a:lstStyle>
            <a:lvl1pPr>
              <a:defRPr sz="4500"/>
            </a:lvl1p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3888"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kumimoji="1" lang="ja-JP" altLang="en-US"/>
              <a:t>マスター テキストの書式設定</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コンテンツ プレースホルダー 2"/>
          <p:cNvSpPr>
            <a:spLocks noGrp="1"/>
          </p:cNvSpPr>
          <p:nvPr>
            <p:ph sz="half" idx="1"/>
          </p:nvPr>
        </p:nvSpPr>
        <p:spPr>
          <a:xfrm>
            <a:off x="628650" y="1825625"/>
            <a:ext cx="38862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コンテンツ プレースホルダー 3"/>
          <p:cNvSpPr>
            <a:spLocks noGrp="1"/>
          </p:cNvSpPr>
          <p:nvPr>
            <p:ph sz="half" idx="2"/>
          </p:nvPr>
        </p:nvSpPr>
        <p:spPr>
          <a:xfrm>
            <a:off x="4629150" y="1825625"/>
            <a:ext cx="3886200" cy="435133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365126"/>
            <a:ext cx="7886700" cy="1325563"/>
          </a:xfrm>
        </p:spPr>
        <p:txBody>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endParaRPr kumimoji="1" lang="ja-JP" altLang="en-US"/>
          </a:p>
        </p:txBody>
      </p:sp>
      <p:sp>
        <p:nvSpPr>
          <p:cNvPr id="4" name="コンテンツ プレースホルダー 3"/>
          <p:cNvSpPr>
            <a:spLocks noGrp="1"/>
          </p:cNvSpPr>
          <p:nvPr>
            <p:ph sz="half" idx="2"/>
          </p:nvPr>
        </p:nvSpPr>
        <p:spPr>
          <a:xfrm>
            <a:off x="629842" y="2505075"/>
            <a:ext cx="3868340"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5" name="テキスト プレースホルダー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kumimoji="1" lang="ja-JP" altLang="en-US"/>
              <a:t>マスター テキストの書式設定</a:t>
            </a:r>
            <a:endParaRPr kumimoji="1" lang="ja-JP" altLang="en-US"/>
          </a:p>
        </p:txBody>
      </p:sp>
      <p:sp>
        <p:nvSpPr>
          <p:cNvPr id="6" name="コンテンツ プレースホルダー 5"/>
          <p:cNvSpPr>
            <a:spLocks noGrp="1"/>
          </p:cNvSpPr>
          <p:nvPr>
            <p:ph sz="quarter" idx="4"/>
          </p:nvPr>
        </p:nvSpPr>
        <p:spPr>
          <a:xfrm>
            <a:off x="4629150" y="2505075"/>
            <a:ext cx="3887391" cy="3684588"/>
          </a:xfrm>
        </p:spPr>
        <p:txBody>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7" name="日付プレースホルダー 6"/>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205954" y="94797"/>
            <a:ext cx="7886700" cy="488889"/>
          </a:xfrm>
        </p:spPr>
        <p:txBody>
          <a:bodyPr>
            <a:normAutofit/>
          </a:bodyPr>
          <a:lstStyle>
            <a:lvl1pPr>
              <a:defRPr sz="2800"/>
            </a:lvl1pPr>
          </a:lstStyle>
          <a:p>
            <a:r>
              <a:rPr kumimoji="1" lang="ja-JP" altLang="en-US"/>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cxnSp>
        <p:nvCxnSpPr>
          <p:cNvPr id="7" name="直線コネクタ 6"/>
          <p:cNvCxnSpPr/>
          <p:nvPr userDrawn="1"/>
        </p:nvCxnSpPr>
        <p:spPr>
          <a:xfrm>
            <a:off x="171450" y="94086"/>
            <a:ext cx="0" cy="489600"/>
          </a:xfrm>
          <a:prstGeom prst="line">
            <a:avLst/>
          </a:prstGeom>
          <a:ln w="57150">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sp>
        <p:nvSpPr>
          <p:cNvPr id="5" name="スライド番号プレースホルダー 4"/>
          <p:cNvSpPr>
            <a:spLocks noGrp="1"/>
          </p:cNvSpPr>
          <p:nvPr>
            <p:ph type="sldNum" sz="quarter" idx="12"/>
          </p:nvPr>
        </p:nvSpPr>
        <p:spPr>
          <a:xfrm>
            <a:off x="7063954" y="6574305"/>
            <a:ext cx="2057400" cy="365125"/>
          </a:xfrm>
        </p:spPr>
        <p:txBody>
          <a:bodyPr/>
          <a:lstStyle>
            <a:lvl1pPr>
              <a:defRPr sz="1400">
                <a:solidFill>
                  <a:schemeClr val="accent1">
                    <a:lumMod val="75000"/>
                  </a:schemeClr>
                </a:solidFill>
              </a:defRPr>
            </a:lvl1pPr>
          </a:lstStyle>
          <a:p>
            <a:fld id="{6F00E456-75B8-4C92-99E8-A0CAB60115A8}" type="slidenum">
              <a:rPr lang="ja-JP" altLang="en-US" smtClean="0"/>
            </a:fld>
            <a:endParaRPr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endParaRPr kumimoji="1" lang="ja-JP" altLang="en-US"/>
          </a:p>
        </p:txBody>
      </p:sp>
      <p:sp>
        <p:nvSpPr>
          <p:cNvPr id="3" name="コンテンツ プレースホルダー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テキスト プレースホルダー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629841" y="457200"/>
            <a:ext cx="2949178" cy="1600200"/>
          </a:xfrm>
        </p:spPr>
        <p:txBody>
          <a:bodyPr anchor="b"/>
          <a:lstStyle>
            <a:lvl1pPr>
              <a:defRPr sz="2400"/>
            </a:lvl1pPr>
          </a:lstStyle>
          <a:p>
            <a:r>
              <a:rPr kumimoji="1" lang="ja-JP" altLang="en-US"/>
              <a:t>マスター タイトルの書式設定</a:t>
            </a:r>
            <a:endParaRPr kumimoji="1" lang="ja-JP" altLang="en-US"/>
          </a:p>
        </p:txBody>
      </p:sp>
      <p:sp>
        <p:nvSpPr>
          <p:cNvPr id="3" name="図プレースホルダー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kumimoji="1" lang="ja-JP" altLang="en-US"/>
          </a:p>
        </p:txBody>
      </p:sp>
      <p:sp>
        <p:nvSpPr>
          <p:cNvPr id="4" name="テキスト プレースホルダー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kumimoji="1" lang="ja-JP" altLang="en-US"/>
              <a:t>マスター テキストの書式設定</a:t>
            </a:r>
            <a:endParaRPr kumimoji="1" lang="ja-JP" altLang="en-US"/>
          </a:p>
        </p:txBody>
      </p:sp>
      <p:sp>
        <p:nvSpPr>
          <p:cNvPr id="5" name="日付プレースホルダー 4"/>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543675" y="365125"/>
            <a:ext cx="1971675" cy="5811838"/>
          </a:xfrm>
        </p:spPr>
        <p:txBody>
          <a:bodyPr vert="eaVert"/>
          <a:lstStyle/>
          <a:p>
            <a:r>
              <a:rPr kumimoji="1" lang="ja-JP" altLang="en-US"/>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628650" y="365125"/>
            <a:ext cx="5800725" cy="5811838"/>
          </a:xfrm>
        </p:spPr>
        <p:txBody>
          <a:bodyPr vert="eaVert"/>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10"/>
          </p:nvPr>
        </p:nvSpPr>
        <p:spPr/>
        <p:txBody>
          <a:body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6F00E456-75B8-4C92-99E8-A0CAB60115A8}" type="slidenum">
              <a:rPr kumimoji="1" lang="ja-JP" altLang="en-US" smtClean="0"/>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kumimoji="1" lang="ja-JP" altLang="en-US"/>
              <a:t>マスター タイトルの書式設定</a:t>
            </a:r>
            <a:endParaRPr kumimoji="1" lang="ja-JP" altLang="en-US"/>
          </a:p>
        </p:txBody>
      </p:sp>
      <p:sp>
        <p:nvSpPr>
          <p:cNvPr id="3" name="テキスト プレースホルダー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kumimoji="1" lang="ja-JP" altLang="en-US"/>
              <a:t>マスター テキストの書式設定</a:t>
            </a:r>
            <a:endParaRPr kumimoji="1" lang="ja-JP" altLang="en-US"/>
          </a:p>
          <a:p>
            <a:pPr lvl="1"/>
            <a:r>
              <a:rPr kumimoji="1" lang="ja-JP" altLang="en-US"/>
              <a:t>第 </a:t>
            </a:r>
            <a:r>
              <a:rPr kumimoji="1" lang="en-US" altLang="ja-JP"/>
              <a:t>2 </a:t>
            </a:r>
            <a:r>
              <a:rPr kumimoji="1" lang="ja-JP" altLang="en-US"/>
              <a:t>レベル</a:t>
            </a:r>
            <a:endParaRPr kumimoji="1" lang="ja-JP" altLang="en-US"/>
          </a:p>
          <a:p>
            <a:pPr lvl="2"/>
            <a:r>
              <a:rPr kumimoji="1" lang="ja-JP" altLang="en-US"/>
              <a:t>第 </a:t>
            </a:r>
            <a:r>
              <a:rPr kumimoji="1" lang="en-US" altLang="ja-JP"/>
              <a:t>3 </a:t>
            </a:r>
            <a:r>
              <a:rPr kumimoji="1" lang="ja-JP" altLang="en-US"/>
              <a:t>レベル</a:t>
            </a:r>
            <a:endParaRPr kumimoji="1" lang="ja-JP" altLang="en-US"/>
          </a:p>
          <a:p>
            <a:pPr lvl="3"/>
            <a:r>
              <a:rPr kumimoji="1" lang="ja-JP" altLang="en-US"/>
              <a:t>第 </a:t>
            </a:r>
            <a:r>
              <a:rPr kumimoji="1" lang="en-US" altLang="ja-JP"/>
              <a:t>4 </a:t>
            </a:r>
            <a:r>
              <a:rPr kumimoji="1" lang="ja-JP" altLang="en-US"/>
              <a:t>レベル</a:t>
            </a:r>
            <a:endParaRPr kumimoji="1" lang="ja-JP" altLang="en-US"/>
          </a:p>
          <a:p>
            <a:pPr lvl="4"/>
            <a:r>
              <a:rPr kumimoji="1" lang="ja-JP" altLang="en-US"/>
              <a:t>第 </a:t>
            </a:r>
            <a:r>
              <a:rPr kumimoji="1" lang="en-US" altLang="ja-JP"/>
              <a:t>5 </a:t>
            </a:r>
            <a:r>
              <a:rPr kumimoji="1" lang="ja-JP" altLang="en-US"/>
              <a:t>レベル</a:t>
            </a:r>
            <a:endParaRPr kumimoji="1" lang="ja-JP" altLang="en-US"/>
          </a:p>
        </p:txBody>
      </p:sp>
      <p:sp>
        <p:nvSpPr>
          <p:cNvPr id="4" name="日付プレースホルダー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fld id="{FF5312DB-8217-4BDF-B5AF-DC3A694F87D4}" type="datetimeFigureOut">
              <a:rPr kumimoji="1" lang="ja-JP" altLang="en-US" smtClean="0"/>
            </a:fld>
            <a:endParaRPr kumimoji="1" lang="ja-JP" altLang="en-US"/>
          </a:p>
        </p:txBody>
      </p:sp>
      <p:sp>
        <p:nvSpPr>
          <p:cNvPr id="5" name="フッター プレースホルダー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6F00E456-75B8-4C92-99E8-A0CAB60115A8}" type="slidenum">
              <a:rPr kumimoji="1" lang="ja-JP" altLang="en-US" smtClean="0"/>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90000"/>
        </a:lnSpc>
        <a:spcBef>
          <a:spcPct val="0"/>
        </a:spcBef>
        <a:buNone/>
        <a:defRPr kumimoji="1"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kumimoji="1"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kumimoji="1"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kumimoji="1"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ja-JP"/>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GIF"/></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image" Target="../media/image11.png"/><Relationship Id="rId6" Type="http://schemas.openxmlformats.org/officeDocument/2006/relationships/image" Target="../media/image10.png"/><Relationship Id="rId5" Type="http://schemas.openxmlformats.org/officeDocument/2006/relationships/image" Target="../media/image9.png"/><Relationship Id="rId4" Type="http://schemas.microsoft.com/office/2007/relationships/media" Target="../media/media1.mp4"/><Relationship Id="rId3" Type="http://schemas.openxmlformats.org/officeDocument/2006/relationships/video" Target="../media/media1.mp4"/><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9" Type="http://schemas.openxmlformats.org/officeDocument/2006/relationships/image" Target="../media/image20.png"/><Relationship Id="rId8" Type="http://schemas.openxmlformats.org/officeDocument/2006/relationships/image" Target="../media/image19.png"/><Relationship Id="rId7" Type="http://schemas.openxmlformats.org/officeDocument/2006/relationships/image" Target="../media/image18.png"/><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1" Type="http://schemas.openxmlformats.org/officeDocument/2006/relationships/slideLayout" Target="../slideLayouts/slideLayout2.xml"/><Relationship Id="rId10" Type="http://schemas.openxmlformats.org/officeDocument/2006/relationships/image" Target="../media/image21.svg"/><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4.jpeg"/><Relationship Id="rId4" Type="http://schemas.openxmlformats.org/officeDocument/2006/relationships/image" Target="../media/image23.jpeg"/><Relationship Id="rId3" Type="http://schemas.openxmlformats.org/officeDocument/2006/relationships/image" Target="../media/image22.png"/><Relationship Id="rId2" Type="http://schemas.microsoft.com/office/2007/relationships/media" Target="../media/media2.mp4"/><Relationship Id="rId1" Type="http://schemas.openxmlformats.org/officeDocument/2006/relationships/video" Target="../media/media2.mp4"/></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4530" y="1376045"/>
            <a:ext cx="7775575" cy="1163320"/>
          </a:xfrm>
        </p:spPr>
        <p:txBody>
          <a:bodyPr>
            <a:noAutofit/>
          </a:bodyPr>
          <a:lstStyle/>
          <a:p>
            <a:pPr algn="ctr"/>
            <a:r>
              <a:rPr kumimoji="1" lang="en-US" altLang="zh-CN" sz="3200" dirty="0">
                <a:latin typeface="Calibri" panose="020F0502020204030204" charset="0"/>
                <a:cs typeface="Calibri" panose="020F0502020204030204" charset="0"/>
              </a:rPr>
              <a:t>Development of a Myoelectric Hand Based on Deep Learning</a:t>
            </a:r>
            <a:endParaRPr kumimoji="1" lang="en-US" altLang="zh-CN" sz="3200" dirty="0">
              <a:latin typeface="Calibri" panose="020F0502020204030204" charset="0"/>
              <a:cs typeface="Calibri" panose="020F0502020204030204" charset="0"/>
            </a:endParaRPr>
          </a:p>
        </p:txBody>
      </p:sp>
      <p:sp>
        <p:nvSpPr>
          <p:cNvPr id="5" name="テキスト ボックス 4"/>
          <p:cNvSpPr txBox="1"/>
          <p:nvPr/>
        </p:nvSpPr>
        <p:spPr>
          <a:xfrm>
            <a:off x="1207770" y="4070350"/>
            <a:ext cx="6729095" cy="1550670"/>
          </a:xfrm>
          <a:prstGeom prst="rect">
            <a:avLst/>
          </a:prstGeom>
          <a:noFill/>
        </p:spPr>
        <p:txBody>
          <a:bodyPr wrap="square">
            <a:noAutofit/>
          </a:bodyPr>
          <a:lstStyle/>
          <a:p>
            <a:pPr algn="ctr"/>
            <a:r>
              <a:rPr lang="en-US" altLang="ja-JP" sz="2400" b="0" i="0" u="none" strike="noStrike" dirty="0">
                <a:solidFill>
                  <a:srgbClr val="000000"/>
                </a:solidFill>
                <a:effectLst/>
                <a:latin typeface="Calibri" panose="020F0502020204030204" charset="0"/>
              </a:rPr>
              <a:t>Saga University</a:t>
            </a:r>
            <a:endParaRPr lang="en-US" altLang="ja-JP" sz="2400" b="0" i="0" u="none" strike="noStrike" dirty="0">
              <a:solidFill>
                <a:srgbClr val="000000"/>
              </a:solidFill>
              <a:effectLst/>
              <a:latin typeface="Calibri" panose="020F0502020204030204" charset="0"/>
            </a:endParaRPr>
          </a:p>
          <a:p>
            <a:pPr algn="ctr"/>
            <a:r>
              <a:rPr lang="en-US" altLang="zh-CN" sz="2400" dirty="0">
                <a:solidFill>
                  <a:srgbClr val="000000"/>
                </a:solidFill>
                <a:latin typeface="Calibri" panose="020F0502020204030204" charset="0"/>
              </a:rPr>
              <a:t>Computer Science &amp; Information Techology</a:t>
            </a:r>
            <a:endParaRPr lang="en-US" altLang="zh-CN" sz="2400" dirty="0">
              <a:solidFill>
                <a:srgbClr val="000000"/>
              </a:solidFill>
              <a:latin typeface="Calibri" panose="020F0502020204030204" charset="0"/>
            </a:endParaRPr>
          </a:p>
          <a:p>
            <a:pPr algn="ctr"/>
            <a:r>
              <a:rPr lang="en-US" altLang="ja-JP" sz="2400" b="0" i="0" u="none" strike="noStrike" dirty="0">
                <a:solidFill>
                  <a:srgbClr val="000000"/>
                </a:solidFill>
                <a:effectLst/>
                <a:latin typeface="Calibri" panose="020F0502020204030204" charset="0"/>
              </a:rPr>
              <a:t>25742102 DI XIQING</a:t>
            </a:r>
            <a:endParaRPr lang="en-US" altLang="ja-JP" sz="2400" b="0" i="0" u="none" strike="noStrike" dirty="0">
              <a:solidFill>
                <a:srgbClr val="000000"/>
              </a:solidFill>
              <a:effectLst/>
              <a:latin typeface="Calibri" panose="020F0502020204030204" charset="0"/>
            </a:endParaRPr>
          </a:p>
          <a:p>
            <a:pPr algn="ctr"/>
            <a:r>
              <a:rPr lang="en-US" altLang="ja-JP" sz="2400" dirty="0">
                <a:solidFill>
                  <a:srgbClr val="000000"/>
                </a:solidFill>
                <a:latin typeface="Calibri" panose="020F0502020204030204" charset="0"/>
              </a:rPr>
              <a:t>Professor Osamu Fukuda</a:t>
            </a:r>
            <a:r>
              <a:rPr lang="ja-JP" altLang="ja-JP" sz="2400" dirty="0">
                <a:solidFill>
                  <a:srgbClr val="000000"/>
                </a:solidFill>
                <a:latin typeface="Calibri" panose="020F0502020204030204" charset="0"/>
              </a:rPr>
              <a:t>，</a:t>
            </a:r>
            <a:r>
              <a:rPr lang="en-US" altLang="ja-JP" sz="2400" dirty="0">
                <a:solidFill>
                  <a:srgbClr val="000000"/>
                </a:solidFill>
                <a:latin typeface="Calibri" panose="020F0502020204030204" charset="0"/>
              </a:rPr>
              <a:t>Yeoh Wen Liang</a:t>
            </a:r>
            <a:endParaRPr lang="en-US" altLang="ja-JP" sz="2400" dirty="0">
              <a:solidFill>
                <a:srgbClr val="000000"/>
              </a:solidFill>
              <a:latin typeface="Calibri" panose="020F050202020403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5590" y="226695"/>
            <a:ext cx="8522970" cy="583565"/>
          </a:xfrm>
          <a:prstGeom prst="rect">
            <a:avLst/>
          </a:prstGeom>
          <a:noFill/>
        </p:spPr>
        <p:txBody>
          <a:bodyPr wrap="square" rtlCol="0">
            <a:spAutoFit/>
          </a:bodyPr>
          <a:p>
            <a:r>
              <a:rPr lang="en-US" altLang="zh-CN" sz="3200" b="1">
                <a:latin typeface="Times New Roman" panose="02020603050405020304" charset="0"/>
                <a:ea typeface="ＭＳ Ｐ明朝" panose="02020600040205080304" charset="-128"/>
                <a:cs typeface="Times New Roman" panose="02020603050405020304" charset="0"/>
              </a:rPr>
              <a:t>Introduction</a:t>
            </a:r>
            <a:endParaRPr lang="zh-CN" altLang="en-US" sz="3200" b="1">
              <a:latin typeface="Times New Roman" panose="02020603050405020304" charset="0"/>
              <a:ea typeface="SimSun" panose="02010600030101010101" pitchFamily="2" charset="-122"/>
              <a:cs typeface="Times New Roman" panose="02020603050405020304" charset="0"/>
            </a:endParaRPr>
          </a:p>
        </p:txBody>
      </p:sp>
      <p:pic>
        <p:nvPicPr>
          <p:cNvPr id="9" name="图片 8" descr="wx_article__c7a2712fd0cb3ef3353e7f4b1665513f"/>
          <p:cNvPicPr>
            <a:picLocks noChangeAspect="1"/>
          </p:cNvPicPr>
          <p:nvPr/>
        </p:nvPicPr>
        <p:blipFill>
          <a:blip r:embed="rId1"/>
          <a:stretch>
            <a:fillRect/>
          </a:stretch>
        </p:blipFill>
        <p:spPr>
          <a:xfrm>
            <a:off x="275590" y="3765550"/>
            <a:ext cx="4296410" cy="2416810"/>
          </a:xfrm>
          <a:prstGeom prst="rect">
            <a:avLst/>
          </a:prstGeom>
        </p:spPr>
      </p:pic>
      <p:pic>
        <p:nvPicPr>
          <p:cNvPr id="10" name="图片 9" descr="csm_dc-motor-medical-myoelectric-prosthesis-header_50bd8a379b"/>
          <p:cNvPicPr>
            <a:picLocks noChangeAspect="1"/>
          </p:cNvPicPr>
          <p:nvPr/>
        </p:nvPicPr>
        <p:blipFill>
          <a:blip r:embed="rId2"/>
          <a:stretch>
            <a:fillRect/>
          </a:stretch>
        </p:blipFill>
        <p:spPr>
          <a:xfrm>
            <a:off x="4523105" y="868680"/>
            <a:ext cx="4330065" cy="2625725"/>
          </a:xfrm>
          <a:prstGeom prst="rect">
            <a:avLst/>
          </a:prstGeom>
        </p:spPr>
      </p:pic>
      <p:sp>
        <p:nvSpPr>
          <p:cNvPr id="11" name="文本框 10"/>
          <p:cNvSpPr txBox="1"/>
          <p:nvPr/>
        </p:nvSpPr>
        <p:spPr>
          <a:xfrm>
            <a:off x="275590" y="923925"/>
            <a:ext cx="3723005" cy="1083945"/>
          </a:xfrm>
          <a:prstGeom prst="rect">
            <a:avLst/>
          </a:prstGeom>
        </p:spPr>
        <p:txBody>
          <a:bodyPr wrap="square">
            <a:noAutofit/>
          </a:bodyPr>
          <a:p>
            <a:r>
              <a:rPr lang="en-US" altLang="ja-JP" sz="1600"/>
              <a:t>According to statistics, as of 2017, there were </a:t>
            </a:r>
            <a:r>
              <a:rPr lang="en-US" altLang="ja-JP" sz="1600">
                <a:solidFill>
                  <a:srgbClr val="FF0000"/>
                </a:solidFill>
              </a:rPr>
              <a:t>577 million</a:t>
            </a:r>
            <a:r>
              <a:rPr lang="en-US" altLang="ja-JP" sz="1600"/>
              <a:t> people in world who had lost an upper limb</a:t>
            </a:r>
            <a:r>
              <a:rPr lang="en-US" altLang="ja-JP" sz="1400">
                <a:sym typeface="+mn-ea"/>
              </a:rPr>
              <a:t>[1]</a:t>
            </a:r>
            <a:r>
              <a:rPr lang="en-US" altLang="ja-JP" sz="1600"/>
              <a:t>.</a:t>
            </a:r>
            <a:endParaRPr lang="en-US" altLang="ja-JP" sz="1600"/>
          </a:p>
        </p:txBody>
      </p:sp>
      <p:sp>
        <p:nvSpPr>
          <p:cNvPr id="3" name="文本框 2"/>
          <p:cNvSpPr txBox="1"/>
          <p:nvPr/>
        </p:nvSpPr>
        <p:spPr>
          <a:xfrm>
            <a:off x="276225" y="6384925"/>
            <a:ext cx="8576945" cy="398780"/>
          </a:xfrm>
          <a:prstGeom prst="rect">
            <a:avLst/>
          </a:prstGeom>
        </p:spPr>
        <p:txBody>
          <a:bodyPr wrap="square">
            <a:spAutoFit/>
          </a:bodyPr>
          <a:p>
            <a:r>
              <a:rPr lang="en-US" altLang="ja-JP" sz="1000">
                <a:sym typeface="+mn-ea"/>
              </a:rPr>
              <a:t>[1] </a:t>
            </a:r>
            <a:r>
              <a:rPr lang="en-US" altLang="ja-JP" sz="1000"/>
              <a:t>McDonald C L, Westcott-McCoy S, Weaver M R, et al. Global prevalence of traumatic non-fatal limb amputation[J]. Prosthetics and orthotics international, 2021, 45(2): 105-114.</a:t>
            </a:r>
            <a:endParaRPr lang="en-US" altLang="ja-JP" sz="1000"/>
          </a:p>
        </p:txBody>
      </p:sp>
      <p:sp>
        <p:nvSpPr>
          <p:cNvPr id="2" name="文本框 1"/>
          <p:cNvSpPr txBox="1"/>
          <p:nvPr/>
        </p:nvSpPr>
        <p:spPr>
          <a:xfrm>
            <a:off x="276225" y="2007870"/>
            <a:ext cx="3723005" cy="1322070"/>
          </a:xfrm>
          <a:prstGeom prst="rect">
            <a:avLst/>
          </a:prstGeom>
          <a:noFill/>
        </p:spPr>
        <p:txBody>
          <a:bodyPr wrap="square" rtlCol="0">
            <a:spAutoFit/>
          </a:bodyPr>
          <a:p>
            <a:r>
              <a:rPr lang="en-US" altLang="ja-JP" sz="1600">
                <a:sym typeface="+mn-ea"/>
              </a:rPr>
              <a:t>lost an hand</a:t>
            </a:r>
            <a:r>
              <a:rPr lang="en-US" altLang="zh-CN" sz="1600"/>
              <a:t> not only causes inconvenience in daily life, but also leads to long-term psychological challenges for patients. In many </a:t>
            </a:r>
            <a:r>
              <a:rPr lang="en-US" altLang="zh-CN" sz="1600">
                <a:sym typeface="+mn-ea"/>
              </a:rPr>
              <a:t>countries</a:t>
            </a:r>
            <a:r>
              <a:rPr lang="en-US" altLang="zh-CN" sz="1600"/>
              <a:t> it has been recognized as a public health issue.</a:t>
            </a:r>
            <a:endParaRPr lang="en-US" altLang="zh-CN" sz="1600"/>
          </a:p>
        </p:txBody>
      </p:sp>
      <p:sp>
        <p:nvSpPr>
          <p:cNvPr id="4" name="文本框 3"/>
          <p:cNvSpPr txBox="1"/>
          <p:nvPr/>
        </p:nvSpPr>
        <p:spPr>
          <a:xfrm>
            <a:off x="4761230" y="3658235"/>
            <a:ext cx="4091940" cy="2726690"/>
          </a:xfrm>
          <a:prstGeom prst="rect">
            <a:avLst/>
          </a:prstGeom>
          <a:noFill/>
        </p:spPr>
        <p:txBody>
          <a:bodyPr wrap="square" rtlCol="0">
            <a:noAutofit/>
          </a:bodyPr>
          <a:p>
            <a:r>
              <a:rPr lang="en-US" altLang="zh-CN" sz="1600"/>
              <a:t>With advances in robotic hand, human-like robotic hands are entering public view.</a:t>
            </a:r>
            <a:endParaRPr lang="en-US" altLang="zh-CN" sz="1600"/>
          </a:p>
          <a:p>
            <a:endParaRPr lang="en-US" altLang="zh-CN" sz="1600"/>
          </a:p>
          <a:p>
            <a:r>
              <a:rPr lang="en-US" altLang="zh-CN" sz="1600"/>
              <a:t>They perform more flexible, higher degrees of freedom, and can move as freely as human hands.</a:t>
            </a:r>
            <a:endParaRPr lang="en-US" altLang="zh-CN" sz="1600"/>
          </a:p>
          <a:p>
            <a:endParaRPr lang="en-US" altLang="zh-CN" sz="1600"/>
          </a:p>
          <a:p>
            <a:r>
              <a:rPr lang="en-US" altLang="zh-CN" sz="1600"/>
              <a:t>real-time signal transmission and accurately recognizing the operator’s intention are also important research directions.</a:t>
            </a:r>
            <a:endParaRPr lang="en-US" altLang="zh-CN" sz="1600"/>
          </a:p>
          <a:p>
            <a:endParaRPr lang="en-US" altLang="zh-CN" sz="1600"/>
          </a:p>
          <a:p>
            <a:endParaRPr lang="en-US" altLang="zh-CN" sz="16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5590" y="226695"/>
            <a:ext cx="8522970" cy="583565"/>
          </a:xfrm>
          <a:prstGeom prst="rect">
            <a:avLst/>
          </a:prstGeom>
          <a:noFill/>
        </p:spPr>
        <p:txBody>
          <a:bodyPr wrap="square" rtlCol="0">
            <a:spAutoFit/>
          </a:bodyPr>
          <a:p>
            <a:r>
              <a:rPr lang="en-US" altLang="zh-CN" sz="3200" b="1">
                <a:latin typeface="Times New Roman" panose="02020603050405020304" charset="0"/>
                <a:ea typeface="SimSun" panose="02010600030101010101" pitchFamily="2" charset="-122"/>
                <a:cs typeface="Times New Roman" panose="02020603050405020304" charset="0"/>
                <a:sym typeface="+mn-ea"/>
              </a:rPr>
              <a:t>Related research</a:t>
            </a:r>
            <a:endParaRPr lang="en-US" altLang="zh-CN" sz="3200" b="1">
              <a:latin typeface="Times New Roman" panose="02020603050405020304" charset="0"/>
              <a:ea typeface="SimSun" panose="02010600030101010101" pitchFamily="2" charset="-122"/>
              <a:cs typeface="Times New Roman" panose="02020603050405020304" charset="0"/>
            </a:endParaRPr>
          </a:p>
        </p:txBody>
      </p:sp>
      <p:sp>
        <p:nvSpPr>
          <p:cNvPr id="2" name="文本框 1"/>
          <p:cNvSpPr txBox="1"/>
          <p:nvPr/>
        </p:nvSpPr>
        <p:spPr>
          <a:xfrm>
            <a:off x="220980" y="6384925"/>
            <a:ext cx="8577580" cy="398780"/>
          </a:xfrm>
          <a:prstGeom prst="rect">
            <a:avLst/>
          </a:prstGeom>
        </p:spPr>
        <p:txBody>
          <a:bodyPr wrap="square">
            <a:spAutoFit/>
          </a:bodyPr>
          <a:p>
            <a:pPr marL="0" indent="0" algn="l"/>
            <a:r>
              <a:rPr lang="en-US" altLang="ja-JP" sz="1000">
                <a:sym typeface="+mn-ea"/>
              </a:rPr>
              <a:t>[3] </a:t>
            </a:r>
            <a:r>
              <a:rPr lang="en-US" altLang="zh-CN" sz="1000" b="0" i="0">
                <a:solidFill>
                  <a:srgbClr val="222222"/>
                </a:solidFill>
                <a:latin typeface="Arial" panose="020B0604020202020204"/>
                <a:ea typeface="Arial" panose="020B0604020202020204"/>
              </a:rPr>
              <a:t>Zhang H, Qu H, Teng L, et al. LSTM-MSA: A novel deep learning model with dual-stage attention mechanisms forearm EMG-based hand gesture recognition[J]. IEEE transactions on neural systems and rehabilitation engineering, 2023, 31: 4749-4759.</a:t>
            </a:r>
            <a:endParaRPr lang="en-US" altLang="zh-CN" sz="1000" b="0" i="0">
              <a:solidFill>
                <a:srgbClr val="222222"/>
              </a:solidFill>
              <a:latin typeface="Arial" panose="020B0604020202020204"/>
              <a:ea typeface="Arial" panose="020B0604020202020204"/>
            </a:endParaRPr>
          </a:p>
        </p:txBody>
      </p:sp>
      <p:sp>
        <p:nvSpPr>
          <p:cNvPr id="5" name="文本框 4"/>
          <p:cNvSpPr txBox="1"/>
          <p:nvPr/>
        </p:nvSpPr>
        <p:spPr>
          <a:xfrm>
            <a:off x="216535" y="3319780"/>
            <a:ext cx="5507990" cy="398780"/>
          </a:xfrm>
          <a:prstGeom prst="rect">
            <a:avLst/>
          </a:prstGeom>
        </p:spPr>
        <p:txBody>
          <a:bodyPr wrap="square">
            <a:spAutoFit/>
          </a:bodyPr>
          <a:p>
            <a:pPr marL="0" indent="0" algn="l"/>
            <a:r>
              <a:rPr lang="en-US" altLang="ja-JP" sz="1000">
                <a:sym typeface="+mn-ea"/>
              </a:rPr>
              <a:t>[2] </a:t>
            </a:r>
            <a:r>
              <a:rPr lang="en-US" altLang="ja-JP" sz="1000" b="0" i="0">
                <a:solidFill>
                  <a:srgbClr val="222222"/>
                </a:solidFill>
                <a:latin typeface="Arial" panose="020B0604020202020204"/>
                <a:ea typeface="Arial" panose="020B0604020202020204"/>
              </a:rPr>
              <a:t>Lee K H, Min J Y, Byun S. Electromyogram-based classification of hand and finger gestures using artificial neural networks[J]. Sensors, 2021, 22(1): 225.</a:t>
            </a:r>
            <a:endParaRPr lang="en-US" altLang="ja-JP" sz="1000" b="0" i="0">
              <a:solidFill>
                <a:srgbClr val="222222"/>
              </a:solidFill>
              <a:latin typeface="Arial" panose="020B0604020202020204"/>
              <a:ea typeface="Arial" panose="020B0604020202020204"/>
            </a:endParaRPr>
          </a:p>
        </p:txBody>
      </p:sp>
      <p:pic>
        <p:nvPicPr>
          <p:cNvPr id="4" name="图片 3"/>
          <p:cNvPicPr>
            <a:picLocks noChangeAspect="1"/>
          </p:cNvPicPr>
          <p:nvPr/>
        </p:nvPicPr>
        <p:blipFill>
          <a:blip r:embed="rId1"/>
          <a:stretch>
            <a:fillRect/>
          </a:stretch>
        </p:blipFill>
        <p:spPr>
          <a:xfrm>
            <a:off x="6064885" y="728980"/>
            <a:ext cx="3188335" cy="2989580"/>
          </a:xfrm>
          <a:prstGeom prst="rect">
            <a:avLst/>
          </a:prstGeom>
        </p:spPr>
      </p:pic>
      <p:pic>
        <p:nvPicPr>
          <p:cNvPr id="7" name="图片 6" descr="屏幕截图 2025-10-24 113832"/>
          <p:cNvPicPr>
            <a:picLocks noChangeAspect="1"/>
          </p:cNvPicPr>
          <p:nvPr/>
        </p:nvPicPr>
        <p:blipFill>
          <a:blip r:embed="rId2"/>
          <a:stretch>
            <a:fillRect/>
          </a:stretch>
        </p:blipFill>
        <p:spPr>
          <a:xfrm>
            <a:off x="275590" y="4152265"/>
            <a:ext cx="4295775" cy="2075815"/>
          </a:xfrm>
          <a:prstGeom prst="rect">
            <a:avLst/>
          </a:prstGeom>
        </p:spPr>
      </p:pic>
      <p:cxnSp>
        <p:nvCxnSpPr>
          <p:cNvPr id="3" name="直接连接符 2"/>
          <p:cNvCxnSpPr/>
          <p:nvPr/>
        </p:nvCxnSpPr>
        <p:spPr>
          <a:xfrm>
            <a:off x="216535" y="3994785"/>
            <a:ext cx="8582025" cy="0"/>
          </a:xfrm>
          <a:prstGeom prst="line">
            <a:avLst/>
          </a:prstGeom>
          <a:ln w="12700" cmpd="sng">
            <a:solidFill>
              <a:schemeClr val="tx1">
                <a:lumMod val="75000"/>
                <a:lumOff val="25000"/>
              </a:schemeClr>
            </a:solidFill>
            <a:prstDash val="dash"/>
          </a:ln>
        </p:spPr>
        <p:style>
          <a:lnRef idx="2">
            <a:schemeClr val="accent1"/>
          </a:lnRef>
          <a:fillRef idx="0">
            <a:schemeClr val="accent1"/>
          </a:fillRef>
          <a:effectRef idx="1">
            <a:schemeClr val="accent1"/>
          </a:effectRef>
          <a:fontRef idx="minor">
            <a:schemeClr val="tx1"/>
          </a:fontRef>
        </p:style>
      </p:cxnSp>
      <p:sp>
        <p:nvSpPr>
          <p:cNvPr id="8" name="文本框 7"/>
          <p:cNvSpPr txBox="1"/>
          <p:nvPr/>
        </p:nvSpPr>
        <p:spPr>
          <a:xfrm>
            <a:off x="275590" y="910590"/>
            <a:ext cx="5448300" cy="2409190"/>
          </a:xfrm>
          <a:prstGeom prst="rect">
            <a:avLst/>
          </a:prstGeom>
        </p:spPr>
        <p:txBody>
          <a:bodyPr wrap="square">
            <a:noAutofit/>
          </a:bodyPr>
          <a:p>
            <a:r>
              <a:rPr lang="en-US" altLang="ja-JP" sz="1600">
                <a:sym typeface="+mn-ea"/>
              </a:rPr>
              <a:t>Lee et al.</a:t>
            </a:r>
            <a:r>
              <a:rPr lang="en-US" altLang="ja-JP" sz="1600"/>
              <a:t> compared ANN with traditional machine learning algorithms to recognize ten different hand gestures.</a:t>
            </a:r>
            <a:endParaRPr lang="en-US" altLang="ja-JP" sz="1600"/>
          </a:p>
          <a:p>
            <a:endParaRPr lang="en-US" altLang="ja-JP" sz="1600"/>
          </a:p>
          <a:p>
            <a:r>
              <a:rPr lang="en-US" altLang="zh-CN" sz="1600"/>
              <a:t>The results demonstrate that the accuracy of the ANN is higher than that of traditional machine learning models. </a:t>
            </a:r>
            <a:endParaRPr lang="en-US" altLang="zh-CN" sz="1600"/>
          </a:p>
          <a:p>
            <a:endParaRPr lang="en-US" altLang="zh-CN" sz="1600"/>
          </a:p>
          <a:p>
            <a:r>
              <a:rPr lang="en-US" altLang="zh-CN" sz="1600"/>
              <a:t>That shows </a:t>
            </a:r>
            <a:r>
              <a:rPr lang="en-US" altLang="ja-JP" sz="1600">
                <a:sym typeface="+mn-ea"/>
              </a:rPr>
              <a:t>the advantages of neural network algorithms in EMG signal recognition.</a:t>
            </a:r>
            <a:endParaRPr lang="en-US" altLang="en-US" sz="1600"/>
          </a:p>
        </p:txBody>
      </p:sp>
      <p:sp>
        <p:nvSpPr>
          <p:cNvPr id="10" name="文本框 9"/>
          <p:cNvSpPr txBox="1"/>
          <p:nvPr/>
        </p:nvSpPr>
        <p:spPr>
          <a:xfrm>
            <a:off x="4916805" y="4307840"/>
            <a:ext cx="3881755" cy="829945"/>
          </a:xfrm>
          <a:prstGeom prst="rect">
            <a:avLst/>
          </a:prstGeom>
        </p:spPr>
        <p:txBody>
          <a:bodyPr wrap="square">
            <a:spAutoFit/>
          </a:bodyPr>
          <a:p>
            <a:r>
              <a:rPr lang="en-US" altLang="ja-JP" sz="1600"/>
              <a:t>Zhang et al. developed an improved LSTM model that achieved high-accuracy recognition of five different movements.</a:t>
            </a:r>
            <a:endParaRPr lang="en-US" altLang="ja-JP" sz="16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5590" y="226695"/>
            <a:ext cx="8522970" cy="652145"/>
          </a:xfrm>
          <a:prstGeom prst="rect">
            <a:avLst/>
          </a:prstGeom>
          <a:noFill/>
        </p:spPr>
        <p:txBody>
          <a:bodyPr wrap="square" rtlCol="0">
            <a:noAutofit/>
          </a:bodyPr>
          <a:p>
            <a:r>
              <a:rPr lang="en-US" altLang="zh-CN" sz="3200" b="1">
                <a:latin typeface="Times New Roman" panose="02020603050405020304" charset="0"/>
                <a:ea typeface="SimSun" panose="02010600030101010101" pitchFamily="2" charset="-122"/>
                <a:cs typeface="Times New Roman" panose="02020603050405020304" charset="0"/>
                <a:sym typeface="+mn-ea"/>
              </a:rPr>
              <a:t>EMG Recognition</a:t>
            </a:r>
            <a:endParaRPr lang="en-US" altLang="zh-CN" sz="3200" b="1">
              <a:latin typeface="Times New Roman" panose="02020603050405020304" charset="0"/>
              <a:ea typeface="SimSun" panose="02010600030101010101" pitchFamily="2" charset="-122"/>
              <a:cs typeface="Times New Roman" panose="02020603050405020304" charset="0"/>
            </a:endParaRPr>
          </a:p>
          <a:p>
            <a:endParaRPr lang="en-US" altLang="zh-CN" sz="3200" b="1">
              <a:latin typeface="Times New Roman" panose="02020603050405020304" charset="0"/>
              <a:ea typeface="SimSun" panose="02010600030101010101" pitchFamily="2" charset="-122"/>
              <a:cs typeface="Times New Roman" panose="02020603050405020304" charset="0"/>
            </a:endParaRPr>
          </a:p>
        </p:txBody>
      </p:sp>
      <p:pic>
        <p:nvPicPr>
          <p:cNvPr id="3" name="图片 2" descr="QQ20250727-130222"/>
          <p:cNvPicPr>
            <a:picLocks noChangeAspect="1"/>
          </p:cNvPicPr>
          <p:nvPr/>
        </p:nvPicPr>
        <p:blipFill>
          <a:blip r:embed="rId1"/>
          <a:stretch>
            <a:fillRect/>
          </a:stretch>
        </p:blipFill>
        <p:spPr>
          <a:xfrm>
            <a:off x="346710" y="4730115"/>
            <a:ext cx="4716780" cy="1816735"/>
          </a:xfrm>
          <a:prstGeom prst="rect">
            <a:avLst/>
          </a:prstGeom>
        </p:spPr>
      </p:pic>
      <p:sp>
        <p:nvSpPr>
          <p:cNvPr id="8" name="文本框 7"/>
          <p:cNvSpPr txBox="1"/>
          <p:nvPr/>
        </p:nvSpPr>
        <p:spPr>
          <a:xfrm>
            <a:off x="346075" y="879475"/>
            <a:ext cx="4342765" cy="3417570"/>
          </a:xfrm>
          <a:prstGeom prst="rect">
            <a:avLst/>
          </a:prstGeom>
          <a:noFill/>
        </p:spPr>
        <p:txBody>
          <a:bodyPr wrap="square" rtlCol="0" anchor="t" anchorCtr="0">
            <a:noAutofit/>
          </a:bodyPr>
          <a:p>
            <a:r>
              <a:rPr lang="en-US" altLang="zh-CN"/>
              <a:t>LSTM (Long Short-Term Memory)</a:t>
            </a:r>
            <a:endParaRPr lang="en-US" altLang="zh-CN"/>
          </a:p>
          <a:p>
            <a:pPr indent="457200"/>
            <a:r>
              <a:rPr lang="en-US" altLang="zh-CN" sz="1600"/>
              <a:t>LSTM is one of the most classic models for processing time-series data, can effectively capture temporal context, it very useful for EMG signal recognition.</a:t>
            </a:r>
            <a:endParaRPr lang="en-US" altLang="zh-CN" sz="1600"/>
          </a:p>
          <a:p>
            <a:endParaRPr lang="en-US" altLang="zh-CN"/>
          </a:p>
          <a:p>
            <a:endParaRPr lang="en-US" altLang="zh-CN"/>
          </a:p>
          <a:p>
            <a:r>
              <a:rPr lang="en-US" altLang="zh-CN"/>
              <a:t>Transformer</a:t>
            </a:r>
            <a:endParaRPr lang="en-US" altLang="zh-CN"/>
          </a:p>
          <a:p>
            <a:pPr indent="457200"/>
            <a:r>
              <a:rPr lang="en-US" altLang="zh-CN" sz="1600"/>
              <a:t>Transformer is currently a mainstream and widely studied model. In EMG recognition, it can learn the correlations among channels, which is expected to significantly improve the accuracy for a large number of gesture classes.</a:t>
            </a:r>
            <a:endParaRPr lang="en-US" altLang="zh-CN" sz="1600"/>
          </a:p>
        </p:txBody>
      </p:sp>
      <p:sp>
        <p:nvSpPr>
          <p:cNvPr id="9" name="文本框 8"/>
          <p:cNvSpPr txBox="1"/>
          <p:nvPr/>
        </p:nvSpPr>
        <p:spPr>
          <a:xfrm>
            <a:off x="5063490" y="879475"/>
            <a:ext cx="3960495" cy="1845310"/>
          </a:xfrm>
          <a:prstGeom prst="rect">
            <a:avLst/>
          </a:prstGeom>
          <a:noFill/>
        </p:spPr>
        <p:txBody>
          <a:bodyPr wrap="square" rtlCol="0">
            <a:spAutoFit/>
          </a:bodyPr>
          <a:p>
            <a:r>
              <a:rPr lang="en-US" altLang="zh-CN"/>
              <a:t>MLP</a:t>
            </a:r>
            <a:endParaRPr lang="en-US" altLang="zh-CN"/>
          </a:p>
          <a:p>
            <a:pPr indent="457200"/>
            <a:r>
              <a:rPr lang="en-US" altLang="zh-CN" sz="1600"/>
              <a:t>As one of the most basic models in deep learning, MLP cannot directly handle time-series data. However, by manually extracting features from the signals and feeding them into the model, it can still be used for recognition.</a:t>
            </a:r>
            <a:endParaRPr lang="en-US" altLang="zh-CN" sz="1600"/>
          </a:p>
        </p:txBody>
      </p:sp>
      <p:cxnSp>
        <p:nvCxnSpPr>
          <p:cNvPr id="4" name="直接连接符 3"/>
          <p:cNvCxnSpPr/>
          <p:nvPr/>
        </p:nvCxnSpPr>
        <p:spPr>
          <a:xfrm>
            <a:off x="4805998" y="743903"/>
            <a:ext cx="22225" cy="3811905"/>
          </a:xfrm>
          <a:prstGeom prst="line">
            <a:avLst/>
          </a:prstGeom>
          <a:ln w="12700" cmpd="sng">
            <a:solidFill>
              <a:schemeClr val="tx1">
                <a:lumMod val="75000"/>
                <a:lumOff val="25000"/>
              </a:schemeClr>
            </a:solidFill>
            <a:prstDash val="dash"/>
          </a:ln>
        </p:spPr>
        <p:style>
          <a:lnRef idx="2">
            <a:schemeClr val="accent1"/>
          </a:lnRef>
          <a:fillRef idx="0">
            <a:schemeClr val="accent1"/>
          </a:fillRef>
          <a:effectRef idx="1">
            <a:schemeClr val="accent1"/>
          </a:effectRef>
          <a:fontRef idx="minor">
            <a:schemeClr val="tx1"/>
          </a:fontRef>
        </p:style>
      </p:cxnSp>
      <p:pic>
        <p:nvPicPr>
          <p:cNvPr id="2" name="图片 1" descr="434ce4deb188d26333997f8214ce4207"/>
          <p:cNvPicPr>
            <a:picLocks noChangeAspect="1"/>
          </p:cNvPicPr>
          <p:nvPr/>
        </p:nvPicPr>
        <p:blipFill>
          <a:blip r:embed="rId2"/>
          <a:stretch>
            <a:fillRect/>
          </a:stretch>
        </p:blipFill>
        <p:spPr>
          <a:xfrm>
            <a:off x="5227320" y="2725420"/>
            <a:ext cx="3570605" cy="1771015"/>
          </a:xfrm>
          <a:prstGeom prst="rect">
            <a:avLst/>
          </a:prstGeom>
        </p:spPr>
      </p:pic>
      <p:cxnSp>
        <p:nvCxnSpPr>
          <p:cNvPr id="5" name="直接连接符 4"/>
          <p:cNvCxnSpPr/>
          <p:nvPr/>
        </p:nvCxnSpPr>
        <p:spPr>
          <a:xfrm flipH="1">
            <a:off x="1558290" y="5037455"/>
            <a:ext cx="8890" cy="796925"/>
          </a:xfrm>
          <a:prstGeom prst="line">
            <a:avLst/>
          </a:prstGeom>
          <a:ln w="12700" cap="flat" cmpd="sng" algn="ctr">
            <a:solidFill>
              <a:srgbClr val="F62828"/>
            </a:solidFill>
            <a:prstDash val="dash"/>
            <a:miter lim="800000"/>
          </a:ln>
        </p:spPr>
        <p:style>
          <a:lnRef idx="0">
            <a:schemeClr val="accent1"/>
          </a:lnRef>
          <a:fillRef idx="0">
            <a:srgbClr val="FFFFFF"/>
          </a:fillRef>
          <a:effectRef idx="0">
            <a:srgbClr val="FFFFFF"/>
          </a:effectRef>
          <a:fontRef idx="minor">
            <a:schemeClr val="tx1"/>
          </a:fontRef>
        </p:style>
      </p:cxnSp>
      <p:cxnSp>
        <p:nvCxnSpPr>
          <p:cNvPr id="7" name="直接连接符 6"/>
          <p:cNvCxnSpPr/>
          <p:nvPr/>
        </p:nvCxnSpPr>
        <p:spPr>
          <a:xfrm flipH="1">
            <a:off x="2011045" y="5037455"/>
            <a:ext cx="8890" cy="796925"/>
          </a:xfrm>
          <a:prstGeom prst="line">
            <a:avLst/>
          </a:prstGeom>
          <a:ln w="12700" cap="flat" cmpd="sng" algn="ctr">
            <a:solidFill>
              <a:srgbClr val="F62828"/>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0" name="直接连接符 9"/>
          <p:cNvCxnSpPr/>
          <p:nvPr/>
        </p:nvCxnSpPr>
        <p:spPr>
          <a:xfrm flipH="1">
            <a:off x="3524250" y="5436235"/>
            <a:ext cx="8890" cy="796925"/>
          </a:xfrm>
          <a:prstGeom prst="line">
            <a:avLst/>
          </a:prstGeom>
          <a:ln w="12700" cap="flat" cmpd="sng" algn="ctr">
            <a:solidFill>
              <a:srgbClr val="F62828"/>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1" name="直接连接符 10"/>
          <p:cNvCxnSpPr/>
          <p:nvPr/>
        </p:nvCxnSpPr>
        <p:spPr>
          <a:xfrm flipH="1">
            <a:off x="3977005" y="5436235"/>
            <a:ext cx="8890" cy="796925"/>
          </a:xfrm>
          <a:prstGeom prst="line">
            <a:avLst/>
          </a:prstGeom>
          <a:ln w="12700" cap="flat" cmpd="sng" algn="ctr">
            <a:solidFill>
              <a:srgbClr val="F62828"/>
            </a:solidFill>
            <a:prstDash val="dash"/>
            <a:miter lim="800000"/>
          </a:ln>
        </p:spPr>
        <p:style>
          <a:lnRef idx="0">
            <a:schemeClr val="accent1"/>
          </a:lnRef>
          <a:fillRef idx="0">
            <a:srgbClr val="FFFFFF"/>
          </a:fillRef>
          <a:effectRef idx="0">
            <a:srgbClr val="FFFFFF"/>
          </a:effectRef>
          <a:fontRef idx="minor">
            <a:schemeClr val="tx1"/>
          </a:fontRef>
        </p:style>
      </p:cxnSp>
      <p:cxnSp>
        <p:nvCxnSpPr>
          <p:cNvPr id="12" name="直接连接符 11"/>
          <p:cNvCxnSpPr/>
          <p:nvPr/>
        </p:nvCxnSpPr>
        <p:spPr>
          <a:xfrm flipV="1">
            <a:off x="2173605" y="5145075"/>
            <a:ext cx="3125470" cy="181610"/>
          </a:xfrm>
          <a:prstGeom prst="line">
            <a:avLst/>
          </a:prstGeom>
          <a:ln w="12700">
            <a:solidFill>
              <a:srgbClr val="F62828"/>
            </a:solidFill>
          </a:ln>
        </p:spPr>
        <p:style>
          <a:lnRef idx="2">
            <a:schemeClr val="accent1"/>
          </a:lnRef>
          <a:fillRef idx="0">
            <a:schemeClr val="accent1"/>
          </a:fillRef>
          <a:effectRef idx="1">
            <a:schemeClr val="accent1"/>
          </a:effectRef>
          <a:fontRef idx="minor">
            <a:schemeClr val="tx1"/>
          </a:fontRef>
        </p:style>
      </p:cxnSp>
      <p:cxnSp>
        <p:nvCxnSpPr>
          <p:cNvPr id="13" name="直接连接符 12"/>
          <p:cNvCxnSpPr/>
          <p:nvPr/>
        </p:nvCxnSpPr>
        <p:spPr>
          <a:xfrm flipV="1">
            <a:off x="4112260" y="5280660"/>
            <a:ext cx="1277620" cy="507365"/>
          </a:xfrm>
          <a:prstGeom prst="line">
            <a:avLst/>
          </a:prstGeom>
          <a:ln w="12700">
            <a:solidFill>
              <a:srgbClr val="F62828"/>
            </a:solidFill>
          </a:ln>
        </p:spPr>
        <p:style>
          <a:lnRef idx="2">
            <a:schemeClr val="accent1"/>
          </a:lnRef>
          <a:fillRef idx="0">
            <a:schemeClr val="accent1"/>
          </a:fillRef>
          <a:effectRef idx="1">
            <a:schemeClr val="accent1"/>
          </a:effectRef>
          <a:fontRef idx="minor">
            <a:schemeClr val="tx1"/>
          </a:fontRef>
        </p:style>
      </p:cxnSp>
      <p:sp>
        <p:nvSpPr>
          <p:cNvPr id="14" name="文本框 13"/>
          <p:cNvSpPr txBox="1"/>
          <p:nvPr/>
        </p:nvSpPr>
        <p:spPr>
          <a:xfrm>
            <a:off x="5490210" y="4944110"/>
            <a:ext cx="3521075" cy="583565"/>
          </a:xfrm>
          <a:prstGeom prst="rect">
            <a:avLst/>
          </a:prstGeom>
        </p:spPr>
        <p:txBody>
          <a:bodyPr wrap="square">
            <a:spAutoFit/>
          </a:bodyPr>
          <a:p>
            <a:r>
              <a:rPr lang="en-US" altLang="ja-JP" sz="1600"/>
              <a:t>EMG signal is time-series data, </a:t>
            </a:r>
            <a:r>
              <a:rPr lang="en-US" altLang="zh-CN" sz="1600"/>
              <a:t>It appears as a waveform in time axis.</a:t>
            </a:r>
            <a:r>
              <a:rPr lang="en-US" altLang="ja-JP" sz="1600"/>
              <a:t> </a:t>
            </a:r>
            <a:endParaRPr lang="en-US" altLang="ja-JP"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5590" y="226695"/>
            <a:ext cx="8433435" cy="583565"/>
          </a:xfrm>
          <a:prstGeom prst="rect">
            <a:avLst/>
          </a:prstGeom>
          <a:noFill/>
        </p:spPr>
        <p:txBody>
          <a:bodyPr wrap="square" rtlCol="0">
            <a:spAutoFit/>
          </a:bodyPr>
          <a:p>
            <a:r>
              <a:rPr lang="en-US" altLang="zh-CN" sz="3200" b="1">
                <a:latin typeface="Times New Roman" panose="02020603050405020304" charset="0"/>
                <a:ea typeface="ＭＳ Ｐ明朝" panose="02020600040205080304" charset="-128"/>
                <a:cs typeface="Times New Roman" panose="02020603050405020304" charset="0"/>
              </a:rPr>
              <a:t>Electrode P</a:t>
            </a:r>
            <a:r>
              <a:rPr lang="en-US" altLang="zh-CN" sz="3200" b="1">
                <a:latin typeface="Times New Roman" panose="02020603050405020304" charset="0"/>
                <a:ea typeface="ＭＳ Ｐ明朝" panose="02020600040205080304" charset="-128"/>
                <a:cs typeface="Times New Roman" panose="02020603050405020304" charset="0"/>
                <a:sym typeface="+mn-ea"/>
              </a:rPr>
              <a:t>lacement</a:t>
            </a:r>
            <a:endParaRPr lang="en-US" altLang="zh-CN" sz="3200" b="1">
              <a:latin typeface="Times New Roman" panose="02020603050405020304" charset="0"/>
              <a:ea typeface="ＭＳ Ｐ明朝" panose="02020600040205080304" charset="-128"/>
              <a:cs typeface="Times New Roman" panose="02020603050405020304" charset="0"/>
            </a:endParaRPr>
          </a:p>
        </p:txBody>
      </p:sp>
      <p:sp>
        <p:nvSpPr>
          <p:cNvPr id="3" name="文本框 2"/>
          <p:cNvSpPr txBox="1"/>
          <p:nvPr/>
        </p:nvSpPr>
        <p:spPr>
          <a:xfrm>
            <a:off x="275590" y="810260"/>
            <a:ext cx="4221480" cy="1680210"/>
          </a:xfrm>
          <a:prstGeom prst="rect">
            <a:avLst/>
          </a:prstGeom>
          <a:noFill/>
        </p:spPr>
        <p:txBody>
          <a:bodyPr wrap="square" rtlCol="0">
            <a:noAutofit/>
          </a:bodyPr>
          <a:p>
            <a:pPr indent="457200"/>
            <a:r>
              <a:rPr lang="en-US" altLang="zh-CN" sz="1600">
                <a:ea typeface="SimSun" panose="02010600030101010101" pitchFamily="2" charset="-122"/>
              </a:rPr>
              <a:t>The placement of electrodes is important. Their purpose is to measure the activation of a specific muscle during a particular movement; therefore, they should be placed over the muscle responsible for that movement and avoid overlapping signals from multiple muscles.</a:t>
            </a:r>
            <a:endParaRPr lang="zh-CN" altLang="en-US" sz="1600">
              <a:ea typeface="SimSun" panose="02010600030101010101" pitchFamily="2" charset="-122"/>
            </a:endParaRPr>
          </a:p>
        </p:txBody>
      </p:sp>
      <p:grpSp>
        <p:nvGrpSpPr>
          <p:cNvPr id="9" name="组合 8"/>
          <p:cNvGrpSpPr/>
          <p:nvPr/>
        </p:nvGrpSpPr>
        <p:grpSpPr>
          <a:xfrm>
            <a:off x="4830445" y="644525"/>
            <a:ext cx="4052570" cy="2431415"/>
            <a:chOff x="8279" y="1232"/>
            <a:chExt cx="5550" cy="3372"/>
          </a:xfrm>
        </p:grpSpPr>
        <p:pic>
          <p:nvPicPr>
            <p:cNvPr id="2" name="图片 1" descr="QQ20251017-134434"/>
            <p:cNvPicPr>
              <a:picLocks noChangeAspect="1"/>
            </p:cNvPicPr>
            <p:nvPr/>
          </p:nvPicPr>
          <p:blipFill>
            <a:blip r:embed="rId1"/>
            <a:stretch>
              <a:fillRect/>
            </a:stretch>
          </p:blipFill>
          <p:spPr>
            <a:xfrm>
              <a:off x="12899" y="1448"/>
              <a:ext cx="931" cy="2940"/>
            </a:xfrm>
            <a:prstGeom prst="rect">
              <a:avLst/>
            </a:prstGeom>
          </p:spPr>
        </p:pic>
        <p:pic>
          <p:nvPicPr>
            <p:cNvPr id="4" name="图片 3" descr="QQ20251017-134454"/>
            <p:cNvPicPr>
              <a:picLocks noChangeAspect="1"/>
            </p:cNvPicPr>
            <p:nvPr/>
          </p:nvPicPr>
          <p:blipFill>
            <a:blip r:embed="rId2"/>
            <a:stretch>
              <a:fillRect/>
            </a:stretch>
          </p:blipFill>
          <p:spPr>
            <a:xfrm>
              <a:off x="8279" y="1232"/>
              <a:ext cx="4109" cy="3372"/>
            </a:xfrm>
            <a:prstGeom prst="rect">
              <a:avLst/>
            </a:prstGeom>
          </p:spPr>
        </p:pic>
      </p:grpSp>
      <p:sp>
        <p:nvSpPr>
          <p:cNvPr id="7" name="文本框 6"/>
          <p:cNvSpPr txBox="1"/>
          <p:nvPr/>
        </p:nvSpPr>
        <p:spPr>
          <a:xfrm>
            <a:off x="4734560" y="3601085"/>
            <a:ext cx="4573270" cy="422275"/>
          </a:xfrm>
          <a:prstGeom prst="rect">
            <a:avLst/>
          </a:prstGeom>
          <a:noFill/>
        </p:spPr>
        <p:txBody>
          <a:bodyPr wrap="square" rtlCol="0">
            <a:noAutofit/>
          </a:bodyPr>
          <a:p>
            <a:r>
              <a:rPr lang="en-US" altLang="zh-CN" sz="1600">
                <a:ea typeface="SimSun" panose="02010600030101010101" pitchFamily="2" charset="-122"/>
              </a:rPr>
              <a:t>Example : Extensor Carpi Radialis Longus(ECRL)</a:t>
            </a:r>
            <a:endParaRPr lang="en-US" altLang="zh-CN" sz="1600">
              <a:ea typeface="SimSun" panose="02010600030101010101" pitchFamily="2" charset="-122"/>
            </a:endParaRPr>
          </a:p>
          <a:p>
            <a:endParaRPr lang="zh-CN" altLang="en-US">
              <a:ea typeface="SimSun" panose="02010600030101010101" pitchFamily="2" charset="-122"/>
            </a:endParaRPr>
          </a:p>
          <a:p>
            <a:r>
              <a:rPr lang="en-US" altLang="en-US">
                <a:ea typeface="SimSun" panose="02010600030101010101" pitchFamily="2" charset="-122"/>
              </a:rPr>
              <a:t>️</a:t>
            </a:r>
            <a:r>
              <a:rPr lang="en-US">
                <a:ea typeface="SimSun" panose="02010600030101010101" pitchFamily="2" charset="-122"/>
              </a:rPr>
              <a:t>  </a:t>
            </a:r>
            <a:endParaRPr lang="en-US" altLang="zh-CN">
              <a:ea typeface="SimSun" panose="02010600030101010101" pitchFamily="2" charset="-122"/>
            </a:endParaRPr>
          </a:p>
          <a:p>
            <a:endParaRPr lang="en-US" altLang="zh-CN">
              <a:ea typeface="SimSun" panose="02010600030101010101" pitchFamily="2" charset="-122"/>
            </a:endParaRPr>
          </a:p>
          <a:p>
            <a:endParaRPr lang="en-US" altLang="zh-CN">
              <a:ea typeface="SimSun" panose="02010600030101010101" pitchFamily="2" charset="-122"/>
            </a:endParaRPr>
          </a:p>
          <a:p>
            <a:endParaRPr lang="en-US" altLang="zh-CN">
              <a:ea typeface="SimSun" panose="02010600030101010101" pitchFamily="2" charset="-122"/>
            </a:endParaRPr>
          </a:p>
          <a:p>
            <a:endParaRPr lang="en-US" altLang="zh-CN">
              <a:ea typeface="SimSun" panose="02010600030101010101" pitchFamily="2" charset="-122"/>
            </a:endParaRPr>
          </a:p>
        </p:txBody>
      </p:sp>
      <p:pic>
        <p:nvPicPr>
          <p:cNvPr id="8" name="10月26日(1)">
            <a:hlinkClick r:id="" action="ppaction://media"/>
          </p:cNvPr>
          <p:cNvPicPr>
            <a:picLocks noChangeAspect="1"/>
          </p:cNvPicPr>
          <p:nvPr>
            <a:videoFile r:link="rId3"/>
            <p:extLst>
              <p:ext uri="{DAA4B4D4-6D71-4841-9C94-3DE7FCFB9230}">
                <p14:media xmlns:p14="http://schemas.microsoft.com/office/powerpoint/2010/main" r:embed="rId4"/>
              </p:ext>
            </p:extLst>
          </p:nvPr>
        </p:nvPicPr>
        <p:blipFill>
          <a:blip r:embed="rId5"/>
          <a:stretch>
            <a:fillRect/>
          </a:stretch>
        </p:blipFill>
        <p:spPr>
          <a:xfrm>
            <a:off x="308610" y="3602355"/>
            <a:ext cx="4344035" cy="2675890"/>
          </a:xfrm>
          <a:prstGeom prst="rect">
            <a:avLst/>
          </a:prstGeom>
        </p:spPr>
      </p:pic>
      <p:grpSp>
        <p:nvGrpSpPr>
          <p:cNvPr id="11" name="组合 10"/>
          <p:cNvGrpSpPr/>
          <p:nvPr/>
        </p:nvGrpSpPr>
        <p:grpSpPr>
          <a:xfrm>
            <a:off x="5285740" y="4023995"/>
            <a:ext cx="2091690" cy="2159000"/>
            <a:chOff x="7232" y="6334"/>
            <a:chExt cx="3294" cy="3400"/>
          </a:xfrm>
        </p:grpSpPr>
        <p:grpSp>
          <p:nvGrpSpPr>
            <p:cNvPr id="13" name="组合 12"/>
            <p:cNvGrpSpPr/>
            <p:nvPr/>
          </p:nvGrpSpPr>
          <p:grpSpPr>
            <a:xfrm>
              <a:off x="7232" y="6334"/>
              <a:ext cx="2586" cy="610"/>
              <a:chOff x="7122" y="7172"/>
              <a:chExt cx="2586" cy="610"/>
            </a:xfrm>
          </p:grpSpPr>
          <p:pic>
            <p:nvPicPr>
              <p:cNvPr id="5" name="图片 4" descr="✅️"/>
              <p:cNvPicPr>
                <a:picLocks noChangeAspect="1"/>
              </p:cNvPicPr>
              <p:nvPr/>
            </p:nvPicPr>
            <p:blipFill>
              <a:blip r:embed="rId6"/>
              <a:stretch>
                <a:fillRect/>
              </a:stretch>
            </p:blipFill>
            <p:spPr>
              <a:xfrm>
                <a:off x="7122" y="7172"/>
                <a:ext cx="611" cy="611"/>
              </a:xfrm>
              <a:prstGeom prst="rect">
                <a:avLst/>
              </a:prstGeom>
            </p:spPr>
          </p:pic>
          <p:sp>
            <p:nvSpPr>
              <p:cNvPr id="12" name="文本框 11"/>
              <p:cNvSpPr txBox="1"/>
              <p:nvPr/>
            </p:nvSpPr>
            <p:spPr>
              <a:xfrm>
                <a:off x="7790" y="7172"/>
                <a:ext cx="1919" cy="611"/>
              </a:xfrm>
              <a:prstGeom prst="rect">
                <a:avLst/>
              </a:prstGeom>
              <a:noFill/>
            </p:spPr>
            <p:txBody>
              <a:bodyPr wrap="square" rtlCol="0">
                <a:noAutofit/>
              </a:bodyPr>
              <a:p>
                <a:r>
                  <a:rPr lang="en-US" altLang="zh-CN">
                    <a:ea typeface="SimSun" panose="02010600030101010101" pitchFamily="2" charset="-122"/>
                    <a:sym typeface="+mn-ea"/>
                  </a:rPr>
                  <a:t>Open hand</a:t>
                </a:r>
                <a:endParaRPr lang="zh-CN" altLang="en-US"/>
              </a:p>
            </p:txBody>
          </p:sp>
        </p:grpSp>
        <p:grpSp>
          <p:nvGrpSpPr>
            <p:cNvPr id="14" name="组合 13"/>
            <p:cNvGrpSpPr/>
            <p:nvPr/>
          </p:nvGrpSpPr>
          <p:grpSpPr>
            <a:xfrm>
              <a:off x="7232" y="7286"/>
              <a:ext cx="3059" cy="611"/>
              <a:chOff x="7122" y="7172"/>
              <a:chExt cx="3059" cy="611"/>
            </a:xfrm>
          </p:grpSpPr>
          <p:pic>
            <p:nvPicPr>
              <p:cNvPr id="15" name="图片 14" descr="✅️"/>
              <p:cNvPicPr>
                <a:picLocks noChangeAspect="1"/>
              </p:cNvPicPr>
              <p:nvPr/>
            </p:nvPicPr>
            <p:blipFill>
              <a:blip r:embed="rId6"/>
              <a:stretch>
                <a:fillRect/>
              </a:stretch>
            </p:blipFill>
            <p:spPr>
              <a:xfrm>
                <a:off x="7122" y="7172"/>
                <a:ext cx="611" cy="611"/>
              </a:xfrm>
              <a:prstGeom prst="rect">
                <a:avLst/>
              </a:prstGeom>
            </p:spPr>
          </p:pic>
          <p:sp>
            <p:nvSpPr>
              <p:cNvPr id="16" name="文本框 15"/>
              <p:cNvSpPr txBox="1"/>
              <p:nvPr/>
            </p:nvSpPr>
            <p:spPr>
              <a:xfrm>
                <a:off x="7790" y="7172"/>
                <a:ext cx="2391" cy="611"/>
              </a:xfrm>
              <a:prstGeom prst="rect">
                <a:avLst/>
              </a:prstGeom>
              <a:noFill/>
            </p:spPr>
            <p:txBody>
              <a:bodyPr wrap="square" rtlCol="0">
                <a:noAutofit/>
              </a:bodyPr>
              <a:p>
                <a:r>
                  <a:rPr lang="en-US" altLang="zh-CN">
                    <a:ea typeface="SimSun" panose="02010600030101010101" pitchFamily="2" charset="-122"/>
                    <a:sym typeface="+mn-ea"/>
                  </a:rPr>
                  <a:t>Close hand</a:t>
                </a:r>
                <a:endParaRPr lang="zh-CN" altLang="en-US"/>
              </a:p>
            </p:txBody>
          </p:sp>
        </p:grpSp>
        <p:grpSp>
          <p:nvGrpSpPr>
            <p:cNvPr id="17" name="组合 16"/>
            <p:cNvGrpSpPr/>
            <p:nvPr/>
          </p:nvGrpSpPr>
          <p:grpSpPr>
            <a:xfrm>
              <a:off x="7232" y="8205"/>
              <a:ext cx="3294" cy="611"/>
              <a:chOff x="7122" y="7172"/>
              <a:chExt cx="3294" cy="611"/>
            </a:xfrm>
          </p:grpSpPr>
          <p:pic>
            <p:nvPicPr>
              <p:cNvPr id="18" name="图片 17" descr="✅️"/>
              <p:cNvPicPr>
                <a:picLocks noChangeAspect="1"/>
              </p:cNvPicPr>
              <p:nvPr/>
            </p:nvPicPr>
            <p:blipFill>
              <a:blip r:embed="rId6"/>
              <a:stretch>
                <a:fillRect/>
              </a:stretch>
            </p:blipFill>
            <p:spPr>
              <a:xfrm>
                <a:off x="7122" y="7172"/>
                <a:ext cx="611" cy="611"/>
              </a:xfrm>
              <a:prstGeom prst="rect">
                <a:avLst/>
              </a:prstGeom>
            </p:spPr>
          </p:pic>
          <p:sp>
            <p:nvSpPr>
              <p:cNvPr id="19" name="文本框 18"/>
              <p:cNvSpPr txBox="1"/>
              <p:nvPr/>
            </p:nvSpPr>
            <p:spPr>
              <a:xfrm>
                <a:off x="7790" y="7172"/>
                <a:ext cx="2626" cy="611"/>
              </a:xfrm>
              <a:prstGeom prst="rect">
                <a:avLst/>
              </a:prstGeom>
              <a:noFill/>
            </p:spPr>
            <p:txBody>
              <a:bodyPr wrap="square" rtlCol="0">
                <a:noAutofit/>
              </a:bodyPr>
              <a:p>
                <a:r>
                  <a:rPr lang="en-US" altLang="zh-CN">
                    <a:ea typeface="SimSun" panose="02010600030101010101" pitchFamily="2" charset="-122"/>
                    <a:sym typeface="+mn-ea"/>
                  </a:rPr>
                  <a:t>Wrist extension</a:t>
                </a:r>
                <a:endParaRPr lang="zh-CN" altLang="en-US"/>
              </a:p>
            </p:txBody>
          </p:sp>
        </p:grpSp>
        <p:grpSp>
          <p:nvGrpSpPr>
            <p:cNvPr id="20" name="组合 19"/>
            <p:cNvGrpSpPr/>
            <p:nvPr/>
          </p:nvGrpSpPr>
          <p:grpSpPr>
            <a:xfrm>
              <a:off x="7232" y="9124"/>
              <a:ext cx="3294" cy="611"/>
              <a:chOff x="7122" y="7172"/>
              <a:chExt cx="3294" cy="611"/>
            </a:xfrm>
          </p:grpSpPr>
          <p:pic>
            <p:nvPicPr>
              <p:cNvPr id="21" name="图片 20" descr="C:/Users/xiqing/Desktop/❎.png❎"/>
              <p:cNvPicPr>
                <a:picLocks noChangeAspect="1"/>
              </p:cNvPicPr>
              <p:nvPr/>
            </p:nvPicPr>
            <p:blipFill>
              <a:blip r:embed="rId7"/>
              <a:srcRect/>
              <a:stretch>
                <a:fillRect/>
              </a:stretch>
            </p:blipFill>
            <p:spPr>
              <a:xfrm>
                <a:off x="7122" y="7172"/>
                <a:ext cx="611" cy="611"/>
              </a:xfrm>
              <a:prstGeom prst="rect">
                <a:avLst/>
              </a:prstGeom>
            </p:spPr>
          </p:pic>
          <p:sp>
            <p:nvSpPr>
              <p:cNvPr id="22" name="文本框 21"/>
              <p:cNvSpPr txBox="1"/>
              <p:nvPr/>
            </p:nvSpPr>
            <p:spPr>
              <a:xfrm>
                <a:off x="7790" y="7172"/>
                <a:ext cx="2626" cy="611"/>
              </a:xfrm>
              <a:prstGeom prst="rect">
                <a:avLst/>
              </a:prstGeom>
              <a:noFill/>
            </p:spPr>
            <p:txBody>
              <a:bodyPr wrap="square" rtlCol="0">
                <a:noAutofit/>
              </a:bodyPr>
              <a:p>
                <a:r>
                  <a:rPr lang="en-US" altLang="zh-CN">
                    <a:ea typeface="SimSun" panose="02010600030101010101" pitchFamily="2" charset="-122"/>
                    <a:sym typeface="+mn-ea"/>
                  </a:rPr>
                  <a:t>Wrist </a:t>
                </a:r>
                <a:r>
                  <a:rPr lang="en-US" altLang="zh-CN">
                    <a:ea typeface="SimSun" panose="02010600030101010101" pitchFamily="2" charset="-122"/>
                    <a:sym typeface="+mn-ea"/>
                  </a:rPr>
                  <a:t>flexion</a:t>
                </a:r>
                <a:endParaRPr lang="zh-CN" altLang="en-US"/>
              </a:p>
            </p:txBody>
          </p:sp>
        </p:grpSp>
      </p:grpSp>
    </p:spTree>
  </p:cSld>
  <p:clrMapOvr>
    <a:masterClrMapping/>
  </p:clrMapOvr>
  <p:timing>
    <p:tnLst>
      <p:par>
        <p:cTn id="1" dur="indefinite" restart="never" nodeType="tmRoot">
          <p:childTnLst>
            <p:video fullScrn="0">
              <p:cMediaNode>
                <p:cTn id="2" fill="hold" display="1">
                  <p:stCondLst>
                    <p:cond delay="indefinite"/>
                  </p:stCondLst>
                </p:cTn>
                <p:tgtEl>
                  <p:spTgt spid="8"/>
                </p:tgtEl>
              </p:cMediaNode>
            </p:video>
            <p:seq concurrent="1" nextAc="seek">
              <p:cTn id="3" restart="whenNotActive" fill="hold" evtFilter="cancelBubble" nodeType="interactiveSeq">
                <p:stCondLst>
                  <p:cond evt="onClick" delay="0">
                    <p:tgtEl>
                      <p:spTgt spid="8"/>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311150" y="4370070"/>
            <a:ext cx="8522970" cy="652145"/>
          </a:xfrm>
          <a:prstGeom prst="rect">
            <a:avLst/>
          </a:prstGeom>
          <a:noFill/>
        </p:spPr>
        <p:txBody>
          <a:bodyPr wrap="square" rtlCol="0">
            <a:noAutofit/>
          </a:bodyPr>
          <a:p>
            <a:r>
              <a:rPr lang="en-US" sz="3200" b="1">
                <a:latin typeface="Times New Roman" panose="02020603050405020304" charset="0"/>
                <a:ea typeface="ＭＳ Ｐ明朝" panose="02020600040205080304" charset="-128"/>
                <a:cs typeface="Times New Roman" panose="02020603050405020304" charset="0"/>
                <a:sym typeface="+mn-ea"/>
              </a:rPr>
              <a:t>Gesture</a:t>
            </a:r>
            <a:endParaRPr lang="en-US" altLang="zh-CN" sz="3200" b="1">
              <a:latin typeface="Times New Roman" panose="02020603050405020304" charset="0"/>
              <a:ea typeface="SimSun" panose="02010600030101010101" pitchFamily="2" charset="-122"/>
              <a:cs typeface="Times New Roman" panose="02020603050405020304" charset="0"/>
            </a:endParaRPr>
          </a:p>
        </p:txBody>
      </p:sp>
      <p:grpSp>
        <p:nvGrpSpPr>
          <p:cNvPr id="7" name="组合 6"/>
          <p:cNvGrpSpPr>
            <a:grpSpLocks noChangeAspect="1"/>
          </p:cNvGrpSpPr>
          <p:nvPr/>
        </p:nvGrpSpPr>
        <p:grpSpPr>
          <a:xfrm>
            <a:off x="388620" y="5022215"/>
            <a:ext cx="8522335" cy="1344250"/>
            <a:chOff x="484" y="5566"/>
            <a:chExt cx="14456" cy="2280"/>
          </a:xfrm>
        </p:grpSpPr>
        <p:grpSp>
          <p:nvGrpSpPr>
            <p:cNvPr id="17" name="组合 16"/>
            <p:cNvGrpSpPr/>
            <p:nvPr/>
          </p:nvGrpSpPr>
          <p:grpSpPr>
            <a:xfrm rot="0">
              <a:off x="4108" y="5649"/>
              <a:ext cx="1429" cy="2150"/>
              <a:chOff x="761" y="3384"/>
              <a:chExt cx="1906" cy="2868"/>
            </a:xfrm>
          </p:grpSpPr>
          <p:grpSp>
            <p:nvGrpSpPr>
              <p:cNvPr id="14" name="组合 13"/>
              <p:cNvGrpSpPr/>
              <p:nvPr/>
            </p:nvGrpSpPr>
            <p:grpSpPr>
              <a:xfrm>
                <a:off x="761" y="3493"/>
                <a:ext cx="1906" cy="2634"/>
                <a:chOff x="575" y="438"/>
                <a:chExt cx="1906" cy="2634"/>
              </a:xfrm>
            </p:grpSpPr>
            <p:pic>
              <p:nvPicPr>
                <p:cNvPr id="12" name="图片 11" descr="去除图片背景"/>
                <p:cNvPicPr>
                  <a:picLocks noChangeAspect="1"/>
                </p:cNvPicPr>
                <p:nvPr/>
              </p:nvPicPr>
              <p:blipFill>
                <a:blip r:embed="rId1"/>
                <a:stretch>
                  <a:fillRect/>
                </a:stretch>
              </p:blipFill>
              <p:spPr>
                <a:xfrm>
                  <a:off x="575" y="1018"/>
                  <a:ext cx="1906" cy="2054"/>
                </a:xfrm>
                <a:prstGeom prst="rect">
                  <a:avLst/>
                </a:prstGeom>
              </p:spPr>
            </p:pic>
            <p:sp>
              <p:nvSpPr>
                <p:cNvPr id="13" name="文本框 12"/>
                <p:cNvSpPr txBox="1"/>
                <p:nvPr/>
              </p:nvSpPr>
              <p:spPr>
                <a:xfrm>
                  <a:off x="576" y="438"/>
                  <a:ext cx="1905" cy="833"/>
                </a:xfrm>
                <a:prstGeom prst="rect">
                  <a:avLst/>
                </a:prstGeom>
                <a:noFill/>
              </p:spPr>
              <p:txBody>
                <a:bodyPr wrap="square" rtlCol="0">
                  <a:spAutoFit/>
                </a:bodyPr>
                <a:p>
                  <a:pPr algn="ctr"/>
                  <a:r>
                    <a:rPr lang="en-US" altLang="zh-CN"/>
                    <a:t>Paper</a:t>
                  </a:r>
                  <a:endParaRPr lang="en-US" altLang="zh-CN"/>
                </a:p>
              </p:txBody>
            </p:sp>
          </p:grpSp>
          <p:sp>
            <p:nvSpPr>
              <p:cNvPr id="16" name="矩形 15"/>
              <p:cNvSpPr/>
              <p:nvPr/>
            </p:nvSpPr>
            <p:spPr>
              <a:xfrm>
                <a:off x="761" y="3384"/>
                <a:ext cx="1906" cy="2868"/>
              </a:xfrm>
              <a:prstGeom prst="rect">
                <a:avLst/>
              </a:prstGeom>
              <a:ln>
                <a:solidFill>
                  <a:schemeClr val="tx1">
                    <a:lumMod val="50000"/>
                    <a:lumOff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pSp>
        <p:grpSp>
          <p:nvGrpSpPr>
            <p:cNvPr id="25" name="组合 24"/>
            <p:cNvGrpSpPr/>
            <p:nvPr/>
          </p:nvGrpSpPr>
          <p:grpSpPr>
            <a:xfrm rot="0">
              <a:off x="9675" y="5584"/>
              <a:ext cx="1383" cy="2177"/>
              <a:chOff x="5358" y="951"/>
              <a:chExt cx="1948" cy="2929"/>
            </a:xfrm>
          </p:grpSpPr>
          <p:pic>
            <p:nvPicPr>
              <p:cNvPr id="11" name="图片 10" descr="去除图片背景 (1)"/>
              <p:cNvPicPr>
                <a:picLocks noChangeAspect="1"/>
              </p:cNvPicPr>
              <p:nvPr/>
            </p:nvPicPr>
            <p:blipFill>
              <a:blip r:embed="rId2"/>
              <a:stretch>
                <a:fillRect/>
              </a:stretch>
            </p:blipFill>
            <p:spPr>
              <a:xfrm>
                <a:off x="5584" y="1643"/>
                <a:ext cx="1539" cy="2122"/>
              </a:xfrm>
              <a:prstGeom prst="rect">
                <a:avLst/>
              </a:prstGeom>
            </p:spPr>
          </p:pic>
          <p:sp>
            <p:nvSpPr>
              <p:cNvPr id="23" name="文本框 22"/>
              <p:cNvSpPr txBox="1"/>
              <p:nvPr/>
            </p:nvSpPr>
            <p:spPr>
              <a:xfrm>
                <a:off x="5401" y="1040"/>
                <a:ext cx="1905" cy="840"/>
              </a:xfrm>
              <a:prstGeom prst="rect">
                <a:avLst/>
              </a:prstGeom>
              <a:noFill/>
            </p:spPr>
            <p:txBody>
              <a:bodyPr wrap="square" rtlCol="0">
                <a:spAutoFit/>
              </a:bodyPr>
              <a:p>
                <a:pPr algn="ctr"/>
                <a:r>
                  <a:rPr lang="en-US" altLang="zh-CN"/>
                  <a:t>One</a:t>
                </a:r>
                <a:endParaRPr lang="en-US" altLang="zh-CN"/>
              </a:p>
            </p:txBody>
          </p:sp>
          <p:sp>
            <p:nvSpPr>
              <p:cNvPr id="24" name="矩形 23"/>
              <p:cNvSpPr/>
              <p:nvPr/>
            </p:nvSpPr>
            <p:spPr>
              <a:xfrm>
                <a:off x="5358" y="951"/>
                <a:ext cx="1948" cy="2929"/>
              </a:xfrm>
              <a:prstGeom prst="rect">
                <a:avLst/>
              </a:prstGeom>
              <a:ln>
                <a:solidFill>
                  <a:schemeClr val="tx1">
                    <a:lumMod val="50000"/>
                    <a:lumOff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pSp>
        <p:grpSp>
          <p:nvGrpSpPr>
            <p:cNvPr id="26" name="组合 25"/>
            <p:cNvGrpSpPr/>
            <p:nvPr/>
          </p:nvGrpSpPr>
          <p:grpSpPr>
            <a:xfrm rot="0">
              <a:off x="2392" y="5669"/>
              <a:ext cx="1383" cy="2177"/>
              <a:chOff x="5358" y="951"/>
              <a:chExt cx="1948" cy="2929"/>
            </a:xfrm>
          </p:grpSpPr>
          <p:pic>
            <p:nvPicPr>
              <p:cNvPr id="27" name="图片 26" descr="C:/MineApp/Code/D/Paper/temporaryData/去除图片背景 (8).png去除图片背景 (8)"/>
              <p:cNvPicPr>
                <a:picLocks noChangeAspect="1"/>
              </p:cNvPicPr>
              <p:nvPr/>
            </p:nvPicPr>
            <p:blipFill>
              <a:blip r:embed="rId3"/>
              <a:srcRect l="5372" r="5372"/>
              <a:stretch>
                <a:fillRect/>
              </a:stretch>
            </p:blipFill>
            <p:spPr>
              <a:xfrm>
                <a:off x="5584" y="1643"/>
                <a:ext cx="1539" cy="2122"/>
              </a:xfrm>
              <a:prstGeom prst="rect">
                <a:avLst/>
              </a:prstGeom>
            </p:spPr>
          </p:pic>
          <p:sp>
            <p:nvSpPr>
              <p:cNvPr id="28" name="文本框 27"/>
              <p:cNvSpPr txBox="1"/>
              <p:nvPr/>
            </p:nvSpPr>
            <p:spPr>
              <a:xfrm>
                <a:off x="5401" y="1040"/>
                <a:ext cx="1905" cy="840"/>
              </a:xfrm>
              <a:prstGeom prst="rect">
                <a:avLst/>
              </a:prstGeom>
              <a:noFill/>
            </p:spPr>
            <p:txBody>
              <a:bodyPr wrap="square" rtlCol="0">
                <a:spAutoFit/>
              </a:bodyPr>
              <a:p>
                <a:pPr algn="ctr"/>
                <a:r>
                  <a:rPr lang="en-US" altLang="zh-CN"/>
                  <a:t>Two</a:t>
                </a:r>
                <a:endParaRPr lang="en-US" altLang="zh-CN"/>
              </a:p>
            </p:txBody>
          </p:sp>
          <p:sp>
            <p:nvSpPr>
              <p:cNvPr id="29" name="矩形 28"/>
              <p:cNvSpPr/>
              <p:nvPr/>
            </p:nvSpPr>
            <p:spPr>
              <a:xfrm>
                <a:off x="5358" y="951"/>
                <a:ext cx="1948" cy="2929"/>
              </a:xfrm>
              <a:prstGeom prst="rect">
                <a:avLst/>
              </a:prstGeom>
              <a:ln>
                <a:solidFill>
                  <a:schemeClr val="tx1">
                    <a:lumMod val="50000"/>
                    <a:lumOff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pSp>
        <p:grpSp>
          <p:nvGrpSpPr>
            <p:cNvPr id="51" name="组合 50"/>
            <p:cNvGrpSpPr/>
            <p:nvPr/>
          </p:nvGrpSpPr>
          <p:grpSpPr>
            <a:xfrm rot="0">
              <a:off x="5846" y="5647"/>
              <a:ext cx="1592" cy="2177"/>
              <a:chOff x="10078" y="951"/>
              <a:chExt cx="2124" cy="2903"/>
            </a:xfrm>
          </p:grpSpPr>
          <p:pic>
            <p:nvPicPr>
              <p:cNvPr id="15" name="图片 14" descr="去除图片背景 (6)"/>
              <p:cNvPicPr>
                <a:picLocks noChangeAspect="1"/>
              </p:cNvPicPr>
              <p:nvPr/>
            </p:nvPicPr>
            <p:blipFill>
              <a:blip r:embed="rId4"/>
              <a:stretch>
                <a:fillRect/>
              </a:stretch>
            </p:blipFill>
            <p:spPr>
              <a:xfrm>
                <a:off x="10164" y="1578"/>
                <a:ext cx="2038" cy="2118"/>
              </a:xfrm>
              <a:prstGeom prst="rect">
                <a:avLst/>
              </a:prstGeom>
            </p:spPr>
          </p:pic>
          <p:grpSp>
            <p:nvGrpSpPr>
              <p:cNvPr id="30" name="组合 29"/>
              <p:cNvGrpSpPr/>
              <p:nvPr/>
            </p:nvGrpSpPr>
            <p:grpSpPr>
              <a:xfrm>
                <a:off x="10078" y="951"/>
                <a:ext cx="2100" cy="2903"/>
                <a:chOff x="5133" y="1015"/>
                <a:chExt cx="2206" cy="2929"/>
              </a:xfrm>
            </p:grpSpPr>
            <p:sp>
              <p:nvSpPr>
                <p:cNvPr id="32" name="文本框 31"/>
                <p:cNvSpPr txBox="1"/>
                <p:nvPr/>
              </p:nvSpPr>
              <p:spPr>
                <a:xfrm>
                  <a:off x="5314" y="1046"/>
                  <a:ext cx="1905" cy="841"/>
                </a:xfrm>
                <a:prstGeom prst="rect">
                  <a:avLst/>
                </a:prstGeom>
                <a:noFill/>
              </p:spPr>
              <p:txBody>
                <a:bodyPr wrap="square" rtlCol="0">
                  <a:spAutoFit/>
                </a:bodyPr>
                <a:p>
                  <a:pPr algn="ctr"/>
                  <a:r>
                    <a:rPr lang="en-US" altLang="zh-CN"/>
                    <a:t>Rock</a:t>
                  </a:r>
                  <a:endParaRPr lang="en-US" altLang="zh-CN"/>
                </a:p>
              </p:txBody>
            </p:sp>
            <p:sp>
              <p:nvSpPr>
                <p:cNvPr id="33" name="矩形 32"/>
                <p:cNvSpPr/>
                <p:nvPr/>
              </p:nvSpPr>
              <p:spPr>
                <a:xfrm>
                  <a:off x="5133" y="1015"/>
                  <a:ext cx="2206" cy="2929"/>
                </a:xfrm>
                <a:prstGeom prst="rect">
                  <a:avLst/>
                </a:prstGeom>
                <a:ln>
                  <a:solidFill>
                    <a:schemeClr val="tx1">
                      <a:lumMod val="50000"/>
                      <a:lumOff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pSp>
        </p:grpSp>
        <p:grpSp>
          <p:nvGrpSpPr>
            <p:cNvPr id="52" name="组合 51"/>
            <p:cNvGrpSpPr/>
            <p:nvPr/>
          </p:nvGrpSpPr>
          <p:grpSpPr>
            <a:xfrm rot="0">
              <a:off x="7841" y="5589"/>
              <a:ext cx="1574" cy="2176"/>
              <a:chOff x="1050" y="5578"/>
              <a:chExt cx="2100" cy="2902"/>
            </a:xfrm>
          </p:grpSpPr>
          <p:pic>
            <p:nvPicPr>
              <p:cNvPr id="34" name="图片 33" descr="C:/MineApp/Code/D/Paper/temporaryData/去除图片背景 (5).png去除图片背景 (5)"/>
              <p:cNvPicPr>
                <a:picLocks noChangeAspect="1"/>
              </p:cNvPicPr>
              <p:nvPr/>
            </p:nvPicPr>
            <p:blipFill>
              <a:blip r:embed="rId5"/>
              <a:srcRect l="1912" r="1912"/>
              <a:stretch>
                <a:fillRect/>
              </a:stretch>
            </p:blipFill>
            <p:spPr>
              <a:xfrm>
                <a:off x="1050" y="6265"/>
                <a:ext cx="2038" cy="2118"/>
              </a:xfrm>
              <a:prstGeom prst="rect">
                <a:avLst/>
              </a:prstGeom>
            </p:spPr>
          </p:pic>
          <p:grpSp>
            <p:nvGrpSpPr>
              <p:cNvPr id="35" name="组合 34"/>
              <p:cNvGrpSpPr/>
              <p:nvPr/>
            </p:nvGrpSpPr>
            <p:grpSpPr>
              <a:xfrm>
                <a:off x="1050" y="5578"/>
                <a:ext cx="2100" cy="2903"/>
                <a:chOff x="5358" y="951"/>
                <a:chExt cx="2206" cy="2929"/>
              </a:xfrm>
            </p:grpSpPr>
            <p:sp>
              <p:nvSpPr>
                <p:cNvPr id="36" name="文本框 35"/>
                <p:cNvSpPr txBox="1"/>
                <p:nvPr/>
              </p:nvSpPr>
              <p:spPr>
                <a:xfrm>
                  <a:off x="5477" y="1039"/>
                  <a:ext cx="1905" cy="841"/>
                </a:xfrm>
                <a:prstGeom prst="rect">
                  <a:avLst/>
                </a:prstGeom>
                <a:noFill/>
              </p:spPr>
              <p:txBody>
                <a:bodyPr wrap="square" rtlCol="0">
                  <a:spAutoFit/>
                </a:bodyPr>
                <a:p>
                  <a:pPr algn="ctr"/>
                  <a:r>
                    <a:rPr lang="en-US" altLang="zh-CN"/>
                    <a:t>Good</a:t>
                  </a:r>
                  <a:endParaRPr lang="en-US" altLang="zh-CN"/>
                </a:p>
              </p:txBody>
            </p:sp>
            <p:sp>
              <p:nvSpPr>
                <p:cNvPr id="37" name="矩形 36"/>
                <p:cNvSpPr/>
                <p:nvPr/>
              </p:nvSpPr>
              <p:spPr>
                <a:xfrm>
                  <a:off x="5358" y="951"/>
                  <a:ext cx="2206" cy="2929"/>
                </a:xfrm>
                <a:prstGeom prst="rect">
                  <a:avLst/>
                </a:prstGeom>
                <a:ln>
                  <a:solidFill>
                    <a:schemeClr val="tx1">
                      <a:lumMod val="50000"/>
                      <a:lumOff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pSp>
        </p:grpSp>
        <p:grpSp>
          <p:nvGrpSpPr>
            <p:cNvPr id="53" name="组合 52"/>
            <p:cNvGrpSpPr/>
            <p:nvPr/>
          </p:nvGrpSpPr>
          <p:grpSpPr>
            <a:xfrm rot="0">
              <a:off x="484" y="5649"/>
              <a:ext cx="1574" cy="2176"/>
              <a:chOff x="3472" y="5598"/>
              <a:chExt cx="2100" cy="2902"/>
            </a:xfrm>
          </p:grpSpPr>
          <p:pic>
            <p:nvPicPr>
              <p:cNvPr id="38" name="图片 37" descr="C:/MineApp/Code/D/Paper/temporaryData/去除图片背景 (7).png去除图片背景 (7)"/>
              <p:cNvPicPr>
                <a:picLocks noChangeAspect="1"/>
              </p:cNvPicPr>
              <p:nvPr/>
            </p:nvPicPr>
            <p:blipFill>
              <a:blip r:embed="rId6"/>
              <a:srcRect l="1912" r="1912"/>
              <a:stretch>
                <a:fillRect/>
              </a:stretch>
            </p:blipFill>
            <p:spPr>
              <a:xfrm>
                <a:off x="3526" y="6285"/>
                <a:ext cx="2038" cy="2118"/>
              </a:xfrm>
              <a:prstGeom prst="rect">
                <a:avLst/>
              </a:prstGeom>
            </p:spPr>
          </p:pic>
          <p:grpSp>
            <p:nvGrpSpPr>
              <p:cNvPr id="39" name="组合 38"/>
              <p:cNvGrpSpPr/>
              <p:nvPr/>
            </p:nvGrpSpPr>
            <p:grpSpPr>
              <a:xfrm>
                <a:off x="3472" y="5598"/>
                <a:ext cx="2100" cy="2903"/>
                <a:chOff x="5358" y="951"/>
                <a:chExt cx="2206" cy="2929"/>
              </a:xfrm>
            </p:grpSpPr>
            <p:sp>
              <p:nvSpPr>
                <p:cNvPr id="40" name="文本框 39"/>
                <p:cNvSpPr txBox="1"/>
                <p:nvPr/>
              </p:nvSpPr>
              <p:spPr>
                <a:xfrm>
                  <a:off x="5477" y="1039"/>
                  <a:ext cx="1905" cy="841"/>
                </a:xfrm>
                <a:prstGeom prst="rect">
                  <a:avLst/>
                </a:prstGeom>
                <a:noFill/>
              </p:spPr>
              <p:txBody>
                <a:bodyPr wrap="square" rtlCol="0">
                  <a:spAutoFit/>
                </a:bodyPr>
                <a:p>
                  <a:pPr algn="ctr"/>
                  <a:r>
                    <a:rPr lang="en-US" altLang="zh-CN"/>
                    <a:t>Rest</a:t>
                  </a:r>
                  <a:endParaRPr lang="en-US" altLang="zh-CN"/>
                </a:p>
              </p:txBody>
            </p:sp>
            <p:sp>
              <p:nvSpPr>
                <p:cNvPr id="41" name="矩形 40"/>
                <p:cNvSpPr/>
                <p:nvPr/>
              </p:nvSpPr>
              <p:spPr>
                <a:xfrm>
                  <a:off x="5358" y="951"/>
                  <a:ext cx="2206" cy="2929"/>
                </a:xfrm>
                <a:prstGeom prst="rect">
                  <a:avLst/>
                </a:prstGeom>
                <a:ln>
                  <a:solidFill>
                    <a:schemeClr val="tx1">
                      <a:lumMod val="50000"/>
                      <a:lumOff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pSp>
        </p:grpSp>
        <p:grpSp>
          <p:nvGrpSpPr>
            <p:cNvPr id="54" name="组合 53"/>
            <p:cNvGrpSpPr/>
            <p:nvPr/>
          </p:nvGrpSpPr>
          <p:grpSpPr>
            <a:xfrm rot="0">
              <a:off x="11382" y="5581"/>
              <a:ext cx="1574" cy="2176"/>
              <a:chOff x="5979" y="5511"/>
              <a:chExt cx="2100" cy="2902"/>
            </a:xfrm>
          </p:grpSpPr>
          <p:pic>
            <p:nvPicPr>
              <p:cNvPr id="42" name="图片 41" descr="C:/MineApp/Code/D/Paper/temporaryData/去除图片背景 (3).png去除图片背景 (3)"/>
              <p:cNvPicPr>
                <a:picLocks noChangeAspect="1"/>
              </p:cNvPicPr>
              <p:nvPr/>
            </p:nvPicPr>
            <p:blipFill>
              <a:blip r:embed="rId7"/>
              <a:srcRect l="1912" r="1912"/>
              <a:stretch>
                <a:fillRect/>
              </a:stretch>
            </p:blipFill>
            <p:spPr>
              <a:xfrm>
                <a:off x="6033" y="6198"/>
                <a:ext cx="2038" cy="2118"/>
              </a:xfrm>
              <a:prstGeom prst="rect">
                <a:avLst/>
              </a:prstGeom>
            </p:spPr>
          </p:pic>
          <p:grpSp>
            <p:nvGrpSpPr>
              <p:cNvPr id="43" name="组合 42"/>
              <p:cNvGrpSpPr/>
              <p:nvPr/>
            </p:nvGrpSpPr>
            <p:grpSpPr>
              <a:xfrm>
                <a:off x="5979" y="5511"/>
                <a:ext cx="2100" cy="2903"/>
                <a:chOff x="5358" y="951"/>
                <a:chExt cx="2206" cy="2929"/>
              </a:xfrm>
            </p:grpSpPr>
            <p:sp>
              <p:nvSpPr>
                <p:cNvPr id="44" name="文本框 43"/>
                <p:cNvSpPr txBox="1"/>
                <p:nvPr/>
              </p:nvSpPr>
              <p:spPr>
                <a:xfrm>
                  <a:off x="5477" y="1039"/>
                  <a:ext cx="1905" cy="841"/>
                </a:xfrm>
                <a:prstGeom prst="rect">
                  <a:avLst/>
                </a:prstGeom>
                <a:noFill/>
              </p:spPr>
              <p:txBody>
                <a:bodyPr wrap="square" rtlCol="0">
                  <a:spAutoFit/>
                </a:bodyPr>
                <a:p>
                  <a:pPr algn="ctr"/>
                  <a:r>
                    <a:rPr lang="en-US" altLang="zh-CN"/>
                    <a:t>Gun</a:t>
                  </a:r>
                  <a:endParaRPr lang="en-US" altLang="zh-CN"/>
                </a:p>
              </p:txBody>
            </p:sp>
            <p:sp>
              <p:nvSpPr>
                <p:cNvPr id="45" name="矩形 44"/>
                <p:cNvSpPr/>
                <p:nvPr/>
              </p:nvSpPr>
              <p:spPr>
                <a:xfrm>
                  <a:off x="5358" y="951"/>
                  <a:ext cx="2206" cy="2929"/>
                </a:xfrm>
                <a:prstGeom prst="rect">
                  <a:avLst/>
                </a:prstGeom>
                <a:ln>
                  <a:solidFill>
                    <a:schemeClr val="tx1">
                      <a:lumMod val="50000"/>
                      <a:lumOff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pSp>
        </p:grpSp>
        <p:grpSp>
          <p:nvGrpSpPr>
            <p:cNvPr id="55" name="组合 54"/>
            <p:cNvGrpSpPr/>
            <p:nvPr/>
          </p:nvGrpSpPr>
          <p:grpSpPr>
            <a:xfrm rot="0">
              <a:off x="13366" y="5566"/>
              <a:ext cx="1574" cy="2177"/>
              <a:chOff x="8546" y="5462"/>
              <a:chExt cx="2100" cy="2903"/>
            </a:xfrm>
          </p:grpSpPr>
          <p:pic>
            <p:nvPicPr>
              <p:cNvPr id="46" name="图片 45" descr="C:/MineApp/Code/D/Paper/temporaryData/去除图片背景 (2).png去除图片背景 (2)"/>
              <p:cNvPicPr>
                <a:picLocks noChangeAspect="1"/>
              </p:cNvPicPr>
              <p:nvPr/>
            </p:nvPicPr>
            <p:blipFill>
              <a:blip r:embed="rId8"/>
              <a:srcRect l="1929" t="5" r="1929" b="-5"/>
              <a:stretch>
                <a:fillRect/>
              </a:stretch>
            </p:blipFill>
            <p:spPr>
              <a:xfrm>
                <a:off x="8546" y="6149"/>
                <a:ext cx="2038" cy="2119"/>
              </a:xfrm>
              <a:prstGeom prst="rect">
                <a:avLst/>
              </a:prstGeom>
            </p:spPr>
          </p:pic>
          <p:grpSp>
            <p:nvGrpSpPr>
              <p:cNvPr id="47" name="组合 46"/>
              <p:cNvGrpSpPr/>
              <p:nvPr/>
            </p:nvGrpSpPr>
            <p:grpSpPr>
              <a:xfrm>
                <a:off x="8546" y="5462"/>
                <a:ext cx="2100" cy="2903"/>
                <a:chOff x="5358" y="951"/>
                <a:chExt cx="2206" cy="2929"/>
              </a:xfrm>
            </p:grpSpPr>
            <p:sp>
              <p:nvSpPr>
                <p:cNvPr id="48" name="文本框 47"/>
                <p:cNvSpPr txBox="1"/>
                <p:nvPr/>
              </p:nvSpPr>
              <p:spPr>
                <a:xfrm>
                  <a:off x="5477" y="1039"/>
                  <a:ext cx="1905" cy="840"/>
                </a:xfrm>
                <a:prstGeom prst="rect">
                  <a:avLst/>
                </a:prstGeom>
                <a:noFill/>
              </p:spPr>
              <p:txBody>
                <a:bodyPr wrap="square" rtlCol="0">
                  <a:spAutoFit/>
                </a:bodyPr>
                <a:p>
                  <a:pPr algn="ctr"/>
                  <a:r>
                    <a:rPr lang="en-US" altLang="zh-CN"/>
                    <a:t>Ok</a:t>
                  </a:r>
                  <a:endParaRPr lang="en-US" altLang="zh-CN"/>
                </a:p>
              </p:txBody>
            </p:sp>
            <p:sp>
              <p:nvSpPr>
                <p:cNvPr id="49" name="矩形 48"/>
                <p:cNvSpPr/>
                <p:nvPr/>
              </p:nvSpPr>
              <p:spPr>
                <a:xfrm>
                  <a:off x="5358" y="951"/>
                  <a:ext cx="2206" cy="2929"/>
                </a:xfrm>
                <a:prstGeom prst="rect">
                  <a:avLst/>
                </a:prstGeom>
                <a:ln>
                  <a:solidFill>
                    <a:schemeClr val="tx1">
                      <a:lumMod val="50000"/>
                      <a:lumOff val="50000"/>
                    </a:schemeClr>
                  </a:soli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grpSp>
        </p:grpSp>
      </p:grpSp>
      <p:sp>
        <p:nvSpPr>
          <p:cNvPr id="4" name="文本框 3"/>
          <p:cNvSpPr txBox="1"/>
          <p:nvPr/>
        </p:nvSpPr>
        <p:spPr>
          <a:xfrm>
            <a:off x="307340" y="227330"/>
            <a:ext cx="8522970" cy="570865"/>
          </a:xfrm>
          <a:prstGeom prst="rect">
            <a:avLst/>
          </a:prstGeom>
          <a:noFill/>
        </p:spPr>
        <p:txBody>
          <a:bodyPr wrap="square" rtlCol="0">
            <a:noAutofit/>
          </a:bodyPr>
          <a:p>
            <a:r>
              <a:rPr lang="en-US" altLang="zh-CN" sz="3200" b="1">
                <a:latin typeface="Times New Roman" panose="02020603050405020304" charset="0"/>
                <a:ea typeface="ＭＳ Ｐ明朝" panose="02020600040205080304" charset="-128"/>
                <a:cs typeface="Times New Roman" panose="02020603050405020304" charset="0"/>
                <a:sym typeface="+mn-ea"/>
              </a:rPr>
              <a:t>Electrode </a:t>
            </a:r>
            <a:r>
              <a:rPr lang="en-US" altLang="zh-CN" sz="3200" b="1">
                <a:latin typeface="Times New Roman" panose="02020603050405020304" charset="0"/>
                <a:ea typeface="ＭＳ Ｐ明朝" panose="02020600040205080304" charset="-128"/>
                <a:cs typeface="Times New Roman" panose="02020603050405020304" charset="0"/>
                <a:sym typeface="+mn-ea"/>
              </a:rPr>
              <a:t>P</a:t>
            </a:r>
            <a:r>
              <a:rPr lang="en-US" altLang="zh-CN" sz="3200" b="1">
                <a:latin typeface="Times New Roman" panose="02020603050405020304" charset="0"/>
                <a:ea typeface="ＭＳ Ｐ明朝" panose="02020600040205080304" charset="-128"/>
                <a:cs typeface="Times New Roman" panose="02020603050405020304" charset="0"/>
                <a:sym typeface="+mn-ea"/>
              </a:rPr>
              <a:t>lacement</a:t>
            </a:r>
            <a:endParaRPr lang="en-US" altLang="zh-CN" sz="3200" b="1">
              <a:latin typeface="Times New Roman" panose="02020603050405020304" charset="0"/>
              <a:ea typeface="SimSun" panose="02010600030101010101" pitchFamily="2" charset="-122"/>
              <a:cs typeface="Times New Roman" panose="02020603050405020304" charset="0"/>
            </a:endParaRPr>
          </a:p>
        </p:txBody>
      </p:sp>
      <p:sp>
        <p:nvSpPr>
          <p:cNvPr id="3" name="文本框 2" descr="7b0a202020202262756c6c6574223a20227b5c2263617465676f727949645c223a5c225c222c5c2274656d706c61746549645c223a32303233313638347d220a7d0a"/>
          <p:cNvSpPr txBox="1"/>
          <p:nvPr/>
        </p:nvSpPr>
        <p:spPr>
          <a:xfrm>
            <a:off x="384810" y="998855"/>
            <a:ext cx="8445500" cy="2578735"/>
          </a:xfrm>
          <a:prstGeom prst="rect">
            <a:avLst/>
          </a:prstGeom>
          <a:noFill/>
        </p:spPr>
        <p:txBody>
          <a:bodyPr wrap="square" rtlCol="0">
            <a:noAutofit/>
          </a:bodyPr>
          <a:p>
            <a:pPr>
              <a:buBlip>
                <a:blip r:embed="rId9">
                  <a:extLst>
                    <a:ext uri="{96DAC541-7B7A-43D3-8B79-37D633B846F1}">
                      <asvg:svgBlip xmlns:asvg="http://schemas.microsoft.com/office/drawing/2016/SVG/main" r:embed="rId10"/>
                    </a:ext>
                  </a:extLst>
                </a:blip>
              </a:buBlip>
            </a:pPr>
            <a:r>
              <a:rPr lang="en-US" altLang="zh-CN" sz="1600">
                <a:ea typeface="SimSun" panose="02010600030101010101" pitchFamily="2" charset="-122"/>
              </a:rPr>
              <a:t> Abductor Pollicis Longus (APL)</a:t>
            </a:r>
            <a:r>
              <a:rPr lang="en-US" altLang="zh-CN" sz="1600">
                <a:ea typeface="SimSun" panose="02010600030101010101" pitchFamily="2" charset="-122"/>
                <a:sym typeface="+mn-ea"/>
              </a:rPr>
              <a:t>: Shows significant activation when the thumb is extended</a:t>
            </a:r>
            <a:endParaRPr lang="en-US" altLang="zh-CN" sz="1600">
              <a:ea typeface="SimSun" panose="02010600030101010101" pitchFamily="2" charset="-122"/>
              <a:sym typeface="+mn-ea"/>
            </a:endParaRPr>
          </a:p>
          <a:p>
            <a:pPr>
              <a:buBlip>
                <a:blip r:embed="rId9">
                  <a:extLst>
                    <a:ext uri="{96DAC541-7B7A-43D3-8B79-37D633B846F1}">
                      <asvg:svgBlip xmlns:asvg="http://schemas.microsoft.com/office/drawing/2016/SVG/main" r:embed="rId10"/>
                    </a:ext>
                  </a:extLst>
                </a:blip>
              </a:buBlip>
            </a:pPr>
            <a:endParaRPr lang="en-US" altLang="zh-CN" sz="1600">
              <a:ea typeface="SimSun" panose="02010600030101010101" pitchFamily="2" charset="-122"/>
              <a:sym typeface="+mn-ea"/>
            </a:endParaRPr>
          </a:p>
          <a:p>
            <a:pPr>
              <a:buBlip>
                <a:blip r:embed="rId9">
                  <a:extLst>
                    <a:ext uri="{96DAC541-7B7A-43D3-8B79-37D633B846F1}">
                      <asvg:svgBlip xmlns:asvg="http://schemas.microsoft.com/office/drawing/2016/SVG/main" r:embed="rId10"/>
                    </a:ext>
                  </a:extLst>
                </a:blip>
              </a:buBlip>
            </a:pPr>
            <a:r>
              <a:rPr lang="en-US" altLang="zh-CN" sz="1600">
                <a:ea typeface="SimSun" panose="02010600030101010101" pitchFamily="2" charset="-122"/>
              </a:rPr>
              <a:t> Extensor Indicis (EI): </a:t>
            </a:r>
            <a:r>
              <a:rPr lang="en-US" altLang="zh-CN" sz="1600">
                <a:ea typeface="SimSun" panose="02010600030101010101" pitchFamily="2" charset="-122"/>
                <a:sym typeface="+mn-ea"/>
              </a:rPr>
              <a:t>Shows significant activation</a:t>
            </a:r>
            <a:r>
              <a:rPr lang="en-US" altLang="zh-CN" sz="1600">
                <a:ea typeface="SimSun" panose="02010600030101010101" pitchFamily="2" charset="-122"/>
              </a:rPr>
              <a:t> </a:t>
            </a:r>
            <a:r>
              <a:rPr lang="en-US" altLang="zh-CN" sz="1600">
                <a:ea typeface="SimSun" panose="02010600030101010101" pitchFamily="2" charset="-122"/>
                <a:sym typeface="+mn-ea"/>
              </a:rPr>
              <a:t>when </a:t>
            </a:r>
            <a:r>
              <a:rPr lang="en-US" altLang="zh-CN" sz="1600">
                <a:ea typeface="SimSun" panose="02010600030101010101" pitchFamily="2" charset="-122"/>
              </a:rPr>
              <a:t>the index finger is </a:t>
            </a:r>
            <a:r>
              <a:rPr lang="en-US" altLang="zh-CN" sz="1600">
                <a:ea typeface="SimSun" panose="02010600030101010101" pitchFamily="2" charset="-122"/>
                <a:sym typeface="+mn-ea"/>
              </a:rPr>
              <a:t>extended</a:t>
            </a:r>
            <a:endParaRPr lang="en-US" altLang="zh-CN" sz="1600">
              <a:ea typeface="SimSun" panose="02010600030101010101" pitchFamily="2" charset="-122"/>
              <a:sym typeface="+mn-ea"/>
            </a:endParaRPr>
          </a:p>
          <a:p>
            <a:pPr>
              <a:buBlip>
                <a:blip r:embed="rId9">
                  <a:extLst>
                    <a:ext uri="{96DAC541-7B7A-43D3-8B79-37D633B846F1}">
                      <asvg:svgBlip xmlns:asvg="http://schemas.microsoft.com/office/drawing/2016/SVG/main" r:embed="rId10"/>
                    </a:ext>
                  </a:extLst>
                </a:blip>
              </a:buBlip>
            </a:pPr>
            <a:endParaRPr lang="en-US" altLang="zh-CN" sz="1600">
              <a:ea typeface="SimSun" panose="02010600030101010101" pitchFamily="2" charset="-122"/>
            </a:endParaRPr>
          </a:p>
          <a:p>
            <a:pPr>
              <a:buBlip>
                <a:blip r:embed="rId9">
                  <a:extLst>
                    <a:ext uri="{96DAC541-7B7A-43D3-8B79-37D633B846F1}">
                      <asvg:svgBlip xmlns:asvg="http://schemas.microsoft.com/office/drawing/2016/SVG/main" r:embed="rId10"/>
                    </a:ext>
                  </a:extLst>
                </a:blip>
              </a:buBlip>
            </a:pPr>
            <a:r>
              <a:rPr lang="en-US" altLang="zh-CN" sz="1600">
                <a:ea typeface="SimSun" panose="02010600030101010101" pitchFamily="2" charset="-122"/>
              </a:rPr>
              <a:t> Extensor Digitorum (ED): </a:t>
            </a:r>
            <a:r>
              <a:rPr lang="en-US" altLang="zh-CN" sz="1600">
                <a:ea typeface="SimSun" panose="02010600030101010101" pitchFamily="2" charset="-122"/>
                <a:sym typeface="+mn-ea"/>
              </a:rPr>
              <a:t>Shows significant activation</a:t>
            </a:r>
            <a:r>
              <a:rPr lang="en-US" altLang="zh-CN" sz="1600">
                <a:ea typeface="SimSun" panose="02010600030101010101" pitchFamily="2" charset="-122"/>
              </a:rPr>
              <a:t> when the index, middle, and ring fingers are extended</a:t>
            </a:r>
            <a:endParaRPr lang="en-US" altLang="zh-CN" sz="1600">
              <a:ea typeface="SimSun" panose="02010600030101010101" pitchFamily="2" charset="-122"/>
            </a:endParaRPr>
          </a:p>
          <a:p>
            <a:pPr indent="0">
              <a:buNone/>
            </a:pPr>
            <a:endParaRPr lang="en-US" altLang="zh-CN" sz="1600">
              <a:ea typeface="SimSun" panose="02010600030101010101" pitchFamily="2" charset="-122"/>
            </a:endParaRPr>
          </a:p>
          <a:p>
            <a:pPr>
              <a:buBlip>
                <a:blip r:embed="rId9">
                  <a:extLst>
                    <a:ext uri="{96DAC541-7B7A-43D3-8B79-37D633B846F1}">
                      <asvg:svgBlip xmlns:asvg="http://schemas.microsoft.com/office/drawing/2016/SVG/main" r:embed="rId10"/>
                    </a:ext>
                  </a:extLst>
                </a:blip>
              </a:buBlip>
            </a:pPr>
            <a:r>
              <a:rPr lang="en-US" altLang="zh-CN" sz="1600">
                <a:ea typeface="SimSun" panose="02010600030101010101" pitchFamily="2" charset="-122"/>
              </a:rPr>
              <a:t> Flexor Digitorum Superficialis (FDS): Shows clear activation when the index, middle, and ring fingers are flexed</a:t>
            </a:r>
            <a:br>
              <a:rPr lang="en-US" altLang="zh-CN" sz="1600">
                <a:ea typeface="SimSun" panose="02010600030101010101" pitchFamily="2" charset="-122"/>
              </a:rPr>
            </a:br>
            <a:endParaRPr lang="en-US" altLang="zh-CN" sz="1600">
              <a:ea typeface="SimSun" panose="02010600030101010101" pitchFamily="2"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10月26日">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668010" y="887095"/>
            <a:ext cx="3051175" cy="5424170"/>
          </a:xfrm>
          <a:prstGeom prst="rect">
            <a:avLst/>
          </a:prstGeom>
        </p:spPr>
      </p:pic>
      <p:pic>
        <p:nvPicPr>
          <p:cNvPr id="10" name="图片 9" descr="Assembly"/>
          <p:cNvPicPr>
            <a:picLocks noChangeAspect="1"/>
          </p:cNvPicPr>
          <p:nvPr/>
        </p:nvPicPr>
        <p:blipFill>
          <a:blip r:embed="rId4"/>
          <a:stretch>
            <a:fillRect/>
          </a:stretch>
        </p:blipFill>
        <p:spPr>
          <a:xfrm>
            <a:off x="307340" y="4512310"/>
            <a:ext cx="4977130" cy="1798955"/>
          </a:xfrm>
          <a:prstGeom prst="rect">
            <a:avLst/>
          </a:prstGeom>
        </p:spPr>
      </p:pic>
      <p:sp>
        <p:nvSpPr>
          <p:cNvPr id="2" name="文本框 1"/>
          <p:cNvSpPr txBox="1"/>
          <p:nvPr/>
        </p:nvSpPr>
        <p:spPr>
          <a:xfrm>
            <a:off x="307340" y="193040"/>
            <a:ext cx="8423910" cy="570865"/>
          </a:xfrm>
          <a:prstGeom prst="rect">
            <a:avLst/>
          </a:prstGeom>
          <a:noFill/>
        </p:spPr>
        <p:txBody>
          <a:bodyPr wrap="square" rtlCol="0">
            <a:noAutofit/>
          </a:bodyPr>
          <a:p>
            <a:r>
              <a:rPr lang="en-US" altLang="zh-CN" sz="3200" b="1">
                <a:latin typeface="Times New Roman" panose="02020603050405020304" charset="0"/>
                <a:ea typeface="SimSun" panose="02010600030101010101" pitchFamily="2" charset="-122"/>
                <a:cs typeface="Times New Roman" panose="02020603050405020304" charset="0"/>
              </a:rPr>
              <a:t>3D-printed robotic hand</a:t>
            </a:r>
            <a:endParaRPr lang="en-US" altLang="zh-CN" sz="3200" b="1">
              <a:latin typeface="Times New Roman" panose="02020603050405020304" charset="0"/>
              <a:ea typeface="SimSun" panose="02010600030101010101" pitchFamily="2" charset="-122"/>
              <a:cs typeface="Times New Roman" panose="02020603050405020304" charset="0"/>
            </a:endParaRPr>
          </a:p>
        </p:txBody>
      </p:sp>
      <p:sp>
        <p:nvSpPr>
          <p:cNvPr id="4" name="文本框 3"/>
          <p:cNvSpPr txBox="1"/>
          <p:nvPr/>
        </p:nvSpPr>
        <p:spPr>
          <a:xfrm>
            <a:off x="391795" y="1022985"/>
            <a:ext cx="5288280" cy="368300"/>
          </a:xfrm>
          <a:prstGeom prst="rect">
            <a:avLst/>
          </a:prstGeom>
        </p:spPr>
        <p:txBody>
          <a:bodyPr wrap="square">
            <a:spAutoFit/>
          </a:bodyPr>
          <a:p>
            <a:pPr marL="0" indent="0"/>
            <a:r>
              <a:rPr lang="en-US" altLang="ja-JP">
                <a:solidFill>
                  <a:schemeClr val="tx2">
                    <a:lumMod val="75000"/>
                    <a:lumOff val="25000"/>
                  </a:schemeClr>
                </a:solidFill>
              </a:rPr>
              <a:t>AmazingHand</a:t>
            </a:r>
            <a:r>
              <a:rPr lang="en-US" altLang="ja-JP"/>
              <a:t> (open-source </a:t>
            </a:r>
            <a:r>
              <a:rPr lang="en-US" altLang="zh-CN"/>
              <a:t>robotic hand</a:t>
            </a:r>
            <a:r>
              <a:rPr lang="en-US" altLang="ja-JP"/>
              <a:t>)</a:t>
            </a:r>
            <a:endParaRPr lang="en-US" altLang="ja-JP"/>
          </a:p>
        </p:txBody>
      </p:sp>
      <p:sp>
        <p:nvSpPr>
          <p:cNvPr id="5" name="文本框 4"/>
          <p:cNvSpPr txBox="1"/>
          <p:nvPr/>
        </p:nvSpPr>
        <p:spPr>
          <a:xfrm>
            <a:off x="736600" y="1454785"/>
            <a:ext cx="4599305" cy="583565"/>
          </a:xfrm>
          <a:prstGeom prst="rect">
            <a:avLst/>
          </a:prstGeom>
          <a:noFill/>
        </p:spPr>
        <p:txBody>
          <a:bodyPr wrap="square" rtlCol="0" anchor="t">
            <a:spAutoFit/>
          </a:bodyPr>
          <a:p>
            <a:r>
              <a:rPr lang="en-US" altLang="zh-CN" sz="1600"/>
              <a:t>4 fingers, </a:t>
            </a:r>
            <a:r>
              <a:rPr lang="en-US" altLang="zh-CN" sz="1600">
                <a:sym typeface="+mn-ea"/>
              </a:rPr>
              <a:t>2 phalanxes per finger, total </a:t>
            </a:r>
            <a:r>
              <a:rPr lang="en-US" altLang="zh-CN" sz="1600"/>
              <a:t>8 degrees of freedom. </a:t>
            </a:r>
            <a:endParaRPr lang="en-US" altLang="zh-CN" sz="1600"/>
          </a:p>
        </p:txBody>
      </p:sp>
      <p:pic>
        <p:nvPicPr>
          <p:cNvPr id="12" name="图片 11" descr="Finger_Overview"/>
          <p:cNvPicPr>
            <a:picLocks noChangeAspect="1"/>
          </p:cNvPicPr>
          <p:nvPr/>
        </p:nvPicPr>
        <p:blipFill>
          <a:blip r:embed="rId5"/>
          <a:stretch>
            <a:fillRect/>
          </a:stretch>
        </p:blipFill>
        <p:spPr>
          <a:xfrm>
            <a:off x="736600" y="2675890"/>
            <a:ext cx="3809365" cy="1750695"/>
          </a:xfrm>
          <a:prstGeom prst="rect">
            <a:avLst/>
          </a:prstGeom>
        </p:spPr>
      </p:pic>
    </p:spTree>
  </p:cSld>
  <p:clrMapOvr>
    <a:masterClrMapping/>
  </p:clrMapOvr>
  <p:timing>
    <p:tnLst>
      <p:par>
        <p:cTn id="1" dur="indefinite" restart="never" nodeType="tmRoot">
          <p:childTnLst>
            <p:video fullScrn="0">
              <p:cMediaNode>
                <p:cTn id="2" fill="hold" display="1">
                  <p:stCondLst>
                    <p:cond delay="indefinite"/>
                  </p:stCondLst>
                </p:cTn>
                <p:tgtEl>
                  <p:spTgt spid="6"/>
                </p:tgtEl>
              </p:cMediaNode>
            </p:video>
            <p:seq concurrent="1" nextAc="seek">
              <p:cTn id="3" restart="whenNotActive" fill="hold" evtFilter="cancelBubble" nodeType="interactiveSeq">
                <p:stCondLst>
                  <p:cond evt="onClick" delay="0">
                    <p:tgtEl>
                      <p:spTgt spid="6"/>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 name="图片 10" descr="Figure_1"/>
          <p:cNvPicPr>
            <a:picLocks noChangeAspect="1"/>
          </p:cNvPicPr>
          <p:nvPr/>
        </p:nvPicPr>
        <p:blipFill>
          <a:blip r:embed="rId1"/>
          <a:stretch>
            <a:fillRect/>
          </a:stretch>
        </p:blipFill>
        <p:spPr>
          <a:xfrm>
            <a:off x="4431030" y="2918460"/>
            <a:ext cx="4803140" cy="3604895"/>
          </a:xfrm>
          <a:prstGeom prst="rect">
            <a:avLst/>
          </a:prstGeom>
        </p:spPr>
      </p:pic>
      <p:sp>
        <p:nvSpPr>
          <p:cNvPr id="6" name="文本框 5"/>
          <p:cNvSpPr txBox="1"/>
          <p:nvPr/>
        </p:nvSpPr>
        <p:spPr>
          <a:xfrm>
            <a:off x="275590" y="226695"/>
            <a:ext cx="8522970" cy="535305"/>
          </a:xfrm>
          <a:prstGeom prst="rect">
            <a:avLst/>
          </a:prstGeom>
          <a:noFill/>
        </p:spPr>
        <p:txBody>
          <a:bodyPr wrap="square" rtlCol="0">
            <a:noAutofit/>
          </a:bodyPr>
          <a:p>
            <a:r>
              <a:rPr lang="en-US" altLang="zh-CN" sz="3200" b="1">
                <a:latin typeface="Times New Roman" panose="02020603050405020304" charset="0"/>
                <a:ea typeface="SimSun" panose="02010600030101010101" pitchFamily="2" charset="-122"/>
                <a:cs typeface="Times New Roman" panose="02020603050405020304" charset="0"/>
                <a:sym typeface="+mn-ea"/>
              </a:rPr>
              <a:t>Experiment</a:t>
            </a:r>
            <a:endParaRPr lang="en-US" altLang="zh-CN" sz="3200" b="1">
              <a:latin typeface="Times New Roman" panose="02020603050405020304" charset="0"/>
              <a:ea typeface="SimSun" panose="02010600030101010101" pitchFamily="2" charset="-122"/>
              <a:cs typeface="Times New Roman" panose="02020603050405020304" charset="0"/>
            </a:endParaRPr>
          </a:p>
          <a:p>
            <a:endParaRPr lang="en-US" altLang="zh-CN" sz="3200" b="1">
              <a:latin typeface="Times New Roman" panose="02020603050405020304" charset="0"/>
              <a:ea typeface="SimSun" panose="02010600030101010101" pitchFamily="2" charset="-122"/>
              <a:cs typeface="Times New Roman" panose="02020603050405020304" charset="0"/>
            </a:endParaRPr>
          </a:p>
        </p:txBody>
      </p:sp>
      <p:sp>
        <p:nvSpPr>
          <p:cNvPr id="12" name="文本框 11"/>
          <p:cNvSpPr txBox="1"/>
          <p:nvPr/>
        </p:nvSpPr>
        <p:spPr>
          <a:xfrm>
            <a:off x="275590" y="3434715"/>
            <a:ext cx="4168775" cy="2628265"/>
          </a:xfrm>
          <a:prstGeom prst="rect">
            <a:avLst/>
          </a:prstGeom>
          <a:noFill/>
        </p:spPr>
        <p:txBody>
          <a:bodyPr wrap="square" rtlCol="0">
            <a:noAutofit/>
          </a:bodyPr>
          <a:p>
            <a:pPr indent="457200"/>
            <a:r>
              <a:rPr lang="en-US" altLang="zh-CN" sz="1600">
                <a:ea typeface="SimSun" panose="02010600030101010101" pitchFamily="2" charset="-122"/>
              </a:rPr>
              <a:t>Currently, I’m only testing a LSTM model, not applying it to real-time recognition yet. The confusion matrix shows that LSTM works well for EMG signal recognition, but gesture 4 (rock) is often misclassified as OK. This part needs further understanding and optimization.</a:t>
            </a:r>
            <a:endParaRPr lang="en-US" altLang="zh-CN" sz="1600">
              <a:ea typeface="SimSun" panose="02010600030101010101" pitchFamily="2" charset="-122"/>
            </a:endParaRPr>
          </a:p>
        </p:txBody>
      </p:sp>
      <p:sp>
        <p:nvSpPr>
          <p:cNvPr id="2" name="文本框 1"/>
          <p:cNvSpPr txBox="1"/>
          <p:nvPr/>
        </p:nvSpPr>
        <p:spPr>
          <a:xfrm>
            <a:off x="402590" y="855980"/>
            <a:ext cx="8395970" cy="1814830"/>
          </a:xfrm>
          <a:prstGeom prst="rect">
            <a:avLst/>
          </a:prstGeom>
          <a:noFill/>
        </p:spPr>
        <p:txBody>
          <a:bodyPr wrap="square" rtlCol="0">
            <a:spAutoFit/>
          </a:bodyPr>
          <a:p>
            <a:pPr indent="457200"/>
            <a:r>
              <a:rPr lang="en-US" altLang="zh-CN" sz="1600"/>
              <a:t>To compare the performance and characteristics of different models and select the one most suitable for practical applications, I designed an experiment inviting 3 adult males and 3 adult females as </a:t>
            </a:r>
            <a:r>
              <a:rPr lang="en-US" altLang="zh-CN" sz="1600">
                <a:sym typeface="+mn-ea"/>
              </a:rPr>
              <a:t>participants</a:t>
            </a:r>
            <a:r>
              <a:rPr lang="en-US" altLang="zh-CN" sz="1600"/>
              <a:t>. </a:t>
            </a:r>
            <a:endParaRPr lang="en-US" altLang="zh-CN" sz="1600"/>
          </a:p>
          <a:p>
            <a:pPr indent="457200"/>
            <a:r>
              <a:rPr lang="en-US" altLang="zh-CN" sz="1600"/>
              <a:t>The </a:t>
            </a:r>
            <a:r>
              <a:rPr lang="en-US" altLang="zh-CN" sz="1600">
                <a:sym typeface="+mn-ea"/>
              </a:rPr>
              <a:t>participants</a:t>
            </a:r>
            <a:r>
              <a:rPr lang="en-US" altLang="zh-CN" sz="1600"/>
              <a:t> were required to perform all the gestures, and the corresponding EMG signals were recorded as test data. The data of each participant were input into each model to evaluate the test accuracy of each model. The participants also performed real-time recognition tasks to test potential issues that may arise in actual use.</a:t>
            </a:r>
            <a:endParaRPr lang="en-US" altLang="zh-CN" sz="1600"/>
          </a:p>
        </p:txBody>
      </p:sp>
      <p:sp>
        <p:nvSpPr>
          <p:cNvPr id="3" name="文本框 2"/>
          <p:cNvSpPr txBox="1"/>
          <p:nvPr/>
        </p:nvSpPr>
        <p:spPr>
          <a:xfrm>
            <a:off x="275590" y="2824480"/>
            <a:ext cx="8522970" cy="535305"/>
          </a:xfrm>
          <a:prstGeom prst="rect">
            <a:avLst/>
          </a:prstGeom>
          <a:noFill/>
        </p:spPr>
        <p:txBody>
          <a:bodyPr wrap="square" rtlCol="0">
            <a:noAutofit/>
          </a:bodyPr>
          <a:p>
            <a:r>
              <a:rPr lang="en-US" altLang="zh-CN" sz="3200" b="1">
                <a:latin typeface="Times New Roman" panose="02020603050405020304" charset="0"/>
                <a:ea typeface="SimSun" panose="02010600030101010101" pitchFamily="2" charset="-122"/>
                <a:cs typeface="Times New Roman" panose="02020603050405020304" charset="0"/>
                <a:sym typeface="+mn-ea"/>
              </a:rPr>
              <a:t>Result</a:t>
            </a:r>
            <a:endParaRPr lang="en-US" altLang="zh-CN" sz="3200" b="1">
              <a:latin typeface="Times New Roman" panose="02020603050405020304" charset="0"/>
              <a:ea typeface="SimSun" panose="02010600030101010101" pitchFamily="2" charset="-122"/>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275590" y="226695"/>
            <a:ext cx="8522970" cy="535305"/>
          </a:xfrm>
          <a:prstGeom prst="rect">
            <a:avLst/>
          </a:prstGeom>
          <a:noFill/>
        </p:spPr>
        <p:txBody>
          <a:bodyPr wrap="square" rtlCol="0">
            <a:noAutofit/>
          </a:bodyPr>
          <a:p>
            <a:r>
              <a:rPr lang="en-US" altLang="zh-CN" sz="3200" b="1">
                <a:latin typeface="Times New Roman" panose="02020603050405020304" charset="0"/>
                <a:ea typeface="SimSun" panose="02010600030101010101" pitchFamily="2" charset="-122"/>
                <a:cs typeface="Times New Roman" panose="02020603050405020304" charset="0"/>
                <a:sym typeface="+mn-ea"/>
              </a:rPr>
              <a:t>Summary</a:t>
            </a:r>
            <a:endParaRPr lang="en-US" altLang="zh-CN" sz="3200" b="1">
              <a:latin typeface="Times New Roman" panose="02020603050405020304" charset="0"/>
              <a:ea typeface="SimSun" panose="02010600030101010101" pitchFamily="2" charset="-122"/>
              <a:cs typeface="Times New Roman" panose="02020603050405020304" charset="0"/>
            </a:endParaRPr>
          </a:p>
          <a:p>
            <a:endParaRPr lang="en-US" altLang="zh-CN" sz="3200" b="1">
              <a:latin typeface="Times New Roman" panose="02020603050405020304" charset="0"/>
              <a:ea typeface="SimSun" panose="02010600030101010101" pitchFamily="2" charset="-122"/>
              <a:cs typeface="Times New Roman" panose="02020603050405020304" charset="0"/>
            </a:endParaRPr>
          </a:p>
        </p:txBody>
      </p:sp>
      <p:sp>
        <p:nvSpPr>
          <p:cNvPr id="12" name="文本框 11"/>
          <p:cNvSpPr txBox="1"/>
          <p:nvPr/>
        </p:nvSpPr>
        <p:spPr>
          <a:xfrm>
            <a:off x="276225" y="3968115"/>
            <a:ext cx="8523605" cy="1234440"/>
          </a:xfrm>
          <a:prstGeom prst="rect">
            <a:avLst/>
          </a:prstGeom>
          <a:noFill/>
        </p:spPr>
        <p:txBody>
          <a:bodyPr wrap="square" rtlCol="0">
            <a:noAutofit/>
          </a:bodyPr>
          <a:p>
            <a:pPr indent="457200"/>
            <a:r>
              <a:rPr lang="en-US" altLang="zh-CN" sz="1600">
                <a:ea typeface="SimSun" panose="02010600030101010101" pitchFamily="2" charset="-122"/>
              </a:rPr>
              <a:t>it may be necessary to continuously optimize the robotic hand to make it more flexible, reduce latency, and improve the convenience of EMG signal acquisition. When the robotic hand becomes stable, I plan to design more movement based on real-life scenarios. In addition, more sensors will be added to the hand to enhance its perception of the environment.</a:t>
            </a:r>
            <a:endParaRPr lang="en-US" altLang="zh-CN" sz="1600">
              <a:ea typeface="SimSun" panose="02010600030101010101" pitchFamily="2" charset="-122"/>
            </a:endParaRPr>
          </a:p>
        </p:txBody>
      </p:sp>
      <p:sp>
        <p:nvSpPr>
          <p:cNvPr id="2" name="文本框 1"/>
          <p:cNvSpPr txBox="1"/>
          <p:nvPr/>
        </p:nvSpPr>
        <p:spPr>
          <a:xfrm>
            <a:off x="402590" y="855980"/>
            <a:ext cx="8395970" cy="1568450"/>
          </a:xfrm>
          <a:prstGeom prst="rect">
            <a:avLst/>
          </a:prstGeom>
          <a:noFill/>
        </p:spPr>
        <p:txBody>
          <a:bodyPr wrap="square" rtlCol="0">
            <a:spAutoFit/>
          </a:bodyPr>
          <a:p>
            <a:pPr indent="457200"/>
            <a:r>
              <a:rPr lang="en-US" altLang="zh-CN" sz="1600"/>
              <a:t>In this research, multiple deep learning models will be developed and applied to EMG signal recognition with the goal of achieving </a:t>
            </a:r>
            <a:r>
              <a:rPr lang="en-US" altLang="zh-CN" sz="1600">
                <a:sym typeface="+mn-ea"/>
              </a:rPr>
              <a:t>real-time</a:t>
            </a:r>
            <a:r>
              <a:rPr lang="en-US" altLang="zh-CN" sz="1600"/>
              <a:t> high accuracy. Using an open-source anthropomorphic robotic hand as the foundation, a robotic hand will be assembled, and the real-time EMG recognition program will be integrated to enable real-time control. Experiments involving multiple participants will be conducted to evaluate the overall performance and usability of the system.</a:t>
            </a:r>
            <a:endParaRPr lang="en-US" altLang="zh-CN" sz="1600"/>
          </a:p>
        </p:txBody>
      </p:sp>
      <p:sp>
        <p:nvSpPr>
          <p:cNvPr id="3" name="文本框 2"/>
          <p:cNvSpPr txBox="1"/>
          <p:nvPr/>
        </p:nvSpPr>
        <p:spPr>
          <a:xfrm>
            <a:off x="276225" y="3357880"/>
            <a:ext cx="8522970" cy="535305"/>
          </a:xfrm>
          <a:prstGeom prst="rect">
            <a:avLst/>
          </a:prstGeom>
          <a:noFill/>
        </p:spPr>
        <p:txBody>
          <a:bodyPr wrap="square" rtlCol="0">
            <a:noAutofit/>
          </a:bodyPr>
          <a:p>
            <a:r>
              <a:rPr lang="en-US" altLang="zh-CN" sz="3200" b="1">
                <a:latin typeface="Times New Roman" panose="02020603050405020304" charset="0"/>
                <a:ea typeface="SimSun" panose="02010600030101010101" pitchFamily="2" charset="-122"/>
                <a:cs typeface="Times New Roman" panose="02020603050405020304" charset="0"/>
                <a:sym typeface="+mn-ea"/>
              </a:rPr>
              <a:t>Future Plan</a:t>
            </a:r>
            <a:endParaRPr lang="en-US" altLang="zh-CN" sz="3200" b="1">
              <a:latin typeface="Times New Roman" panose="02020603050405020304" charset="0"/>
              <a:ea typeface="SimSun" panose="02010600030101010101" pitchFamily="2" charset="-122"/>
              <a:cs typeface="Times New Roman" panose="02020603050405020304" charset="0"/>
            </a:endParaRP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PS">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a3c59a-3bb1-4ac4-8580-9b2ba74cfe5b">
      <Terms xmlns="http://schemas.microsoft.com/office/infopath/2007/PartnerControls"/>
    </lcf76f155ced4ddcb4097134ff3c332f>
    <TaxCatchAll xmlns="56bf2a1e-b0f5-401e-a825-4d0cd333482d" xsi:nil="true"/>
  </documentManagement>
</p:properties>
</file>

<file path=customXml/item2.xml><?xml version="1.0" encoding="utf-8"?>
<ct:contentTypeSchema xmlns:ct="http://schemas.microsoft.com/office/2006/metadata/contentType" xmlns:ma="http://schemas.microsoft.com/office/2006/metadata/properties/metaAttributes" ct:_="" ma:_="" ma:contentTypeName="ドキュメント" ma:contentTypeID="0x010100EEEA4EB4B1C87045B2C7B9E34AE6DFF4" ma:contentTypeVersion="19" ma:contentTypeDescription="新しいドキュメントを作成します。" ma:contentTypeScope="" ma:versionID="195f4af887e8b02337b1b142d1f847de">
  <xsd:schema xmlns:xsd="http://www.w3.org/2001/XMLSchema" xmlns:xs="http://www.w3.org/2001/XMLSchema" xmlns:p="http://schemas.microsoft.com/office/2006/metadata/properties" xmlns:ns2="c8a3c59a-3bb1-4ac4-8580-9b2ba74cfe5b" xmlns:ns3="56bf2a1e-b0f5-401e-a825-4d0cd333482d" targetNamespace="http://schemas.microsoft.com/office/2006/metadata/properties" ma:root="true" ma:fieldsID="81e6449237d2fc142489e0904e1e7166" ns2:_="" ns3:_="">
    <xsd:import namespace="c8a3c59a-3bb1-4ac4-8580-9b2ba74cfe5b"/>
    <xsd:import namespace="56bf2a1e-b0f5-401e-a825-4d0cd333482d"/>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Location"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a3c59a-3bb1-4ac4-8580-9b2ba74cfe5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画像タグ" ma:readOnly="false" ma:fieldId="{5cf76f15-5ced-4ddc-b409-7134ff3c332f}" ma:taxonomyMulti="true" ma:sspId="60da577d-8c11-42e1-9807-59d1f71190c8"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bf2a1e-b0f5-401e-a825-4d0cd333482d" elementFormDefault="qualified">
    <xsd:import namespace="http://schemas.microsoft.com/office/2006/documentManagement/types"/>
    <xsd:import namespace="http://schemas.microsoft.com/office/infopath/2007/PartnerControls"/>
    <xsd:element name="SharedWithUsers" ma:index="18"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共有相手の詳細情報" ma:internalName="SharedWithDetails" ma:readOnly="true">
      <xsd:simpleType>
        <xsd:restriction base="dms:Note">
          <xsd:maxLength value="255"/>
        </xsd:restriction>
      </xsd:simpleType>
    </xsd:element>
    <xsd:element name="TaxCatchAll" ma:index="23" nillable="true" ma:displayName="Taxonomy Catch All Column" ma:hidden="true" ma:list="{afb7adad-3fb7-4e7a-8b83-8b41f07d25c8}" ma:internalName="TaxCatchAll" ma:showField="CatchAllData" ma:web="56bf2a1e-b0f5-401e-a825-4d0cd333482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3FA7E84-7FC5-4C41-A4F9-8872414BB2F4}">
  <ds:schemaRefs/>
</ds:datastoreItem>
</file>

<file path=customXml/itemProps2.xml><?xml version="1.0" encoding="utf-8"?>
<ds:datastoreItem xmlns:ds="http://schemas.openxmlformats.org/officeDocument/2006/customXml" ds:itemID="{0E5148B6-4531-42C7-8EF9-49C77F467C6E}">
  <ds:schemaRefs/>
</ds:datastoreItem>
</file>

<file path=customXml/itemProps3.xml><?xml version="1.0" encoding="utf-8"?>
<ds:datastoreItem xmlns:ds="http://schemas.openxmlformats.org/officeDocument/2006/customXml" ds:itemID="{9FF3F963-4824-4617-9390-F81F48A450C9}">
  <ds:schemaRefs/>
</ds:datastoreItem>
</file>

<file path=docProps/app.xml><?xml version="1.0" encoding="utf-8"?>
<Properties xmlns="http://schemas.openxmlformats.org/officeDocument/2006/extended-properties" xmlns:vt="http://schemas.openxmlformats.org/officeDocument/2006/docPropsVTypes">
  <TotalTime>0</TotalTime>
  <Words>5155</Words>
  <Application>WPS 演示</Application>
  <PresentationFormat>画面に合わせる (4:3)</PresentationFormat>
  <Paragraphs>125</Paragraphs>
  <Slides>9</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9</vt:i4>
      </vt:variant>
    </vt:vector>
  </HeadingPairs>
  <TitlesOfParts>
    <vt:vector size="20" baseType="lpstr">
      <vt:lpstr>Arial</vt:lpstr>
      <vt:lpstr>SimSun</vt:lpstr>
      <vt:lpstr>Wingdings</vt:lpstr>
      <vt:lpstr>Calibri</vt:lpstr>
      <vt:lpstr>Times New Roman</vt:lpstr>
      <vt:lpstr>ＭＳ Ｐ明朝</vt:lpstr>
      <vt:lpstr>Arial</vt:lpstr>
      <vt:lpstr>ＭＳ Ｐゴシック</vt:lpstr>
      <vt:lpstr>Microsoft YaHei</vt:lpstr>
      <vt:lpstr>Arial Unicode MS</vt:lpstr>
      <vt:lpstr>Office テーマ</vt:lpstr>
      <vt:lpstr>Development of a Myoelectric Hand Based on Deep Learning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24742101 石津七海</dc:creator>
  <cp:lastModifiedBy>WPS_1744009845</cp:lastModifiedBy>
  <cp:revision>145</cp:revision>
  <dcterms:created xsi:type="dcterms:W3CDTF">2025-10-02T04:01:00Z</dcterms:created>
  <dcterms:modified xsi:type="dcterms:W3CDTF">2025-11-02T06:21:32Z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0x010100EEEA4EB4B1C87045B2C7B9E34AE6DFF4</vt:lpwstr>
  </property>
  <property fmtid="{D5CDD505-2E9C-101B-9397-08002B2CF9AE}" pid="3" name="ICV">
    <vt:lpwstr>B70015103C7249FE8210DA285DD4FDE3_12</vt:lpwstr>
  </property>
  <property fmtid="{D5CDD505-2E9C-101B-9397-08002B2CF9AE}" pid="4" name="KSOProductBuildVer">
    <vt:lpwstr>2052-12.1.0.23125</vt:lpwstr>
  </property>
</Properties>
</file>