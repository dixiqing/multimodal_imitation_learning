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JPG" ContentType="image/.jpg"/>
  <Default Extension="png" ContentType="image/png"/>
  <Default Extension="rels" ContentType="application/vnd.openxmlformats-package.relationshi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26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80" r:id="rId3"/>
    <p:sldId id="282" r:id="rId5"/>
    <p:sldId id="283" r:id="rId6"/>
    <p:sldId id="291" r:id="rId7"/>
    <p:sldId id="290" r:id="rId8"/>
    <p:sldId id="292" r:id="rId9"/>
    <p:sldId id="288" r:id="rId10"/>
    <p:sldId id="289" r:id="rId11"/>
  </p:sldIdLst>
  <p:sldSz cx="9144000" cy="6858000" type="screen4x3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62828"/>
    <a:srgbClr val="F7D6D6"/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114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customXml" Target="../customXml/item3.xml"/><Relationship Id="rId16" Type="http://schemas.openxmlformats.org/officeDocument/2006/relationships/customXml" Target="../customXml/item2.xml"/><Relationship Id="rId15" Type="http://schemas.openxmlformats.org/officeDocument/2006/relationships/customXml" Target="../customXml/item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/>
          </a:p>
        </p:txBody>
      </p:sp>
      <p:sp>
        <p:nvSpPr>
          <p:cNvPr id="3" name="字幕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kumimoji="1" lang="ja-JP" altLang="en-US"/>
              <a:t>マスター サブタイトルの書式設定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312DB-8217-4BDF-B5AF-DC3A694F87D4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0E456-75B8-4C92-99E8-A0CAB60115A8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312DB-8217-4BDF-B5AF-DC3A694F87D4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0E456-75B8-4C92-99E8-A0CAB60115A8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312DB-8217-4BDF-B5AF-DC3A694F87D4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0E456-75B8-4C92-99E8-A0CAB60115A8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312DB-8217-4BDF-B5AF-DC3A694F87D4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0E456-75B8-4C92-99E8-A0CAB60115A8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/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312DB-8217-4BDF-B5AF-DC3A694F87D4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0E456-75B8-4C92-99E8-A0CAB60115A8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205954" y="94797"/>
            <a:ext cx="7886700" cy="488889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312DB-8217-4BDF-B5AF-DC3A694F87D4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cxnSp>
        <p:nvCxnSpPr>
          <p:cNvPr id="7" name="直線コネクタ 6"/>
          <p:cNvCxnSpPr/>
          <p:nvPr userDrawn="1"/>
        </p:nvCxnSpPr>
        <p:spPr>
          <a:xfrm>
            <a:off x="171450" y="94086"/>
            <a:ext cx="0" cy="48960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>
          <a:xfrm>
            <a:off x="7063954" y="6574305"/>
            <a:ext cx="2057400" cy="365125"/>
          </a:xfrm>
        </p:spPr>
        <p:txBody>
          <a:bodyPr/>
          <a:lstStyle>
            <a:lvl1pPr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fld id="{6F00E456-75B8-4C92-99E8-A0CAB60115A8}" type="slidenum">
              <a:rPr lang="ja-JP" altLang="en-US" smtClean="0"/>
            </a:fld>
            <a:endParaRPr lang="ja-JP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312DB-8217-4BDF-B5AF-DC3A694F87D4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0E456-75B8-4C92-99E8-A0CAB60115A8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312DB-8217-4BDF-B5AF-DC3A694F87D4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0E456-75B8-4C92-99E8-A0CAB60115A8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/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312DB-8217-4BDF-B5AF-DC3A694F87D4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0E456-75B8-4C92-99E8-A0CAB60115A8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312DB-8217-4BDF-B5AF-DC3A694F87D4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0E456-75B8-4C92-99E8-A0CAB60115A8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312DB-8217-4BDF-B5AF-DC3A694F87D4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0E456-75B8-4C92-99E8-A0CAB60115A8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5312DB-8217-4BDF-B5AF-DC3A694F87D4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00E456-75B8-4C92-99E8-A0CAB60115A8}" type="slidenum">
              <a:rPr kumimoji="1" lang="ja-JP" altLang="en-US" smtClean="0"/>
            </a:fld>
            <a:endParaRPr kumimoji="1"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kumimoji="1"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kumimoji="1"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20.jpeg"/><Relationship Id="rId8" Type="http://schemas.openxmlformats.org/officeDocument/2006/relationships/image" Target="../media/image19.jpeg"/><Relationship Id="rId7" Type="http://schemas.openxmlformats.org/officeDocument/2006/relationships/image" Target="../media/image18.jpeg"/><Relationship Id="rId6" Type="http://schemas.openxmlformats.org/officeDocument/2006/relationships/image" Target="../media/image17.jpeg"/><Relationship Id="rId5" Type="http://schemas.openxmlformats.org/officeDocument/2006/relationships/image" Target="../media/image16.jpeg"/><Relationship Id="rId4" Type="http://schemas.openxmlformats.org/officeDocument/2006/relationships/image" Target="../media/image15.jpeg"/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21.jpeg"/><Relationship Id="rId1" Type="http://schemas.openxmlformats.org/officeDocument/2006/relationships/image" Target="../media/image12.jpe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6.svg"/><Relationship Id="rId1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4530" y="1376045"/>
            <a:ext cx="7775575" cy="1163320"/>
          </a:xfrm>
        </p:spPr>
        <p:txBody>
          <a:bodyPr>
            <a:noAutofit/>
          </a:bodyPr>
          <a:lstStyle/>
          <a:p>
            <a:pPr algn="ctr"/>
            <a:r>
              <a:rPr kumimoji="1" lang="en-US" altLang="zh-CN" sz="3200" dirty="0">
                <a:latin typeface="Calibri" panose="020F0502020204030204" charset="0"/>
                <a:cs typeface="Calibri" panose="020F0502020204030204" charset="0"/>
              </a:rPr>
              <a:t>Real-Time Prosthetic Hand Control Based on Bimodal Fusion of Vision and EMG</a:t>
            </a:r>
            <a:endParaRPr kumimoji="1" lang="en-US" altLang="zh-CN" sz="3200" dirty="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5" name="テキスト ボックス 4"/>
          <p:cNvSpPr txBox="1"/>
          <p:nvPr/>
        </p:nvSpPr>
        <p:spPr>
          <a:xfrm>
            <a:off x="1207770" y="4070350"/>
            <a:ext cx="6729095" cy="155067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lang="en-US" altLang="ja-JP" sz="2400" b="0" i="0" u="none" strike="noStrike" dirty="0">
                <a:solidFill>
                  <a:srgbClr val="000000"/>
                </a:solidFill>
                <a:effectLst/>
                <a:latin typeface="Calibri" panose="020F0502020204030204" charset="0"/>
              </a:rPr>
              <a:t>Saga University</a:t>
            </a:r>
            <a:endParaRPr lang="en-US" altLang="ja-JP" sz="2400" b="0" i="0" u="none" strike="noStrike" dirty="0">
              <a:solidFill>
                <a:srgbClr val="000000"/>
              </a:solidFill>
              <a:effectLst/>
              <a:latin typeface="Calibri" panose="020F0502020204030204" charset="0"/>
            </a:endParaRPr>
          </a:p>
          <a:p>
            <a:pPr algn="ctr"/>
            <a:r>
              <a:rPr lang="en-US" altLang="zh-CN" sz="2400" dirty="0">
                <a:solidFill>
                  <a:srgbClr val="000000"/>
                </a:solidFill>
                <a:latin typeface="Calibri" panose="020F0502020204030204" charset="0"/>
              </a:rPr>
              <a:t>Computer Science &amp; Information Techology</a:t>
            </a:r>
            <a:endParaRPr lang="en-US" altLang="zh-CN" sz="2400" dirty="0">
              <a:solidFill>
                <a:srgbClr val="000000"/>
              </a:solidFill>
              <a:latin typeface="Calibri" panose="020F0502020204030204" charset="0"/>
            </a:endParaRPr>
          </a:p>
          <a:p>
            <a:pPr algn="ctr"/>
            <a:r>
              <a:rPr lang="en-US" altLang="ja-JP" sz="2400" b="0" i="0" u="none" strike="noStrike" dirty="0">
                <a:solidFill>
                  <a:srgbClr val="000000"/>
                </a:solidFill>
                <a:effectLst/>
                <a:latin typeface="Calibri" panose="020F0502020204030204" charset="0"/>
              </a:rPr>
              <a:t>25742102 DI XIQING</a:t>
            </a:r>
            <a:endParaRPr lang="en-US" altLang="ja-JP" sz="2400" b="0" i="0" u="none" strike="noStrike" dirty="0">
              <a:solidFill>
                <a:srgbClr val="000000"/>
              </a:solidFill>
              <a:effectLst/>
              <a:latin typeface="Calibri" panose="020F0502020204030204" charset="0"/>
            </a:endParaRPr>
          </a:p>
          <a:p>
            <a:pPr algn="ctr"/>
            <a:r>
              <a:rPr lang="en-US" altLang="ja-JP" sz="2400" dirty="0">
                <a:solidFill>
                  <a:srgbClr val="000000"/>
                </a:solidFill>
                <a:latin typeface="Calibri" panose="020F0502020204030204" charset="0"/>
              </a:rPr>
              <a:t>Professor Osamu Fukuda</a:t>
            </a:r>
            <a:r>
              <a:rPr lang="ja-JP" altLang="ja-JP" sz="2400" dirty="0">
                <a:solidFill>
                  <a:srgbClr val="000000"/>
                </a:solidFill>
                <a:latin typeface="Calibri" panose="020F0502020204030204" charset="0"/>
              </a:rPr>
              <a:t>，</a:t>
            </a:r>
            <a:r>
              <a:rPr lang="en-US" altLang="ja-JP" sz="2400" dirty="0">
                <a:solidFill>
                  <a:srgbClr val="000000"/>
                </a:solidFill>
                <a:latin typeface="Calibri" panose="020F0502020204030204" charset="0"/>
              </a:rPr>
              <a:t>Yeoh Wen Liang</a:t>
            </a:r>
            <a:endParaRPr lang="en-US" altLang="ja-JP" sz="2400" dirty="0">
              <a:solidFill>
                <a:srgbClr val="000000"/>
              </a:solidFill>
              <a:latin typeface="Calibri" panose="020F050202020403020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/>
        </p:nvSpPr>
        <p:spPr>
          <a:xfrm>
            <a:off x="275590" y="226695"/>
            <a:ext cx="852297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 b="1">
                <a:latin typeface="Times New Roman" panose="02020603050405020304" charset="0"/>
                <a:ea typeface="ＭＳ Ｐ明朝" panose="02020600040205080304" charset="-128"/>
                <a:cs typeface="Times New Roman" panose="02020603050405020304" charset="0"/>
              </a:rPr>
              <a:t>Introduction</a:t>
            </a:r>
            <a:endParaRPr lang="zh-CN" altLang="en-US" sz="3200" b="1">
              <a:latin typeface="Times New Roman" panose="02020603050405020304" charset="0"/>
              <a:ea typeface="SimSun" panose="02010600030101010101" pitchFamily="2" charset="-122"/>
              <a:cs typeface="Times New Roman" panose="02020603050405020304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591310" y="1078865"/>
            <a:ext cx="3703320" cy="612775"/>
          </a:xfrm>
          <a:prstGeom prst="rect">
            <a:avLst/>
          </a:prstGeom>
        </p:spPr>
        <p:txBody>
          <a:bodyPr wrap="square">
            <a:noAutofit/>
          </a:bodyPr>
          <a:p>
            <a:pPr algn="ctr"/>
            <a:r>
              <a:rPr lang="en-US" altLang="ja-JP" sz="1600">
                <a:solidFill>
                  <a:srgbClr val="FF0000"/>
                </a:solidFill>
              </a:rPr>
              <a:t>577 million</a:t>
            </a:r>
            <a:r>
              <a:rPr lang="en-US" altLang="ja-JP" sz="1600"/>
              <a:t> people in world</a:t>
            </a:r>
            <a:endParaRPr lang="en-US" altLang="ja-JP" sz="1600"/>
          </a:p>
          <a:p>
            <a:pPr algn="ctr"/>
            <a:r>
              <a:rPr lang="en-US" altLang="ja-JP" sz="1600"/>
              <a:t> who had lost an upper limb</a:t>
            </a:r>
            <a:r>
              <a:rPr lang="en-US" altLang="ja-JP" sz="1400">
                <a:sym typeface="+mn-ea"/>
              </a:rPr>
              <a:t>[1]</a:t>
            </a:r>
            <a:r>
              <a:rPr lang="en-US" altLang="ja-JP" sz="1600"/>
              <a:t>.</a:t>
            </a:r>
            <a:endParaRPr lang="en-US" altLang="ja-JP" sz="1600"/>
          </a:p>
        </p:txBody>
      </p:sp>
      <p:sp>
        <p:nvSpPr>
          <p:cNvPr id="3" name="文本框 2"/>
          <p:cNvSpPr txBox="1"/>
          <p:nvPr/>
        </p:nvSpPr>
        <p:spPr>
          <a:xfrm>
            <a:off x="276225" y="6384925"/>
            <a:ext cx="8576945" cy="39878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ja-JP" sz="1000">
                <a:sym typeface="+mn-ea"/>
              </a:rPr>
              <a:t>[1] </a:t>
            </a:r>
            <a:r>
              <a:rPr lang="en-US" altLang="ja-JP" sz="1000"/>
              <a:t>McDonald C L, Westcott-McCoy S, Weaver M R, et al. Global prevalence of traumatic non-fatal limb amputation[J]. Prosthetics and orthotics international, 2021, 45(2): 105-114.</a:t>
            </a:r>
            <a:endParaRPr lang="en-US" altLang="ja-JP" sz="1000"/>
          </a:p>
        </p:txBody>
      </p:sp>
      <p:pic>
        <p:nvPicPr>
          <p:cNvPr id="7" name="图片 6" descr="ChatGPT Image 2025年11月2日 20_41_3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15965" y="515620"/>
            <a:ext cx="1739265" cy="1739265"/>
          </a:xfrm>
          <a:prstGeom prst="rect">
            <a:avLst/>
          </a:prstGeom>
        </p:spPr>
      </p:pic>
      <p:pic>
        <p:nvPicPr>
          <p:cNvPr id="8" name="图片 7" descr="ar363-yloqb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225" y="2227580"/>
            <a:ext cx="2893695" cy="1919605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276225" y="4203700"/>
            <a:ext cx="304800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Environment perception by the vision sensor</a:t>
            </a:r>
            <a:endParaRPr lang="en-US" altLang="zh-CN" sz="1200"/>
          </a:p>
        </p:txBody>
      </p:sp>
      <p:grpSp>
        <p:nvGrpSpPr>
          <p:cNvPr id="19" name="组合 18"/>
          <p:cNvGrpSpPr/>
          <p:nvPr/>
        </p:nvGrpSpPr>
        <p:grpSpPr>
          <a:xfrm>
            <a:off x="3242310" y="2264410"/>
            <a:ext cx="5901690" cy="2209165"/>
            <a:chOff x="5106" y="3566"/>
            <a:chExt cx="9294" cy="3479"/>
          </a:xfrm>
        </p:grpSpPr>
        <p:sp>
          <p:nvSpPr>
            <p:cNvPr id="4" name="文本框 3"/>
            <p:cNvSpPr txBox="1"/>
            <p:nvPr/>
          </p:nvSpPr>
          <p:spPr>
            <a:xfrm>
              <a:off x="5106" y="3566"/>
              <a:ext cx="9294" cy="27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>
                <a:lnSpc>
                  <a:spcPct val="150000"/>
                </a:lnSpc>
              </a:pPr>
              <a:r>
                <a:rPr lang="en-US" altLang="zh-CN" sz="2000" b="1">
                  <a:latin typeface="ＭＳ Ｐ明朝" panose="02020600040205080304" charset="-128"/>
                  <a:ea typeface="ＭＳ Ｐ明朝" panose="02020600040205080304" charset="-128"/>
                  <a:cs typeface="ＭＳ Ｐ明朝" panose="02020600040205080304" charset="-128"/>
                </a:rPr>
                <a:t>Electromyographic (EMG) signal</a:t>
              </a:r>
              <a:r>
                <a:rPr lang="zh-CN" altLang="en-US" sz="2000" b="1">
                  <a:latin typeface="ＭＳ Ｐ明朝" panose="02020600040205080304" charset="-128"/>
                  <a:ea typeface="ＭＳ Ｐ明朝" panose="02020600040205080304" charset="-128"/>
                  <a:cs typeface="ＭＳ Ｐ明朝" panose="02020600040205080304" charset="-128"/>
                </a:rPr>
                <a:t>：</a:t>
              </a:r>
              <a:endParaRPr lang="zh-CN" altLang="en-US" sz="2000" b="1">
                <a:latin typeface="ＭＳ Ｐ明朝" panose="02020600040205080304" charset="-128"/>
                <a:ea typeface="ＭＳ Ｐ明朝" panose="02020600040205080304" charset="-128"/>
                <a:cs typeface="ＭＳ Ｐ明朝" panose="02020600040205080304" charset="-128"/>
              </a:endParaRPr>
            </a:p>
            <a:p>
              <a:pPr lvl="1" indent="0">
                <a:lnSpc>
                  <a:spcPct val="150000"/>
                </a:lnSpc>
                <a:buNone/>
              </a:pPr>
              <a:r>
                <a:rPr lang="en-US" altLang="zh-CN">
                  <a:latin typeface="Times New Roman" panose="02020603050405020304" charset="0"/>
                  <a:ea typeface="ＭＳ Ｐ明朝" panose="02020600040205080304" charset="-128"/>
                  <a:cs typeface="Times New Roman" panose="02020603050405020304" charset="0"/>
                </a:rPr>
                <a:t>Generated during muscle contraction</a:t>
              </a:r>
              <a:endParaRPr lang="zh-CN" altLang="en-US">
                <a:latin typeface="Times New Roman" panose="02020603050405020304" charset="0"/>
                <a:ea typeface="ＭＳ Ｐ明朝" panose="02020600040205080304" charset="-128"/>
                <a:cs typeface="Times New Roman" panose="02020603050405020304" charset="0"/>
              </a:endParaRPr>
            </a:p>
            <a:p>
              <a:pPr lvl="1" indent="0">
                <a:lnSpc>
                  <a:spcPct val="150000"/>
                </a:lnSpc>
                <a:buNone/>
              </a:pPr>
              <a:r>
                <a:rPr lang="en-US" altLang="zh-CN">
                  <a:latin typeface="Times New Roman" panose="02020603050405020304" charset="0"/>
                  <a:ea typeface="ＭＳ Ｐ明朝" panose="02020600040205080304" charset="-128"/>
                  <a:cs typeface="Times New Roman" panose="02020603050405020304" charset="0"/>
                </a:rPr>
                <a:t>Reflect motor intent</a:t>
              </a:r>
              <a:endParaRPr lang="en-US" altLang="zh-CN">
                <a:latin typeface="Times New Roman" panose="02020603050405020304" charset="0"/>
                <a:ea typeface="ＭＳ Ｐ明朝" panose="02020600040205080304" charset="-128"/>
                <a:cs typeface="Times New Roman" panose="02020603050405020304" charset="0"/>
              </a:endParaRPr>
            </a:p>
            <a:p>
              <a:pPr lvl="1" indent="0">
                <a:lnSpc>
                  <a:spcPct val="150000"/>
                </a:lnSpc>
                <a:buNone/>
              </a:pPr>
              <a:r>
                <a:rPr lang="en-US" altLang="zh-CN" sz="1600">
                  <a:latin typeface="Times New Roman" panose="02020603050405020304" charset="0"/>
                  <a:ea typeface="ＭＳ Ｐ明朝" panose="02020600040205080304" charset="-128"/>
                  <a:cs typeface="Times New Roman" panose="02020603050405020304" charset="0"/>
                </a:rPr>
                <a:t>EMG features in different movements have overlap</a:t>
              </a:r>
              <a:endParaRPr lang="en-US" altLang="zh-CN" sz="1600">
                <a:latin typeface="Times New Roman" panose="02020603050405020304" charset="0"/>
                <a:ea typeface="ＭＳ Ｐ明朝" panose="02020600040205080304" charset="-128"/>
                <a:cs typeface="Times New Roman" panose="02020603050405020304" charset="0"/>
              </a:endParaRP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9551" y="6611"/>
              <a:ext cx="3906" cy="434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r>
                <a:rPr lang="en-US" altLang="zh-CN" sz="1200">
                  <a:latin typeface="Times New Roman" panose="02020603050405020304" charset="0"/>
                  <a:ea typeface="ＭＳ Ｐ明朝" panose="02020600040205080304" charset="-128"/>
                  <a:cs typeface="Times New Roman" panose="02020603050405020304" charset="0"/>
                  <a:sym typeface="+mn-ea"/>
                </a:rPr>
                <a:t>Reflect motor intent by EMG sensor</a:t>
              </a:r>
              <a:endParaRPr lang="en-US" altLang="zh-CN" sz="1200">
                <a:latin typeface="Times New Roman" panose="02020603050405020304" charset="0"/>
                <a:ea typeface="ＭＳ Ｐ明朝" panose="02020600040205080304" charset="-128"/>
                <a:cs typeface="Times New Roman" panose="02020603050405020304" charset="0"/>
                <a:sym typeface="+mn-ea"/>
              </a:endParaRPr>
            </a:p>
          </p:txBody>
        </p:sp>
        <p:pic>
          <p:nvPicPr>
            <p:cNvPr id="5" name="图片 4" descr="🙂_↕️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360" y="4550"/>
              <a:ext cx="440" cy="440"/>
            </a:xfrm>
            <a:prstGeom prst="rect">
              <a:avLst/>
            </a:prstGeom>
          </p:spPr>
        </p:pic>
        <p:pic>
          <p:nvPicPr>
            <p:cNvPr id="13" name="图片 12" descr="🙂_↕️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360" y="5190"/>
              <a:ext cx="440" cy="440"/>
            </a:xfrm>
            <a:prstGeom prst="rect">
              <a:avLst/>
            </a:prstGeom>
          </p:spPr>
        </p:pic>
        <p:pic>
          <p:nvPicPr>
            <p:cNvPr id="16" name="图片 15" descr="C:/Users/12509/Desktop/🙂_↔️.png🙂_↔️"/>
            <p:cNvPicPr>
              <a:picLocks noChangeAspect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>
            <a:xfrm>
              <a:off x="5360" y="5830"/>
              <a:ext cx="440" cy="440"/>
            </a:xfrm>
            <a:prstGeom prst="rect">
              <a:avLst/>
            </a:prstGeom>
          </p:spPr>
        </p:pic>
      </p:grpSp>
      <p:pic>
        <p:nvPicPr>
          <p:cNvPr id="17" name="图片 16" descr="屏幕截图 2025-11-04 11145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9290" y="4498975"/>
            <a:ext cx="2105025" cy="1647825"/>
          </a:xfrm>
          <a:prstGeom prst="rect">
            <a:avLst/>
          </a:prstGeom>
        </p:spPr>
      </p:pic>
      <p:pic>
        <p:nvPicPr>
          <p:cNvPr id="18" name="图片 17" descr="QQ20251104-11154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58915" y="4717415"/>
            <a:ext cx="1640840" cy="1350645"/>
          </a:xfrm>
          <a:prstGeom prst="rect">
            <a:avLst/>
          </a:prstGeom>
        </p:spPr>
      </p:pic>
      <p:pic>
        <p:nvPicPr>
          <p:cNvPr id="20" name="图片 19" descr="QQ20251104-11161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66465" y="4490720"/>
            <a:ext cx="2211705" cy="1625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/>
        </p:nvSpPr>
        <p:spPr>
          <a:xfrm>
            <a:off x="275590" y="226695"/>
            <a:ext cx="852297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 b="1">
                <a:latin typeface="Times New Roman" panose="02020603050405020304" charset="0"/>
                <a:ea typeface="SimSun" panose="02010600030101010101" pitchFamily="2" charset="-122"/>
                <a:cs typeface="Times New Roman" panose="02020603050405020304" charset="0"/>
                <a:sym typeface="+mn-ea"/>
              </a:rPr>
              <a:t>Previous Research</a:t>
            </a:r>
            <a:endParaRPr lang="en-US" altLang="zh-CN" sz="3200" b="1">
              <a:latin typeface="Times New Roman" panose="02020603050405020304" charset="0"/>
              <a:ea typeface="SimSun" panose="02010600030101010101" pitchFamily="2" charset="-122"/>
              <a:cs typeface="Times New Roman" panose="0202060305040502030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16535" y="6487160"/>
            <a:ext cx="8577580" cy="24511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/>
            <a:r>
              <a:rPr lang="en-US" altLang="ja-JP" sz="1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[2] </a:t>
            </a:r>
            <a:r>
              <a:rPr lang="en-US" altLang="zh-CN" sz="1000" b="0" i="0">
                <a:solidFill>
                  <a:srgbClr val="222222"/>
                </a:solidFill>
                <a:latin typeface="Times New Roman" panose="02020603050405020304" charset="0"/>
                <a:ea typeface="Arial" panose="020B0604020202020204"/>
                <a:cs typeface="Times New Roman" panose="02020603050405020304" charset="0"/>
              </a:rPr>
              <a:t>Fukuda O, Sakaguchi D, He Y, et al. Bimodal control of a vision-based myoelectric hand[J]. IEEE Access, 2021, 9: 98369-98380.</a:t>
            </a:r>
            <a:endParaRPr lang="en-US" altLang="zh-CN" sz="1000" b="0" i="0">
              <a:solidFill>
                <a:srgbClr val="222222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216535" y="3648710"/>
            <a:ext cx="8582025" cy="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图片 8" descr="QQ20250713-135507"/>
          <p:cNvPicPr/>
          <p:nvPr/>
        </p:nvPicPr>
        <p:blipFill>
          <a:blip r:embed="rId1"/>
          <a:stretch>
            <a:fillRect/>
          </a:stretch>
        </p:blipFill>
        <p:spPr>
          <a:xfrm>
            <a:off x="487680" y="992505"/>
            <a:ext cx="3488055" cy="2162175"/>
          </a:xfrm>
          <a:prstGeom prst="rect">
            <a:avLst/>
          </a:prstGeom>
        </p:spPr>
      </p:pic>
      <p:pic>
        <p:nvPicPr>
          <p:cNvPr id="11" name="图片 10" descr="屏幕截图 2025-11-03 00263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315" y="4228465"/>
            <a:ext cx="5578475" cy="1788795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5750560" y="3837305"/>
            <a:ext cx="3048000" cy="22847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zh-CN" altLang="en-US">
              <a:ea typeface="SimSun" panose="02010600030101010101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458335" y="920115"/>
            <a:ext cx="4542790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use vision sensor to tracks targets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can running in real time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implement the grab movement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but visual information was not used for movement recognition</a:t>
            </a:r>
            <a:endParaRPr lang="en-US" altLang="zh-CN"/>
          </a:p>
        </p:txBody>
      </p:sp>
      <p:sp>
        <p:nvSpPr>
          <p:cNvPr id="8" name="文本框 7"/>
          <p:cNvSpPr txBox="1"/>
          <p:nvPr/>
        </p:nvSpPr>
        <p:spPr>
          <a:xfrm>
            <a:off x="5913755" y="4467225"/>
            <a:ext cx="3088005" cy="14801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System achieved high accuracy recognition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But, not applied in real world scenarios, not real time</a:t>
            </a:r>
            <a:endParaRPr lang="en-US" altLang="zh-CN"/>
          </a:p>
        </p:txBody>
      </p:sp>
      <p:sp>
        <p:nvSpPr>
          <p:cNvPr id="4" name="等腰三角形 3"/>
          <p:cNvSpPr/>
          <p:nvPr/>
        </p:nvSpPr>
        <p:spPr>
          <a:xfrm>
            <a:off x="4445000" y="995680"/>
            <a:ext cx="271780" cy="208280"/>
          </a:xfrm>
          <a:prstGeom prst="triangle">
            <a:avLst/>
          </a:prstGeom>
          <a:solidFill>
            <a:schemeClr val="accent6">
              <a:lumMod val="75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等腰三角形 4"/>
          <p:cNvSpPr/>
          <p:nvPr/>
        </p:nvSpPr>
        <p:spPr>
          <a:xfrm>
            <a:off x="4458335" y="1576070"/>
            <a:ext cx="271780" cy="208280"/>
          </a:xfrm>
          <a:prstGeom prst="triangle">
            <a:avLst/>
          </a:prstGeom>
          <a:solidFill>
            <a:schemeClr val="accent6">
              <a:lumMod val="75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等腰三角形 9"/>
          <p:cNvSpPr/>
          <p:nvPr/>
        </p:nvSpPr>
        <p:spPr>
          <a:xfrm>
            <a:off x="4458335" y="2083435"/>
            <a:ext cx="271780" cy="208280"/>
          </a:xfrm>
          <a:prstGeom prst="triangle">
            <a:avLst/>
          </a:prstGeom>
          <a:solidFill>
            <a:schemeClr val="accent6">
              <a:lumMod val="75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等腰三角形 11"/>
          <p:cNvSpPr/>
          <p:nvPr/>
        </p:nvSpPr>
        <p:spPr>
          <a:xfrm rot="10800000">
            <a:off x="4458335" y="2654300"/>
            <a:ext cx="271780" cy="208280"/>
          </a:xfrm>
          <a:prstGeom prst="triangle">
            <a:avLst/>
          </a:prstGeom>
          <a:solidFill>
            <a:srgbClr val="FF0000"/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等腰三角形 13"/>
          <p:cNvSpPr/>
          <p:nvPr/>
        </p:nvSpPr>
        <p:spPr>
          <a:xfrm>
            <a:off x="5913755" y="4538345"/>
            <a:ext cx="271780" cy="208280"/>
          </a:xfrm>
          <a:prstGeom prst="triangle">
            <a:avLst/>
          </a:prstGeom>
          <a:solidFill>
            <a:schemeClr val="accent6">
              <a:lumMod val="75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等腰三角形 14"/>
          <p:cNvSpPr/>
          <p:nvPr/>
        </p:nvSpPr>
        <p:spPr>
          <a:xfrm rot="10800000">
            <a:off x="5913755" y="5363845"/>
            <a:ext cx="271780" cy="208280"/>
          </a:xfrm>
          <a:prstGeom prst="triangle">
            <a:avLst/>
          </a:prstGeom>
          <a:solidFill>
            <a:srgbClr val="FF0000"/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/>
        </p:nvSpPr>
        <p:spPr>
          <a:xfrm>
            <a:off x="275590" y="226695"/>
            <a:ext cx="852297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 b="1">
                <a:latin typeface="Times New Roman" panose="02020603050405020304" charset="0"/>
                <a:ea typeface="SimSun" panose="02010600030101010101" pitchFamily="2" charset="-122"/>
                <a:cs typeface="Times New Roman" panose="02020603050405020304" charset="0"/>
                <a:sym typeface="+mn-ea"/>
              </a:rPr>
              <a:t>Related research</a:t>
            </a:r>
            <a:endParaRPr lang="en-US" altLang="zh-CN" sz="3200" b="1">
              <a:latin typeface="Times New Roman" panose="02020603050405020304" charset="0"/>
              <a:ea typeface="SimSun" panose="02010600030101010101" pitchFamily="2" charset="-122"/>
              <a:cs typeface="Times New Roman" panose="0202060305040502030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20980" y="6384925"/>
            <a:ext cx="8577580" cy="39878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/>
            <a:r>
              <a:rPr lang="en-US" altLang="ja-JP" sz="1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[3] </a:t>
            </a:r>
            <a:r>
              <a:rPr lang="en-US" altLang="zh-CN" sz="1000" b="0" i="0">
                <a:solidFill>
                  <a:srgbClr val="222222"/>
                </a:solidFill>
                <a:latin typeface="Times New Roman" panose="02020603050405020304" charset="0"/>
                <a:ea typeface="Arial" panose="020B0604020202020204"/>
                <a:cs typeface="Times New Roman" panose="02020603050405020304" charset="0"/>
              </a:rPr>
              <a:t>Perera D M, Madusanka D G K. Vision-EMG fusion method for real-time grasping pattern classification system[C]//2021 Moratuwa Engineering Research Conference (MERCon). IEEE, 2021: 585-590.</a:t>
            </a:r>
            <a:endParaRPr lang="en-US" altLang="zh-CN" sz="1000" b="0" i="0">
              <a:solidFill>
                <a:srgbClr val="222222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</a:endParaRPr>
          </a:p>
        </p:txBody>
      </p:sp>
      <p:pic>
        <p:nvPicPr>
          <p:cNvPr id="11" name="图片 10" descr="QQ20251103-13193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0980" y="3236595"/>
            <a:ext cx="3877945" cy="2304415"/>
          </a:xfrm>
          <a:prstGeom prst="rect">
            <a:avLst/>
          </a:prstGeom>
        </p:spPr>
      </p:pic>
      <p:grpSp>
        <p:nvGrpSpPr>
          <p:cNvPr id="15" name="组合 14"/>
          <p:cNvGrpSpPr/>
          <p:nvPr/>
        </p:nvGrpSpPr>
        <p:grpSpPr>
          <a:xfrm>
            <a:off x="4340225" y="3236595"/>
            <a:ext cx="4457700" cy="2322830"/>
            <a:chOff x="3360" y="6525"/>
            <a:chExt cx="7680" cy="3254"/>
          </a:xfrm>
        </p:grpSpPr>
        <p:pic>
          <p:nvPicPr>
            <p:cNvPr id="13" name="图片 12" descr="QQ20251103-14164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360" y="6525"/>
              <a:ext cx="7680" cy="3255"/>
            </a:xfrm>
            <a:prstGeom prst="rect">
              <a:avLst/>
            </a:prstGeom>
          </p:spPr>
        </p:pic>
        <p:sp>
          <p:nvSpPr>
            <p:cNvPr id="14" name="矩形 13"/>
            <p:cNvSpPr/>
            <p:nvPr/>
          </p:nvSpPr>
          <p:spPr>
            <a:xfrm>
              <a:off x="5842" y="6633"/>
              <a:ext cx="1741" cy="2454"/>
            </a:xfrm>
            <a:prstGeom prst="rect">
              <a:avLst/>
            </a:prstGeom>
            <a:ln>
              <a:solidFill>
                <a:srgbClr val="FF0000"/>
              </a:solidFill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316230" y="810260"/>
            <a:ext cx="8827770" cy="18148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/>
              <a:t>Real-time fusion system combining vision and EMG</a:t>
            </a:r>
            <a:endParaRPr lang="en-US" altLang="zh-CN" sz="1600"/>
          </a:p>
          <a:p>
            <a:endParaRPr lang="en-US" altLang="zh-CN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/>
              <a:t>Use a Majority Vote algorithm, which reduced latency and achieved real-time.</a:t>
            </a:r>
            <a:endParaRPr lang="en-US" altLang="zh-CN" sz="16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 sz="1600">
              <a:ea typeface="SimSun" panose="02010600030101010101" pitchFamily="2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>
                <a:ea typeface="SimSun" panose="02010600030101010101" pitchFamily="2" charset="-122"/>
              </a:rPr>
              <a:t>But, the Majority Vote algorithm does not take advantage of neural networks, so its accuracy still needs improvement.</a:t>
            </a:r>
            <a:endParaRPr lang="en-US" altLang="zh-CN" sz="1600">
              <a:ea typeface="SimSun" panose="02010600030101010101" pitchFamily="2" charset="-122"/>
            </a:endParaRPr>
          </a:p>
          <a:p>
            <a:endParaRPr lang="en-US" altLang="zh-CN" sz="1600">
              <a:ea typeface="SimSun" panose="02010600030101010101" pitchFamily="2" charset="-122"/>
            </a:endParaRPr>
          </a:p>
        </p:txBody>
      </p:sp>
      <p:sp>
        <p:nvSpPr>
          <p:cNvPr id="5" name="等腰三角形 4"/>
          <p:cNvSpPr/>
          <p:nvPr/>
        </p:nvSpPr>
        <p:spPr>
          <a:xfrm>
            <a:off x="316230" y="1339850"/>
            <a:ext cx="271780" cy="208280"/>
          </a:xfrm>
          <a:prstGeom prst="triangle">
            <a:avLst/>
          </a:prstGeom>
          <a:solidFill>
            <a:schemeClr val="accent6">
              <a:lumMod val="75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等腰三角形 11"/>
          <p:cNvSpPr/>
          <p:nvPr/>
        </p:nvSpPr>
        <p:spPr>
          <a:xfrm rot="10800000">
            <a:off x="316230" y="1875155"/>
            <a:ext cx="271780" cy="208280"/>
          </a:xfrm>
          <a:prstGeom prst="triangle">
            <a:avLst/>
          </a:prstGeom>
          <a:solidFill>
            <a:srgbClr val="FF0000"/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/>
        </p:nvSpPr>
        <p:spPr>
          <a:xfrm>
            <a:off x="275590" y="226695"/>
            <a:ext cx="8522970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 b="1">
                <a:latin typeface="Times New Roman" panose="02020603050405020304" charset="0"/>
                <a:ea typeface="SimSun" panose="02010600030101010101" pitchFamily="2" charset="-122"/>
                <a:cs typeface="Times New Roman" panose="02020603050405020304" charset="0"/>
                <a:sym typeface="+mn-ea"/>
              </a:rPr>
              <a:t>Research Goals</a:t>
            </a:r>
            <a:endParaRPr lang="en-US" altLang="zh-CN" sz="3200" b="1">
              <a:latin typeface="Times New Roman" panose="02020603050405020304" charset="0"/>
              <a:ea typeface="SimSun" panose="02010600030101010101" pitchFamily="2" charset="-122"/>
              <a:cs typeface="Times New Roman" panose="02020603050405020304" charset="0"/>
            </a:endParaRPr>
          </a:p>
          <a:p>
            <a:endParaRPr lang="en-US" altLang="zh-CN" sz="3200" b="1">
              <a:latin typeface="Times New Roman" panose="02020603050405020304" charset="0"/>
              <a:ea typeface="SimSun" panose="02010600030101010101" pitchFamily="2" charset="-122"/>
              <a:cs typeface="Times New Roman" panose="02020603050405020304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22275" y="783590"/>
            <a:ext cx="8522335" cy="627380"/>
          </a:xfrm>
          <a:prstGeom prst="rect">
            <a:avLst/>
          </a:prstGeom>
        </p:spPr>
        <p:txBody>
          <a:bodyPr wrap="square">
            <a:noAutofit/>
          </a:bodyPr>
          <a:p>
            <a:r>
              <a:rPr lang="en-US" altLang="zh-CN" sz="1600"/>
              <a:t>Based on previous researchs, develop a real-time </a:t>
            </a:r>
            <a:r>
              <a:rPr lang="en-US" altLang="zh-CN" sz="1600">
                <a:sym typeface="+mn-ea"/>
              </a:rPr>
              <a:t>b</a:t>
            </a:r>
            <a:r>
              <a:rPr lang="en-US" altLang="zh-CN" sz="1600">
                <a:sym typeface="+mn-ea"/>
              </a:rPr>
              <a:t>imodal</a:t>
            </a:r>
            <a:r>
              <a:rPr lang="en-US" altLang="zh-CN" sz="1600"/>
              <a:t> control system</a:t>
            </a:r>
            <a:endParaRPr lang="en-US" altLang="zh-CN" sz="1600"/>
          </a:p>
          <a:p>
            <a:endParaRPr lang="en-US" altLang="zh-CN" sz="1600"/>
          </a:p>
          <a:p>
            <a:pPr indent="457200"/>
            <a:endParaRPr lang="zh-CN" altLang="en-US" sz="1600">
              <a:ea typeface="SimSun" panose="02010600030101010101" pitchFamily="2" charset="-122"/>
            </a:endParaRPr>
          </a:p>
          <a:p>
            <a:pPr indent="457200"/>
            <a:endParaRPr lang="zh-CN" altLang="en-US" sz="1600">
              <a:ea typeface="SimSun" panose="02010600030101010101" pitchFamily="2" charset="-122"/>
            </a:endParaRPr>
          </a:p>
          <a:p>
            <a:pPr indent="457200"/>
            <a:endParaRPr lang="zh-CN" altLang="en-US" sz="1600">
              <a:ea typeface="SimSun" panose="02010600030101010101" pitchFamily="2" charset="-122"/>
            </a:endParaRPr>
          </a:p>
          <a:p>
            <a:pPr indent="457200"/>
            <a:endParaRPr lang="zh-CN" altLang="en-US" sz="1600">
              <a:ea typeface="SimSun" panose="02010600030101010101" pitchFamily="2" charset="-122"/>
            </a:endParaRPr>
          </a:p>
          <a:p>
            <a:endParaRPr lang="en-US" altLang="ja-JP" sz="1600"/>
          </a:p>
          <a:p>
            <a:endParaRPr lang="en-US" altLang="ja-JP" sz="1600"/>
          </a:p>
          <a:p>
            <a:endParaRPr lang="en-US" altLang="zh-CN" sz="1600"/>
          </a:p>
          <a:p>
            <a:endParaRPr lang="en-US" altLang="en-US" sz="1600"/>
          </a:p>
        </p:txBody>
      </p:sp>
      <p:sp>
        <p:nvSpPr>
          <p:cNvPr id="14" name="文本框 13"/>
          <p:cNvSpPr txBox="1"/>
          <p:nvPr/>
        </p:nvSpPr>
        <p:spPr>
          <a:xfrm>
            <a:off x="1049020" y="1212850"/>
            <a:ext cx="7749540" cy="21323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Wingdings" panose="05000000000000000000" charset="0"/>
              <a:buChar char="l"/>
            </a:pPr>
            <a:r>
              <a:rPr lang="en-US" altLang="zh-CN">
                <a:sym typeface="+mn-ea"/>
              </a:rPr>
              <a:t>Real-time </a:t>
            </a:r>
            <a:r>
              <a:rPr lang="en-US" altLang="zh-CN">
                <a:ea typeface="SimSun" panose="02010600030101010101" pitchFamily="2" charset="-122"/>
                <a:sym typeface="+mn-ea"/>
              </a:rPr>
              <a:t>recognition </a:t>
            </a:r>
            <a:r>
              <a:rPr lang="en-US" altLang="zh-CN">
                <a:sym typeface="+mn-ea"/>
              </a:rPr>
              <a:t>in real-world scenarios</a:t>
            </a:r>
            <a:endParaRPr lang="en-US" altLang="zh-CN">
              <a:sym typeface="+mn-ea"/>
            </a:endParaRPr>
          </a:p>
          <a:p>
            <a:pPr marL="285750" indent="-285750">
              <a:buFont typeface="Wingdings" panose="05000000000000000000" charset="0"/>
              <a:buChar char="l"/>
            </a:pPr>
            <a:endParaRPr lang="en-US" altLang="zh-CN"/>
          </a:p>
          <a:p>
            <a:pPr marL="285750" indent="-285750">
              <a:buFont typeface="Wingdings" panose="05000000000000000000" charset="0"/>
              <a:buChar char="l"/>
            </a:pPr>
            <a:r>
              <a:rPr lang="en-US" altLang="zh-CN">
                <a:sym typeface="+mn-ea"/>
              </a:rPr>
              <a:t>A light network that can run in real time on the Consumer-grade GPU</a:t>
            </a:r>
            <a:endParaRPr lang="en-US" altLang="zh-CN">
              <a:sym typeface="+mn-ea"/>
            </a:endParaRPr>
          </a:p>
          <a:p>
            <a:pPr marL="285750" indent="-285750">
              <a:buFont typeface="Wingdings" panose="05000000000000000000" charset="0"/>
              <a:buChar char="l"/>
            </a:pPr>
            <a:endParaRPr lang="en-US" altLang="zh-CN">
              <a:sym typeface="+mn-ea"/>
            </a:endParaRPr>
          </a:p>
          <a:p>
            <a:pPr marL="285750" indent="-285750">
              <a:buFont typeface="Wingdings" panose="05000000000000000000" charset="0"/>
              <a:buChar char="l"/>
            </a:pPr>
            <a:r>
              <a:rPr lang="en-US" altLang="zh-CN">
                <a:sym typeface="+mn-ea"/>
              </a:rPr>
              <a:t>Maintains high accuracy in real-world scenarios</a:t>
            </a:r>
            <a:endParaRPr lang="en-US" altLang="zh-CN">
              <a:sym typeface="+mn-ea"/>
            </a:endParaRPr>
          </a:p>
          <a:p>
            <a:pPr marL="285750" indent="-285750">
              <a:buFont typeface="Wingdings" panose="05000000000000000000" charset="0"/>
              <a:buChar char="l"/>
            </a:pPr>
            <a:endParaRPr lang="en-US" altLang="zh-CN"/>
          </a:p>
          <a:p>
            <a:pPr marL="285750" indent="-285750">
              <a:buFont typeface="Wingdings" panose="05000000000000000000" charset="0"/>
              <a:buChar char="l"/>
            </a:pPr>
            <a:r>
              <a:rPr lang="en-US" altLang="zh-CN"/>
              <a:t>Recognize 10 gestures for 5 types of objects.</a:t>
            </a:r>
            <a:endParaRPr lang="en-US" altLang="zh-CN"/>
          </a:p>
        </p:txBody>
      </p:sp>
      <p:pic>
        <p:nvPicPr>
          <p:cNvPr id="3" name="图片 2" descr="52321bab7be4dedd4d857c6207982061_72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7205" y="4156710"/>
            <a:ext cx="1146810" cy="1146810"/>
          </a:xfrm>
          <a:prstGeom prst="rect">
            <a:avLst/>
          </a:prstGeom>
        </p:spPr>
      </p:pic>
      <p:pic>
        <p:nvPicPr>
          <p:cNvPr id="4" name="图片 3" descr="C:/Users/xiqing/Desktop/5e39af5978ab25cc004d9bf227b66728_720.jpg5e39af5978ab25cc004d9bf227b66728_720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230120" y="4152900"/>
            <a:ext cx="1146810" cy="1146810"/>
          </a:xfrm>
          <a:prstGeom prst="rect">
            <a:avLst/>
          </a:prstGeom>
        </p:spPr>
      </p:pic>
      <p:pic>
        <p:nvPicPr>
          <p:cNvPr id="5" name="图片 4" descr="C:/Users/xiqing/Desktop/0e10915e5bfb25b40ed8c9558a42a5a7.jpg0e10915e5bfb25b40ed8c9558a42a5a7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695950" y="4161790"/>
            <a:ext cx="1146810" cy="1146810"/>
          </a:xfrm>
          <a:prstGeom prst="rect">
            <a:avLst/>
          </a:prstGeom>
        </p:spPr>
      </p:pic>
      <p:pic>
        <p:nvPicPr>
          <p:cNvPr id="18" name="图片 17" descr="C:/Users/xiqing/Desktop/58fb8e4d0e5778ad215948cc7f54af7a_720.jpg58fb8e4d0e5778ad215948cc7f54af7a_720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497205" y="5484495"/>
            <a:ext cx="1146810" cy="1146810"/>
          </a:xfrm>
          <a:prstGeom prst="rect">
            <a:avLst/>
          </a:prstGeom>
        </p:spPr>
      </p:pic>
      <p:pic>
        <p:nvPicPr>
          <p:cNvPr id="19" name="图片 18" descr="C:/Users/xiqing/Desktop/35d738b4110cb6f42cf5581c483d7cd8_720.jpg35d738b4110cb6f42cf5581c483d7cd8_720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3963035" y="5484495"/>
            <a:ext cx="1146810" cy="1146810"/>
          </a:xfrm>
          <a:prstGeom prst="rect">
            <a:avLst/>
          </a:prstGeom>
        </p:spPr>
      </p:pic>
      <p:pic>
        <p:nvPicPr>
          <p:cNvPr id="20" name="图片 19" descr="C:/Users/xiqing/Desktop/8ec97109bdb93da48518ea26546d76f5_720.jpg8ec97109bdb93da48518ea26546d76f5_720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3963035" y="4152900"/>
            <a:ext cx="1146810" cy="1146810"/>
          </a:xfrm>
          <a:prstGeom prst="rect">
            <a:avLst/>
          </a:prstGeom>
        </p:spPr>
      </p:pic>
      <p:pic>
        <p:nvPicPr>
          <p:cNvPr id="21" name="图片 20" descr="C:/Users/xiqing/Desktop/26d4aa1d700dee9e6cb5aa43539c7c6d_720.jpg26d4aa1d700dee9e6cb5aa43539c7c6d_720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2230120" y="5484495"/>
            <a:ext cx="1146810" cy="1146810"/>
          </a:xfrm>
          <a:prstGeom prst="rect">
            <a:avLst/>
          </a:prstGeom>
        </p:spPr>
      </p:pic>
      <p:pic>
        <p:nvPicPr>
          <p:cNvPr id="22" name="图片 21" descr="C:/Users/xiqing/Desktop/c4582a82cc453a625feabcec209df744_720.jpgc4582a82cc453a625feabcec209df744_720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5695950" y="5484495"/>
            <a:ext cx="1146810" cy="1146810"/>
          </a:xfrm>
          <a:prstGeom prst="rect">
            <a:avLst/>
          </a:prstGeom>
        </p:spPr>
      </p:pic>
      <p:pic>
        <p:nvPicPr>
          <p:cNvPr id="25" name="图片 24" descr="C:/Users/xiqing/Desktop/d8189fb3d9a97508e1e291f4f228c12d.jpgd8189fb3d9a97508e1e291f4f228c12d"/>
          <p:cNvPicPr>
            <a:picLocks noChangeAspect="1"/>
          </p:cNvPicPr>
          <p:nvPr/>
        </p:nvPicPr>
        <p:blipFill>
          <a:blip r:embed="rId9"/>
          <a:srcRect t="28" b="28"/>
          <a:stretch>
            <a:fillRect/>
          </a:stretch>
        </p:blipFill>
        <p:spPr>
          <a:xfrm>
            <a:off x="7428865" y="4161790"/>
            <a:ext cx="1146810" cy="1146810"/>
          </a:xfrm>
          <a:prstGeom prst="rect">
            <a:avLst/>
          </a:prstGeom>
        </p:spPr>
      </p:pic>
      <p:pic>
        <p:nvPicPr>
          <p:cNvPr id="26" name="图片 25" descr="C:/Users/xiqing/Desktop/5f1988e289d206f4ce21d8a3f7deacd2_720.jpg5f1988e289d206f4ce21d8a3f7deacd2_720"/>
          <p:cNvPicPr>
            <a:picLocks noChangeAspect="1"/>
          </p:cNvPicPr>
          <p:nvPr/>
        </p:nvPicPr>
        <p:blipFill>
          <a:blip r:embed="rId10"/>
          <a:srcRect t="28" b="28"/>
          <a:stretch>
            <a:fillRect/>
          </a:stretch>
        </p:blipFill>
        <p:spPr>
          <a:xfrm>
            <a:off x="7428865" y="5481955"/>
            <a:ext cx="1146810" cy="114681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0" name="图片 19" descr="lst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52670" y="748030"/>
            <a:ext cx="3945890" cy="306768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275590" y="226695"/>
            <a:ext cx="8522970" cy="6521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3200" b="1">
                <a:latin typeface="Times New Roman" panose="02020603050405020304" charset="0"/>
                <a:ea typeface="SimSun" panose="02010600030101010101" pitchFamily="2" charset="-122"/>
                <a:cs typeface="Times New Roman" panose="02020603050405020304" charset="0"/>
                <a:sym typeface="+mn-ea"/>
              </a:rPr>
              <a:t>System flow</a:t>
            </a:r>
            <a:endParaRPr lang="en-US" altLang="zh-CN" sz="3200" b="1">
              <a:latin typeface="Times New Roman" panose="02020603050405020304" charset="0"/>
              <a:ea typeface="SimSun" panose="02010600030101010101" pitchFamily="2" charset="-122"/>
              <a:cs typeface="Times New Roman" panose="02020603050405020304" charset="0"/>
            </a:endParaRPr>
          </a:p>
          <a:p>
            <a:endParaRPr lang="en-US" altLang="zh-CN" sz="3200" b="1">
              <a:latin typeface="Times New Roman" panose="02020603050405020304" charset="0"/>
              <a:ea typeface="SimSun" panose="02010600030101010101" pitchFamily="2" charset="-122"/>
              <a:cs typeface="Times New Roman" panose="02020603050405020304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409700" y="979170"/>
            <a:ext cx="1143635" cy="349885"/>
          </a:xfrm>
          <a:prstGeom prst="rect">
            <a:avLst/>
          </a:prstGeom>
          <a:noFill/>
        </p:spPr>
        <p:txBody>
          <a:bodyPr wrap="square" rtlCol="0" anchor="t" anchorCtr="0">
            <a:noAutofit/>
          </a:bodyPr>
          <a:p>
            <a:r>
              <a:rPr lang="en-US" altLang="zh-CN" sz="1600"/>
              <a:t>Light CNN</a:t>
            </a:r>
            <a:endParaRPr lang="en-US" altLang="zh-CN" sz="1600"/>
          </a:p>
        </p:txBody>
      </p:sp>
      <p:pic>
        <p:nvPicPr>
          <p:cNvPr id="7" name="图片 6" descr="未命名绘图.drawi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520" y="4204970"/>
            <a:ext cx="6102985" cy="2461260"/>
          </a:xfrm>
          <a:prstGeom prst="rect">
            <a:avLst/>
          </a:prstGeom>
        </p:spPr>
      </p:pic>
      <p:pic>
        <p:nvPicPr>
          <p:cNvPr id="19" name="图片 18" descr="tensorflow-keras-cnn-vgg-archite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590" y="1429385"/>
            <a:ext cx="3839210" cy="2291715"/>
          </a:xfrm>
          <a:prstGeom prst="rect">
            <a:avLst/>
          </a:prstGeom>
        </p:spPr>
      </p:pic>
      <p:cxnSp>
        <p:nvCxnSpPr>
          <p:cNvPr id="12" name="直接连接符 11"/>
          <p:cNvCxnSpPr/>
          <p:nvPr/>
        </p:nvCxnSpPr>
        <p:spPr>
          <a:xfrm flipH="1" flipV="1">
            <a:off x="2675255" y="3766820"/>
            <a:ext cx="2533650" cy="6762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 flipV="1">
            <a:off x="6126480" y="3662045"/>
            <a:ext cx="644525" cy="78295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文本框 20"/>
          <p:cNvSpPr txBox="1"/>
          <p:nvPr/>
        </p:nvSpPr>
        <p:spPr>
          <a:xfrm>
            <a:off x="6219825" y="979170"/>
            <a:ext cx="1628775" cy="349885"/>
          </a:xfrm>
          <a:prstGeom prst="rect">
            <a:avLst/>
          </a:prstGeom>
          <a:noFill/>
        </p:spPr>
        <p:txBody>
          <a:bodyPr wrap="square" rtlCol="0" anchor="t" anchorCtr="0">
            <a:noAutofit/>
          </a:bodyPr>
          <a:p>
            <a:r>
              <a:rPr lang="en-US" altLang="zh-CN" sz="1600"/>
              <a:t>Light LSTM</a:t>
            </a:r>
            <a:endParaRPr lang="en-US" altLang="zh-CN" sz="16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/>
        </p:nvSpPr>
        <p:spPr>
          <a:xfrm>
            <a:off x="275590" y="226695"/>
            <a:ext cx="8522970" cy="5353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3200" b="1">
                <a:latin typeface="Times New Roman" panose="02020603050405020304" charset="0"/>
                <a:ea typeface="SimSun" panose="02010600030101010101" pitchFamily="2" charset="-122"/>
                <a:cs typeface="Times New Roman" panose="02020603050405020304" charset="0"/>
                <a:sym typeface="+mn-ea"/>
              </a:rPr>
              <a:t>Preliminary </a:t>
            </a:r>
            <a:r>
              <a:rPr lang="en-US" altLang="zh-CN" sz="3200" b="1">
                <a:latin typeface="Times New Roman" panose="02020603050405020304" charset="0"/>
                <a:ea typeface="SimSun" panose="02010600030101010101" pitchFamily="2" charset="-122"/>
                <a:cs typeface="Times New Roman" panose="02020603050405020304" charset="0"/>
                <a:sym typeface="+mn-ea"/>
              </a:rPr>
              <a:t>Experiment</a:t>
            </a:r>
            <a:endParaRPr lang="en-US" altLang="zh-CN" sz="3200" b="1">
              <a:latin typeface="Times New Roman" panose="02020603050405020304" charset="0"/>
              <a:ea typeface="SimSun" panose="02010600030101010101" pitchFamily="2" charset="-122"/>
              <a:cs typeface="Times New Roman" panose="02020603050405020304" charset="0"/>
            </a:endParaRPr>
          </a:p>
          <a:p>
            <a:endParaRPr lang="en-US" altLang="zh-CN" sz="3200" b="1">
              <a:latin typeface="Times New Roman" panose="02020603050405020304" charset="0"/>
              <a:ea typeface="SimSun" panose="02010600030101010101" pitchFamily="2" charset="-122"/>
              <a:cs typeface="Times New Roman" panose="0202060305040502030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75590" y="3444875"/>
            <a:ext cx="8642985" cy="30778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Wingdings" panose="05000000000000000000" charset="0"/>
              <a:buChar char="n"/>
            </a:pPr>
            <a:r>
              <a:rPr lang="en-US" altLang="zh-CN">
                <a:sym typeface="+mn-ea"/>
              </a:rPr>
              <a:t>Objective : </a:t>
            </a:r>
            <a:endParaRPr lang="en-US" altLang="zh-CN">
              <a:sym typeface="+mn-ea"/>
            </a:endParaRPr>
          </a:p>
          <a:p>
            <a:pPr indent="0">
              <a:buFont typeface="Wingdings" panose="05000000000000000000" charset="0"/>
              <a:buNone/>
            </a:pPr>
            <a:r>
              <a:rPr lang="en-US" altLang="zh-CN">
                <a:sym typeface="+mn-ea"/>
              </a:rPr>
              <a:t>Verify the system’s accuracy.</a:t>
            </a:r>
            <a:endParaRPr lang="en-US" altLang="zh-CN">
              <a:sym typeface="+mn-ea"/>
            </a:endParaRPr>
          </a:p>
          <a:p>
            <a:pPr indent="0">
              <a:buFont typeface="Wingdings" panose="05000000000000000000" charset="0"/>
              <a:buNone/>
            </a:pPr>
            <a:endParaRPr lang="en-US" altLang="zh-CN">
              <a:sym typeface="+mn-ea"/>
            </a:endParaRPr>
          </a:p>
          <a:p>
            <a:pPr marL="285750" indent="-285750">
              <a:buFont typeface="Wingdings" panose="05000000000000000000" charset="0"/>
              <a:buChar char="n"/>
            </a:pPr>
            <a:r>
              <a:rPr lang="en-US" altLang="zh-CN">
                <a:sym typeface="+mn-ea"/>
              </a:rPr>
              <a:t>Participants : </a:t>
            </a:r>
            <a:endParaRPr lang="en-US" altLang="zh-CN">
              <a:sym typeface="+mn-ea"/>
            </a:endParaRPr>
          </a:p>
          <a:p>
            <a:r>
              <a:rPr lang="en-US" altLang="zh-CN">
                <a:ea typeface="SimSun" panose="02010600030101010101" pitchFamily="2" charset="-122"/>
                <a:sym typeface="+mn-ea"/>
              </a:rPr>
              <a:t>5 males and 5 females.</a:t>
            </a:r>
            <a:endParaRPr lang="en-US" altLang="zh-CN">
              <a:ea typeface="SimSun" panose="02010600030101010101" pitchFamily="2" charset="-122"/>
              <a:sym typeface="+mn-ea"/>
            </a:endParaRPr>
          </a:p>
          <a:p>
            <a:endParaRPr lang="zh-CN" altLang="en-US">
              <a:ea typeface="SimSun" panose="02010600030101010101" pitchFamily="2" charset="-122"/>
              <a:sym typeface="+mn-ea"/>
            </a:endParaRPr>
          </a:p>
          <a:p>
            <a:pPr marL="285750" indent="-285750">
              <a:buFont typeface="Wingdings" panose="05000000000000000000" charset="0"/>
              <a:buChar char="n"/>
            </a:pPr>
            <a:r>
              <a:rPr lang="en-US" altLang="zh-CN">
                <a:sym typeface="+mn-ea"/>
              </a:rPr>
              <a:t>Condition :</a:t>
            </a:r>
            <a:endParaRPr lang="en-US" altLang="zh-CN"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>
                <a:sym typeface="+mn-ea"/>
              </a:rPr>
              <a:t>Five objects are placed in the scene in a random order.</a:t>
            </a:r>
            <a:endParaRPr lang="en-US" altLang="zh-CN" sz="1400"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>
                <a:sym typeface="+mn-ea"/>
              </a:rPr>
              <a:t>For each object, two </a:t>
            </a:r>
            <a:r>
              <a:rPr lang="en-US" altLang="zh-CN" sz="1400">
                <a:latin typeface="Times New Roman" panose="02020603050405020304" charset="0"/>
                <a:ea typeface="ＭＳ Ｐ明朝" panose="02020600040205080304" charset="-128"/>
                <a:cs typeface="Times New Roman" panose="02020603050405020304" charset="0"/>
                <a:sym typeface="+mn-ea"/>
              </a:rPr>
              <a:t>corresponding </a:t>
            </a:r>
            <a:r>
              <a:rPr lang="en-US" altLang="zh-CN" sz="1400">
                <a:sym typeface="+mn-ea"/>
              </a:rPr>
              <a:t>gestures are </a:t>
            </a:r>
            <a:r>
              <a:rPr lang="en-US" altLang="zh-CN" sz="1400">
                <a:sym typeface="+mn-ea"/>
              </a:rPr>
              <a:t>randomly selected and instructed to the participant.</a:t>
            </a:r>
            <a:endParaRPr lang="en-US" altLang="zh-CN" sz="1400"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>
                <a:sym typeface="+mn-ea"/>
              </a:rPr>
              <a:t>Recognizing all five objects once is defined as one round.    </a:t>
            </a:r>
            <a:endParaRPr lang="en-US" altLang="zh-CN" sz="1400"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>
                <a:sym typeface="+mn-ea"/>
              </a:rPr>
              <a:t>In the second round, the objects are again placed in a random order, but the </a:t>
            </a:r>
            <a:r>
              <a:rPr lang="en-US" altLang="zh-CN" sz="1400">
                <a:sym typeface="+mn-ea"/>
              </a:rPr>
              <a:t>gestures </a:t>
            </a:r>
            <a:r>
              <a:rPr lang="en-US" altLang="zh-CN" sz="1400">
                <a:sym typeface="+mn-ea"/>
              </a:rPr>
              <a:t>selected is the one not chosen in the first round.</a:t>
            </a:r>
            <a:endParaRPr lang="en-US" altLang="zh-CN" sz="1400">
              <a:sym typeface="+mn-ea"/>
            </a:endParaRPr>
          </a:p>
          <a:p>
            <a:endParaRPr lang="zh-CN" altLang="en-US" sz="1400">
              <a:ea typeface="SimSun" panose="02010600030101010101" pitchFamily="2" charset="-122"/>
              <a:sym typeface="+mn-ea"/>
            </a:endParaRPr>
          </a:p>
        </p:txBody>
      </p:sp>
      <p:grpSp>
        <p:nvGrpSpPr>
          <p:cNvPr id="49" name="组合 48"/>
          <p:cNvGrpSpPr>
            <a:grpSpLocks noChangeAspect="1"/>
          </p:cNvGrpSpPr>
          <p:nvPr/>
        </p:nvGrpSpPr>
        <p:grpSpPr>
          <a:xfrm>
            <a:off x="5530850" y="3496310"/>
            <a:ext cx="2725420" cy="1833245"/>
            <a:chOff x="3392" y="2238"/>
            <a:chExt cx="5358" cy="3372"/>
          </a:xfrm>
        </p:grpSpPr>
        <p:sp>
          <p:nvSpPr>
            <p:cNvPr id="2" name="フローチャート: データ 3"/>
            <p:cNvSpPr/>
            <p:nvPr/>
          </p:nvSpPr>
          <p:spPr>
            <a:xfrm>
              <a:off x="3392" y="3294"/>
              <a:ext cx="3488" cy="1746"/>
            </a:xfrm>
            <a:prstGeom prst="flowChartInputOutput">
              <a:avLst/>
            </a:prstGeom>
            <a:solidFill>
              <a:srgbClr val="FFFFF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45" name="组合 44"/>
            <p:cNvGrpSpPr/>
            <p:nvPr/>
          </p:nvGrpSpPr>
          <p:grpSpPr>
            <a:xfrm>
              <a:off x="5950" y="2238"/>
              <a:ext cx="2801" cy="3372"/>
              <a:chOff x="8391" y="2469"/>
              <a:chExt cx="2801" cy="3372"/>
            </a:xfrm>
          </p:grpSpPr>
          <p:grpSp>
            <p:nvGrpSpPr>
              <p:cNvPr id="44" name="组合 43"/>
              <p:cNvGrpSpPr/>
              <p:nvPr/>
            </p:nvGrpSpPr>
            <p:grpSpPr>
              <a:xfrm>
                <a:off x="9560" y="2469"/>
                <a:ext cx="1633" cy="3373"/>
                <a:chOff x="9560" y="2469"/>
                <a:chExt cx="1633" cy="3373"/>
              </a:xfrm>
            </p:grpSpPr>
            <p:sp>
              <p:nvSpPr>
                <p:cNvPr id="3" name="フリーフォーム: 図形 6"/>
                <p:cNvSpPr/>
                <p:nvPr/>
              </p:nvSpPr>
              <p:spPr bwMode="auto">
                <a:xfrm rot="21227523">
                  <a:off x="9837" y="3496"/>
                  <a:ext cx="1357" cy="2346"/>
                </a:xfrm>
                <a:custGeom>
                  <a:avLst/>
                  <a:gdLst>
                    <a:gd name="connsiteX0" fmla="*/ 455339 w 980001"/>
                    <a:gd name="connsiteY0" fmla="*/ 317 h 1483570"/>
                    <a:gd name="connsiteX1" fmla="*/ 479456 w 980001"/>
                    <a:gd name="connsiteY1" fmla="*/ 3956 h 1483570"/>
                    <a:gd name="connsiteX2" fmla="*/ 488638 w 980001"/>
                    <a:gd name="connsiteY2" fmla="*/ 2871 h 1483570"/>
                    <a:gd name="connsiteX3" fmla="*/ 660744 w 980001"/>
                    <a:gd name="connsiteY3" fmla="*/ 46415 h 1483570"/>
                    <a:gd name="connsiteX4" fmla="*/ 764008 w 980001"/>
                    <a:gd name="connsiteY4" fmla="*/ 126971 h 1483570"/>
                    <a:gd name="connsiteX5" fmla="*/ 842030 w 980001"/>
                    <a:gd name="connsiteY5" fmla="*/ 229299 h 1483570"/>
                    <a:gd name="connsiteX6" fmla="*/ 903988 w 980001"/>
                    <a:gd name="connsiteY6" fmla="*/ 322917 h 1483570"/>
                    <a:gd name="connsiteX7" fmla="*/ 945294 w 980001"/>
                    <a:gd name="connsiteY7" fmla="*/ 464435 h 1483570"/>
                    <a:gd name="connsiteX8" fmla="*/ 961357 w 980001"/>
                    <a:gd name="connsiteY8" fmla="*/ 738760 h 1483570"/>
                    <a:gd name="connsiteX9" fmla="*/ 977420 w 980001"/>
                    <a:gd name="connsiteY9" fmla="*/ 1026149 h 1483570"/>
                    <a:gd name="connsiteX10" fmla="*/ 972831 w 980001"/>
                    <a:gd name="connsiteY10" fmla="*/ 1224273 h 1483570"/>
                    <a:gd name="connsiteX11" fmla="*/ 910873 w 980001"/>
                    <a:gd name="connsiteY11" fmla="*/ 1365790 h 1483570"/>
                    <a:gd name="connsiteX12" fmla="*/ 773188 w 980001"/>
                    <a:gd name="connsiteY12" fmla="*/ 1455055 h 1483570"/>
                    <a:gd name="connsiteX13" fmla="*/ 603375 w 980001"/>
                    <a:gd name="connsiteY13" fmla="*/ 1483358 h 1483570"/>
                    <a:gd name="connsiteX14" fmla="*/ 364722 w 980001"/>
                    <a:gd name="connsiteY14" fmla="*/ 1465941 h 1483570"/>
                    <a:gd name="connsiteX15" fmla="*/ 190320 w 980001"/>
                    <a:gd name="connsiteY15" fmla="*/ 1428929 h 1483570"/>
                    <a:gd name="connsiteX16" fmla="*/ 73288 w 980001"/>
                    <a:gd name="connsiteY16" fmla="*/ 1372321 h 1483570"/>
                    <a:gd name="connsiteX17" fmla="*/ 9035 w 980001"/>
                    <a:gd name="connsiteY17" fmla="*/ 1241690 h 1483570"/>
                    <a:gd name="connsiteX18" fmla="*/ 2151 w 980001"/>
                    <a:gd name="connsiteY18" fmla="*/ 1100173 h 1483570"/>
                    <a:gd name="connsiteX19" fmla="*/ 25098 w 980001"/>
                    <a:gd name="connsiteY19" fmla="*/ 775773 h 1483570"/>
                    <a:gd name="connsiteX20" fmla="*/ 67083 w 980001"/>
                    <a:gd name="connsiteY20" fmla="*/ 598007 h 1483570"/>
                    <a:gd name="connsiteX21" fmla="*/ 114708 w 980001"/>
                    <a:gd name="connsiteY21" fmla="*/ 454930 h 1483570"/>
                    <a:gd name="connsiteX22" fmla="*/ 178604 w 980001"/>
                    <a:gd name="connsiteY22" fmla="*/ 204950 h 1483570"/>
                    <a:gd name="connsiteX23" fmla="*/ 455339 w 980001"/>
                    <a:gd name="connsiteY23" fmla="*/ 317 h 148357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</a:cxnLst>
                  <a:rect l="l" t="t" r="r" b="b"/>
                  <a:pathLst>
                    <a:path w="980001" h="1483570">
                      <a:moveTo>
                        <a:pt x="455339" y="317"/>
                      </a:moveTo>
                      <a:lnTo>
                        <a:pt x="479456" y="3956"/>
                      </a:lnTo>
                      <a:lnTo>
                        <a:pt x="488638" y="2871"/>
                      </a:lnTo>
                      <a:cubicBezTo>
                        <a:pt x="541035" y="5411"/>
                        <a:pt x="614849" y="25732"/>
                        <a:pt x="660744" y="46415"/>
                      </a:cubicBezTo>
                      <a:cubicBezTo>
                        <a:pt x="706639" y="67098"/>
                        <a:pt x="733794" y="96490"/>
                        <a:pt x="764008" y="126971"/>
                      </a:cubicBezTo>
                      <a:cubicBezTo>
                        <a:pt x="794222" y="157451"/>
                        <a:pt x="818700" y="196641"/>
                        <a:pt x="842030" y="229299"/>
                      </a:cubicBezTo>
                      <a:cubicBezTo>
                        <a:pt x="865360" y="261956"/>
                        <a:pt x="886777" y="283728"/>
                        <a:pt x="903988" y="322917"/>
                      </a:cubicBezTo>
                      <a:cubicBezTo>
                        <a:pt x="921198" y="362107"/>
                        <a:pt x="935733" y="395128"/>
                        <a:pt x="945294" y="464435"/>
                      </a:cubicBezTo>
                      <a:cubicBezTo>
                        <a:pt x="954855" y="533742"/>
                        <a:pt x="956003" y="645142"/>
                        <a:pt x="961357" y="738760"/>
                      </a:cubicBezTo>
                      <a:cubicBezTo>
                        <a:pt x="966711" y="832379"/>
                        <a:pt x="975508" y="945230"/>
                        <a:pt x="977420" y="1026149"/>
                      </a:cubicBezTo>
                      <a:cubicBezTo>
                        <a:pt x="979332" y="1107067"/>
                        <a:pt x="983922" y="1167666"/>
                        <a:pt x="972831" y="1224273"/>
                      </a:cubicBezTo>
                      <a:cubicBezTo>
                        <a:pt x="961740" y="1280880"/>
                        <a:pt x="944147" y="1327327"/>
                        <a:pt x="910873" y="1365790"/>
                      </a:cubicBezTo>
                      <a:cubicBezTo>
                        <a:pt x="877599" y="1404254"/>
                        <a:pt x="824437" y="1435460"/>
                        <a:pt x="773188" y="1455055"/>
                      </a:cubicBezTo>
                      <a:cubicBezTo>
                        <a:pt x="721938" y="1474650"/>
                        <a:pt x="671453" y="1481544"/>
                        <a:pt x="603375" y="1483358"/>
                      </a:cubicBezTo>
                      <a:cubicBezTo>
                        <a:pt x="535298" y="1485173"/>
                        <a:pt x="433565" y="1475013"/>
                        <a:pt x="364722" y="1465941"/>
                      </a:cubicBezTo>
                      <a:cubicBezTo>
                        <a:pt x="295879" y="1456869"/>
                        <a:pt x="238892" y="1444532"/>
                        <a:pt x="190320" y="1428929"/>
                      </a:cubicBezTo>
                      <a:cubicBezTo>
                        <a:pt x="141748" y="1413326"/>
                        <a:pt x="103502" y="1403528"/>
                        <a:pt x="73288" y="1372321"/>
                      </a:cubicBezTo>
                      <a:cubicBezTo>
                        <a:pt x="43074" y="1341115"/>
                        <a:pt x="20891" y="1287048"/>
                        <a:pt x="9035" y="1241690"/>
                      </a:cubicBezTo>
                      <a:cubicBezTo>
                        <a:pt x="-2821" y="1196333"/>
                        <a:pt x="-526" y="1177826"/>
                        <a:pt x="2151" y="1100173"/>
                      </a:cubicBezTo>
                      <a:cubicBezTo>
                        <a:pt x="4828" y="1022521"/>
                        <a:pt x="3950" y="890489"/>
                        <a:pt x="25098" y="775773"/>
                      </a:cubicBezTo>
                      <a:cubicBezTo>
                        <a:pt x="35672" y="718414"/>
                        <a:pt x="49713" y="658908"/>
                        <a:pt x="67083" y="598007"/>
                      </a:cubicBezTo>
                      <a:lnTo>
                        <a:pt x="114708" y="454930"/>
                      </a:lnTo>
                      <a:lnTo>
                        <a:pt x="178604" y="204950"/>
                      </a:lnTo>
                      <a:cubicBezTo>
                        <a:pt x="211193" y="77449"/>
                        <a:pt x="328823" y="-5812"/>
                        <a:pt x="455339" y="317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noAutofit/>
                </a:bodyPr>
                <a:lstStyle/>
                <a:p>
                  <a:pPr marL="0" marR="0" indent="0" algn="l" defTabSz="1043305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kumimoji="1" lang="ja-JP" altLang="en-US" sz="27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Times New Roman" panose="02020603050405020304" charset="0"/>
                    <a:ea typeface="ＭＳ Ｐゴシック" panose="020B0600070205080204" charset="-128"/>
                  </a:endParaRPr>
                </a:p>
              </p:txBody>
            </p:sp>
            <p:sp>
              <p:nvSpPr>
                <p:cNvPr id="11" name="フリーフォーム 10"/>
                <p:cNvSpPr/>
                <p:nvPr/>
              </p:nvSpPr>
              <p:spPr bwMode="auto">
                <a:xfrm rot="2493260">
                  <a:off x="9560" y="3658"/>
                  <a:ext cx="824" cy="798"/>
                </a:xfrm>
                <a:custGeom>
                  <a:avLst/>
                  <a:gdLst>
                    <a:gd name="connsiteX0" fmla="*/ 643847 w 1123308"/>
                    <a:gd name="connsiteY0" fmla="*/ 616449 h 2106202"/>
                    <a:gd name="connsiteX1" fmla="*/ 636998 w 1123308"/>
                    <a:gd name="connsiteY1" fmla="*/ 777411 h 2106202"/>
                    <a:gd name="connsiteX2" fmla="*/ 643847 w 1123308"/>
                    <a:gd name="connsiteY2" fmla="*/ 887002 h 2106202"/>
                    <a:gd name="connsiteX3" fmla="*/ 654121 w 1123308"/>
                    <a:gd name="connsiteY3" fmla="*/ 1027416 h 2106202"/>
                    <a:gd name="connsiteX4" fmla="*/ 674669 w 1123308"/>
                    <a:gd name="connsiteY4" fmla="*/ 1157555 h 2106202"/>
                    <a:gd name="connsiteX5" fmla="*/ 705492 w 1123308"/>
                    <a:gd name="connsiteY5" fmla="*/ 1260297 h 2106202"/>
                    <a:gd name="connsiteX6" fmla="*/ 500009 w 1123308"/>
                    <a:gd name="connsiteY6" fmla="*/ 1380162 h 2106202"/>
                    <a:gd name="connsiteX7" fmla="*/ 410966 w 1123308"/>
                    <a:gd name="connsiteY7" fmla="*/ 1472629 h 2106202"/>
                    <a:gd name="connsiteX8" fmla="*/ 315074 w 1123308"/>
                    <a:gd name="connsiteY8" fmla="*/ 1571946 h 2106202"/>
                    <a:gd name="connsiteX9" fmla="*/ 212332 w 1123308"/>
                    <a:gd name="connsiteY9" fmla="*/ 1657564 h 2106202"/>
                    <a:gd name="connsiteX10" fmla="*/ 78768 w 1123308"/>
                    <a:gd name="connsiteY10" fmla="*/ 1760306 h 2106202"/>
                    <a:gd name="connsiteX11" fmla="*/ 0 w 1123308"/>
                    <a:gd name="connsiteY11" fmla="*/ 1815101 h 2106202"/>
                    <a:gd name="connsiteX12" fmla="*/ 157537 w 1123308"/>
                    <a:gd name="connsiteY12" fmla="*/ 2106202 h 2106202"/>
                    <a:gd name="connsiteX13" fmla="*/ 287676 w 1123308"/>
                    <a:gd name="connsiteY13" fmla="*/ 2054832 h 2106202"/>
                    <a:gd name="connsiteX14" fmla="*/ 513708 w 1123308"/>
                    <a:gd name="connsiteY14" fmla="*/ 1955515 h 2106202"/>
                    <a:gd name="connsiteX15" fmla="*/ 643847 w 1123308"/>
                    <a:gd name="connsiteY15" fmla="*/ 1883596 h 2106202"/>
                    <a:gd name="connsiteX16" fmla="*/ 801384 w 1123308"/>
                    <a:gd name="connsiteY16" fmla="*/ 1698661 h 2106202"/>
                    <a:gd name="connsiteX17" fmla="*/ 934948 w 1123308"/>
                    <a:gd name="connsiteY17" fmla="*/ 1530849 h 2106202"/>
                    <a:gd name="connsiteX18" fmla="*/ 1027415 w 1123308"/>
                    <a:gd name="connsiteY18" fmla="*/ 1359614 h 2106202"/>
                    <a:gd name="connsiteX19" fmla="*/ 1078786 w 1123308"/>
                    <a:gd name="connsiteY19" fmla="*/ 1171254 h 2106202"/>
                    <a:gd name="connsiteX20" fmla="*/ 1123308 w 1123308"/>
                    <a:gd name="connsiteY20" fmla="*/ 808234 h 2106202"/>
                    <a:gd name="connsiteX21" fmla="*/ 1119883 w 1123308"/>
                    <a:gd name="connsiteY21" fmla="*/ 623299 h 2106202"/>
                    <a:gd name="connsiteX22" fmla="*/ 1109609 w 1123308"/>
                    <a:gd name="connsiteY22" fmla="*/ 469187 h 2106202"/>
                    <a:gd name="connsiteX23" fmla="*/ 1078786 w 1123308"/>
                    <a:gd name="connsiteY23" fmla="*/ 311649 h 2106202"/>
                    <a:gd name="connsiteX24" fmla="*/ 1023991 w 1123308"/>
                    <a:gd name="connsiteY24" fmla="*/ 157537 h 2106202"/>
                    <a:gd name="connsiteX25" fmla="*/ 969195 w 1123308"/>
                    <a:gd name="connsiteY25" fmla="*/ 68494 h 2106202"/>
                    <a:gd name="connsiteX26" fmla="*/ 893851 w 1123308"/>
                    <a:gd name="connsiteY26" fmla="*/ 0 h 2106202"/>
                    <a:gd name="connsiteX27" fmla="*/ 797959 w 1123308"/>
                    <a:gd name="connsiteY27" fmla="*/ 41097 h 2106202"/>
                    <a:gd name="connsiteX28" fmla="*/ 729465 w 1123308"/>
                    <a:gd name="connsiteY28" fmla="*/ 167811 h 2106202"/>
                    <a:gd name="connsiteX29" fmla="*/ 681519 w 1123308"/>
                    <a:gd name="connsiteY29" fmla="*/ 339047 h 2106202"/>
                    <a:gd name="connsiteX30" fmla="*/ 671245 w 1123308"/>
                    <a:gd name="connsiteY30" fmla="*/ 410966 h 2106202"/>
                    <a:gd name="connsiteX31" fmla="*/ 664395 w 1123308"/>
                    <a:gd name="connsiteY31" fmla="*/ 458912 h 2106202"/>
                    <a:gd name="connsiteX0-1" fmla="*/ 643847 w 1123308"/>
                    <a:gd name="connsiteY0-2" fmla="*/ 616449 h 2106202"/>
                    <a:gd name="connsiteX1-3" fmla="*/ 636998 w 1123308"/>
                    <a:gd name="connsiteY1-4" fmla="*/ 777411 h 2106202"/>
                    <a:gd name="connsiteX2-5" fmla="*/ 643847 w 1123308"/>
                    <a:gd name="connsiteY2-6" fmla="*/ 887002 h 2106202"/>
                    <a:gd name="connsiteX3-7" fmla="*/ 654121 w 1123308"/>
                    <a:gd name="connsiteY3-8" fmla="*/ 1027416 h 2106202"/>
                    <a:gd name="connsiteX4-9" fmla="*/ 674669 w 1123308"/>
                    <a:gd name="connsiteY4-10" fmla="*/ 1157555 h 2106202"/>
                    <a:gd name="connsiteX5-11" fmla="*/ 705492 w 1123308"/>
                    <a:gd name="connsiteY5-12" fmla="*/ 1260297 h 2106202"/>
                    <a:gd name="connsiteX6-13" fmla="*/ 500009 w 1123308"/>
                    <a:gd name="connsiteY6-14" fmla="*/ 1380162 h 2106202"/>
                    <a:gd name="connsiteX7-15" fmla="*/ 410966 w 1123308"/>
                    <a:gd name="connsiteY7-16" fmla="*/ 1472629 h 2106202"/>
                    <a:gd name="connsiteX8-17" fmla="*/ 315074 w 1123308"/>
                    <a:gd name="connsiteY8-18" fmla="*/ 1571946 h 2106202"/>
                    <a:gd name="connsiteX9-19" fmla="*/ 212332 w 1123308"/>
                    <a:gd name="connsiteY9-20" fmla="*/ 1657564 h 2106202"/>
                    <a:gd name="connsiteX10-21" fmla="*/ 78768 w 1123308"/>
                    <a:gd name="connsiteY10-22" fmla="*/ 1760306 h 2106202"/>
                    <a:gd name="connsiteX11-23" fmla="*/ 0 w 1123308"/>
                    <a:gd name="connsiteY11-24" fmla="*/ 1815101 h 2106202"/>
                    <a:gd name="connsiteX12-25" fmla="*/ 157537 w 1123308"/>
                    <a:gd name="connsiteY12-26" fmla="*/ 2106202 h 2106202"/>
                    <a:gd name="connsiteX13-27" fmla="*/ 287676 w 1123308"/>
                    <a:gd name="connsiteY13-28" fmla="*/ 2054832 h 2106202"/>
                    <a:gd name="connsiteX14-29" fmla="*/ 513708 w 1123308"/>
                    <a:gd name="connsiteY14-30" fmla="*/ 1955515 h 2106202"/>
                    <a:gd name="connsiteX15-31" fmla="*/ 643847 w 1123308"/>
                    <a:gd name="connsiteY15-32" fmla="*/ 1883596 h 2106202"/>
                    <a:gd name="connsiteX16-33" fmla="*/ 801384 w 1123308"/>
                    <a:gd name="connsiteY16-34" fmla="*/ 1698661 h 2106202"/>
                    <a:gd name="connsiteX17-35" fmla="*/ 934948 w 1123308"/>
                    <a:gd name="connsiteY17-36" fmla="*/ 1530849 h 2106202"/>
                    <a:gd name="connsiteX18-37" fmla="*/ 1027415 w 1123308"/>
                    <a:gd name="connsiteY18-38" fmla="*/ 1359614 h 2106202"/>
                    <a:gd name="connsiteX19-39" fmla="*/ 1078786 w 1123308"/>
                    <a:gd name="connsiteY19-40" fmla="*/ 1171254 h 2106202"/>
                    <a:gd name="connsiteX20-41" fmla="*/ 1123308 w 1123308"/>
                    <a:gd name="connsiteY20-42" fmla="*/ 808234 h 2106202"/>
                    <a:gd name="connsiteX21-43" fmla="*/ 1119883 w 1123308"/>
                    <a:gd name="connsiteY21-44" fmla="*/ 623299 h 2106202"/>
                    <a:gd name="connsiteX22-45" fmla="*/ 1109609 w 1123308"/>
                    <a:gd name="connsiteY22-46" fmla="*/ 469187 h 2106202"/>
                    <a:gd name="connsiteX23-47" fmla="*/ 1078786 w 1123308"/>
                    <a:gd name="connsiteY23-48" fmla="*/ 311649 h 2106202"/>
                    <a:gd name="connsiteX24-49" fmla="*/ 1023991 w 1123308"/>
                    <a:gd name="connsiteY24-50" fmla="*/ 157537 h 2106202"/>
                    <a:gd name="connsiteX25-51" fmla="*/ 969195 w 1123308"/>
                    <a:gd name="connsiteY25-52" fmla="*/ 68494 h 2106202"/>
                    <a:gd name="connsiteX26-53" fmla="*/ 893851 w 1123308"/>
                    <a:gd name="connsiteY26-54" fmla="*/ 0 h 2106202"/>
                    <a:gd name="connsiteX27-55" fmla="*/ 797959 w 1123308"/>
                    <a:gd name="connsiteY27-56" fmla="*/ 41097 h 2106202"/>
                    <a:gd name="connsiteX28-57" fmla="*/ 729465 w 1123308"/>
                    <a:gd name="connsiteY28-58" fmla="*/ 167811 h 2106202"/>
                    <a:gd name="connsiteX29-59" fmla="*/ 681519 w 1123308"/>
                    <a:gd name="connsiteY29-60" fmla="*/ 339047 h 2106202"/>
                    <a:gd name="connsiteX30-61" fmla="*/ 671245 w 1123308"/>
                    <a:gd name="connsiteY30-62" fmla="*/ 410966 h 2106202"/>
                    <a:gd name="connsiteX0-63" fmla="*/ 643847 w 1123308"/>
                    <a:gd name="connsiteY0-64" fmla="*/ 616449 h 2106202"/>
                    <a:gd name="connsiteX1-65" fmla="*/ 636998 w 1123308"/>
                    <a:gd name="connsiteY1-66" fmla="*/ 777411 h 2106202"/>
                    <a:gd name="connsiteX2-67" fmla="*/ 643847 w 1123308"/>
                    <a:gd name="connsiteY2-68" fmla="*/ 887002 h 2106202"/>
                    <a:gd name="connsiteX3-69" fmla="*/ 654121 w 1123308"/>
                    <a:gd name="connsiteY3-70" fmla="*/ 1027416 h 2106202"/>
                    <a:gd name="connsiteX4-71" fmla="*/ 674669 w 1123308"/>
                    <a:gd name="connsiteY4-72" fmla="*/ 1157555 h 2106202"/>
                    <a:gd name="connsiteX5-73" fmla="*/ 705492 w 1123308"/>
                    <a:gd name="connsiteY5-74" fmla="*/ 1260297 h 2106202"/>
                    <a:gd name="connsiteX6-75" fmla="*/ 500009 w 1123308"/>
                    <a:gd name="connsiteY6-76" fmla="*/ 1380162 h 2106202"/>
                    <a:gd name="connsiteX7-77" fmla="*/ 410966 w 1123308"/>
                    <a:gd name="connsiteY7-78" fmla="*/ 1472629 h 2106202"/>
                    <a:gd name="connsiteX8-79" fmla="*/ 315074 w 1123308"/>
                    <a:gd name="connsiteY8-80" fmla="*/ 1571946 h 2106202"/>
                    <a:gd name="connsiteX9-81" fmla="*/ 212332 w 1123308"/>
                    <a:gd name="connsiteY9-82" fmla="*/ 1657564 h 2106202"/>
                    <a:gd name="connsiteX10-83" fmla="*/ 78768 w 1123308"/>
                    <a:gd name="connsiteY10-84" fmla="*/ 1760306 h 2106202"/>
                    <a:gd name="connsiteX11-85" fmla="*/ 0 w 1123308"/>
                    <a:gd name="connsiteY11-86" fmla="*/ 1815101 h 2106202"/>
                    <a:gd name="connsiteX12-87" fmla="*/ 157537 w 1123308"/>
                    <a:gd name="connsiteY12-88" fmla="*/ 2106202 h 2106202"/>
                    <a:gd name="connsiteX13-89" fmla="*/ 287676 w 1123308"/>
                    <a:gd name="connsiteY13-90" fmla="*/ 2054832 h 2106202"/>
                    <a:gd name="connsiteX14-91" fmla="*/ 513708 w 1123308"/>
                    <a:gd name="connsiteY14-92" fmla="*/ 1955515 h 2106202"/>
                    <a:gd name="connsiteX15-93" fmla="*/ 643847 w 1123308"/>
                    <a:gd name="connsiteY15-94" fmla="*/ 1883596 h 2106202"/>
                    <a:gd name="connsiteX16-95" fmla="*/ 801384 w 1123308"/>
                    <a:gd name="connsiteY16-96" fmla="*/ 1698661 h 2106202"/>
                    <a:gd name="connsiteX17-97" fmla="*/ 934948 w 1123308"/>
                    <a:gd name="connsiteY17-98" fmla="*/ 1530849 h 2106202"/>
                    <a:gd name="connsiteX18-99" fmla="*/ 1027415 w 1123308"/>
                    <a:gd name="connsiteY18-100" fmla="*/ 1359614 h 2106202"/>
                    <a:gd name="connsiteX19-101" fmla="*/ 1078786 w 1123308"/>
                    <a:gd name="connsiteY19-102" fmla="*/ 1171254 h 2106202"/>
                    <a:gd name="connsiteX20-103" fmla="*/ 1123308 w 1123308"/>
                    <a:gd name="connsiteY20-104" fmla="*/ 808234 h 2106202"/>
                    <a:gd name="connsiteX21-105" fmla="*/ 1119883 w 1123308"/>
                    <a:gd name="connsiteY21-106" fmla="*/ 623299 h 2106202"/>
                    <a:gd name="connsiteX22-107" fmla="*/ 1109609 w 1123308"/>
                    <a:gd name="connsiteY22-108" fmla="*/ 469187 h 2106202"/>
                    <a:gd name="connsiteX23-109" fmla="*/ 1078786 w 1123308"/>
                    <a:gd name="connsiteY23-110" fmla="*/ 311649 h 2106202"/>
                    <a:gd name="connsiteX24-111" fmla="*/ 1023991 w 1123308"/>
                    <a:gd name="connsiteY24-112" fmla="*/ 157537 h 2106202"/>
                    <a:gd name="connsiteX25-113" fmla="*/ 969195 w 1123308"/>
                    <a:gd name="connsiteY25-114" fmla="*/ 68494 h 2106202"/>
                    <a:gd name="connsiteX26-115" fmla="*/ 893851 w 1123308"/>
                    <a:gd name="connsiteY26-116" fmla="*/ 0 h 2106202"/>
                    <a:gd name="connsiteX27-117" fmla="*/ 797959 w 1123308"/>
                    <a:gd name="connsiteY27-118" fmla="*/ 41097 h 2106202"/>
                    <a:gd name="connsiteX28-119" fmla="*/ 729465 w 1123308"/>
                    <a:gd name="connsiteY28-120" fmla="*/ 167811 h 2106202"/>
                    <a:gd name="connsiteX29-121" fmla="*/ 681519 w 1123308"/>
                    <a:gd name="connsiteY29-122" fmla="*/ 339047 h 2106202"/>
                    <a:gd name="connsiteX0-123" fmla="*/ 643847 w 1123308"/>
                    <a:gd name="connsiteY0-124" fmla="*/ 616449 h 2106202"/>
                    <a:gd name="connsiteX1-125" fmla="*/ 636998 w 1123308"/>
                    <a:gd name="connsiteY1-126" fmla="*/ 777411 h 2106202"/>
                    <a:gd name="connsiteX2-127" fmla="*/ 643847 w 1123308"/>
                    <a:gd name="connsiteY2-128" fmla="*/ 887002 h 2106202"/>
                    <a:gd name="connsiteX3-129" fmla="*/ 654121 w 1123308"/>
                    <a:gd name="connsiteY3-130" fmla="*/ 1027416 h 2106202"/>
                    <a:gd name="connsiteX4-131" fmla="*/ 674669 w 1123308"/>
                    <a:gd name="connsiteY4-132" fmla="*/ 1157555 h 2106202"/>
                    <a:gd name="connsiteX5-133" fmla="*/ 705492 w 1123308"/>
                    <a:gd name="connsiteY5-134" fmla="*/ 1260297 h 2106202"/>
                    <a:gd name="connsiteX6-135" fmla="*/ 500009 w 1123308"/>
                    <a:gd name="connsiteY6-136" fmla="*/ 1380162 h 2106202"/>
                    <a:gd name="connsiteX7-137" fmla="*/ 410966 w 1123308"/>
                    <a:gd name="connsiteY7-138" fmla="*/ 1472629 h 2106202"/>
                    <a:gd name="connsiteX8-139" fmla="*/ 315074 w 1123308"/>
                    <a:gd name="connsiteY8-140" fmla="*/ 1571946 h 2106202"/>
                    <a:gd name="connsiteX9-141" fmla="*/ 212332 w 1123308"/>
                    <a:gd name="connsiteY9-142" fmla="*/ 1657564 h 2106202"/>
                    <a:gd name="connsiteX10-143" fmla="*/ 78768 w 1123308"/>
                    <a:gd name="connsiteY10-144" fmla="*/ 1760306 h 2106202"/>
                    <a:gd name="connsiteX11-145" fmla="*/ 0 w 1123308"/>
                    <a:gd name="connsiteY11-146" fmla="*/ 1815101 h 2106202"/>
                    <a:gd name="connsiteX12-147" fmla="*/ 157537 w 1123308"/>
                    <a:gd name="connsiteY12-148" fmla="*/ 2106202 h 2106202"/>
                    <a:gd name="connsiteX13-149" fmla="*/ 287676 w 1123308"/>
                    <a:gd name="connsiteY13-150" fmla="*/ 2054832 h 2106202"/>
                    <a:gd name="connsiteX14-151" fmla="*/ 513708 w 1123308"/>
                    <a:gd name="connsiteY14-152" fmla="*/ 1955515 h 2106202"/>
                    <a:gd name="connsiteX15-153" fmla="*/ 643847 w 1123308"/>
                    <a:gd name="connsiteY15-154" fmla="*/ 1883596 h 2106202"/>
                    <a:gd name="connsiteX16-155" fmla="*/ 801384 w 1123308"/>
                    <a:gd name="connsiteY16-156" fmla="*/ 1698661 h 2106202"/>
                    <a:gd name="connsiteX17-157" fmla="*/ 934948 w 1123308"/>
                    <a:gd name="connsiteY17-158" fmla="*/ 1530849 h 2106202"/>
                    <a:gd name="connsiteX18-159" fmla="*/ 1027415 w 1123308"/>
                    <a:gd name="connsiteY18-160" fmla="*/ 1359614 h 2106202"/>
                    <a:gd name="connsiteX19-161" fmla="*/ 1078786 w 1123308"/>
                    <a:gd name="connsiteY19-162" fmla="*/ 1171254 h 2106202"/>
                    <a:gd name="connsiteX20-163" fmla="*/ 1123308 w 1123308"/>
                    <a:gd name="connsiteY20-164" fmla="*/ 808234 h 2106202"/>
                    <a:gd name="connsiteX21-165" fmla="*/ 1119883 w 1123308"/>
                    <a:gd name="connsiteY21-166" fmla="*/ 623299 h 2106202"/>
                    <a:gd name="connsiteX22-167" fmla="*/ 1109609 w 1123308"/>
                    <a:gd name="connsiteY22-168" fmla="*/ 469187 h 2106202"/>
                    <a:gd name="connsiteX23-169" fmla="*/ 1078786 w 1123308"/>
                    <a:gd name="connsiteY23-170" fmla="*/ 311649 h 2106202"/>
                    <a:gd name="connsiteX24-171" fmla="*/ 1023991 w 1123308"/>
                    <a:gd name="connsiteY24-172" fmla="*/ 157537 h 2106202"/>
                    <a:gd name="connsiteX25-173" fmla="*/ 969195 w 1123308"/>
                    <a:gd name="connsiteY25-174" fmla="*/ 68494 h 2106202"/>
                    <a:gd name="connsiteX26-175" fmla="*/ 893851 w 1123308"/>
                    <a:gd name="connsiteY26-176" fmla="*/ 0 h 2106202"/>
                    <a:gd name="connsiteX27-177" fmla="*/ 797959 w 1123308"/>
                    <a:gd name="connsiteY27-178" fmla="*/ 41097 h 2106202"/>
                    <a:gd name="connsiteX28-179" fmla="*/ 729465 w 1123308"/>
                    <a:gd name="connsiteY28-180" fmla="*/ 167811 h 2106202"/>
                    <a:gd name="connsiteX0-181" fmla="*/ 643847 w 1123308"/>
                    <a:gd name="connsiteY0-182" fmla="*/ 616449 h 2106202"/>
                    <a:gd name="connsiteX1-183" fmla="*/ 636998 w 1123308"/>
                    <a:gd name="connsiteY1-184" fmla="*/ 777411 h 2106202"/>
                    <a:gd name="connsiteX2-185" fmla="*/ 643847 w 1123308"/>
                    <a:gd name="connsiteY2-186" fmla="*/ 887002 h 2106202"/>
                    <a:gd name="connsiteX3-187" fmla="*/ 654121 w 1123308"/>
                    <a:gd name="connsiteY3-188" fmla="*/ 1027416 h 2106202"/>
                    <a:gd name="connsiteX4-189" fmla="*/ 674669 w 1123308"/>
                    <a:gd name="connsiteY4-190" fmla="*/ 1157555 h 2106202"/>
                    <a:gd name="connsiteX5-191" fmla="*/ 705492 w 1123308"/>
                    <a:gd name="connsiteY5-192" fmla="*/ 1260297 h 2106202"/>
                    <a:gd name="connsiteX6-193" fmla="*/ 500009 w 1123308"/>
                    <a:gd name="connsiteY6-194" fmla="*/ 1380162 h 2106202"/>
                    <a:gd name="connsiteX7-195" fmla="*/ 410966 w 1123308"/>
                    <a:gd name="connsiteY7-196" fmla="*/ 1472629 h 2106202"/>
                    <a:gd name="connsiteX8-197" fmla="*/ 315074 w 1123308"/>
                    <a:gd name="connsiteY8-198" fmla="*/ 1571946 h 2106202"/>
                    <a:gd name="connsiteX9-199" fmla="*/ 212332 w 1123308"/>
                    <a:gd name="connsiteY9-200" fmla="*/ 1657564 h 2106202"/>
                    <a:gd name="connsiteX10-201" fmla="*/ 78768 w 1123308"/>
                    <a:gd name="connsiteY10-202" fmla="*/ 1760306 h 2106202"/>
                    <a:gd name="connsiteX11-203" fmla="*/ 0 w 1123308"/>
                    <a:gd name="connsiteY11-204" fmla="*/ 1815101 h 2106202"/>
                    <a:gd name="connsiteX12-205" fmla="*/ 157537 w 1123308"/>
                    <a:gd name="connsiteY12-206" fmla="*/ 2106202 h 2106202"/>
                    <a:gd name="connsiteX13-207" fmla="*/ 287676 w 1123308"/>
                    <a:gd name="connsiteY13-208" fmla="*/ 2054832 h 2106202"/>
                    <a:gd name="connsiteX14-209" fmla="*/ 513708 w 1123308"/>
                    <a:gd name="connsiteY14-210" fmla="*/ 1955515 h 2106202"/>
                    <a:gd name="connsiteX15-211" fmla="*/ 643847 w 1123308"/>
                    <a:gd name="connsiteY15-212" fmla="*/ 1883596 h 2106202"/>
                    <a:gd name="connsiteX16-213" fmla="*/ 801384 w 1123308"/>
                    <a:gd name="connsiteY16-214" fmla="*/ 1698661 h 2106202"/>
                    <a:gd name="connsiteX17-215" fmla="*/ 934948 w 1123308"/>
                    <a:gd name="connsiteY17-216" fmla="*/ 1530849 h 2106202"/>
                    <a:gd name="connsiteX18-217" fmla="*/ 1027415 w 1123308"/>
                    <a:gd name="connsiteY18-218" fmla="*/ 1359614 h 2106202"/>
                    <a:gd name="connsiteX19-219" fmla="*/ 1078786 w 1123308"/>
                    <a:gd name="connsiteY19-220" fmla="*/ 1171254 h 2106202"/>
                    <a:gd name="connsiteX20-221" fmla="*/ 1123308 w 1123308"/>
                    <a:gd name="connsiteY20-222" fmla="*/ 808234 h 2106202"/>
                    <a:gd name="connsiteX21-223" fmla="*/ 1119883 w 1123308"/>
                    <a:gd name="connsiteY21-224" fmla="*/ 623299 h 2106202"/>
                    <a:gd name="connsiteX22-225" fmla="*/ 1109609 w 1123308"/>
                    <a:gd name="connsiteY22-226" fmla="*/ 469187 h 2106202"/>
                    <a:gd name="connsiteX23-227" fmla="*/ 1078786 w 1123308"/>
                    <a:gd name="connsiteY23-228" fmla="*/ 311649 h 2106202"/>
                    <a:gd name="connsiteX24-229" fmla="*/ 1023991 w 1123308"/>
                    <a:gd name="connsiteY24-230" fmla="*/ 157537 h 2106202"/>
                    <a:gd name="connsiteX25-231" fmla="*/ 969195 w 1123308"/>
                    <a:gd name="connsiteY25-232" fmla="*/ 68494 h 2106202"/>
                    <a:gd name="connsiteX26-233" fmla="*/ 893851 w 1123308"/>
                    <a:gd name="connsiteY26-234" fmla="*/ 0 h 2106202"/>
                    <a:gd name="connsiteX27-235" fmla="*/ 797959 w 1123308"/>
                    <a:gd name="connsiteY27-236" fmla="*/ 41097 h 2106202"/>
                    <a:gd name="connsiteX0-237" fmla="*/ 643847 w 1123308"/>
                    <a:gd name="connsiteY0-238" fmla="*/ 616449 h 2106202"/>
                    <a:gd name="connsiteX1-239" fmla="*/ 636998 w 1123308"/>
                    <a:gd name="connsiteY1-240" fmla="*/ 777411 h 2106202"/>
                    <a:gd name="connsiteX2-241" fmla="*/ 643847 w 1123308"/>
                    <a:gd name="connsiteY2-242" fmla="*/ 887002 h 2106202"/>
                    <a:gd name="connsiteX3-243" fmla="*/ 654121 w 1123308"/>
                    <a:gd name="connsiteY3-244" fmla="*/ 1027416 h 2106202"/>
                    <a:gd name="connsiteX4-245" fmla="*/ 674669 w 1123308"/>
                    <a:gd name="connsiteY4-246" fmla="*/ 1157555 h 2106202"/>
                    <a:gd name="connsiteX5-247" fmla="*/ 705492 w 1123308"/>
                    <a:gd name="connsiteY5-248" fmla="*/ 1260297 h 2106202"/>
                    <a:gd name="connsiteX6-249" fmla="*/ 500009 w 1123308"/>
                    <a:gd name="connsiteY6-250" fmla="*/ 1380162 h 2106202"/>
                    <a:gd name="connsiteX7-251" fmla="*/ 410966 w 1123308"/>
                    <a:gd name="connsiteY7-252" fmla="*/ 1472629 h 2106202"/>
                    <a:gd name="connsiteX8-253" fmla="*/ 315074 w 1123308"/>
                    <a:gd name="connsiteY8-254" fmla="*/ 1571946 h 2106202"/>
                    <a:gd name="connsiteX9-255" fmla="*/ 212332 w 1123308"/>
                    <a:gd name="connsiteY9-256" fmla="*/ 1657564 h 2106202"/>
                    <a:gd name="connsiteX10-257" fmla="*/ 78768 w 1123308"/>
                    <a:gd name="connsiteY10-258" fmla="*/ 1760306 h 2106202"/>
                    <a:gd name="connsiteX11-259" fmla="*/ 0 w 1123308"/>
                    <a:gd name="connsiteY11-260" fmla="*/ 1815101 h 2106202"/>
                    <a:gd name="connsiteX12-261" fmla="*/ 157537 w 1123308"/>
                    <a:gd name="connsiteY12-262" fmla="*/ 2106202 h 2106202"/>
                    <a:gd name="connsiteX13-263" fmla="*/ 287676 w 1123308"/>
                    <a:gd name="connsiteY13-264" fmla="*/ 2054832 h 2106202"/>
                    <a:gd name="connsiteX14-265" fmla="*/ 513708 w 1123308"/>
                    <a:gd name="connsiteY14-266" fmla="*/ 1955515 h 2106202"/>
                    <a:gd name="connsiteX15-267" fmla="*/ 643847 w 1123308"/>
                    <a:gd name="connsiteY15-268" fmla="*/ 1883596 h 2106202"/>
                    <a:gd name="connsiteX16-269" fmla="*/ 801384 w 1123308"/>
                    <a:gd name="connsiteY16-270" fmla="*/ 1698661 h 2106202"/>
                    <a:gd name="connsiteX17-271" fmla="*/ 934948 w 1123308"/>
                    <a:gd name="connsiteY17-272" fmla="*/ 1530849 h 2106202"/>
                    <a:gd name="connsiteX18-273" fmla="*/ 1027415 w 1123308"/>
                    <a:gd name="connsiteY18-274" fmla="*/ 1359614 h 2106202"/>
                    <a:gd name="connsiteX19-275" fmla="*/ 1078786 w 1123308"/>
                    <a:gd name="connsiteY19-276" fmla="*/ 1171254 h 2106202"/>
                    <a:gd name="connsiteX20-277" fmla="*/ 1123308 w 1123308"/>
                    <a:gd name="connsiteY20-278" fmla="*/ 808234 h 2106202"/>
                    <a:gd name="connsiteX21-279" fmla="*/ 1119883 w 1123308"/>
                    <a:gd name="connsiteY21-280" fmla="*/ 623299 h 2106202"/>
                    <a:gd name="connsiteX22-281" fmla="*/ 1109609 w 1123308"/>
                    <a:gd name="connsiteY22-282" fmla="*/ 469187 h 2106202"/>
                    <a:gd name="connsiteX23-283" fmla="*/ 1078786 w 1123308"/>
                    <a:gd name="connsiteY23-284" fmla="*/ 311649 h 2106202"/>
                    <a:gd name="connsiteX24-285" fmla="*/ 1023991 w 1123308"/>
                    <a:gd name="connsiteY24-286" fmla="*/ 157537 h 2106202"/>
                    <a:gd name="connsiteX25-287" fmla="*/ 969195 w 1123308"/>
                    <a:gd name="connsiteY25-288" fmla="*/ 68494 h 2106202"/>
                    <a:gd name="connsiteX26-289" fmla="*/ 893851 w 1123308"/>
                    <a:gd name="connsiteY26-290" fmla="*/ 0 h 2106202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  <a:cxn ang="0">
                      <a:pos x="connsiteX4-9" y="connsiteY4-10"/>
                    </a:cxn>
                    <a:cxn ang="0">
                      <a:pos x="connsiteX5-11" y="connsiteY5-12"/>
                    </a:cxn>
                    <a:cxn ang="0">
                      <a:pos x="connsiteX6-13" y="connsiteY6-14"/>
                    </a:cxn>
                    <a:cxn ang="0">
                      <a:pos x="connsiteX7-15" y="connsiteY7-16"/>
                    </a:cxn>
                    <a:cxn ang="0">
                      <a:pos x="connsiteX8-17" y="connsiteY8-18"/>
                    </a:cxn>
                    <a:cxn ang="0">
                      <a:pos x="connsiteX9-19" y="connsiteY9-20"/>
                    </a:cxn>
                    <a:cxn ang="0">
                      <a:pos x="connsiteX10-21" y="connsiteY10-22"/>
                    </a:cxn>
                    <a:cxn ang="0">
                      <a:pos x="connsiteX11-23" y="connsiteY11-24"/>
                    </a:cxn>
                    <a:cxn ang="0">
                      <a:pos x="connsiteX12-25" y="connsiteY12-26"/>
                    </a:cxn>
                    <a:cxn ang="0">
                      <a:pos x="connsiteX13-27" y="connsiteY13-28"/>
                    </a:cxn>
                    <a:cxn ang="0">
                      <a:pos x="connsiteX14-29" y="connsiteY14-30"/>
                    </a:cxn>
                    <a:cxn ang="0">
                      <a:pos x="connsiteX15-31" y="connsiteY15-32"/>
                    </a:cxn>
                    <a:cxn ang="0">
                      <a:pos x="connsiteX16-33" y="connsiteY16-34"/>
                    </a:cxn>
                    <a:cxn ang="0">
                      <a:pos x="connsiteX17-35" y="connsiteY17-36"/>
                    </a:cxn>
                    <a:cxn ang="0">
                      <a:pos x="connsiteX18-37" y="connsiteY18-38"/>
                    </a:cxn>
                    <a:cxn ang="0">
                      <a:pos x="connsiteX19-39" y="connsiteY19-40"/>
                    </a:cxn>
                    <a:cxn ang="0">
                      <a:pos x="connsiteX20-41" y="connsiteY20-42"/>
                    </a:cxn>
                    <a:cxn ang="0">
                      <a:pos x="connsiteX21-43" y="connsiteY21-44"/>
                    </a:cxn>
                    <a:cxn ang="0">
                      <a:pos x="connsiteX22-45" y="connsiteY22-46"/>
                    </a:cxn>
                    <a:cxn ang="0">
                      <a:pos x="connsiteX23-47" y="connsiteY23-48"/>
                    </a:cxn>
                    <a:cxn ang="0">
                      <a:pos x="connsiteX24-49" y="connsiteY24-50"/>
                    </a:cxn>
                    <a:cxn ang="0">
                      <a:pos x="connsiteX25-51" y="connsiteY25-52"/>
                    </a:cxn>
                    <a:cxn ang="0">
                      <a:pos x="connsiteX26-53" y="connsiteY26-54"/>
                    </a:cxn>
                  </a:cxnLst>
                  <a:rect l="l" t="t" r="r" b="b"/>
                  <a:pathLst>
                    <a:path w="1123308" h="2106202">
                      <a:moveTo>
                        <a:pt x="643847" y="616449"/>
                      </a:moveTo>
                      <a:lnTo>
                        <a:pt x="636998" y="777411"/>
                      </a:lnTo>
                      <a:lnTo>
                        <a:pt x="643847" y="887002"/>
                      </a:lnTo>
                      <a:lnTo>
                        <a:pt x="654121" y="1027416"/>
                      </a:lnTo>
                      <a:lnTo>
                        <a:pt x="674669" y="1157555"/>
                      </a:lnTo>
                      <a:lnTo>
                        <a:pt x="705492" y="1260297"/>
                      </a:lnTo>
                      <a:lnTo>
                        <a:pt x="500009" y="1380162"/>
                      </a:lnTo>
                      <a:lnTo>
                        <a:pt x="410966" y="1472629"/>
                      </a:lnTo>
                      <a:lnTo>
                        <a:pt x="315074" y="1571946"/>
                      </a:lnTo>
                      <a:lnTo>
                        <a:pt x="212332" y="1657564"/>
                      </a:lnTo>
                      <a:lnTo>
                        <a:pt x="78768" y="1760306"/>
                      </a:lnTo>
                      <a:lnTo>
                        <a:pt x="0" y="1815101"/>
                      </a:lnTo>
                      <a:lnTo>
                        <a:pt x="157537" y="2106202"/>
                      </a:lnTo>
                      <a:lnTo>
                        <a:pt x="287676" y="2054832"/>
                      </a:lnTo>
                      <a:lnTo>
                        <a:pt x="513708" y="1955515"/>
                      </a:lnTo>
                      <a:lnTo>
                        <a:pt x="643847" y="1883596"/>
                      </a:lnTo>
                      <a:lnTo>
                        <a:pt x="801384" y="1698661"/>
                      </a:lnTo>
                      <a:lnTo>
                        <a:pt x="934948" y="1530849"/>
                      </a:lnTo>
                      <a:lnTo>
                        <a:pt x="1027415" y="1359614"/>
                      </a:lnTo>
                      <a:lnTo>
                        <a:pt x="1078786" y="1171254"/>
                      </a:lnTo>
                      <a:lnTo>
                        <a:pt x="1123308" y="808234"/>
                      </a:lnTo>
                      <a:cubicBezTo>
                        <a:pt x="1122166" y="746589"/>
                        <a:pt x="1121025" y="684944"/>
                        <a:pt x="1119883" y="623299"/>
                      </a:cubicBezTo>
                      <a:lnTo>
                        <a:pt x="1109609" y="469187"/>
                      </a:lnTo>
                      <a:lnTo>
                        <a:pt x="1078786" y="311649"/>
                      </a:lnTo>
                      <a:lnTo>
                        <a:pt x="1023991" y="157537"/>
                      </a:lnTo>
                      <a:lnTo>
                        <a:pt x="969195" y="68494"/>
                      </a:lnTo>
                      <a:lnTo>
                        <a:pt x="893851" y="0"/>
                      </a:lnTo>
                    </a:path>
                  </a:pathLst>
                </a:cu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spAutoFit/>
                </a:bodyPr>
                <a:lstStyle/>
                <a:p>
                  <a:pPr marL="0" marR="0" indent="0" algn="l" defTabSz="1043305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kumimoji="1" lang="ja-JP" altLang="en-US" sz="27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Times New Roman" panose="02020603050405020304" charset="0"/>
                    <a:ea typeface="ＭＳ Ｐゴシック" panose="020B0600070205080204" charset="-128"/>
                  </a:endParaRPr>
                </a:p>
              </p:txBody>
            </p:sp>
            <p:sp>
              <p:nvSpPr>
                <p:cNvPr id="12" name="円/楕円 11"/>
                <p:cNvSpPr/>
                <p:nvPr/>
              </p:nvSpPr>
              <p:spPr>
                <a:xfrm>
                  <a:off x="9889" y="2469"/>
                  <a:ext cx="1072" cy="1264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 sz="2975" dirty="0">
                    <a:latin typeface="ＭＳ Ｐゴシック" panose="020B0600070205080204" charset="-128"/>
                    <a:ea typeface="ＭＳ Ｐゴシック" panose="020B0600070205080204" charset="-128"/>
                  </a:endParaRPr>
                </a:p>
              </p:txBody>
            </p:sp>
          </p:grpSp>
          <p:grpSp>
            <p:nvGrpSpPr>
              <p:cNvPr id="40" name="组合 39"/>
              <p:cNvGrpSpPr/>
              <p:nvPr/>
            </p:nvGrpSpPr>
            <p:grpSpPr>
              <a:xfrm>
                <a:off x="8391" y="3184"/>
                <a:ext cx="1145" cy="1305"/>
                <a:chOff x="8161" y="4243"/>
                <a:chExt cx="1145" cy="1305"/>
              </a:xfrm>
            </p:grpSpPr>
            <p:grpSp>
              <p:nvGrpSpPr>
                <p:cNvPr id="13" name="グループ化 10"/>
                <p:cNvGrpSpPr/>
                <p:nvPr/>
              </p:nvGrpSpPr>
              <p:grpSpPr>
                <a:xfrm rot="290409">
                  <a:off x="8161" y="4824"/>
                  <a:ext cx="1088" cy="725"/>
                  <a:chOff x="3047465" y="4059226"/>
                  <a:chExt cx="922569" cy="720307"/>
                </a:xfrm>
              </p:grpSpPr>
              <p:sp>
                <p:nvSpPr>
                  <p:cNvPr id="17" name="フリーフォーム 170"/>
                  <p:cNvSpPr/>
                  <p:nvPr/>
                </p:nvSpPr>
                <p:spPr>
                  <a:xfrm rot="20273636">
                    <a:off x="3789087" y="4126983"/>
                    <a:ext cx="180947" cy="370157"/>
                  </a:xfrm>
                  <a:custGeom>
                    <a:avLst/>
                    <a:gdLst>
                      <a:gd name="connsiteX0" fmla="*/ 1038 w 296005"/>
                      <a:gd name="connsiteY0" fmla="*/ 65085 h 605531"/>
                      <a:gd name="connsiteX1" fmla="*/ 65930 w 296005"/>
                      <a:gd name="connsiteY1" fmla="*/ 283361 h 605531"/>
                      <a:gd name="connsiteX2" fmla="*/ 71830 w 296005"/>
                      <a:gd name="connsiteY2" fmla="*/ 430845 h 605531"/>
                      <a:gd name="connsiteX3" fmla="*/ 42333 w 296005"/>
                      <a:gd name="connsiteY3" fmla="*/ 554732 h 605531"/>
                      <a:gd name="connsiteX4" fmla="*/ 219314 w 296005"/>
                      <a:gd name="connsiteY4" fmla="*/ 601926 h 605531"/>
                      <a:gd name="connsiteX5" fmla="*/ 278307 w 296005"/>
                      <a:gd name="connsiteY5" fmla="*/ 466241 h 605531"/>
                      <a:gd name="connsiteX6" fmla="*/ 296005 w 296005"/>
                      <a:gd name="connsiteY6" fmla="*/ 289261 h 605531"/>
                      <a:gd name="connsiteX7" fmla="*/ 278307 w 296005"/>
                      <a:gd name="connsiteY7" fmla="*/ 112280 h 605531"/>
                      <a:gd name="connsiteX8" fmla="*/ 260609 w 296005"/>
                      <a:gd name="connsiteY8" fmla="*/ 6092 h 605531"/>
                      <a:gd name="connsiteX9" fmla="*/ 124924 w 296005"/>
                      <a:gd name="connsiteY9" fmla="*/ 17890 h 605531"/>
                      <a:gd name="connsiteX10" fmla="*/ 1038 w 296005"/>
                      <a:gd name="connsiteY10" fmla="*/ 65085 h 60553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296005" h="605531">
                        <a:moveTo>
                          <a:pt x="1038" y="65085"/>
                        </a:moveTo>
                        <a:cubicBezTo>
                          <a:pt x="-8794" y="109330"/>
                          <a:pt x="54131" y="222401"/>
                          <a:pt x="65930" y="283361"/>
                        </a:cubicBezTo>
                        <a:cubicBezTo>
                          <a:pt x="77729" y="344321"/>
                          <a:pt x="75763" y="385617"/>
                          <a:pt x="71830" y="430845"/>
                        </a:cubicBezTo>
                        <a:cubicBezTo>
                          <a:pt x="67897" y="476074"/>
                          <a:pt x="17752" y="526219"/>
                          <a:pt x="42333" y="554732"/>
                        </a:cubicBezTo>
                        <a:cubicBezTo>
                          <a:pt x="66914" y="583245"/>
                          <a:pt x="179985" y="616675"/>
                          <a:pt x="219314" y="601926"/>
                        </a:cubicBezTo>
                        <a:cubicBezTo>
                          <a:pt x="258643" y="587178"/>
                          <a:pt x="265525" y="518352"/>
                          <a:pt x="278307" y="466241"/>
                        </a:cubicBezTo>
                        <a:cubicBezTo>
                          <a:pt x="291089" y="414130"/>
                          <a:pt x="296005" y="348254"/>
                          <a:pt x="296005" y="289261"/>
                        </a:cubicBezTo>
                        <a:cubicBezTo>
                          <a:pt x="296005" y="230268"/>
                          <a:pt x="284206" y="159475"/>
                          <a:pt x="278307" y="112280"/>
                        </a:cubicBezTo>
                        <a:cubicBezTo>
                          <a:pt x="272408" y="65085"/>
                          <a:pt x="286173" y="21824"/>
                          <a:pt x="260609" y="6092"/>
                        </a:cubicBezTo>
                        <a:cubicBezTo>
                          <a:pt x="235045" y="-9640"/>
                          <a:pt x="161303" y="9041"/>
                          <a:pt x="124924" y="17890"/>
                        </a:cubicBezTo>
                        <a:cubicBezTo>
                          <a:pt x="88545" y="26739"/>
                          <a:pt x="10870" y="20840"/>
                          <a:pt x="1038" y="65085"/>
                        </a:cubicBezTo>
                        <a:close/>
                      </a:path>
                    </a:pathLst>
                  </a:custGeom>
                  <a:solidFill>
                    <a:schemeClr val="bg1"/>
                  </a:solidFill>
                  <a:ln w="952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ja-JP" altLang="en-US">
                      <a:latin typeface="ＭＳ Ｐゴシック" panose="020B0600070205080204" charset="-128"/>
                      <a:ea typeface="ＭＳ Ｐゴシック" panose="020B0600070205080204" charset="-128"/>
                    </a:endParaRPr>
                  </a:p>
                </p:txBody>
              </p:sp>
              <p:sp>
                <p:nvSpPr>
                  <p:cNvPr id="18" name="円/楕円 12"/>
                  <p:cNvSpPr/>
                  <p:nvPr/>
                </p:nvSpPr>
                <p:spPr>
                  <a:xfrm>
                    <a:off x="3429947" y="4126137"/>
                    <a:ext cx="440191" cy="504237"/>
                  </a:xfrm>
                  <a:custGeom>
                    <a:avLst/>
                    <a:gdLst>
                      <a:gd name="connsiteX0" fmla="*/ 0 w 1406381"/>
                      <a:gd name="connsiteY0" fmla="*/ 762684 h 1525367"/>
                      <a:gd name="connsiteX1" fmla="*/ 703191 w 1406381"/>
                      <a:gd name="connsiteY1" fmla="*/ 0 h 1525367"/>
                      <a:gd name="connsiteX2" fmla="*/ 1406382 w 1406381"/>
                      <a:gd name="connsiteY2" fmla="*/ 762684 h 1525367"/>
                      <a:gd name="connsiteX3" fmla="*/ 703191 w 1406381"/>
                      <a:gd name="connsiteY3" fmla="*/ 1525368 h 1525367"/>
                      <a:gd name="connsiteX4" fmla="*/ 0 w 1406381"/>
                      <a:gd name="connsiteY4" fmla="*/ 762684 h 1525367"/>
                      <a:gd name="connsiteX0-1" fmla="*/ 2902 w 1409284"/>
                      <a:gd name="connsiteY0-2" fmla="*/ 647071 h 1409755"/>
                      <a:gd name="connsiteX1-3" fmla="*/ 537928 w 1409284"/>
                      <a:gd name="connsiteY1-4" fmla="*/ 0 h 1409755"/>
                      <a:gd name="connsiteX2-5" fmla="*/ 1409284 w 1409284"/>
                      <a:gd name="connsiteY2-6" fmla="*/ 647071 h 1409755"/>
                      <a:gd name="connsiteX3-7" fmla="*/ 706093 w 1409284"/>
                      <a:gd name="connsiteY3-8" fmla="*/ 1409755 h 1409755"/>
                      <a:gd name="connsiteX4-9" fmla="*/ 2902 w 1409284"/>
                      <a:gd name="connsiteY4-10" fmla="*/ 647071 h 1409755"/>
                      <a:gd name="connsiteX0-11" fmla="*/ 2902 w 1409284"/>
                      <a:gd name="connsiteY0-12" fmla="*/ 648835 h 1411519"/>
                      <a:gd name="connsiteX1-13" fmla="*/ 537928 w 1409284"/>
                      <a:gd name="connsiteY1-14" fmla="*/ 1764 h 1411519"/>
                      <a:gd name="connsiteX2-15" fmla="*/ 1409284 w 1409284"/>
                      <a:gd name="connsiteY2-16" fmla="*/ 648835 h 1411519"/>
                      <a:gd name="connsiteX3-17" fmla="*/ 706093 w 1409284"/>
                      <a:gd name="connsiteY3-18" fmla="*/ 1411519 h 1411519"/>
                      <a:gd name="connsiteX4-19" fmla="*/ 2902 w 1409284"/>
                      <a:gd name="connsiteY4-20" fmla="*/ 648835 h 1411519"/>
                      <a:gd name="connsiteX0-21" fmla="*/ 2902 w 1434226"/>
                      <a:gd name="connsiteY0-22" fmla="*/ 648835 h 1411519"/>
                      <a:gd name="connsiteX1-23" fmla="*/ 537928 w 1434226"/>
                      <a:gd name="connsiteY1-24" fmla="*/ 1764 h 1411519"/>
                      <a:gd name="connsiteX2-25" fmla="*/ 1409284 w 1434226"/>
                      <a:gd name="connsiteY2-26" fmla="*/ 648835 h 1411519"/>
                      <a:gd name="connsiteX3-27" fmla="*/ 706093 w 1434226"/>
                      <a:gd name="connsiteY3-28" fmla="*/ 1411519 h 1411519"/>
                      <a:gd name="connsiteX4-29" fmla="*/ 2902 w 1434226"/>
                      <a:gd name="connsiteY4-30" fmla="*/ 648835 h 1411519"/>
                      <a:gd name="connsiteX0-31" fmla="*/ 2902 w 1429310"/>
                      <a:gd name="connsiteY0-32" fmla="*/ 648835 h 1421223"/>
                      <a:gd name="connsiteX1-33" fmla="*/ 537928 w 1429310"/>
                      <a:gd name="connsiteY1-34" fmla="*/ 1764 h 1421223"/>
                      <a:gd name="connsiteX2-35" fmla="*/ 1409284 w 1429310"/>
                      <a:gd name="connsiteY2-36" fmla="*/ 648835 h 1421223"/>
                      <a:gd name="connsiteX3-37" fmla="*/ 706093 w 1429310"/>
                      <a:gd name="connsiteY3-38" fmla="*/ 1411519 h 1421223"/>
                      <a:gd name="connsiteX4-39" fmla="*/ 2902 w 1429310"/>
                      <a:gd name="connsiteY4-40" fmla="*/ 648835 h 1421223"/>
                      <a:gd name="connsiteX0-41" fmla="*/ 3222 w 1429931"/>
                      <a:gd name="connsiteY0-42" fmla="*/ 648835 h 1483603"/>
                      <a:gd name="connsiteX1-43" fmla="*/ 538248 w 1429931"/>
                      <a:gd name="connsiteY1-44" fmla="*/ 1764 h 1483603"/>
                      <a:gd name="connsiteX2-45" fmla="*/ 1409604 w 1429931"/>
                      <a:gd name="connsiteY2-46" fmla="*/ 648835 h 1483603"/>
                      <a:gd name="connsiteX3-47" fmla="*/ 716924 w 1429931"/>
                      <a:gd name="connsiteY3-48" fmla="*/ 1474581 h 1483603"/>
                      <a:gd name="connsiteX4-49" fmla="*/ 3222 w 1429931"/>
                      <a:gd name="connsiteY4-50" fmla="*/ 648835 h 1483603"/>
                      <a:gd name="connsiteX0-51" fmla="*/ 3222 w 1429931"/>
                      <a:gd name="connsiteY0-52" fmla="*/ 648835 h 1484124"/>
                      <a:gd name="connsiteX1-53" fmla="*/ 538248 w 1429931"/>
                      <a:gd name="connsiteY1-54" fmla="*/ 1764 h 1484124"/>
                      <a:gd name="connsiteX2-55" fmla="*/ 1409604 w 1429931"/>
                      <a:gd name="connsiteY2-56" fmla="*/ 648835 h 1484124"/>
                      <a:gd name="connsiteX3-57" fmla="*/ 716924 w 1429931"/>
                      <a:gd name="connsiteY3-58" fmla="*/ 1474581 h 1484124"/>
                      <a:gd name="connsiteX4-59" fmla="*/ 3222 w 1429931"/>
                      <a:gd name="connsiteY4-60" fmla="*/ 648835 h 1484124"/>
                      <a:gd name="connsiteX0-61" fmla="*/ 2861 w 1281581"/>
                      <a:gd name="connsiteY0-62" fmla="*/ 637738 h 1474000"/>
                      <a:gd name="connsiteX1-63" fmla="*/ 390742 w 1281581"/>
                      <a:gd name="connsiteY1-64" fmla="*/ 1177 h 1474000"/>
                      <a:gd name="connsiteX2-65" fmla="*/ 1262098 w 1281581"/>
                      <a:gd name="connsiteY2-66" fmla="*/ 648248 h 1474000"/>
                      <a:gd name="connsiteX3-67" fmla="*/ 569418 w 1281581"/>
                      <a:gd name="connsiteY3-68" fmla="*/ 1473994 h 1474000"/>
                      <a:gd name="connsiteX4-69" fmla="*/ 2861 w 1281581"/>
                      <a:gd name="connsiteY4-70" fmla="*/ 637738 h 1474000"/>
                      <a:gd name="connsiteX0-71" fmla="*/ 36382 w 1315102"/>
                      <a:gd name="connsiteY0-72" fmla="*/ 637738 h 1474000"/>
                      <a:gd name="connsiteX1-73" fmla="*/ 424263 w 1315102"/>
                      <a:gd name="connsiteY1-74" fmla="*/ 1177 h 1474000"/>
                      <a:gd name="connsiteX2-75" fmla="*/ 1295619 w 1315102"/>
                      <a:gd name="connsiteY2-76" fmla="*/ 648248 h 1474000"/>
                      <a:gd name="connsiteX3-77" fmla="*/ 602939 w 1315102"/>
                      <a:gd name="connsiteY3-78" fmla="*/ 1473994 h 1474000"/>
                      <a:gd name="connsiteX4-79" fmla="*/ 36382 w 1315102"/>
                      <a:gd name="connsiteY4-80" fmla="*/ 637738 h 1474000"/>
                      <a:gd name="connsiteX0-81" fmla="*/ 69692 w 1348412"/>
                      <a:gd name="connsiteY0-82" fmla="*/ 708338 h 1544600"/>
                      <a:gd name="connsiteX1-83" fmla="*/ 457573 w 1348412"/>
                      <a:gd name="connsiteY1-84" fmla="*/ 71777 h 1544600"/>
                      <a:gd name="connsiteX2-85" fmla="*/ 1328929 w 1348412"/>
                      <a:gd name="connsiteY2-86" fmla="*/ 718848 h 1544600"/>
                      <a:gd name="connsiteX3-87" fmla="*/ 636249 w 1348412"/>
                      <a:gd name="connsiteY3-88" fmla="*/ 1544594 h 1544600"/>
                      <a:gd name="connsiteX4-89" fmla="*/ 69692 w 1348412"/>
                      <a:gd name="connsiteY4-90" fmla="*/ 708338 h 1544600"/>
                    </a:gdLst>
                    <a:ahLst/>
                    <a:cxnLst>
                      <a:cxn ang="0">
                        <a:pos x="connsiteX0-1" y="connsiteY0-2"/>
                      </a:cxn>
                      <a:cxn ang="0">
                        <a:pos x="connsiteX1-3" y="connsiteY1-4"/>
                      </a:cxn>
                      <a:cxn ang="0">
                        <a:pos x="connsiteX2-5" y="connsiteY2-6"/>
                      </a:cxn>
                      <a:cxn ang="0">
                        <a:pos x="connsiteX3-7" y="connsiteY3-8"/>
                      </a:cxn>
                      <a:cxn ang="0">
                        <a:pos x="connsiteX4-9" y="connsiteY4-10"/>
                      </a:cxn>
                    </a:cxnLst>
                    <a:rect l="l" t="t" r="r" b="b"/>
                    <a:pathLst>
                      <a:path w="1348412" h="1544600">
                        <a:moveTo>
                          <a:pt x="69692" y="708338"/>
                        </a:moveTo>
                        <a:cubicBezTo>
                          <a:pt x="-75700" y="63475"/>
                          <a:pt x="-15058" y="-119162"/>
                          <a:pt x="457573" y="71777"/>
                        </a:cubicBezTo>
                        <a:cubicBezTo>
                          <a:pt x="930204" y="262716"/>
                          <a:pt x="992598" y="3339"/>
                          <a:pt x="1328929" y="718848"/>
                        </a:cubicBezTo>
                        <a:cubicBezTo>
                          <a:pt x="1465564" y="1171598"/>
                          <a:pt x="846122" y="1546346"/>
                          <a:pt x="636249" y="1544594"/>
                        </a:cubicBezTo>
                        <a:cubicBezTo>
                          <a:pt x="426376" y="1542842"/>
                          <a:pt x="215084" y="1353201"/>
                          <a:pt x="69692" y="708338"/>
                        </a:cubicBezTo>
                        <a:close/>
                      </a:path>
                    </a:pathLst>
                  </a:custGeom>
                  <a:solidFill>
                    <a:schemeClr val="bg1"/>
                  </a:solidFill>
                  <a:ln w="952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  <p:sp>
                <p:nvSpPr>
                  <p:cNvPr id="19" name="円/楕円 176"/>
                  <p:cNvSpPr/>
                  <p:nvPr/>
                </p:nvSpPr>
                <p:spPr>
                  <a:xfrm>
                    <a:off x="3224219" y="4101354"/>
                    <a:ext cx="229191" cy="81241"/>
                  </a:xfrm>
                  <a:prstGeom prst="ellipse">
                    <a:avLst/>
                  </a:prstGeom>
                  <a:solidFill>
                    <a:schemeClr val="bg1"/>
                  </a:solidFill>
                  <a:ln w="952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  <p:sp>
                <p:nvSpPr>
                  <p:cNvPr id="20" name="円/楕円 177"/>
                  <p:cNvSpPr/>
                  <p:nvPr/>
                </p:nvSpPr>
                <p:spPr>
                  <a:xfrm rot="18723341">
                    <a:off x="3407984" y="4567390"/>
                    <a:ext cx="229191" cy="130795"/>
                  </a:xfrm>
                  <a:prstGeom prst="ellipse">
                    <a:avLst/>
                  </a:prstGeom>
                  <a:solidFill>
                    <a:schemeClr val="bg1"/>
                  </a:solidFill>
                  <a:ln w="952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  <p:sp>
                <p:nvSpPr>
                  <p:cNvPr id="21" name="円/楕円 178"/>
                  <p:cNvSpPr/>
                  <p:nvPr/>
                </p:nvSpPr>
                <p:spPr>
                  <a:xfrm rot="20718969">
                    <a:off x="3190089" y="4306199"/>
                    <a:ext cx="293640" cy="146447"/>
                  </a:xfrm>
                  <a:prstGeom prst="ellipse">
                    <a:avLst/>
                  </a:prstGeom>
                  <a:solidFill>
                    <a:schemeClr val="bg1"/>
                  </a:solidFill>
                  <a:ln w="952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  <p:sp>
                <p:nvSpPr>
                  <p:cNvPr id="22" name="円/楕円 179"/>
                  <p:cNvSpPr/>
                  <p:nvPr/>
                </p:nvSpPr>
                <p:spPr>
                  <a:xfrm>
                    <a:off x="3242593" y="4192523"/>
                    <a:ext cx="229191" cy="81241"/>
                  </a:xfrm>
                  <a:prstGeom prst="ellipse">
                    <a:avLst/>
                  </a:prstGeom>
                  <a:solidFill>
                    <a:schemeClr val="bg1"/>
                  </a:solidFill>
                  <a:ln w="952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  <p:sp>
                <p:nvSpPr>
                  <p:cNvPr id="23" name="円/楕円 180"/>
                  <p:cNvSpPr/>
                  <p:nvPr/>
                </p:nvSpPr>
                <p:spPr>
                  <a:xfrm rot="19105625">
                    <a:off x="3047465" y="4168450"/>
                    <a:ext cx="229191" cy="81241"/>
                  </a:xfrm>
                  <a:prstGeom prst="ellipse">
                    <a:avLst/>
                  </a:prstGeom>
                  <a:solidFill>
                    <a:schemeClr val="bg1"/>
                  </a:solidFill>
                  <a:ln w="952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  <p:sp>
                <p:nvSpPr>
                  <p:cNvPr id="24" name="円/楕円 181"/>
                  <p:cNvSpPr/>
                  <p:nvPr/>
                </p:nvSpPr>
                <p:spPr>
                  <a:xfrm rot="19105625">
                    <a:off x="3084464" y="4258587"/>
                    <a:ext cx="229191" cy="81241"/>
                  </a:xfrm>
                  <a:prstGeom prst="ellipse">
                    <a:avLst/>
                  </a:prstGeom>
                  <a:solidFill>
                    <a:schemeClr val="bg1"/>
                  </a:solidFill>
                  <a:ln w="952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  <p:sp>
                <p:nvSpPr>
                  <p:cNvPr id="25" name="円/楕円 182"/>
                  <p:cNvSpPr/>
                  <p:nvPr/>
                </p:nvSpPr>
                <p:spPr>
                  <a:xfrm rot="16755692">
                    <a:off x="3058967" y="4494801"/>
                    <a:ext cx="292462" cy="100161"/>
                  </a:xfrm>
                  <a:prstGeom prst="ellipse">
                    <a:avLst/>
                  </a:prstGeom>
                  <a:solidFill>
                    <a:schemeClr val="bg1"/>
                  </a:solidFill>
                  <a:ln w="952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  <p:sp>
                <p:nvSpPr>
                  <p:cNvPr id="26" name="円/楕円 183"/>
                  <p:cNvSpPr/>
                  <p:nvPr/>
                </p:nvSpPr>
                <p:spPr>
                  <a:xfrm rot="20206640">
                    <a:off x="3301011" y="4675841"/>
                    <a:ext cx="192498" cy="103692"/>
                  </a:xfrm>
                  <a:prstGeom prst="ellipse">
                    <a:avLst/>
                  </a:prstGeom>
                  <a:solidFill>
                    <a:schemeClr val="bg1"/>
                  </a:solidFill>
                  <a:ln w="952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  <p:sp>
                <p:nvSpPr>
                  <p:cNvPr id="27" name="円柱 24"/>
                  <p:cNvSpPr/>
                  <p:nvPr/>
                </p:nvSpPr>
                <p:spPr>
                  <a:xfrm rot="10800000">
                    <a:off x="3408555" y="4059226"/>
                    <a:ext cx="71152" cy="145111"/>
                  </a:xfrm>
                  <a:prstGeom prst="can">
                    <a:avLst>
                      <a:gd name="adj" fmla="val 68214"/>
                    </a:avLst>
                  </a:prstGeom>
                  <a:solidFill>
                    <a:schemeClr val="bg1"/>
                  </a:solidFill>
                  <a:ln w="952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  <p:sp>
                <p:nvSpPr>
                  <p:cNvPr id="28" name="円柱 25"/>
                  <p:cNvSpPr/>
                  <p:nvPr/>
                </p:nvSpPr>
                <p:spPr>
                  <a:xfrm rot="10474734">
                    <a:off x="3416350" y="4159325"/>
                    <a:ext cx="71151" cy="145111"/>
                  </a:xfrm>
                  <a:prstGeom prst="can">
                    <a:avLst>
                      <a:gd name="adj" fmla="val 68214"/>
                    </a:avLst>
                  </a:prstGeom>
                  <a:solidFill>
                    <a:schemeClr val="bg1"/>
                  </a:solidFill>
                  <a:ln w="952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  <p:sp>
                <p:nvSpPr>
                  <p:cNvPr id="29" name="円柱 26"/>
                  <p:cNvSpPr/>
                  <p:nvPr/>
                </p:nvSpPr>
                <p:spPr>
                  <a:xfrm rot="9758492">
                    <a:off x="3447727" y="4287451"/>
                    <a:ext cx="67222" cy="145111"/>
                  </a:xfrm>
                  <a:prstGeom prst="can">
                    <a:avLst>
                      <a:gd name="adj" fmla="val 68214"/>
                    </a:avLst>
                  </a:prstGeom>
                  <a:solidFill>
                    <a:schemeClr val="bg1"/>
                  </a:solidFill>
                  <a:ln w="952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  <p:sp>
                <p:nvSpPr>
                  <p:cNvPr id="30" name="円柱 27"/>
                  <p:cNvSpPr/>
                  <p:nvPr/>
                </p:nvSpPr>
                <p:spPr>
                  <a:xfrm rot="8504862">
                    <a:off x="3553843" y="4503969"/>
                    <a:ext cx="69949" cy="145111"/>
                  </a:xfrm>
                  <a:prstGeom prst="can">
                    <a:avLst>
                      <a:gd name="adj" fmla="val 68214"/>
                    </a:avLst>
                  </a:prstGeom>
                  <a:solidFill>
                    <a:schemeClr val="bg1"/>
                  </a:solidFill>
                  <a:ln w="952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  <p:sp>
                <p:nvSpPr>
                  <p:cNvPr id="31" name="円柱 28"/>
                  <p:cNvSpPr/>
                  <p:nvPr/>
                </p:nvSpPr>
                <p:spPr>
                  <a:xfrm rot="9906573">
                    <a:off x="3225345" y="4080595"/>
                    <a:ext cx="55239" cy="108823"/>
                  </a:xfrm>
                  <a:prstGeom prst="can">
                    <a:avLst>
                      <a:gd name="adj" fmla="val 68214"/>
                    </a:avLst>
                  </a:prstGeom>
                  <a:solidFill>
                    <a:schemeClr val="bg1"/>
                  </a:solidFill>
                  <a:ln w="952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  <p:sp>
                <p:nvSpPr>
                  <p:cNvPr id="32" name="円柱 30"/>
                  <p:cNvSpPr/>
                  <p:nvPr/>
                </p:nvSpPr>
                <p:spPr>
                  <a:xfrm rot="9906573">
                    <a:off x="3260138" y="4190660"/>
                    <a:ext cx="52223" cy="108823"/>
                  </a:xfrm>
                  <a:prstGeom prst="can">
                    <a:avLst>
                      <a:gd name="adj" fmla="val 68214"/>
                    </a:avLst>
                  </a:prstGeom>
                  <a:solidFill>
                    <a:schemeClr val="bg1"/>
                  </a:solidFill>
                  <a:ln w="952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  <p:sp>
                <p:nvSpPr>
                  <p:cNvPr id="33" name="円柱 31"/>
                  <p:cNvSpPr/>
                  <p:nvPr/>
                </p:nvSpPr>
                <p:spPr>
                  <a:xfrm rot="7547432">
                    <a:off x="3211970" y="4366416"/>
                    <a:ext cx="56335" cy="138593"/>
                  </a:xfrm>
                  <a:prstGeom prst="can">
                    <a:avLst>
                      <a:gd name="adj" fmla="val 68214"/>
                    </a:avLst>
                  </a:prstGeom>
                  <a:solidFill>
                    <a:schemeClr val="bg1"/>
                  </a:solidFill>
                  <a:ln w="952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  <p:sp>
                <p:nvSpPr>
                  <p:cNvPr id="34" name="円柱 32"/>
                  <p:cNvSpPr/>
                  <p:nvPr/>
                </p:nvSpPr>
                <p:spPr>
                  <a:xfrm rot="8499449">
                    <a:off x="3435980" y="4618733"/>
                    <a:ext cx="44830" cy="138593"/>
                  </a:xfrm>
                  <a:prstGeom prst="can">
                    <a:avLst>
                      <a:gd name="adj" fmla="val 68214"/>
                    </a:avLst>
                  </a:prstGeom>
                  <a:solidFill>
                    <a:schemeClr val="bg1"/>
                  </a:solidFill>
                  <a:ln w="952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</p:grpSp>
            <p:grpSp>
              <p:nvGrpSpPr>
                <p:cNvPr id="41" name="グループ化 40"/>
                <p:cNvGrpSpPr/>
                <p:nvPr/>
              </p:nvGrpSpPr>
              <p:grpSpPr>
                <a:xfrm rot="0">
                  <a:off x="8438" y="4243"/>
                  <a:ext cx="869" cy="836"/>
                  <a:chOff x="548845" y="2977005"/>
                  <a:chExt cx="2700000" cy="2700000"/>
                </a:xfrm>
              </p:grpSpPr>
              <p:pic>
                <p:nvPicPr>
                  <p:cNvPr id="42" name="グラフィックス 41" descr="セキュリティ カメラ 単色塗りつぶし"/>
                  <p:cNvPicPr>
                    <a:picLocks noChangeAspect="1"/>
                  </p:cNvPicPr>
                  <p:nvPr/>
                </p:nvPicPr>
                <p:blipFill>
                  <a:blip r:embed="rId1">
                    <a:extLst>
                      <a:ext uri="{96DAC541-7B7A-43D3-8B79-37D633B846F1}">
                        <asvg:svgBlip xmlns:asvg="http://schemas.microsoft.com/office/drawing/2016/SVG/main" r:embed="rId2"/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548845" y="2977005"/>
                    <a:ext cx="2700000" cy="2700000"/>
                  </a:xfrm>
                  <a:prstGeom prst="rect">
                    <a:avLst/>
                  </a:prstGeom>
                </p:spPr>
              </p:pic>
              <p:sp>
                <p:nvSpPr>
                  <p:cNvPr id="43" name="正方形/長方形 42"/>
                  <p:cNvSpPr/>
                  <p:nvPr/>
                </p:nvSpPr>
                <p:spPr>
                  <a:xfrm>
                    <a:off x="2720049" y="3305593"/>
                    <a:ext cx="370390" cy="1338778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ja-JP" altLang="en-US" sz="1400" dirty="0"/>
                  </a:p>
                </p:txBody>
              </p:sp>
            </p:grpSp>
          </p:grpSp>
        </p:grpSp>
        <p:sp>
          <p:nvSpPr>
            <p:cNvPr id="35" name="フローチャート: 磁気ディスク 2"/>
            <p:cNvSpPr/>
            <p:nvPr/>
          </p:nvSpPr>
          <p:spPr>
            <a:xfrm>
              <a:off x="4945" y="3771"/>
              <a:ext cx="414" cy="633"/>
            </a:xfrm>
            <a:prstGeom prst="flowChartMagneticDisk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36" name="文本框 35"/>
          <p:cNvSpPr txBox="1"/>
          <p:nvPr/>
        </p:nvSpPr>
        <p:spPr>
          <a:xfrm>
            <a:off x="276225" y="2909570"/>
            <a:ext cx="8522970" cy="5353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3200" b="1">
                <a:latin typeface="Times New Roman" panose="02020603050405020304" charset="0"/>
                <a:ea typeface="SimSun" panose="02010600030101010101" pitchFamily="2" charset="-122"/>
                <a:cs typeface="Times New Roman" panose="02020603050405020304" charset="0"/>
                <a:sym typeface="+mn-ea"/>
              </a:rPr>
              <a:t>Experiment</a:t>
            </a:r>
            <a:endParaRPr lang="en-US" altLang="zh-CN" sz="3200" b="1">
              <a:latin typeface="Times New Roman" panose="02020603050405020304" charset="0"/>
              <a:ea typeface="SimSun" panose="02010600030101010101" pitchFamily="2" charset="-122"/>
              <a:cs typeface="Times New Roman" panose="02020603050405020304" charset="0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351155" y="762000"/>
            <a:ext cx="837184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Wingdings" panose="05000000000000000000" charset="0"/>
              <a:buChar char="n"/>
            </a:pPr>
            <a:r>
              <a:rPr lang="en-US" altLang="zh-CN">
                <a:sym typeface="+mn-ea"/>
              </a:rPr>
              <a:t>Objective : </a:t>
            </a:r>
            <a:endParaRPr lang="en-US" altLang="zh-CN">
              <a:sym typeface="+mn-ea"/>
            </a:endParaRPr>
          </a:p>
          <a:p>
            <a:r>
              <a:rPr lang="en-US" altLang="zh-CN">
                <a:ea typeface="SimSun" panose="02010600030101010101" pitchFamily="2" charset="-122"/>
                <a:sym typeface="+mn-ea"/>
              </a:rPr>
              <a:t>Preliminarily verify the feasibility of the system.</a:t>
            </a:r>
            <a:endParaRPr lang="en-US" altLang="zh-CN">
              <a:ea typeface="SimSun" panose="02010600030101010101" pitchFamily="2" charset="-122"/>
              <a:sym typeface="+mn-ea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351155" y="1407160"/>
            <a:ext cx="844804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Wingdings" panose="05000000000000000000" charset="0"/>
              <a:buChar char="n"/>
            </a:pPr>
            <a:r>
              <a:rPr lang="en-US" altLang="zh-CN">
                <a:sym typeface="+mn-ea"/>
              </a:rPr>
              <a:t>Condition : </a:t>
            </a:r>
            <a:endParaRPr lang="en-US" altLang="zh-CN">
              <a:sym typeface="+mn-ea"/>
            </a:endParaRPr>
          </a:p>
          <a:p>
            <a:r>
              <a:rPr lang="en-US" altLang="zh-CN">
                <a:sym typeface="+mn-ea"/>
              </a:rPr>
              <a:t>Use a part of the dataset for testing. </a:t>
            </a:r>
            <a:endParaRPr lang="zh-CN" altLang="en-US">
              <a:ea typeface="SimSun" panose="02010600030101010101" pitchFamily="2" charset="-122"/>
              <a:sym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/>
        </p:nvSpPr>
        <p:spPr>
          <a:xfrm>
            <a:off x="275590" y="226695"/>
            <a:ext cx="8522970" cy="5353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3200" b="1">
                <a:latin typeface="Times New Roman" panose="02020603050405020304" charset="0"/>
                <a:ea typeface="SimSun" panose="02010600030101010101" pitchFamily="2" charset="-122"/>
                <a:cs typeface="Times New Roman" panose="02020603050405020304" charset="0"/>
                <a:sym typeface="+mn-ea"/>
              </a:rPr>
              <a:t>Summary</a:t>
            </a:r>
            <a:endParaRPr lang="en-US" altLang="zh-CN" sz="3200" b="1">
              <a:latin typeface="Times New Roman" panose="02020603050405020304" charset="0"/>
              <a:ea typeface="SimSun" panose="02010600030101010101" pitchFamily="2" charset="-122"/>
              <a:cs typeface="Times New Roman" panose="02020603050405020304" charset="0"/>
            </a:endParaRPr>
          </a:p>
          <a:p>
            <a:endParaRPr lang="en-US" altLang="zh-CN" sz="3200" b="1">
              <a:latin typeface="Times New Roman" panose="02020603050405020304" charset="0"/>
              <a:ea typeface="SimSun" panose="02010600030101010101" pitchFamily="2" charset="-122"/>
              <a:cs typeface="Times New Roman" panose="02020603050405020304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276225" y="3968115"/>
            <a:ext cx="8523605" cy="12344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457200"/>
            <a:r>
              <a:rPr lang="en-US" altLang="zh-CN" sz="1600">
                <a:ea typeface="SimSun" panose="02010600030101010101" pitchFamily="2" charset="-122"/>
                <a:sym typeface="+mn-ea"/>
              </a:rPr>
              <a:t>In future work, I plan to implement the robotic hand structure using 3D print and integrate it into the system. At the same time, I will expand more gesture types that used in daily life. other sensors may also be introduced as auxiliary interfaces.</a:t>
            </a:r>
            <a:endParaRPr lang="zh-CN" altLang="en-US" sz="1600">
              <a:ea typeface="SimSun" panose="0201060003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02590" y="855980"/>
            <a:ext cx="831596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457200"/>
            <a:r>
              <a:rPr lang="en-US" altLang="zh-CN" sz="1600">
                <a:ea typeface="SimSun" panose="02010600030101010101" pitchFamily="2" charset="-122"/>
              </a:rPr>
              <a:t>In this research, i will build a real-time bimodal fusion system. The main goal is to expand the range of gesture recognition while ensuring real-time performance. And, i will conduct a experiments to verify the </a:t>
            </a:r>
            <a:r>
              <a:rPr lang="en-US" altLang="zh-CN" sz="1600">
                <a:ea typeface="SimSun" panose="02010600030101010101" pitchFamily="2" charset="-122"/>
                <a:sym typeface="+mn-ea"/>
              </a:rPr>
              <a:t>feasibility</a:t>
            </a:r>
            <a:r>
              <a:rPr lang="en-US" altLang="zh-CN" sz="1600">
                <a:ea typeface="SimSun" panose="02010600030101010101" pitchFamily="2" charset="-122"/>
              </a:rPr>
              <a:t> of the proposed system.</a:t>
            </a:r>
            <a:endParaRPr lang="en-US" altLang="zh-CN" sz="1600">
              <a:ea typeface="SimSun" panose="02010600030101010101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76225" y="3357880"/>
            <a:ext cx="8522970" cy="5353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3200" b="1">
                <a:latin typeface="Times New Roman" panose="02020603050405020304" charset="0"/>
                <a:ea typeface="SimSun" panose="02010600030101010101" pitchFamily="2" charset="-122"/>
                <a:cs typeface="Times New Roman" panose="02020603050405020304" charset="0"/>
                <a:sym typeface="+mn-ea"/>
              </a:rPr>
              <a:t>Future Plan</a:t>
            </a:r>
            <a:endParaRPr lang="en-US" altLang="zh-CN" sz="3200" b="1">
              <a:latin typeface="Times New Roman" panose="02020603050405020304" charset="0"/>
              <a:ea typeface="SimSun" panose="02010600030101010101" pitchFamily="2" charset="-122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CPS">
      <a:majorFont>
        <a:latin typeface="Times New Roman"/>
        <a:ea typeface="ＭＳ Ｐゴシック"/>
        <a:cs typeface=""/>
      </a:majorFont>
      <a:minorFont>
        <a:latin typeface="Times New Roman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8a3c59a-3bb1-4ac4-8580-9b2ba74cfe5b">
      <Terms xmlns="http://schemas.microsoft.com/office/infopath/2007/PartnerControls"/>
    </lcf76f155ced4ddcb4097134ff3c332f>
    <TaxCatchAll xmlns="56bf2a1e-b0f5-401e-a825-4d0cd333482d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EEEA4EB4B1C87045B2C7B9E34AE6DFF4" ma:contentTypeVersion="19" ma:contentTypeDescription="新しいドキュメントを作成します。" ma:contentTypeScope="" ma:versionID="195f4af887e8b02337b1b142d1f847de">
  <xsd:schema xmlns:xsd="http://www.w3.org/2001/XMLSchema" xmlns:xs="http://www.w3.org/2001/XMLSchema" xmlns:p="http://schemas.microsoft.com/office/2006/metadata/properties" xmlns:ns2="c8a3c59a-3bb1-4ac4-8580-9b2ba74cfe5b" xmlns:ns3="56bf2a1e-b0f5-401e-a825-4d0cd333482d" targetNamespace="http://schemas.microsoft.com/office/2006/metadata/properties" ma:root="true" ma:fieldsID="81e6449237d2fc142489e0904e1e7166" ns2:_="" ns3:_="">
    <xsd:import namespace="c8a3c59a-3bb1-4ac4-8580-9b2ba74cfe5b"/>
    <xsd:import namespace="56bf2a1e-b0f5-401e-a825-4d0cd333482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8a3c59a-3bb1-4ac4-8580-9b2ba74cfe5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Location" ma:index="12" nillable="true" ma:displayName="Location" ma:internalName="MediaServiceLocatio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画像タグ" ma:readOnly="false" ma:fieldId="{5cf76f15-5ced-4ddc-b409-7134ff3c332f}" ma:taxonomyMulti="true" ma:sspId="60da577d-8c11-42e1-9807-59d1f71190c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6bf2a1e-b0f5-401e-a825-4d0cd333482d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共有相手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共有相手の詳細情報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afb7adad-3fb7-4e7a-8b83-8b41f07d25c8}" ma:internalName="TaxCatchAll" ma:showField="CatchAllData" ma:web="56bf2a1e-b0f5-401e-a825-4d0cd333482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3FA7E84-7FC5-4C41-A4F9-8872414BB2F4}">
  <ds:schemaRefs/>
</ds:datastoreItem>
</file>

<file path=customXml/itemProps2.xml><?xml version="1.0" encoding="utf-8"?>
<ds:datastoreItem xmlns:ds="http://schemas.openxmlformats.org/officeDocument/2006/customXml" ds:itemID="{0E5148B6-4531-42C7-8EF9-49C77F467C6E}">
  <ds:schemaRefs/>
</ds:datastoreItem>
</file>

<file path=customXml/itemProps3.xml><?xml version="1.0" encoding="utf-8"?>
<ds:datastoreItem xmlns:ds="http://schemas.openxmlformats.org/officeDocument/2006/customXml" ds:itemID="{9FF3F963-4824-4617-9390-F81F48A450C9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2901</Words>
  <Application>WPS 演示</Application>
  <PresentationFormat>画面に合わせる (4:3)</PresentationFormat>
  <Paragraphs>112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0" baseType="lpstr">
      <vt:lpstr>Arial</vt:lpstr>
      <vt:lpstr>SimSun</vt:lpstr>
      <vt:lpstr>Wingdings</vt:lpstr>
      <vt:lpstr>Calibri</vt:lpstr>
      <vt:lpstr>Times New Roman</vt:lpstr>
      <vt:lpstr>ＭＳ Ｐ明朝</vt:lpstr>
      <vt:lpstr>Arial</vt:lpstr>
      <vt:lpstr>Wingdings</vt:lpstr>
      <vt:lpstr>ＭＳ Ｐゴシック</vt:lpstr>
      <vt:lpstr>Microsoft YaHei</vt:lpstr>
      <vt:lpstr>Arial Unicode MS</vt:lpstr>
      <vt:lpstr>Office テーマ</vt:lpstr>
      <vt:lpstr>Real-Time Prosthetic Hand Control Based on Bimodal Fusion of Vision and EMG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24742101 石津七海</dc:creator>
  <cp:lastModifiedBy>WPS_1744009845</cp:lastModifiedBy>
  <cp:revision>181</cp:revision>
  <dcterms:created xsi:type="dcterms:W3CDTF">2025-10-02T04:01:00Z</dcterms:created>
  <dcterms:modified xsi:type="dcterms:W3CDTF">2026-01-16T04:28:30Z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0x010100EEEA4EB4B1C87045B2C7B9E34AE6DFF4</vt:lpwstr>
  </property>
  <property fmtid="{D5CDD505-2E9C-101B-9397-08002B2CF9AE}" pid="3" name="ICV">
    <vt:lpwstr>B70015103C7249FE8210DA285DD4FDE3_12</vt:lpwstr>
  </property>
  <property fmtid="{D5CDD505-2E9C-101B-9397-08002B2CF9AE}" pid="4" name="KSOProductBuildVer">
    <vt:lpwstr>2052-12.1.0.24657</vt:lpwstr>
  </property>
</Properties>
</file>