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359" r:id="rId3"/>
  </p:sldIdLst>
  <p:sldSz cx="9144000" cy="6858000" type="screen4x3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20000"/>
    <a:srgbClr val="FADB32"/>
    <a:srgbClr val="FCCA73"/>
    <a:srgbClr val="F59E0B"/>
    <a:srgbClr val="14B8A6"/>
    <a:srgbClr val="FFD700"/>
    <a:srgbClr val="FFB66F"/>
    <a:srgbClr val="FFE1C3"/>
    <a:srgbClr val="FABA67"/>
    <a:srgbClr val="FCF3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114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customXml" Target="../customXml/item2.xml"/><Relationship Id="rId8" Type="http://schemas.openxmlformats.org/officeDocument/2006/relationships/customXml" Target="../customXml/item1.xml"/><Relationship Id="rId7" Type="http://schemas.openxmlformats.org/officeDocument/2006/relationships/tableStyles" Target="tableStyles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0" Type="http://schemas.openxmlformats.org/officeDocument/2006/relationships/customXml" Target="../customXml/item3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kumimoji="1" lang="ja-JP" altLang="en-US"/>
              <a:t>マスター タイトルの書式設定</a:t>
            </a:r>
            <a:endParaRPr kumimoji="1" lang="ja-JP" altLang="en-US"/>
          </a:p>
        </p:txBody>
      </p:sp>
      <p:sp>
        <p:nvSpPr>
          <p:cNvPr id="3" name="字幕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kumimoji="1" lang="ja-JP" altLang="en-US"/>
              <a:t>マスター サブタイトルの書式設定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5312DB-8217-4BDF-B5AF-DC3A694F87D4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5312DB-8217-4BDF-B5AF-DC3A694F87D4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kumimoji="1" lang="ja-JP" altLang="en-US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5312DB-8217-4BDF-B5AF-DC3A694F87D4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/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/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5312DB-8217-4BDF-B5AF-DC3A694F87D4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/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</p:txBody>
      </p:sp>
      <p:sp>
        <p:nvSpPr>
          <p:cNvPr id="6" name="コンテンツ プレースホルダー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/>
          </a:p>
        </p:txBody>
      </p:sp>
      <p:sp>
        <p:nvSpPr>
          <p:cNvPr id="7" name="日付プレースホルダー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5312DB-8217-4BDF-B5AF-DC3A694F87D4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8" name="フッター プレースホルダー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205954" y="94797"/>
            <a:ext cx="7886700" cy="488889"/>
          </a:xfrm>
        </p:spPr>
        <p:txBody>
          <a:bodyPr>
            <a:normAutofit/>
          </a:bodyPr>
          <a:lstStyle>
            <a:lvl1pPr>
              <a:defRPr sz="2800"/>
            </a:lvl1pPr>
          </a:lstStyle>
          <a:p>
            <a:r>
              <a:rPr kumimoji="1" lang="ja-JP" altLang="en-US"/>
              <a:t>マスター タイトルの書式設定</a:t>
            </a:r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5312DB-8217-4BDF-B5AF-DC3A694F87D4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cxnSp>
        <p:nvCxnSpPr>
          <p:cNvPr id="7" name="直線コネクタ 6"/>
          <p:cNvCxnSpPr/>
          <p:nvPr userDrawn="1"/>
        </p:nvCxnSpPr>
        <p:spPr>
          <a:xfrm>
            <a:off x="171450" y="94086"/>
            <a:ext cx="0" cy="489600"/>
          </a:xfrm>
          <a:prstGeom prst="line">
            <a:avLst/>
          </a:prstGeom>
          <a:ln w="5715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スライド番号プレースホルダー 4"/>
          <p:cNvSpPr>
            <a:spLocks noGrp="1"/>
          </p:cNvSpPr>
          <p:nvPr>
            <p:ph type="sldNum" sz="quarter" idx="12"/>
          </p:nvPr>
        </p:nvSpPr>
        <p:spPr>
          <a:xfrm>
            <a:off x="7063954" y="6574305"/>
            <a:ext cx="2057400" cy="365125"/>
          </a:xfrm>
        </p:spPr>
        <p:txBody>
          <a:bodyPr/>
          <a:lstStyle>
            <a:lvl1pPr>
              <a:defRPr sz="1400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fld id="{6F00E456-75B8-4C92-99E8-A0CAB60115A8}" type="slidenum">
              <a:rPr lang="ja-JP" altLang="en-US" smtClean="0"/>
            </a:fld>
            <a:endParaRPr lang="ja-JP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5312DB-8217-4BDF-B5AF-DC3A694F87D4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3" name="フッター プレースホルダー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kumimoji="1" lang="ja-JP" altLang="en-US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/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5312DB-8217-4BDF-B5AF-DC3A694F87D4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kumimoji="1" lang="ja-JP" altLang="en-US"/>
              <a:t>マスター タイトルの書式設定</a:t>
            </a:r>
            <a:endParaRPr kumimoji="1" lang="ja-JP" altLang="en-US"/>
          </a:p>
        </p:txBody>
      </p:sp>
      <p:sp>
        <p:nvSpPr>
          <p:cNvPr id="3" name="図プレースホルダー 2"/>
          <p:cNvSpPr>
            <a:spLocks noGrp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5312DB-8217-4BDF-B5AF-DC3A694F87D4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  <a:endParaRPr kumimoji="1" lang="ja-JP" altLang="en-US"/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5312DB-8217-4BDF-B5AF-DC3A694F87D4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  <a:endParaRPr kumimoji="1" lang="ja-JP" altLang="en-US"/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5312DB-8217-4BDF-B5AF-DC3A694F87D4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F5312DB-8217-4BDF-B5AF-DC3A694F87D4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kumimoji="1"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kumimoji="1"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文本框 1"/>
          <p:cNvSpPr txBox="1"/>
          <p:nvPr/>
        </p:nvSpPr>
        <p:spPr>
          <a:xfrm>
            <a:off x="356235" y="739140"/>
            <a:ext cx="8431530" cy="4071620"/>
          </a:xfrm>
          <a:prstGeom prst="rect">
            <a:avLst/>
          </a:prstGeom>
        </p:spPr>
        <p:txBody>
          <a:bodyPr wrap="square">
            <a:spAutoFit/>
          </a:bodyPr>
          <a:p>
            <a:pPr indent="0">
              <a:lnSpc>
                <a:spcPct val="90000"/>
              </a:lnSpc>
              <a:buFont typeface="Arial" panose="020B0604020202020204" pitchFamily="34" charset="0"/>
              <a:buNone/>
            </a:pPr>
            <a:r>
              <a:rPr lang="en-US" altLang="zh-CN"/>
              <a:t>Q</a:t>
            </a:r>
            <a:r>
              <a:rPr lang="zh-CN" altLang="en-US">
                <a:ea typeface="SimSun" panose="02010600030101010101" pitchFamily="2" charset="-122"/>
              </a:rPr>
              <a:t>：</a:t>
            </a:r>
            <a:r>
              <a:rPr lang="en-US" altLang="zh-CN"/>
              <a:t>Why did you choose distance as the only input variable?</a:t>
            </a:r>
            <a:endParaRPr lang="en-US" altLang="zh-CN"/>
          </a:p>
          <a:p>
            <a:pPr indent="0">
              <a:lnSpc>
                <a:spcPct val="90000"/>
              </a:lnSpc>
              <a:buFont typeface="Arial" panose="020B0604020202020204" pitchFamily="34" charset="0"/>
              <a:buNone/>
            </a:pPr>
            <a:r>
              <a:rPr lang="en-US" altLang="zh-CN"/>
              <a:t>A</a:t>
            </a:r>
            <a:r>
              <a:rPr lang="zh-CN" altLang="en-US">
                <a:ea typeface="SimSun" panose="02010600030101010101" pitchFamily="2" charset="-122"/>
              </a:rPr>
              <a:t>：</a:t>
            </a:r>
            <a:r>
              <a:rPr lang="en-US" altLang="zh-CN">
                <a:ea typeface="SimSun" panose="02010600030101010101" pitchFamily="2" charset="-122"/>
              </a:rPr>
              <a:t>In my previous experiments, the camera was attached to the arm, using a relative coordinate system. However, the prediction performance was not satisfactory.</a:t>
            </a:r>
            <a:endParaRPr lang="en-US" altLang="zh-CN">
              <a:ea typeface="SimSun" panose="02010600030101010101" pitchFamily="2" charset="-122"/>
            </a:endParaRPr>
          </a:p>
          <a:p>
            <a:pPr indent="0">
              <a:lnSpc>
                <a:spcPct val="90000"/>
              </a:lnSpc>
              <a:buFont typeface="Arial" panose="020B0604020202020204" pitchFamily="34" charset="0"/>
              <a:buNone/>
            </a:pPr>
            <a:endParaRPr lang="en-US" altLang="zh-CN">
              <a:ea typeface="SimSun" panose="02010600030101010101" pitchFamily="2" charset="-122"/>
            </a:endParaRPr>
          </a:p>
          <a:p>
            <a:pPr indent="0">
              <a:lnSpc>
                <a:spcPct val="90000"/>
              </a:lnSpc>
              <a:buFont typeface="Arial" panose="020B0604020202020204" pitchFamily="34" charset="0"/>
              <a:buNone/>
            </a:pPr>
            <a:r>
              <a:rPr lang="en-US" altLang="zh-CN">
                <a:ea typeface="SimSun" panose="02010600030101010101" pitchFamily="2" charset="-122"/>
              </a:rPr>
              <a:t>Therefore, I tried fixing the camera in an absolute coordinate system, and the results improved significantly.</a:t>
            </a:r>
            <a:endParaRPr lang="en-US" altLang="zh-CN">
              <a:ea typeface="SimSun" panose="02010600030101010101" pitchFamily="2" charset="-122"/>
            </a:endParaRPr>
          </a:p>
          <a:p>
            <a:pPr indent="0">
              <a:lnSpc>
                <a:spcPct val="90000"/>
              </a:lnSpc>
              <a:buFont typeface="Arial" panose="020B0604020202020204" pitchFamily="34" charset="0"/>
              <a:buNone/>
            </a:pPr>
            <a:endParaRPr lang="en-US" altLang="zh-CN">
              <a:ea typeface="SimSun" panose="02010600030101010101" pitchFamily="2" charset="-122"/>
            </a:endParaRPr>
          </a:p>
          <a:p>
            <a:pPr indent="0">
              <a:lnSpc>
                <a:spcPct val="90000"/>
              </a:lnSpc>
              <a:buFont typeface="Arial" panose="020B0604020202020204" pitchFamily="34" charset="0"/>
              <a:buNone/>
            </a:pPr>
            <a:r>
              <a:rPr lang="en-US" altLang="zh-CN">
                <a:ea typeface="SimSun" panose="02010600030101010101" pitchFamily="2" charset="-122"/>
              </a:rPr>
              <a:t>In this setup, distance is a suitable input variable because it reflects how the hand approaches the object.</a:t>
            </a:r>
            <a:endParaRPr lang="en-US" altLang="zh-CN">
              <a:ea typeface="SimSun" panose="02010600030101010101" pitchFamily="2" charset="-122"/>
            </a:endParaRPr>
          </a:p>
          <a:p>
            <a:pPr indent="0">
              <a:lnSpc>
                <a:spcPct val="90000"/>
              </a:lnSpc>
              <a:buFont typeface="Arial" panose="020B0604020202020204" pitchFamily="34" charset="0"/>
              <a:buNone/>
            </a:pPr>
            <a:endParaRPr lang="en-US" altLang="zh-CN">
              <a:ea typeface="SimSun" panose="02010600030101010101" pitchFamily="2" charset="-122"/>
            </a:endParaRPr>
          </a:p>
          <a:p>
            <a:pPr indent="0">
              <a:lnSpc>
                <a:spcPct val="90000"/>
              </a:lnSpc>
              <a:buFont typeface="Arial" panose="020B0604020202020204" pitchFamily="34" charset="0"/>
              <a:buNone/>
            </a:pPr>
            <a:r>
              <a:rPr lang="en-US" altLang="zh-CN">
                <a:ea typeface="SimSun" panose="02010600030101010101" pitchFamily="2" charset="-122"/>
              </a:rPr>
              <a:t>The experimental results also suggest a nonlinear relationship between distance and fingertip aperture.</a:t>
            </a:r>
            <a:endParaRPr lang="en-US" altLang="zh-CN">
              <a:ea typeface="SimSun" panose="02010600030101010101" pitchFamily="2" charset="-122"/>
            </a:endParaRPr>
          </a:p>
          <a:p>
            <a:pPr indent="0">
              <a:lnSpc>
                <a:spcPct val="90000"/>
              </a:lnSpc>
              <a:buFont typeface="Arial" panose="020B0604020202020204" pitchFamily="34" charset="0"/>
              <a:buNone/>
            </a:pPr>
            <a:endParaRPr lang="en-US" altLang="zh-CN"/>
          </a:p>
          <a:p>
            <a:pPr indent="0">
              <a:lnSpc>
                <a:spcPct val="90000"/>
              </a:lnSpc>
              <a:buFont typeface="Arial" panose="020B0604020202020204" pitchFamily="34" charset="0"/>
              <a:buNone/>
            </a:pPr>
            <a:r>
              <a:rPr lang="en-US" altLang="zh-CN">
                <a:sym typeface="+mn-ea"/>
              </a:rPr>
              <a:t>Q</a:t>
            </a:r>
            <a:r>
              <a:rPr lang="zh-CN" altLang="en-US">
                <a:ea typeface="SimSun" panose="02010600030101010101" pitchFamily="2" charset="-122"/>
                <a:sym typeface="+mn-ea"/>
              </a:rPr>
              <a:t>：</a:t>
            </a:r>
            <a:r>
              <a:rPr lang="en-US" altLang="zh-CN"/>
              <a:t>R²</a:t>
            </a:r>
            <a:r>
              <a:rPr lang="zh-CN" altLang="en-US">
                <a:ea typeface="SimSun" panose="02010600030101010101" pitchFamily="2" charset="-122"/>
              </a:rPr>
              <a:t>是什么</a:t>
            </a:r>
            <a:endParaRPr lang="zh-CN" altLang="en-US">
              <a:ea typeface="SimSun" panose="02010600030101010101" pitchFamily="2" charset="-122"/>
            </a:endParaRPr>
          </a:p>
          <a:p>
            <a:pPr indent="0">
              <a:lnSpc>
                <a:spcPct val="90000"/>
              </a:lnSpc>
              <a:buFont typeface="Arial" panose="020B0604020202020204" pitchFamily="34" charset="0"/>
              <a:buNone/>
            </a:pPr>
            <a:endParaRPr lang="zh-CN" altLang="en-US">
              <a:ea typeface="SimSun" panose="02010600030101010101" pitchFamily="2" charset="-122"/>
            </a:endParaRPr>
          </a:p>
          <a:p>
            <a:pPr indent="0">
              <a:lnSpc>
                <a:spcPct val="90000"/>
              </a:lnSpc>
              <a:buFont typeface="Arial" panose="020B0604020202020204" pitchFamily="34" charset="0"/>
              <a:buNone/>
            </a:pPr>
            <a:r>
              <a:rPr lang="en-US" altLang="zh-CN">
                <a:ea typeface="SimSun" panose="02010600030101010101" pitchFamily="2" charset="-122"/>
              </a:rPr>
              <a:t>Q</a:t>
            </a:r>
            <a:r>
              <a:rPr lang="zh-CN" altLang="en-US">
                <a:ea typeface="SimSun" panose="02010600030101010101" pitchFamily="2" charset="-122"/>
              </a:rPr>
              <a:t>：为什么使用</a:t>
            </a:r>
            <a:r>
              <a:rPr lang="en-US" altLang="zh-CN">
                <a:ea typeface="SimSun" panose="02010600030101010101" pitchFamily="2" charset="-122"/>
              </a:rPr>
              <a:t>PX</a:t>
            </a:r>
            <a:r>
              <a:rPr lang="zh-CN" altLang="en-US">
                <a:ea typeface="SimSun" panose="02010600030101010101" pitchFamily="2" charset="-122"/>
              </a:rPr>
              <a:t>？不会有什么问题吗？</a:t>
            </a:r>
            <a:endParaRPr lang="zh-CN" altLang="en-US">
              <a:ea typeface="SimSun" panose="02010600030101010101" pitchFamily="2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CPS">
      <a:majorFont>
        <a:latin typeface="Times New Roman"/>
        <a:ea typeface="ＭＳ Ｐゴシック"/>
        <a:cs typeface=""/>
      </a:majorFont>
      <a:minorFont>
        <a:latin typeface="Times New Roman"/>
        <a:ea typeface="ＭＳ Ｐ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solidFill>
            <a:srgbClr val="14B8A6"/>
          </a:solidFill>
          <a:tailEnd type="triangle"/>
        </a:ln>
      </a:spPr>
      <a:bodyPr rtlCol="0" anchor="ctr"/>
      <a:lstStyle>
        <a:defPPr algn="ctr">
          <a:defRPr lang="zh-CN" altLang="en-US"/>
        </a:defPPr>
      </a:lstStyle>
      <a:style>
        <a:lnRef idx="2">
          <a:schemeClr val="accent1">
            <a:lumMod val="75000"/>
          </a:schemeClr>
        </a:lnRef>
        <a:fillRef idx="1">
          <a:schemeClr val="accent1"/>
        </a:fillRef>
        <a:effectRef idx="0">
          <a:srgbClr val="FFFFFF"/>
        </a:effectRef>
        <a:fontRef idx="minor">
          <a:schemeClr val="lt1"/>
        </a:fontRef>
      </a:style>
    </a:spDef>
    <a:lnDef>
      <a:spPr>
        <a:noFill/>
        <a:ln w="12700" cmpd="sng">
          <a:solidFill>
            <a:srgbClr val="F20000"/>
          </a:solidFill>
          <a:prstDash val="solid"/>
          <a:tailEnd type="arrow"/>
        </a:ln>
      </a:spPr>
      <a:bodyPr/>
      <a:lstStyle/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c8a3c59a-3bb1-4ac4-8580-9b2ba74cfe5b">
      <Terms xmlns="http://schemas.microsoft.com/office/infopath/2007/PartnerControls"/>
    </lcf76f155ced4ddcb4097134ff3c332f>
    <TaxCatchAll xmlns="56bf2a1e-b0f5-401e-a825-4d0cd333482d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EEEA4EB4B1C87045B2C7B9E34AE6DFF4" ma:contentTypeVersion="19" ma:contentTypeDescription="新しいドキュメントを作成します。" ma:contentTypeScope="" ma:versionID="195f4af887e8b02337b1b142d1f847de">
  <xsd:schema xmlns:xsd="http://www.w3.org/2001/XMLSchema" xmlns:xs="http://www.w3.org/2001/XMLSchema" xmlns:p="http://schemas.microsoft.com/office/2006/metadata/properties" xmlns:ns2="c8a3c59a-3bb1-4ac4-8580-9b2ba74cfe5b" xmlns:ns3="56bf2a1e-b0f5-401e-a825-4d0cd333482d" targetNamespace="http://schemas.microsoft.com/office/2006/metadata/properties" ma:root="true" ma:fieldsID="81e6449237d2fc142489e0904e1e7166" ns2:_="" ns3:_="">
    <xsd:import namespace="c8a3c59a-3bb1-4ac4-8580-9b2ba74cfe5b"/>
    <xsd:import namespace="56bf2a1e-b0f5-401e-a825-4d0cd333482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ServiceLocation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8a3c59a-3bb1-4ac4-8580-9b2ba74cfe5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Location" ma:index="12" nillable="true" ma:displayName="Location" ma:internalName="MediaServiceLocatio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画像タグ" ma:readOnly="false" ma:fieldId="{5cf76f15-5ced-4ddc-b409-7134ff3c332f}" ma:taxonomyMulti="true" ma:sspId="60da577d-8c11-42e1-9807-59d1f71190c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6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6bf2a1e-b0f5-401e-a825-4d0cd333482d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共有相手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共有相手の詳細情報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afb7adad-3fb7-4e7a-8b83-8b41f07d25c8}" ma:internalName="TaxCatchAll" ma:showField="CatchAllData" ma:web="56bf2a1e-b0f5-401e-a825-4d0cd333482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コンテンツ タイプ"/>
        <xsd:element ref="dc:title" minOccurs="0" maxOccurs="1" ma:index="4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9FF3F963-4824-4617-9390-F81F48A450C9}">
  <ds:schemaRefs/>
</ds:datastoreItem>
</file>

<file path=customXml/itemProps2.xml><?xml version="1.0" encoding="utf-8"?>
<ds:datastoreItem xmlns:ds="http://schemas.openxmlformats.org/officeDocument/2006/customXml" ds:itemID="{D3FA7E84-7FC5-4C41-A4F9-8872414BB2F4}">
  <ds:schemaRefs/>
</ds:datastoreItem>
</file>

<file path=customXml/itemProps3.xml><?xml version="1.0" encoding="utf-8"?>
<ds:datastoreItem xmlns:ds="http://schemas.openxmlformats.org/officeDocument/2006/customXml" ds:itemID="{0E5148B6-4531-42C7-8EF9-49C77F467C6E}">
  <ds:schemaRefs/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563</Words>
  <Application>WPS 演示</Application>
  <PresentationFormat>画面に合わせる (4:3)</PresentationFormat>
  <Paragraphs>13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0" baseType="lpstr">
      <vt:lpstr>Arial</vt:lpstr>
      <vt:lpstr>SimSun</vt:lpstr>
      <vt:lpstr>Wingdings</vt:lpstr>
      <vt:lpstr>Times New Roman</vt:lpstr>
      <vt:lpstr>Microsoft YaHei</vt:lpstr>
      <vt:lpstr>Arial Unicode MS</vt:lpstr>
      <vt:lpstr>MS PGothic</vt:lpstr>
      <vt:lpstr>Calibri</vt:lpstr>
      <vt:lpstr>Office テーマ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24742101 石津七海</dc:creator>
  <cp:lastModifiedBy>down down down down down</cp:lastModifiedBy>
  <cp:revision>322</cp:revision>
  <dcterms:created xsi:type="dcterms:W3CDTF">2025-10-02T04:01:00Z</dcterms:created>
  <dcterms:modified xsi:type="dcterms:W3CDTF">2026-10-20T04:14:32Z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0x010100EEEA4EB4B1C87045B2C7B9E34AE6DFF4</vt:lpwstr>
  </property>
  <property fmtid="{D5CDD505-2E9C-101B-9397-08002B2CF9AE}" pid="3" name="ICV">
    <vt:lpwstr>B70015103C7249FE8210DA285DD4FDE3_12</vt:lpwstr>
  </property>
  <property fmtid="{D5CDD505-2E9C-101B-9397-08002B2CF9AE}" pid="4" name="KSOProductBuildVer">
    <vt:lpwstr>2052-12.1.0.29161</vt:lpwstr>
  </property>
</Properties>
</file>