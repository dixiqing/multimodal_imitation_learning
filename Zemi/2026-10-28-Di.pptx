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mp4" ContentType="video/mp4"/>
  <Default Extension="rels" ContentType="application/vnd.openxmlformats-package.relationship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53" r:id="rId5"/>
    <p:sldId id="369" r:id="rId6"/>
    <p:sldId id="370" r:id="rId7"/>
    <p:sldId id="371" r:id="rId8"/>
    <p:sldId id="354" r:id="rId9"/>
    <p:sldId id="355" r:id="rId10"/>
    <p:sldId id="372" r:id="rId11"/>
    <p:sldId id="373" r:id="rId12"/>
    <p:sldId id="374" r:id="rId13"/>
    <p:sldId id="376" r:id="rId14"/>
    <p:sldId id="377" r:id="rId15"/>
    <p:sldId id="378" r:id="rId16"/>
    <p:sldId id="359" r:id="rId1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F9F5"/>
    <a:srgbClr val="6A6A6A"/>
    <a:srgbClr val="F5EFF8"/>
    <a:srgbClr val="EEF3F8"/>
    <a:srgbClr val="5BEBB7"/>
    <a:srgbClr val="E3E3E3"/>
    <a:srgbClr val="737373"/>
    <a:srgbClr val="848484"/>
    <a:srgbClr val="8B8B8B"/>
    <a:srgbClr val="9D9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customXml" Target="../customXml/item3.xml"/><Relationship Id="rId22" Type="http://schemas.openxmlformats.org/officeDocument/2006/relationships/customXml" Target="../customXml/item2.xml"/><Relationship Id="rId21" Type="http://schemas.openxmlformats.org/officeDocument/2006/relationships/customXml" Target="../customXml/item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media" Target="../media/media2.mp4"/><Relationship Id="rId3" Type="http://schemas.openxmlformats.org/officeDocument/2006/relationships/video" Target="../media/media2.mp4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6" Type="http://schemas.openxmlformats.org/officeDocument/2006/relationships/notesSlide" Target="../notesSlides/notesSlide9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6.png"/><Relationship Id="rId13" Type="http://schemas.openxmlformats.org/officeDocument/2006/relationships/tags" Target="../tags/tag29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4530" y="1016635"/>
            <a:ext cx="7775575" cy="1522730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 Regression Model for Prosthetic Hand Control</a:t>
            </a:r>
            <a:endParaRPr kumimoji="1" lang="en-US" altLang="zh-CN" sz="36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SimSun" panose="02010600030101010101" pitchFamily="2" charset="-122"/>
                </a:rPr>
                <a:t>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SimSun" panose="02010600030101010101" pitchFamily="2" charset="-122"/>
                </a:rPr>
                <a:t>How accurately can a regression model </a:t>
              </a:r>
              <a:r>
                <a:rPr lang="en-US" altLang="zh-CN">
                  <a:ea typeface="SimSun" panose="02010600030101010101" pitchFamily="2" charset="-122"/>
                  <a:sym typeface="+mn-ea"/>
                </a:rPr>
                <a:t>predict </a:t>
              </a:r>
              <a:r>
                <a:rPr lang="en-US" altLang="zh-CN">
                  <a:ea typeface="SimSun" panose="02010600030101010101" pitchFamily="2" charset="-122"/>
                </a:rPr>
                <a:t>fingertip aperture </a:t>
              </a:r>
              <a:r>
                <a:rPr lang="en-US" altLang="zh-CN">
                  <a:sym typeface="+mn-ea"/>
                </a:rPr>
                <a:t>from hand–object distance</a:t>
              </a:r>
              <a:r>
                <a:rPr lang="en-US" altLang="zh-CN">
                  <a:ea typeface="SimSun" panose="02010600030101010101" pitchFamily="2" charset="-122"/>
                </a:rPr>
                <a:t> during reach-to-grasp movements?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09320"/>
            <a:ext cx="857313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During reach-to-grasp movements, finger opening and closing are coordinated with the hand’s approach to an object.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This study aims to investigate the relationship between hand–object distance and fingertip aperture, and further examine whether a regression model can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predict </a:t>
            </a:r>
            <a:r>
              <a:rPr lang="en-US" altLang="zh-CN"/>
              <a:t>fingertip aperture from hand–object distance in real time.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0855" y="998855"/>
            <a:ext cx="9027795" cy="5362575"/>
            <a:chOff x="182" y="1685"/>
            <a:chExt cx="14217" cy="8445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l="2579" t="15949" b="21628"/>
            <a:stretch>
              <a:fillRect/>
            </a:stretch>
          </p:blipFill>
          <p:spPr>
            <a:xfrm>
              <a:off x="2759" y="2616"/>
              <a:ext cx="6597" cy="7514"/>
            </a:xfrm>
            <a:prstGeom prst="rect">
              <a:avLst/>
            </a:prstGeom>
          </p:spPr>
        </p:pic>
        <p:sp>
          <p:nvSpPr>
            <p:cNvPr id="8" name="任意多边形 7"/>
            <p:cNvSpPr/>
            <p:nvPr/>
          </p:nvSpPr>
          <p:spPr>
            <a:xfrm>
              <a:off x="1531" y="9014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/>
          </p:nvSpPr>
          <p:spPr>
            <a:xfrm>
              <a:off x="1531" y="2891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1494" y="2908"/>
              <a:ext cx="35" cy="6066"/>
            </a:xfrm>
            <a:custGeom>
              <a:avLst/>
              <a:gdLst>
                <a:gd name="connisteX0" fmla="*/ 0 w 22225"/>
                <a:gd name="connsiteY0" fmla="*/ 0 h 2347595"/>
                <a:gd name="connisteX1" fmla="*/ 22225 w 22225"/>
                <a:gd name="connsiteY1" fmla="*/ 2347595 h 23475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2225" h="2347595">
                  <a:moveTo>
                    <a:pt x="0" y="0"/>
                  </a:moveTo>
                  <a:lnTo>
                    <a:pt x="22225" y="2347595"/>
                  </a:lnTo>
                </a:path>
              </a:pathLst>
            </a:custGeom>
            <a:noFill/>
            <a:ln w="12700" cmpd="sng">
              <a:solidFill>
                <a:schemeClr val="accent1">
                  <a:shade val="50000"/>
                </a:schemeClr>
              </a:solidFill>
              <a:prstDash val="lgDash"/>
              <a:tailEnd type="non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82" y="5470"/>
              <a:ext cx="2113" cy="6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750mm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3580" y="1685"/>
              <a:ext cx="1006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An overhead web camera</a:t>
              </a:r>
              <a:r>
                <a:rPr lang="en-US" altLang="zh-CN"/>
                <a:t> captures visual data.</a:t>
              </a:r>
              <a:endParaRPr lang="en-US" altLang="zh-CN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5641" y="9395"/>
              <a:ext cx="3798" cy="34"/>
            </a:xfrm>
            <a:custGeom>
              <a:avLst/>
              <a:gdLst>
                <a:gd name="connisteX0" fmla="*/ 0 w 3412490"/>
                <a:gd name="connsiteY0" fmla="*/ 0 h 21590"/>
                <a:gd name="connisteX1" fmla="*/ 3412490 w 3412490"/>
                <a:gd name="connsiteY1" fmla="*/ 21590 h 2159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3412490" h="21590">
                  <a:moveTo>
                    <a:pt x="0" y="0"/>
                  </a:moveTo>
                  <a:lnTo>
                    <a:pt x="3412490" y="2159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553" y="8974"/>
              <a:ext cx="4847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ea typeface="SimSun" panose="02010600030101010101" pitchFamily="2" charset="-122"/>
                </a:rPr>
                <a:t>Initial hand position.</a:t>
              </a:r>
              <a:br>
                <a:rPr lang="en-US" altLang="zh-CN">
                  <a:ea typeface="SimSun" panose="02010600030101010101" pitchFamily="2" charset="-122"/>
                </a:rPr>
              </a:br>
              <a:r>
                <a:rPr lang="en-US" altLang="zh-CN">
                  <a:ea typeface="SimSun" panose="02010600030101010101" pitchFamily="2" charset="-122"/>
                </a:rPr>
                <a:t>30 mm from the object.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5212" y="8659"/>
              <a:ext cx="4703" cy="64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30mm</a:t>
              </a:r>
              <a:endParaRPr lang="en-US" altLang="zh-CN"/>
            </a:p>
          </p:txBody>
        </p:sp>
        <p:cxnSp>
          <p:nvCxnSpPr>
            <p:cNvPr id="2" name="直接箭头连接符 1"/>
            <p:cNvCxnSpPr/>
            <p:nvPr/>
          </p:nvCxnSpPr>
          <p:spPr>
            <a:xfrm flipV="1">
              <a:off x="5076" y="8659"/>
              <a:ext cx="228" cy="542"/>
            </a:xfrm>
            <a:prstGeom prst="straightConnector1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arrow"/>
              <a:tailEnd type="arrow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任意多边形 2"/>
            <p:cNvSpPr/>
            <p:nvPr/>
          </p:nvSpPr>
          <p:spPr>
            <a:xfrm>
              <a:off x="3435" y="1900"/>
              <a:ext cx="18" cy="907"/>
            </a:xfrm>
            <a:custGeom>
              <a:avLst/>
              <a:gdLst>
                <a:gd name="connisteX0" fmla="*/ 11430 w 11430"/>
                <a:gd name="connsiteY0" fmla="*/ 427355 h 427355"/>
                <a:gd name="connisteX1" fmla="*/ 0 w 11430"/>
                <a:gd name="connsiteY1" fmla="*/ 0 h 42735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1430" h="427355">
                  <a:moveTo>
                    <a:pt x="11430" y="427355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Example Trial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527175" y="179387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Camera View: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046480" y="925830"/>
            <a:ext cx="15043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SimSun" panose="02010600030101010101" pitchFamily="2" charset="-122"/>
              </a:rPr>
              <a:t>Initial Phase</a:t>
            </a:r>
            <a:endParaRPr lang="en-US">
              <a:ea typeface="SimSun" panose="0201060003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51255" y="1294130"/>
            <a:ext cx="1143635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 sz="1600">
                <a:solidFill>
                  <a:srgbClr val="6E6E6E"/>
                </a:solidFill>
              </a:rPr>
              <a:t>10 frames</a:t>
            </a:r>
            <a:endParaRPr lang="en-US" altLang="zh-CN" sz="1600">
              <a:solidFill>
                <a:srgbClr val="6E6E6E"/>
              </a:solidFill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2667000" y="1160145"/>
            <a:ext cx="658495" cy="253365"/>
          </a:xfrm>
          <a:prstGeom prst="rightArrow">
            <a:avLst>
              <a:gd name="adj1" fmla="val 50000"/>
              <a:gd name="adj2" fmla="val 86215"/>
            </a:avLst>
          </a:prstGeom>
          <a:solidFill>
            <a:srgbClr val="00B050"/>
          </a:solidFill>
          <a:ln>
            <a:noFill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441700" y="925830"/>
            <a:ext cx="1919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SimSun" panose="02010600030101010101" pitchFamily="2" charset="-122"/>
              </a:rPr>
              <a:t>Grasping Phase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9" name="右箭头 8"/>
          <p:cNvSpPr/>
          <p:nvPr/>
        </p:nvSpPr>
        <p:spPr>
          <a:xfrm>
            <a:off x="5588000" y="1160145"/>
            <a:ext cx="658495" cy="253365"/>
          </a:xfrm>
          <a:prstGeom prst="rightArrow">
            <a:avLst>
              <a:gd name="adj1" fmla="val 50000"/>
              <a:gd name="adj2" fmla="val 86215"/>
            </a:avLst>
          </a:prstGeom>
          <a:solidFill>
            <a:srgbClr val="00B050"/>
          </a:solidFill>
          <a:ln>
            <a:noFill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634105" y="1288415"/>
            <a:ext cx="1612900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buClrTx/>
              <a:buSzTx/>
              <a:buFontTx/>
            </a:pPr>
            <a:r>
              <a:rPr lang="en-US" altLang="zh-CN" sz="1600">
                <a:solidFill>
                  <a:srgbClr val="6E6E6E"/>
                </a:solidFill>
              </a:rPr>
              <a:t>Variable duration</a:t>
            </a:r>
            <a:endParaRPr lang="en-US" altLang="zh-CN" sz="1600">
              <a:solidFill>
                <a:srgbClr val="6E6E6E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37910" y="925830"/>
            <a:ext cx="1919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SimSun" panose="02010600030101010101" pitchFamily="2" charset="-122"/>
              </a:rPr>
              <a:t>Hold Phase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330315" y="1288415"/>
            <a:ext cx="1612900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buClrTx/>
              <a:buSzTx/>
              <a:buFontTx/>
            </a:pPr>
            <a:r>
              <a:rPr lang="en-US" altLang="zh-CN" sz="1600">
                <a:solidFill>
                  <a:srgbClr val="6E6E6E"/>
                </a:solidFill>
                <a:sym typeface="+mn-ea"/>
              </a:rPr>
              <a:t>10 frames</a:t>
            </a:r>
            <a:endParaRPr lang="en-US" altLang="zh-CN" sz="1600">
              <a:solidFill>
                <a:srgbClr val="6E6E6E"/>
              </a:solidFill>
            </a:endParaRPr>
          </a:p>
        </p:txBody>
      </p:sp>
      <p:pic>
        <p:nvPicPr>
          <p:cNvPr id="8" name="10月20日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527175" y="2141855"/>
            <a:ext cx="6019800" cy="4514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Visual Processing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4" name="图片 13" descr="10月20日(1)"/>
          <p:cNvPicPr>
            <a:picLocks noChangeAspect="1"/>
          </p:cNvPicPr>
          <p:nvPr/>
        </p:nvPicPr>
        <p:blipFill>
          <a:blip r:embed="rId1"/>
          <a:srcRect l="10347" r="10146" b="7276"/>
          <a:stretch>
            <a:fillRect/>
          </a:stretch>
        </p:blipFill>
        <p:spPr>
          <a:xfrm>
            <a:off x="3691255" y="2008505"/>
            <a:ext cx="5107305" cy="4467225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133350" y="1995805"/>
            <a:ext cx="3437890" cy="353822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/>
              <a:t>Variable 1 </a:t>
            </a:r>
            <a:r>
              <a:rPr lang="en-US" altLang="zh-CN" sz="1600"/>
              <a:t>Hand–Object Distance:</a:t>
            </a:r>
            <a:endParaRPr lang="en-US" altLang="zh-CN" sz="1600"/>
          </a:p>
          <a:p>
            <a:pPr indent="457200">
              <a:buFont typeface="Arial" panose="020B0604020202020204" pitchFamily="34" charset="0"/>
              <a:buNone/>
            </a:pPr>
            <a:r>
              <a:rPr lang="en-US" altLang="zh-CN" sz="1600"/>
              <a:t>The distance between the midpoint of the two fingertips and the center of the object's bounding box.</a:t>
            </a:r>
            <a:endParaRPr lang="en-US" altLang="zh-CN" sz="1600"/>
          </a:p>
          <a:p>
            <a:pPr indent="457200">
              <a:buFont typeface="Arial" panose="020B0604020202020204" pitchFamily="34" charset="0"/>
              <a:buNone/>
            </a:pP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>
                <a:sym typeface="+mn-ea"/>
              </a:rPr>
              <a:t>Variable 2 </a:t>
            </a:r>
            <a:r>
              <a:rPr lang="en-US" altLang="zh-CN" sz="1600">
                <a:sym typeface="+mn-ea"/>
              </a:rPr>
              <a:t>Fingertip Aperture</a:t>
            </a:r>
            <a:r>
              <a:rPr lang="en-US" altLang="zh-CN" sz="1600">
                <a:sym typeface="+mn-ea"/>
              </a:rPr>
              <a:t>:</a:t>
            </a:r>
            <a:endParaRPr lang="en-US" altLang="zh-CN" sz="1600">
              <a:sym typeface="+mn-ea"/>
            </a:endParaRPr>
          </a:p>
          <a:p>
            <a:pPr indent="457200">
              <a:buFont typeface="Arial" panose="020B0604020202020204" pitchFamily="34" charset="0"/>
              <a:buNone/>
            </a:pPr>
            <a:r>
              <a:rPr lang="en-US" altLang="zh-CN" sz="1600">
                <a:sym typeface="+mn-ea"/>
              </a:rPr>
              <a:t>The distance between the thumb tip and index fingertip.</a:t>
            </a:r>
            <a:endParaRPr lang="en-US" altLang="zh-CN" sz="1600">
              <a:sym typeface="+mn-ea"/>
            </a:endParaRPr>
          </a:p>
          <a:p>
            <a:pPr indent="457200">
              <a:buFont typeface="Arial" panose="020B0604020202020204" pitchFamily="34" charset="0"/>
              <a:buNone/>
            </a:pPr>
            <a:endParaRPr lang="en-US" altLang="zh-CN" sz="16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All distances are measured in pixels (px).</a:t>
            </a:r>
            <a:endParaRPr lang="en-US" altLang="zh-CN" sz="16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/>
          </a:p>
        </p:txBody>
      </p:sp>
      <p:sp>
        <p:nvSpPr>
          <p:cNvPr id="19" name="文本框 18"/>
          <p:cNvSpPr txBox="1"/>
          <p:nvPr/>
        </p:nvSpPr>
        <p:spPr>
          <a:xfrm>
            <a:off x="276225" y="944245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/>
              <a:t>MediaPipe and </a:t>
            </a:r>
            <a:r>
              <a:rPr lang="en-US" altLang="zh-CN" sz="1600"/>
              <a:t>OpenCV</a:t>
            </a:r>
            <a:r>
              <a:rPr lang="en-US" altLang="ja-JP" sz="1600"/>
              <a:t> is used to detect hand landmarks and cube</a:t>
            </a:r>
            <a:endParaRPr lang="en-US" altLang="ja-JP" sz="16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219456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Target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Target size: 20, 30, </a:t>
            </a:r>
            <a:r>
              <a:rPr lang="en-US" altLang="zh-CN">
                <a:sym typeface="+mn-ea"/>
              </a:rPr>
              <a:t>and </a:t>
            </a:r>
            <a:r>
              <a:rPr lang="en-US" altLang="zh-CN"/>
              <a:t>40 mm cubes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grasping movement data from participants using cubes of different sizes.</a:t>
            </a:r>
            <a:endParaRPr lang="en-US" altLang="zh-CN">
              <a:sym typeface="+mn-ea"/>
            </a:endParaRPr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4" name="10月20日 (1)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01945" y="1589405"/>
            <a:ext cx="3467735" cy="51384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crop45_normalized_overlay_horizontal.pngcrop45_normalized_overlay_horizontal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75590" y="1975485"/>
            <a:ext cx="8522970" cy="284099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7124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rgbClr val="C7051C"/>
                </a:solidFill>
              </a:rPr>
              <a:t>30</a:t>
            </a:r>
            <a:r>
              <a:rPr lang="en-US" altLang="zh-CN" sz="2000" b="1">
                <a:solidFill>
                  <a:srgbClr val="C7051C"/>
                </a:solidFill>
              </a:rPr>
              <a:t> trial with a 20 mm cube</a:t>
            </a:r>
            <a:endParaRPr lang="en-US" altLang="zh-CN" sz="2000" b="1">
              <a:solidFill>
                <a:srgbClr val="C7051C"/>
              </a:solidFill>
            </a:endParaRPr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684520"/>
            <a:ext cx="8870950" cy="76390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>
              <a:lnSpc>
                <a:spcPct val="110000"/>
              </a:lnSpc>
            </a:pPr>
            <a:r>
              <a:rPr lang="en-US" altLang="zh-CN">
                <a:sym typeface="+mn-ea"/>
              </a:rPr>
              <a:t>The data showed high consistency across experiments, suggesting a consistent relationship </a:t>
            </a:r>
            <a:r>
              <a:rPr lang="en-US" altLang="zh-CN">
                <a:sym typeface="+mn-ea"/>
              </a:rPr>
              <a:t>between hand–object distance and fingertip aperture</a:t>
            </a:r>
            <a:r>
              <a:rPr lang="en-US" altLang="zh-CN">
                <a:sym typeface="+mn-ea"/>
              </a:rPr>
              <a:t>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Maximum Aperture Timing</a:t>
            </a:r>
            <a:endParaRPr lang="zh-CN" altLang="en-US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44.32 ± 2.37%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679315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>
                <a:sym typeface="+mn-ea"/>
              </a:rPr>
              <a:t>Distance at Maximum Aperture (%)</a:t>
            </a:r>
            <a:endParaRPr lang="en-US" altLang="ja-JP">
              <a:sym typeface="+mn-ea"/>
            </a:endParaRPr>
          </a:p>
          <a:p>
            <a:pPr algn="ctr"/>
            <a:r>
              <a:rPr lang="en-US" altLang="zh-CN">
                <a:solidFill>
                  <a:srgbClr val="9E4802"/>
                </a:solidFill>
                <a:sym typeface="+mn-ea"/>
              </a:rPr>
              <a:t>52.15 ± 6.70%</a:t>
            </a:r>
            <a:endParaRPr lang="en-US" altLang="zh-CN">
              <a:solidFill>
                <a:srgbClr val="9E4802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3540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Fingertip Aperture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0.0530 ± 0.0186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315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Hand–Object Distance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0.0226 ± 0.0112</a:t>
            </a:r>
            <a:endParaRPr lang="en-US" altLang="zh-CN">
              <a:solidFill>
                <a:srgbClr val="9E480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23433" y="1696085"/>
            <a:ext cx="7472842" cy="3125470"/>
            <a:chOff x="1815" y="1531"/>
            <a:chExt cx="10193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888" y="2819"/>
              <a:ext cx="2908" cy="1158"/>
              <a:chOff x="4196" y="2860"/>
              <a:chExt cx="2908" cy="1158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196" y="2860"/>
                <a:ext cx="2107" cy="1158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197" y="3478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15" y="2936"/>
              <a:ext cx="2108" cy="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Hand–Object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936000"/>
            <a:ext cx="8522970" cy="39751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SimSun" panose="02010600030101010101" pitchFamily="2" charset="-122"/>
                <a:sym typeface="+mn-ea"/>
              </a:rPr>
              <a:t>Can fingertip aperture during reach-to-grasp be predicted from </a:t>
            </a:r>
            <a:r>
              <a:rPr lang="en-US" altLang="zh-CN">
                <a:sym typeface="+mn-ea"/>
              </a:rPr>
              <a:t>hand–object distance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?</a:t>
            </a:r>
            <a:endParaRPr lang="en-US" altLang="zh-CN">
              <a:ea typeface="SimSun" panose="02010600030101010101" pitchFamily="2" charset="-122"/>
            </a:endParaRPr>
          </a:p>
          <a:p>
            <a:pPr algn="ctr"/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1018540" y="5260340"/>
            <a:ext cx="1847215" cy="905510"/>
            <a:chOff x="1296" y="8244"/>
            <a:chExt cx="2909" cy="1426"/>
          </a:xfrm>
        </p:grpSpPr>
        <p:sp>
          <p:nvSpPr>
            <p:cNvPr id="7" name="圆角矩形 6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Loss Function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MAE</a:t>
              </a:r>
              <a:endParaRPr lang="en-US" altLang="zh-CN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535680" y="5287010"/>
            <a:ext cx="1847215" cy="906145"/>
            <a:chOff x="1296" y="8244"/>
            <a:chExt cx="2909" cy="1427"/>
          </a:xfrm>
        </p:grpSpPr>
        <p:sp>
          <p:nvSpPr>
            <p:cNvPr id="15" name="圆角矩形 14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Preprocessing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Normalization</a:t>
              </a:r>
              <a:endParaRPr lang="en-US" altLang="zh-CN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076315" y="5287010"/>
            <a:ext cx="1847215" cy="906145"/>
            <a:chOff x="1296" y="8244"/>
            <a:chExt cx="2909" cy="1427"/>
          </a:xfrm>
        </p:grpSpPr>
        <p:sp>
          <p:nvSpPr>
            <p:cNvPr id="19" name="圆角矩形 18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Training Data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 trials</a:t>
              </a:r>
              <a:endParaRPr lang="en-US" altLang="zh-CN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EF3F8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Phase-Wise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931545"/>
            <a:ext cx="7620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grasping phase is the most challenging to predict.</a:t>
            </a:r>
            <a:br>
              <a:rPr lang="en-US" altLang="zh-CN"/>
            </a:br>
            <a:r>
              <a:rPr lang="en-US" altLang="zh-CN"/>
              <a:t>However, the current model can reduce prediction errors during this phase.</a:t>
            </a:r>
            <a:endParaRPr lang="en-US" altLang="zh-CN"/>
          </a:p>
        </p:txBody>
      </p:sp>
      <p:pic>
        <p:nvPicPr>
          <p:cNvPr id="3" name="图片 2" descr="06_overall_phase_errors_window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030" y="1843405"/>
            <a:ext cx="7070090" cy="4860925"/>
          </a:xfrm>
          <a:prstGeom prst="rect">
            <a:avLst/>
          </a:prstGeom>
        </p:spPr>
      </p:pic>
      <p:sp>
        <p:nvSpPr>
          <p:cNvPr id="5" name="上箭头 4"/>
          <p:cNvSpPr/>
          <p:nvPr/>
        </p:nvSpPr>
        <p:spPr>
          <a:xfrm rot="8460000">
            <a:off x="3138170" y="2391410"/>
            <a:ext cx="799465" cy="1100455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Effect of Temporal Window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5895340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792000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window:The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753995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2753995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2753995"/>
            <a:ext cx="2640965" cy="3215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528000"/>
            <a:ext cx="8792210" cy="2930525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9 validation trials across three cube sizes (3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4107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ea typeface="SimSun" panose="02010600030101010101" pitchFamily="2" charset="-122"/>
              </a:rPr>
              <a:t>Three phase comparison</a:t>
            </a:r>
            <a:endParaRPr lang="en-US" altLang="zh-CN">
              <a:ea typeface="SimSun" panose="02010600030101010101" pitchFamily="2" charset="-122"/>
            </a:endParaRPr>
          </a:p>
        </p:txBody>
      </p:sp>
      <p:pic>
        <p:nvPicPr>
          <p:cNvPr id="4" name="图片 3" descr="C:/Users/Di/Downloads/download (3).pngdownload (3)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79475" y="1828800"/>
            <a:ext cx="73152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Summary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5"/>
          <p:cNvSpPr>
            <a:spLocks noGrp="1"/>
          </p:cNvSpPr>
          <p:nvPr/>
        </p:nvSpPr>
        <p:spPr>
          <a:xfrm>
            <a:off x="275590" y="4140000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Future Work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5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6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1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1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2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30.xml><?xml version="1.0" encoding="utf-8"?>
<ds:datastoreItem xmlns:ds="http://schemas.openxmlformats.org/officeDocument/2006/customXml" ds:itemID="{D3FA7E84-7FC5-4C41-A4F9-8872414BB2F4}">
  <ds:schemaRefs/>
</ds:datastoreItem>
</file>

<file path=customXml/itemProps31.xml><?xml version="1.0" encoding="utf-8"?>
<ds:datastoreItem xmlns:ds="http://schemas.openxmlformats.org/officeDocument/2006/customXml" ds:itemID="{0E5148B6-4531-42C7-8EF9-49C77F467C6E}">
  <ds:schemaRefs/>
</ds:datastoreItem>
</file>

<file path=customXml/itemProps32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3210</Words>
  <Application>WPS 演示</Application>
  <PresentationFormat>画面に合わせる (4:3)</PresentationFormat>
  <Paragraphs>174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33" baseType="lpstr">
      <vt:lpstr>Arial</vt:lpstr>
      <vt:lpstr>SimSun</vt:lpstr>
      <vt:lpstr>Wingdings</vt:lpstr>
      <vt:lpstr>Times New Roman</vt:lpstr>
      <vt:lpstr>Source Han Sans JP Bold</vt:lpstr>
      <vt:lpstr>Source Han Sans JP</vt:lpstr>
      <vt:lpstr>Avenir Heavy</vt:lpstr>
      <vt:lpstr>Times New Roman</vt:lpstr>
      <vt:lpstr>Arial</vt:lpstr>
      <vt:lpstr>Microsoft YaHei</vt:lpstr>
      <vt:lpstr>Arial Unicode MS</vt:lpstr>
      <vt:lpstr>MS PGothic</vt:lpstr>
      <vt:lpstr>Calibri</vt:lpstr>
      <vt:lpstr>Avenir Heavy</vt:lpstr>
      <vt:lpstr>Source Han Sans JP Bold</vt:lpstr>
      <vt:lpstr>Wonder Sans Bold</vt:lpstr>
      <vt:lpstr>Avenir LT Pro 55 Roman</vt:lpstr>
      <vt:lpstr>Wingdings</vt:lpstr>
      <vt:lpstr>Office テーマ</vt:lpstr>
      <vt:lpstr>A Vision Regression Model for Prosthetic Hand Control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327</cp:revision>
  <dcterms:created xsi:type="dcterms:W3CDTF">2025-10-02T04:01:00Z</dcterms:created>
  <dcterms:modified xsi:type="dcterms:W3CDTF">2026-10-20T11:15:23Z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2052-12.1.0.29161</vt:lpwstr>
  </property>
</Properties>
</file>