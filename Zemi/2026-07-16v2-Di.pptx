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mp4" ContentType="video/mp4"/>
  <Default Extension="rels" ContentType="application/vnd.openxmlformats-package.relationship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80" r:id="rId3"/>
    <p:sldId id="338" r:id="rId5"/>
    <p:sldId id="330" r:id="rId6"/>
    <p:sldId id="341" r:id="rId7"/>
    <p:sldId id="332" r:id="rId8"/>
    <p:sldId id="352" r:id="rId9"/>
    <p:sldId id="340" r:id="rId10"/>
    <p:sldId id="354" r:id="rId11"/>
    <p:sldId id="333" r:id="rId12"/>
    <p:sldId id="334" r:id="rId13"/>
    <p:sldId id="335" r:id="rId14"/>
    <p:sldId id="317" r:id="rId1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6327D"/>
    <a:srgbClr val="C00000"/>
    <a:srgbClr val="14B8A6"/>
    <a:srgbClr val="F59E0B"/>
    <a:srgbClr val="F20000"/>
    <a:srgbClr val="FADB32"/>
    <a:srgbClr val="FCCA73"/>
    <a:srgbClr val="FFD700"/>
    <a:srgbClr val="FFB6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ustomXml" Target="../customXml/item3.xml"/><Relationship Id="rId20" Type="http://schemas.openxmlformats.org/officeDocument/2006/relationships/customXml" Target="../customXml/item2.xml"/><Relationship Id="rId2" Type="http://schemas.openxmlformats.org/officeDocument/2006/relationships/theme" Target="theme/theme1.xml"/><Relationship Id="rId19" Type="http://schemas.openxmlformats.org/officeDocument/2006/relationships/customXml" Target="../customXml/item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Hello everyone im d, my research is ...</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Approximately 57.7 million people </a:t>
            </a:r>
            <a:r>
              <a:rPr lang="en-US" altLang="ja-JP">
                <a:sym typeface="+mn-ea"/>
              </a:rPr>
              <a:t>lost an</a:t>
            </a:r>
            <a:r>
              <a:rPr lang="en-US" altLang="zh-CN">
                <a:sym typeface="+mn-ea"/>
              </a:rPr>
              <a:t> upper limb.</a:t>
            </a:r>
            <a:endParaRPr lang="en-US" altLang="zh-CN"/>
          </a:p>
          <a:p>
            <a:r>
              <a:rPr lang="en-US" altLang="zh-CN">
                <a:sym typeface="+mn-ea"/>
              </a:rPr>
              <a:t>This significantly impacts their daily lives, so the prosthetic hand research aim to help them.</a:t>
            </a:r>
            <a:endParaRPr lang="en-US" altLang="zh-CN"/>
          </a:p>
          <a:p>
            <a:r>
              <a:rPr lang="en-US" altLang="ja-JP">
                <a:sym typeface="+mn-ea"/>
              </a:rPr>
              <a:t>With computational power and algorithms continue to advance, the prosthetic hand are able to recognize an increasing number of movements</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en-US" altLang="zh-CN">
                <a:sym typeface="+mn-ea"/>
              </a:rPr>
              <a:t>V</a:t>
            </a:r>
            <a:r>
              <a:rPr lang="en-US" altLang="en-US">
                <a:sym typeface="+mn-ea"/>
              </a:rPr>
              <a:t>á</a:t>
            </a:r>
            <a:r>
              <a:rPr lang="en-US" altLang="zh-CN">
                <a:sym typeface="+mn-ea"/>
              </a:rPr>
              <a:t>sconez</a:t>
            </a:r>
            <a:r>
              <a:rPr lang="en-US" altLang="zh-CN">
                <a:latin typeface="+mj-lt"/>
                <a:cs typeface="+mj-lt"/>
                <a:sym typeface="+mn-ea"/>
              </a:rPr>
              <a:t> et al. proposed a system, that combine EMG with IMU, adopts a deep reinforcement learning model. Classifies 11 types of grasping movements. The results achieved 97% accuracy.</a:t>
            </a:r>
            <a:br>
              <a:rPr lang="en-US" altLang="zh-CN">
                <a:latin typeface="+mj-lt"/>
                <a:cs typeface="+mj-lt"/>
                <a:sym typeface="+mn-ea"/>
              </a:rPr>
            </a:br>
            <a:r>
              <a:rPr lang="en-US" altLang="zh-CN"/>
              <a:t>2.Zandigohar et al.</a:t>
            </a:r>
            <a:br>
              <a:rPr lang="zh-CN" altLang="en-US"/>
            </a:br>
            <a:r>
              <a:rPr lang="en-US" altLang="zh-CN"/>
              <a:t>..</a:t>
            </a:r>
            <a:br>
              <a:rPr lang="en-US" altLang="zh-CN"/>
            </a:br>
            <a:r>
              <a:rPr lang="en-US" altLang="zh-CN"/>
              <a:t>This is </a:t>
            </a:r>
            <a:r>
              <a:rPr lang="en-US" altLang="zh-CN">
                <a:sym typeface="+mn-ea"/>
              </a:rPr>
              <a:t>currently</a:t>
            </a:r>
            <a:r>
              <a:rPr lang="en-US" altLang="zh-CN"/>
              <a:t> one reason for the high </a:t>
            </a:r>
            <a:r>
              <a:rPr lang="en-US" altLang="zh-CN" dirty="0">
                <a:sym typeface="+mn-ea"/>
              </a:rPr>
              <a:t>rejection</a:t>
            </a:r>
            <a:r>
              <a:rPr lang="en-US" altLang="zh-CN"/>
              <a:t> rate of prosthetic hand.</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So in my research, objective is to Replace classification models to Regression Models.</a:t>
            </a:r>
            <a:br>
              <a:rPr lang="en-US" altLang="zh-CN"/>
            </a:br>
            <a:r>
              <a:rPr lang="en-US" altLang="zh-CN"/>
              <a:t>From modular approach to end to end approach to reduce </a:t>
            </a:r>
            <a:r>
              <a:rPr lang="en-US" altLang="zh-CN">
                <a:sym typeface="+mn-ea"/>
              </a:rPr>
              <a:t>system complexity and loss of important information</a:t>
            </a:r>
            <a:endParaRPr lang="en-US" altLang="zh-CN"/>
          </a:p>
          <a:p>
            <a:r>
              <a:rPr lang="en-US" altLang="zh-CN"/>
              <a:t>RQ is to verify that can the system </a:t>
            </a:r>
            <a:r>
              <a:rPr lang="en-US" altLang="zh-CN">
                <a:ea typeface="宋体" panose="02010600030101010101" pitchFamily="2" charset="-122"/>
                <a:sym typeface="+mn-ea"/>
              </a:rPr>
              <a:t>build </a:t>
            </a:r>
            <a:r>
              <a:rPr lang="en-US" altLang="zh-CN"/>
              <a:t>on an end-to-end </a:t>
            </a:r>
            <a:r>
              <a:rPr lang="en-US" altLang="zh-CN">
                <a:ea typeface="宋体" panose="02010600030101010101" pitchFamily="2" charset="-122"/>
                <a:sym typeface="+mn-ea"/>
              </a:rPr>
              <a:t>approach combined with regression be successfully applied, </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the System architeture, now i include two type of sensor. </a:t>
            </a:r>
            <a:br>
              <a:rPr lang="en-US" altLang="zh-CN"/>
            </a:br>
            <a:r>
              <a:rPr lang="en-US"/>
              <a:t>In EMG Branch</a:t>
            </a:r>
            <a:r>
              <a:rPr lang="zh-CN" altLang="en-US"/>
              <a:t>，</a:t>
            </a:r>
            <a:r>
              <a:rPr lang="en-US" altLang="zh-CN"/>
              <a:t>still use a classification model</a:t>
            </a:r>
            <a:r>
              <a:rPr lang="zh-CN" altLang="en-US"/>
              <a:t>，</a:t>
            </a:r>
            <a:r>
              <a:rPr lang="en-US" altLang="zh-CN"/>
              <a:t>but instead of ...</a:t>
            </a:r>
            <a:r>
              <a:rPr lang="zh-CN" altLang="en-US"/>
              <a:t>，</a:t>
            </a:r>
            <a:r>
              <a:rPr lang="en-US" altLang="zh-CN"/>
              <a:t>grasp or not</a:t>
            </a:r>
            <a:r>
              <a:rPr lang="zh-CN" altLang="en-US"/>
              <a:t>。</a:t>
            </a:r>
            <a:r>
              <a:rPr lang="en-US" altLang="zh-CN"/>
              <a:t>This significantly reduces the cognitive load.</a:t>
            </a:r>
            <a:br>
              <a:rPr lang="en-US" altLang="zh-CN"/>
            </a:br>
            <a:r>
              <a:rPr lang="en-US" altLang="zh-CN"/>
              <a:t>and in vision branch, diffrent previous, this time adopt end to end approach, Image directly map ...</a:t>
            </a:r>
            <a:br>
              <a:rPr lang="en-US" altLang="zh-CN"/>
            </a:br>
            <a:r>
              <a:rPr lang="en-US" altLang="zh-CN"/>
              <a:t>In other words, the network no longer performs object recognition, dont draw a bounding box </a:t>
            </a:r>
            <a:r>
              <a:rPr lang="en-US" altLang="zh-CN">
                <a:sym typeface="+mn-ea"/>
              </a:rPr>
              <a:t> in the image.</a:t>
            </a:r>
            <a:br>
              <a:rPr lang="en-US" altLang="zh-CN"/>
            </a:br>
            <a:r>
              <a:rPr lang="en-US" altLang="zh-CN"/>
              <a:t>finally, will be fusion the decision, output the control result.</a:t>
            </a:r>
            <a:br>
              <a:rPr lang="zh-CN" altLang="en-US">
                <a:sym typeface="+mn-ea"/>
              </a:rPr>
            </a:br>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robotic hand will ..., when i want to grasp, the robotic hand will open suitable size.   In the ui we can see, the open and close angle will be continusly adjustment, represent the regresion model are continuous to output a result. Here can see hand vision vedio is slow, when i make the slide, also notice. and i search, this is cuz pyhon need to runing inference so,in the record will have delay. this not affect actual use. But indeed, the two sensors have different frequencies, there can be some misalignment when synchronizing the data. i dont to carefully check.</a:t>
            </a:r>
            <a:br>
              <a:rPr lang="en-US" altLang="zh-CN"/>
            </a:br>
            <a:r>
              <a:rPr lang="en-US" altLang="zh-CN"/>
              <a:t>At the current stage, i just simplely test the system whether it can be running</a:t>
            </a:r>
            <a:br>
              <a:rPr lang="en-US" altLang="zh-CN"/>
            </a:br>
            <a:r>
              <a:rPr lang="en-US" altLang="ja-JP">
                <a:sym typeface="+mn-ea"/>
              </a:rPr>
              <a:t>next step is to </a:t>
            </a:r>
            <a:r>
              <a:rPr lang="en-US" altLang="ja-JP">
                <a:sym typeface="+mn-ea"/>
              </a:rPr>
              <a:t>record data of</a:t>
            </a:r>
            <a:r>
              <a:rPr lang="en-US" altLang="ja-JP">
                <a:sym typeface="+mn-ea"/>
              </a:rPr>
              <a:t> grasping different objects, enabling the model to learn grasping angles for different objects.</a:t>
            </a:r>
            <a:endParaRPr lang="en-US" altLang="ja-JP"/>
          </a:p>
          <a:p>
            <a:br>
              <a:rPr lang="zh-CN" altLang="en-US"/>
            </a:b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training procedure, the system adopts imitation learning. so i record the Image and emg signal and angle, feed into system, system will be learning, Learns the angle as output, directly corresponding to the synchronized image. so in the record, </a:t>
            </a:r>
            <a:br>
              <a:rPr lang="en-US" altLang="zh-CN"/>
            </a:b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the angle change curve. this part is discarded data that is </a:t>
            </a:r>
            <a:r>
              <a:rPr lang="en-US" altLang="zh-CN">
                <a:sym typeface="+mn-ea"/>
              </a:rPr>
              <a:t>s</a:t>
            </a:r>
            <a:r>
              <a:rPr lang="en-US" altLang="zh-CN">
                <a:sym typeface="+mn-ea"/>
              </a:rPr>
              <a:t>ystem startup calibration phase.</a:t>
            </a:r>
            <a:br>
              <a:rPr lang="en-US" altLang="zh-CN">
                <a:sym typeface="+mn-ea"/>
              </a:rPr>
            </a:br>
            <a:r>
              <a:rPr lang="en-US" altLang="zh-CN">
                <a:sym typeface="+mn-ea"/>
              </a:rPr>
              <a:t>the green range is valid value, it is one gasping </a:t>
            </a:r>
            <a:r>
              <a:rPr lang="en-US" altLang="zh-CN">
                <a:sym typeface="+mn-ea"/>
              </a:rPr>
              <a:t>process, so each angle change in grasping process, is a peak curve. After several testing, i found instead of raw angle data, labeling the peak and trough values, feed into model to learning, will let the system perform better.</a:t>
            </a:r>
            <a:endParaRPr lang="en-US" altLang="zh-CN">
              <a:sym typeface="+mn-ea"/>
            </a:endParaRPr>
          </a:p>
          <a:p>
            <a:r>
              <a:rPr lang="en-US" altLang="zh-CN"/>
              <a:t>and due to the peak shape, i can automaticly to labeling</a:t>
            </a:r>
            <a:br>
              <a:rPr lang="zh-CN" altLang="en-US"/>
            </a:b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For to evaluate.... I design the experiment. the scen is let the participants to grasp different size object</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There are two metrics.</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now in my research, the two...</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286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46291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365126"/>
            <a:ext cx="78867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29842" y="2505075"/>
            <a:ext cx="3868340"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4629150" y="2505075"/>
            <a:ext cx="3887391"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205954" y="94797"/>
            <a:ext cx="7886700" cy="488889"/>
          </a:xfrm>
        </p:spPr>
        <p:txBody>
          <a:bodyPr>
            <a:normAutofit/>
          </a:bodyPr>
          <a:lstStyle>
            <a:lvl1pPr>
              <a:defRPr sz="2800"/>
            </a:lvl1p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cxnSp>
        <p:nvCxnSpPr>
          <p:cNvPr id="7" name="直線コネクタ 6"/>
          <p:cNvCxnSpPr/>
          <p:nvPr userDrawn="1"/>
        </p:nvCxn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 name="スライド番号プレースホルダー 4"/>
          <p:cNvSpPr>
            <a:spLocks noGrp="1"/>
          </p:cNvSpPr>
          <p:nvPr>
            <p:ph type="sldNum" sz="quarter" idx="12"/>
          </p:nvPr>
        </p:nvSpPr>
        <p:spPr>
          <a:xfrm>
            <a:off x="7063954" y="6574305"/>
            <a:ext cx="2057400" cy="365125"/>
          </a:xfrm>
        </p:spPr>
        <p:txBody>
          <a:bodyPr/>
          <a:lstStyle>
            <a:lvl1pPr>
              <a:defRPr sz="1400">
                <a:solidFill>
                  <a:schemeClr val="accent1">
                    <a:lumMod val="75000"/>
                  </a:schemeClr>
                </a:solidFill>
              </a:defRPr>
            </a:lvl1pPr>
          </a:lstStyle>
          <a:p>
            <a:fld id="{6F00E456-75B8-4C92-99E8-A0CAB60115A8}" type="slidenum">
              <a:rPr lang="ja-JP" altLang="en-US" smtClean="0"/>
            </a:fld>
            <a:endParaRPr lang="ja-JP"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43675" y="365125"/>
            <a:ext cx="1971675"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F00E456-75B8-4C92-99E8-A0CAB60115A8}"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3" Type="http://schemas.openxmlformats.org/officeDocument/2006/relationships/notesSlide" Target="../notesSlides/notesSlide4.xml"/><Relationship Id="rId42" Type="http://schemas.openxmlformats.org/officeDocument/2006/relationships/slideLayout" Target="../slideLayouts/slideLayout2.xml"/><Relationship Id="rId41" Type="http://schemas.openxmlformats.org/officeDocument/2006/relationships/tags" Target="../tags/tag39.xml"/><Relationship Id="rId40" Type="http://schemas.openxmlformats.org/officeDocument/2006/relationships/tags" Target="../tags/tag38.xml"/><Relationship Id="rId4" Type="http://schemas.openxmlformats.org/officeDocument/2006/relationships/tags" Target="../tags/tag4.xml"/><Relationship Id="rId39" Type="http://schemas.openxmlformats.org/officeDocument/2006/relationships/tags" Target="../tags/tag37.xml"/><Relationship Id="rId38" Type="http://schemas.openxmlformats.org/officeDocument/2006/relationships/tags" Target="../tags/tag36.xml"/><Relationship Id="rId37" Type="http://schemas.openxmlformats.org/officeDocument/2006/relationships/tags" Target="../tags/tag35.xml"/><Relationship Id="rId36" Type="http://schemas.openxmlformats.org/officeDocument/2006/relationships/tags" Target="../tags/tag34.xml"/><Relationship Id="rId35" Type="http://schemas.openxmlformats.org/officeDocument/2006/relationships/tags" Target="../tags/tag33.xml"/><Relationship Id="rId34" Type="http://schemas.openxmlformats.org/officeDocument/2006/relationships/tags" Target="../tags/tag32.xml"/><Relationship Id="rId33" Type="http://schemas.openxmlformats.org/officeDocument/2006/relationships/tags" Target="../tags/tag31.xml"/><Relationship Id="rId32" Type="http://schemas.openxmlformats.org/officeDocument/2006/relationships/image" Target="../media/image10.png"/><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3.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image" Target="../media/image9.png"/><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image" Target="../media/image12.jpeg"/><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image" Target="../media/image11.png"/><Relationship Id="rId3" Type="http://schemas.openxmlformats.org/officeDocument/2006/relationships/tags" Target="../tags/tag42.xml"/><Relationship Id="rId2" Type="http://schemas.openxmlformats.org/officeDocument/2006/relationships/tags" Target="../tags/tag41.xml"/><Relationship Id="rId17" Type="http://schemas.openxmlformats.org/officeDocument/2006/relationships/notesSlide" Target="../notesSlides/notesSlide5.xml"/><Relationship Id="rId16" Type="http://schemas.openxmlformats.org/officeDocument/2006/relationships/slideLayout" Target="../slideLayouts/slideLayout2.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40.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3.png"/><Relationship Id="rId2" Type="http://schemas.microsoft.com/office/2007/relationships/media" Target="../media/media1.mp4"/><Relationship Id="rId1" Type="http://schemas.openxmlformats.org/officeDocument/2006/relationships/video" Target="../media/media1.mp4"/></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53.xml"/><Relationship Id="rId3" Type="http://schemas.openxmlformats.org/officeDocument/2006/relationships/image" Target="../media/image14.png"/><Relationship Id="rId2" Type="http://schemas.microsoft.com/office/2007/relationships/media" Target="../media/media2.mp4"/><Relationship Id="rId1" Type="http://schemas.openxmlformats.org/officeDocument/2006/relationships/video" Target="../media/media2.mp4"/></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png"/><Relationship Id="rId7" Type="http://schemas.openxmlformats.org/officeDocument/2006/relationships/tags" Target="../tags/tag55.xml"/><Relationship Id="rId6" Type="http://schemas.openxmlformats.org/officeDocument/2006/relationships/image" Target="../media/image20.png"/><Relationship Id="rId5" Type="http://schemas.openxmlformats.org/officeDocument/2006/relationships/tags" Target="../tags/tag54.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svg"/><Relationship Id="rId10" Type="http://schemas.openxmlformats.org/officeDocument/2006/relationships/notesSlide" Target="../notesSlides/notesSlide9.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4530" y="1016635"/>
            <a:ext cx="7775575" cy="1522730"/>
          </a:xfrm>
        </p:spPr>
        <p:txBody>
          <a:bodyPr vert="horz" anchor="ctr" anchorCtr="1">
            <a:noAutofit/>
          </a:bodyPr>
          <a:lstStyle/>
          <a:p>
            <a:pPr algn="ctr"/>
            <a:r>
              <a:rPr kumimoji="1" lang="en-US" altLang="zh-CN" sz="3200" dirty="0">
                <a:cs typeface="+mj-lt"/>
              </a:rPr>
              <a:t>End-to-End Multimodal Learning for Continuous Prosthetic Hand Control</a:t>
            </a:r>
            <a:endParaRPr kumimoji="1" lang="en-US" altLang="zh-CN" sz="3200" dirty="0">
              <a:cs typeface="+mj-lt"/>
            </a:endParaRPr>
          </a:p>
        </p:txBody>
      </p:sp>
      <p:sp>
        <p:nvSpPr>
          <p:cNvPr id="5" name="テキスト ボックス 4"/>
          <p:cNvSpPr txBox="1"/>
          <p:nvPr/>
        </p:nvSpPr>
        <p:spPr>
          <a:xfrm>
            <a:off x="684530" y="4070350"/>
            <a:ext cx="7775575" cy="1550670"/>
          </a:xfrm>
          <a:prstGeom prst="rect">
            <a:avLst/>
          </a:prstGeom>
          <a:noFill/>
        </p:spPr>
        <p:txBody>
          <a:bodyPr wrap="square">
            <a:noAutofit/>
          </a:bodyPr>
          <a:lstStyle/>
          <a:p>
            <a:pPr algn="ctr"/>
            <a:r>
              <a:rPr lang="en-US" sz="2000">
                <a:solidFill>
                  <a:srgbClr val="000000"/>
                </a:solidFill>
                <a:effectLst/>
                <a:latin typeface="Times New Roman" panose="02020603050405020304" charset="0"/>
                <a:cs typeface="Times New Roman" panose="02020603050405020304" charset="0"/>
                <a:sym typeface="+mn-ea"/>
              </a:rPr>
              <a:t>Saga</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University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Graduate</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School of Science and Engineering​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altLang="zh-CN" sz="2000" dirty="0">
                <a:solidFill>
                  <a:srgbClr val="000000"/>
                </a:solidFill>
                <a:latin typeface="+mj-lt"/>
                <a:cs typeface="+mj-lt"/>
                <a:sym typeface="+mn-ea"/>
              </a:rPr>
              <a:t>Computer Science &amp; Information Techology</a:t>
            </a:r>
            <a:r>
              <a:rPr lang="en-US" sz="2000">
                <a:solidFill>
                  <a:srgbClr val="000000"/>
                </a:solidFill>
                <a:effectLst/>
                <a:latin typeface="Times New Roman" panose="02020603050405020304" charset="0"/>
                <a:cs typeface="Times New Roman" panose="02020603050405020304" charset="0"/>
                <a:sym typeface="+mn-ea"/>
              </a:rPr>
              <a:t> Course​</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Fukuda</a:t>
            </a:r>
            <a:r>
              <a:rPr lang="en-US" sz="2000">
                <a:solidFill>
                  <a:srgbClr val="000000"/>
                </a:solidFill>
                <a:latin typeface="Times New Roman" panose="02020603050405020304" charset="0"/>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Laboratory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altLang="ja-JP" sz="2000" dirty="0">
                <a:solidFill>
                  <a:srgbClr val="000000"/>
                </a:solidFill>
                <a:effectLst/>
                <a:latin typeface="+mj-lt"/>
                <a:cs typeface="+mj-lt"/>
                <a:sym typeface="+mn-ea"/>
              </a:rPr>
              <a:t>25742102 DI XIQING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Supervisor: </a:t>
            </a:r>
            <a:r>
              <a:rPr lang="en-US" altLang="ja-JP" sz="2000">
                <a:solidFill>
                  <a:srgbClr val="000000"/>
                </a:solidFill>
                <a:effectLst/>
                <a:latin typeface="Times New Roman" panose="02020603050405020304" charset="0"/>
                <a:ea typeface="Source Han Sans JP Bold"/>
                <a:cs typeface="Times New Roman" panose="02020603050405020304" charset="0"/>
                <a:sym typeface="+mn-ea"/>
              </a:rPr>
              <a:t>Professor </a:t>
            </a:r>
            <a:r>
              <a:rPr lang="en-US" sz="2000">
                <a:solidFill>
                  <a:srgbClr val="000000"/>
                </a:solidFill>
                <a:effectLst/>
                <a:latin typeface="Times New Roman" panose="02020603050405020304" charset="0"/>
                <a:cs typeface="Times New Roman" panose="02020603050405020304" charset="0"/>
                <a:sym typeface="+mn-ea"/>
              </a:rPr>
              <a:t>Osamu Fukuda</a:t>
            </a:r>
            <a:endParaRPr lang="ja-JP" sz="2000" b="0" i="0">
              <a:solidFill>
                <a:srgbClr val="000000"/>
              </a:solidFill>
              <a:effectLst/>
              <a:latin typeface="Times New Roman" panose="02020603050405020304" charset="0"/>
              <a:cs typeface="Times New Roman" panose="02020603050405020304" charset="0"/>
            </a:endParaRPr>
          </a:p>
          <a:p>
            <a:pPr algn="ctr"/>
            <a:endParaRPr lang="en-US" altLang="ja-JP" sz="2000" dirty="0">
              <a:solidFill>
                <a:srgbClr val="000000"/>
              </a:solidFill>
              <a:latin typeface="+mj-lt"/>
              <a:cs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 name="组合 13"/>
          <p:cNvGrpSpPr/>
          <p:nvPr/>
        </p:nvGrpSpPr>
        <p:grpSpPr>
          <a:xfrm rot="0">
            <a:off x="347980" y="3722370"/>
            <a:ext cx="3133090" cy="1705610"/>
            <a:chOff x="217" y="1346"/>
            <a:chExt cx="5557" cy="3794"/>
          </a:xfrm>
        </p:grpSpPr>
        <p:pic>
          <p:nvPicPr>
            <p:cNvPr id="11" name="图片 10" descr="microchip"/>
            <p:cNvPicPr>
              <a:picLocks noChangeAspect="1"/>
            </p:cNvPicPr>
            <p:nvPr/>
          </p:nvPicPr>
          <p:blipFill>
            <a:blip r:embed="rId1"/>
            <a:stretch>
              <a:fillRect/>
            </a:stretch>
          </p:blipFill>
          <p:spPr>
            <a:xfrm>
              <a:off x="3592" y="2152"/>
              <a:ext cx="2183" cy="2183"/>
            </a:xfrm>
            <a:prstGeom prst="rect">
              <a:avLst/>
            </a:prstGeom>
          </p:spPr>
        </p:pic>
        <p:pic>
          <p:nvPicPr>
            <p:cNvPr id="13" name="图片 12" descr="15b54b71-e4a1-4e40-8e4a-e87d225c2b09323123321323133321"/>
            <p:cNvPicPr>
              <a:picLocks noChangeAspect="1"/>
            </p:cNvPicPr>
            <p:nvPr/>
          </p:nvPicPr>
          <p:blipFill>
            <a:blip r:embed="rId2"/>
            <a:stretch>
              <a:fillRect/>
            </a:stretch>
          </p:blipFill>
          <p:spPr>
            <a:xfrm>
              <a:off x="217" y="1346"/>
              <a:ext cx="3375" cy="3795"/>
            </a:xfrm>
            <a:prstGeom prst="rect">
              <a:avLst/>
            </a:prstGeom>
          </p:spPr>
        </p:pic>
      </p:grpSp>
      <p:sp>
        <p:nvSpPr>
          <p:cNvPr id="6" name="文本框 5"/>
          <p:cNvSpPr txBox="1"/>
          <p:nvPr/>
        </p:nvSpPr>
        <p:spPr>
          <a:xfrm>
            <a:off x="220980" y="226695"/>
            <a:ext cx="8717915" cy="583565"/>
          </a:xfrm>
          <a:prstGeom prst="rect">
            <a:avLst/>
          </a:prstGeom>
          <a:noFill/>
        </p:spPr>
        <p:txBody>
          <a:bodyPr wrap="square" rtlCol="0">
            <a:spAutoFit/>
          </a:bodyPr>
          <a:p>
            <a:r>
              <a:rPr lang="en-US" altLang="zh-CN" sz="3200" b="1">
                <a:latin typeface="Times New Roman" panose="02020603050405020304" charset="0"/>
                <a:ea typeface="宋体" panose="02010600030101010101" pitchFamily="2" charset="-122"/>
                <a:cs typeface="Times New Roman" panose="02020603050405020304" charset="0"/>
              </a:rPr>
              <a:t>Background</a:t>
            </a:r>
            <a:endParaRPr lang="en-US" altLang="zh-CN" sz="3200" b="1">
              <a:latin typeface="Times New Roman" panose="02020603050405020304" charset="0"/>
              <a:ea typeface="宋体" panose="02010600030101010101" pitchFamily="2" charset="-122"/>
              <a:cs typeface="Times New Roman" panose="02020603050405020304" charset="0"/>
            </a:endParaRPr>
          </a:p>
        </p:txBody>
      </p:sp>
      <p:pic>
        <p:nvPicPr>
          <p:cNvPr id="15" name="图片 14" descr="15b54b71-e4a1-4e40-8e4a-e87d225c2b0932312332111"/>
          <p:cNvPicPr>
            <a:picLocks noChangeAspect="1"/>
          </p:cNvPicPr>
          <p:nvPr/>
        </p:nvPicPr>
        <p:blipFill>
          <a:blip r:embed="rId3"/>
          <a:stretch>
            <a:fillRect/>
          </a:stretch>
        </p:blipFill>
        <p:spPr>
          <a:xfrm>
            <a:off x="705485" y="5347335"/>
            <a:ext cx="2853055" cy="1280160"/>
          </a:xfrm>
          <a:prstGeom prst="rect">
            <a:avLst/>
          </a:prstGeom>
        </p:spPr>
      </p:pic>
      <p:sp>
        <p:nvSpPr>
          <p:cNvPr id="2" name="文本框 1"/>
          <p:cNvSpPr txBox="1"/>
          <p:nvPr/>
        </p:nvSpPr>
        <p:spPr>
          <a:xfrm>
            <a:off x="220980" y="1521460"/>
            <a:ext cx="3462020" cy="762000"/>
          </a:xfrm>
          <a:prstGeom prst="rect">
            <a:avLst/>
          </a:prstGeom>
        </p:spPr>
        <p:txBody>
          <a:bodyPr wrap="square">
            <a:noAutofit/>
          </a:bodyPr>
          <a:p>
            <a:pPr algn="ctr"/>
            <a:r>
              <a:rPr lang="en-US" altLang="ja-JP" sz="2400">
                <a:solidFill>
                  <a:srgbClr val="FF0000"/>
                </a:solidFill>
              </a:rPr>
              <a:t>57.7 million</a:t>
            </a:r>
            <a:r>
              <a:rPr lang="en-US" altLang="ja-JP" sz="1600"/>
              <a:t>  </a:t>
            </a:r>
            <a:r>
              <a:rPr lang="en-US" altLang="ja-JP"/>
              <a:t>people in world</a:t>
            </a:r>
            <a:endParaRPr lang="en-US" altLang="ja-JP"/>
          </a:p>
          <a:p>
            <a:pPr algn="ctr"/>
            <a:r>
              <a:rPr lang="en-US" altLang="ja-JP"/>
              <a:t>who had lost an upper limb</a:t>
            </a:r>
            <a:r>
              <a:rPr lang="en-US" altLang="ja-JP" sz="1600"/>
              <a:t> [1]</a:t>
            </a:r>
            <a:endParaRPr lang="en-US" altLang="ja-JP" sz="1600"/>
          </a:p>
          <a:p>
            <a:pPr algn="ctr"/>
            <a:endParaRPr lang="en-US" altLang="zh-CN" sz="1600"/>
          </a:p>
        </p:txBody>
      </p:sp>
      <p:pic>
        <p:nvPicPr>
          <p:cNvPr id="34" name="图片 33" descr="12916ba5-8dba-4f77-a3e2-01ea3b57ab82123321"/>
          <p:cNvPicPr>
            <a:picLocks noChangeAspect="1"/>
          </p:cNvPicPr>
          <p:nvPr/>
        </p:nvPicPr>
        <p:blipFill>
          <a:blip r:embed="rId4"/>
          <a:stretch>
            <a:fillRect/>
          </a:stretch>
        </p:blipFill>
        <p:spPr>
          <a:xfrm>
            <a:off x="6081395" y="3991610"/>
            <a:ext cx="2457450" cy="2635885"/>
          </a:xfrm>
          <a:prstGeom prst="rect">
            <a:avLst/>
          </a:prstGeom>
        </p:spPr>
      </p:pic>
      <p:sp>
        <p:nvSpPr>
          <p:cNvPr id="4" name="文本框 3"/>
          <p:cNvSpPr txBox="1"/>
          <p:nvPr/>
        </p:nvSpPr>
        <p:spPr>
          <a:xfrm>
            <a:off x="368935" y="3251835"/>
            <a:ext cx="8719185" cy="645160"/>
          </a:xfrm>
          <a:prstGeom prst="rect">
            <a:avLst/>
          </a:prstGeom>
          <a:noFill/>
        </p:spPr>
        <p:txBody>
          <a:bodyPr wrap="square" rtlCol="0" anchor="t">
            <a:spAutoFit/>
          </a:bodyPr>
          <a:p>
            <a:r>
              <a:rPr lang="en-US" altLang="ja-JP">
                <a:sym typeface="+mn-ea"/>
              </a:rPr>
              <a:t>Computational power and algorithms continue to advance, the prosthetic hand are able to recognize an increasing number of movements [2]</a:t>
            </a:r>
            <a:endParaRPr lang="en-US" altLang="ja-JP">
              <a:sym typeface="+mn-ea"/>
            </a:endParaRPr>
          </a:p>
        </p:txBody>
      </p:sp>
      <p:grpSp>
        <p:nvGrpSpPr>
          <p:cNvPr id="9" name="组合 8"/>
          <p:cNvGrpSpPr/>
          <p:nvPr/>
        </p:nvGrpSpPr>
        <p:grpSpPr>
          <a:xfrm>
            <a:off x="4342765" y="4244975"/>
            <a:ext cx="1193800" cy="1993265"/>
            <a:chOff x="6872" y="6468"/>
            <a:chExt cx="1880" cy="3139"/>
          </a:xfrm>
        </p:grpSpPr>
        <p:pic>
          <p:nvPicPr>
            <p:cNvPr id="5" name="图片 4" descr="arrows"/>
            <p:cNvPicPr>
              <a:picLocks noChangeAspect="1"/>
            </p:cNvPicPr>
            <p:nvPr/>
          </p:nvPicPr>
          <p:blipFill>
            <a:blip r:embed="rId5"/>
            <a:stretch>
              <a:fillRect/>
            </a:stretch>
          </p:blipFill>
          <p:spPr>
            <a:xfrm>
              <a:off x="6872" y="6468"/>
              <a:ext cx="1880" cy="1880"/>
            </a:xfrm>
            <a:prstGeom prst="rect">
              <a:avLst/>
            </a:prstGeom>
          </p:spPr>
        </p:pic>
        <p:pic>
          <p:nvPicPr>
            <p:cNvPr id="8" name="图片 7" descr="arrows"/>
            <p:cNvPicPr>
              <a:picLocks noChangeAspect="1"/>
            </p:cNvPicPr>
            <p:nvPr/>
          </p:nvPicPr>
          <p:blipFill>
            <a:blip r:embed="rId5"/>
            <a:stretch>
              <a:fillRect/>
            </a:stretch>
          </p:blipFill>
          <p:spPr>
            <a:xfrm>
              <a:off x="6872" y="7761"/>
              <a:ext cx="1847" cy="1847"/>
            </a:xfrm>
            <a:prstGeom prst="rect">
              <a:avLst/>
            </a:prstGeom>
          </p:spPr>
        </p:pic>
      </p:grpSp>
      <p:pic>
        <p:nvPicPr>
          <p:cNvPr id="7" name="图片 6" descr="upper-limb-with-prosthetist"/>
          <p:cNvPicPr>
            <a:picLocks noChangeAspect="1"/>
          </p:cNvPicPr>
          <p:nvPr/>
        </p:nvPicPr>
        <p:blipFill>
          <a:blip r:embed="rId6"/>
          <a:stretch>
            <a:fillRect/>
          </a:stretch>
        </p:blipFill>
        <p:spPr>
          <a:xfrm>
            <a:off x="4342765" y="669925"/>
            <a:ext cx="3764280" cy="2509520"/>
          </a:xfrm>
          <a:prstGeom prst="rect">
            <a:avLst/>
          </a:prstGeom>
        </p:spPr>
      </p:pic>
      <p:sp>
        <p:nvSpPr>
          <p:cNvPr id="3" name="灯片编号占位符 2"/>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1595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sym typeface="+mn-ea"/>
              </a:rPr>
              <a:t>Related</a:t>
            </a:r>
            <a:r>
              <a:rPr lang="en-US" altLang="zh-CN" sz="3200" b="1">
                <a:latin typeface="Times New Roman" panose="02020603050405020304" charset="0"/>
                <a:ea typeface="宋体" panose="02010600030101010101" pitchFamily="2" charset="-122"/>
                <a:cs typeface="Times New Roman" panose="02020603050405020304" charset="0"/>
                <a:sym typeface="+mn-ea"/>
              </a:rPr>
              <a:t> Study</a:t>
            </a:r>
            <a:endParaRPr lang="en-US" altLang="zh-CN" sz="3200" b="1">
              <a:latin typeface="Times New Roman" panose="02020603050405020304" charset="0"/>
              <a:ea typeface="宋体" panose="02010600030101010101" pitchFamily="2" charset="-122"/>
              <a:cs typeface="Times New Roman" panose="02020603050405020304" charset="0"/>
            </a:endParaRPr>
          </a:p>
          <a:p>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220980" y="2952880"/>
            <a:ext cx="4059555" cy="2039620"/>
          </a:xfrm>
          <a:prstGeom prst="rect">
            <a:avLst/>
          </a:prstGeom>
        </p:spPr>
        <p:txBody>
          <a:bodyPr wrap="square">
            <a:noAutofit/>
          </a:bodyPr>
          <a:p>
            <a:pPr algn="l"/>
            <a:r>
              <a:rPr lang="en-US" altLang="zh-CN">
                <a:latin typeface="+mj-lt"/>
                <a:cs typeface="+mj-lt"/>
              </a:rPr>
              <a:t>Sensors Combine : EMG + </a:t>
            </a:r>
            <a:r>
              <a:rPr lang="en-US" altLang="ja-JP">
                <a:latin typeface="+mj-lt"/>
                <a:cs typeface="+mj-lt"/>
                <a:sym typeface="+mn-ea"/>
              </a:rPr>
              <a:t>IMU</a:t>
            </a:r>
            <a:endParaRPr lang="en-US" altLang="ja-JP">
              <a:latin typeface="+mj-lt"/>
              <a:cs typeface="+mj-lt"/>
              <a:sym typeface="+mn-ea"/>
            </a:endParaRPr>
          </a:p>
          <a:p>
            <a:pPr algn="l"/>
            <a:endParaRPr lang="en-US" altLang="ja-JP">
              <a:latin typeface="+mj-lt"/>
              <a:cs typeface="+mj-lt"/>
              <a:sym typeface="+mn-ea"/>
            </a:endParaRPr>
          </a:p>
          <a:p>
            <a:pPr algn="l"/>
            <a:r>
              <a:rPr lang="en-US" altLang="zh-CN">
                <a:latin typeface="+mj-lt"/>
                <a:cs typeface="+mj-lt"/>
                <a:sym typeface="+mn-ea"/>
              </a:rPr>
              <a:t>Model : </a:t>
            </a:r>
            <a:r>
              <a:rPr lang="en-US" altLang="zh-CN">
                <a:latin typeface="+mj-lt"/>
                <a:cs typeface="+mj-lt"/>
              </a:rPr>
              <a:t>Deep reinforcement learning</a:t>
            </a:r>
            <a:endParaRPr lang="en-US" altLang="zh-CN">
              <a:latin typeface="+mj-lt"/>
              <a:cs typeface="+mj-lt"/>
            </a:endParaRPr>
          </a:p>
          <a:p>
            <a:pPr algn="l"/>
            <a:endParaRPr lang="ja-JP" altLang="en-US">
              <a:latin typeface="+mj-lt"/>
              <a:cs typeface="+mj-lt"/>
            </a:endParaRPr>
          </a:p>
          <a:p>
            <a:pPr algn="l"/>
            <a:r>
              <a:rPr lang="en-US" altLang="zh-CN">
                <a:sym typeface="+mn-ea"/>
              </a:rPr>
              <a:t>Grasping</a:t>
            </a:r>
            <a:r>
              <a:rPr lang="en-US" altLang="zh-CN">
                <a:latin typeface="+mj-lt"/>
                <a:cs typeface="+mj-lt"/>
                <a:sym typeface="+mn-ea"/>
              </a:rPr>
              <a:t> Movements Number : </a:t>
            </a:r>
            <a:r>
              <a:rPr lang="en-US" altLang="zh-CN">
                <a:latin typeface="+mj-lt"/>
                <a:cs typeface="+mj-lt"/>
                <a:sym typeface="+mn-ea"/>
              </a:rPr>
              <a:t>11</a:t>
            </a:r>
            <a:endParaRPr lang="en-US" altLang="zh-CN">
              <a:latin typeface="+mj-lt"/>
              <a:cs typeface="+mj-lt"/>
              <a:sym typeface="+mn-ea"/>
            </a:endParaRPr>
          </a:p>
          <a:p>
            <a:pPr algn="l"/>
            <a:endParaRPr lang="en-US" altLang="zh-CN">
              <a:latin typeface="+mj-lt"/>
              <a:cs typeface="+mj-lt"/>
              <a:sym typeface="+mn-ea"/>
            </a:endParaRPr>
          </a:p>
          <a:p>
            <a:pPr algn="l"/>
            <a:r>
              <a:rPr lang="en-US" altLang="zh-CN">
                <a:latin typeface="+mj-lt"/>
                <a:cs typeface="+mj-lt"/>
                <a:sym typeface="+mn-ea"/>
              </a:rPr>
              <a:t>Accuracy : 97% [3]</a:t>
            </a:r>
            <a:endParaRPr lang="en-US" altLang="zh-CN">
              <a:latin typeface="+mj-lt"/>
              <a:cs typeface="+mj-lt"/>
            </a:endParaRPr>
          </a:p>
        </p:txBody>
      </p:sp>
      <p:sp>
        <p:nvSpPr>
          <p:cNvPr id="3" name="文本框 2"/>
          <p:cNvSpPr txBox="1"/>
          <p:nvPr/>
        </p:nvSpPr>
        <p:spPr>
          <a:xfrm>
            <a:off x="4572000" y="771525"/>
            <a:ext cx="4349750" cy="2137410"/>
          </a:xfrm>
          <a:prstGeom prst="rect">
            <a:avLst/>
          </a:prstGeom>
        </p:spPr>
        <p:txBody>
          <a:bodyPr wrap="square">
            <a:noAutofit/>
          </a:bodyPr>
          <a:p>
            <a:pPr algn="l"/>
            <a:r>
              <a:rPr lang="en-US" altLang="zh-CN">
                <a:latin typeface="+mj-lt"/>
                <a:cs typeface="+mj-lt"/>
                <a:sym typeface="+mn-ea"/>
              </a:rPr>
              <a:t>Sensors Combine : </a:t>
            </a:r>
            <a:r>
              <a:rPr lang="en-US" altLang="zh-CN">
                <a:sym typeface="+mn-ea"/>
              </a:rPr>
              <a:t>EMG + </a:t>
            </a:r>
            <a:r>
              <a:rPr lang="en-US" altLang="zh-CN"/>
              <a:t>Eyes Tracking</a:t>
            </a:r>
            <a:endParaRPr lang="en-US" altLang="zh-CN"/>
          </a:p>
          <a:p>
            <a:pPr algn="l"/>
            <a:endParaRPr lang="en-US" altLang="zh-CN"/>
          </a:p>
          <a:p>
            <a:pPr algn="l"/>
            <a:r>
              <a:rPr lang="en-US" altLang="zh-CN">
                <a:latin typeface="+mj-lt"/>
                <a:cs typeface="+mj-lt"/>
                <a:sym typeface="+mn-ea"/>
              </a:rPr>
              <a:t>Model : </a:t>
            </a:r>
            <a:r>
              <a:rPr lang="en-US" altLang="zh-CN"/>
              <a:t>Extra-Trees and YOLOv4</a:t>
            </a:r>
            <a:endParaRPr lang="en-US" altLang="zh-CN"/>
          </a:p>
          <a:p>
            <a:pPr algn="l"/>
            <a:endParaRPr lang="en-US" altLang="zh-CN"/>
          </a:p>
          <a:p>
            <a:pPr algn="l"/>
            <a:r>
              <a:rPr lang="en-US" altLang="zh-CN">
                <a:sym typeface="+mn-ea"/>
              </a:rPr>
              <a:t>Grasping</a:t>
            </a:r>
            <a:r>
              <a:rPr lang="en-US" altLang="zh-CN">
                <a:latin typeface="+mj-lt"/>
                <a:cs typeface="+mj-lt"/>
                <a:sym typeface="+mn-ea"/>
              </a:rPr>
              <a:t> Movements Number : 14</a:t>
            </a:r>
            <a:endParaRPr lang="en-US" altLang="zh-CN">
              <a:latin typeface="+mj-lt"/>
              <a:cs typeface="+mj-lt"/>
              <a:sym typeface="+mn-ea"/>
            </a:endParaRPr>
          </a:p>
          <a:p>
            <a:pPr algn="l"/>
            <a:endParaRPr lang="en-US" altLang="zh-CN">
              <a:latin typeface="+mj-lt"/>
              <a:cs typeface="+mj-lt"/>
              <a:sym typeface="+mn-ea"/>
            </a:endParaRPr>
          </a:p>
          <a:p>
            <a:pPr algn="l"/>
            <a:r>
              <a:rPr lang="en-US" altLang="zh-CN"/>
              <a:t>Accuracy : 93% [4]</a:t>
            </a:r>
            <a:endParaRPr lang="en-US" altLang="zh-CN"/>
          </a:p>
        </p:txBody>
      </p:sp>
      <p:pic>
        <p:nvPicPr>
          <p:cNvPr id="5" name="图片 4" descr="QQ20260505-110629"/>
          <p:cNvPicPr>
            <a:picLocks noChangeAspect="1"/>
          </p:cNvPicPr>
          <p:nvPr/>
        </p:nvPicPr>
        <p:blipFill>
          <a:blip r:embed="rId1"/>
          <a:stretch>
            <a:fillRect/>
          </a:stretch>
        </p:blipFill>
        <p:spPr>
          <a:xfrm>
            <a:off x="4587875" y="3232150"/>
            <a:ext cx="4293235" cy="1743710"/>
          </a:xfrm>
          <a:prstGeom prst="rect">
            <a:avLst/>
          </a:prstGeom>
        </p:spPr>
      </p:pic>
      <p:pic>
        <p:nvPicPr>
          <p:cNvPr id="10" name="图片 9" descr="QQ20260505-120705"/>
          <p:cNvPicPr>
            <a:picLocks noChangeAspect="1"/>
          </p:cNvPicPr>
          <p:nvPr/>
        </p:nvPicPr>
        <p:blipFill>
          <a:blip r:embed="rId2"/>
          <a:stretch>
            <a:fillRect/>
          </a:stretch>
        </p:blipFill>
        <p:spPr>
          <a:xfrm>
            <a:off x="288925" y="771525"/>
            <a:ext cx="4029710" cy="2225675"/>
          </a:xfrm>
          <a:prstGeom prst="rect">
            <a:avLst/>
          </a:prstGeom>
        </p:spPr>
      </p:pic>
      <p:sp>
        <p:nvSpPr>
          <p:cNvPr id="47" name="Shape 37"/>
          <p:cNvSpPr/>
          <p:nvPr/>
        </p:nvSpPr>
        <p:spPr>
          <a:xfrm>
            <a:off x="220980" y="5026025"/>
            <a:ext cx="4158615" cy="1725295"/>
          </a:xfrm>
          <a:prstGeom prst="rect">
            <a:avLst/>
          </a:prstGeom>
          <a:solidFill>
            <a:srgbClr val="06327D">
              <a:alpha val="25000"/>
            </a:srgbClr>
          </a:solidFill>
          <a:ln w="12700">
            <a:noFill/>
            <a:prstDash val="solid"/>
          </a:ln>
        </p:spPr>
        <p:txBody>
          <a:bodyPr/>
          <a:p>
            <a:r>
              <a:rPr lang="en-US" altLang="ja-JP" b="1">
                <a:solidFill>
                  <a:srgbClr val="06327D"/>
                </a:solidFill>
                <a:latin typeface="Times New Roman" panose="02020603050405020304" charset="0"/>
                <a:cs typeface="Times New Roman" panose="02020603050405020304" charset="0"/>
                <a:sym typeface="+mn-ea"/>
              </a:rPr>
              <a:t>Strengths</a:t>
            </a:r>
            <a:endParaRPr lang="en-US" altLang="ja-JP" b="1">
              <a:solidFill>
                <a:srgbClr val="06327D"/>
              </a:solidFill>
              <a:latin typeface="Times New Roman" panose="02020603050405020304" charset="0"/>
              <a:cs typeface="Times New Roman" panose="02020603050405020304" charset="0"/>
              <a:sym typeface="+mn-ea"/>
            </a:endParaRPr>
          </a:p>
          <a:p>
            <a:r>
              <a:rPr lang="en-US" altLang="zh-CN" b="1">
                <a:solidFill>
                  <a:srgbClr val="06327D"/>
                </a:solidFill>
                <a:latin typeface="Times New Roman" panose="02020603050405020304" charset="0"/>
                <a:cs typeface="Times New Roman" panose="02020603050405020304" charset="0"/>
                <a:sym typeface="+mn-ea"/>
              </a:rPr>
              <a:t>combining multiple sensors, using classification models.</a:t>
            </a:r>
            <a:endParaRPr lang="en-US" altLang="zh-CN" b="1">
              <a:solidFill>
                <a:srgbClr val="06327D"/>
              </a:solidFill>
              <a:latin typeface="Times New Roman" panose="02020603050405020304" charset="0"/>
              <a:cs typeface="Times New Roman" panose="02020603050405020304" charset="0"/>
              <a:sym typeface="+mn-ea"/>
            </a:endParaRPr>
          </a:p>
          <a:p>
            <a:r>
              <a:rPr lang="en-US" altLang="zh-CN" b="1">
                <a:solidFill>
                  <a:srgbClr val="06327D"/>
                </a:solidFill>
                <a:latin typeface="Times New Roman" panose="02020603050405020304" charset="0"/>
                <a:cs typeface="Times New Roman" panose="02020603050405020304" charset="0"/>
                <a:sym typeface="+mn-ea"/>
              </a:rPr>
              <a:t>can achieve </a:t>
            </a:r>
            <a:r>
              <a:rPr lang="en-US" altLang="zh-CN" b="1">
                <a:solidFill>
                  <a:srgbClr val="06327D"/>
                </a:solidFill>
                <a:latin typeface="Times New Roman" panose="02020603050405020304" charset="0"/>
                <a:cs typeface="Times New Roman" panose="02020603050405020304" charset="0"/>
                <a:sym typeface="+mn-ea"/>
              </a:rPr>
              <a:t>multiple grasping movements with high recognition accuracy.</a:t>
            </a:r>
            <a:endParaRPr lang="en-US" altLang="zh-CN" b="1">
              <a:solidFill>
                <a:srgbClr val="06327D"/>
              </a:solidFill>
              <a:latin typeface="Times New Roman" panose="02020603050405020304" charset="0"/>
              <a:cs typeface="Times New Roman" panose="02020603050405020304" charset="0"/>
              <a:sym typeface="+mn-ea"/>
            </a:endParaRPr>
          </a:p>
        </p:txBody>
      </p:sp>
      <p:sp>
        <p:nvSpPr>
          <p:cNvPr id="4" name="Shape 37"/>
          <p:cNvSpPr/>
          <p:nvPr/>
        </p:nvSpPr>
        <p:spPr>
          <a:xfrm>
            <a:off x="4572000" y="5026025"/>
            <a:ext cx="4366260" cy="1725930"/>
          </a:xfrm>
          <a:prstGeom prst="rect">
            <a:avLst/>
          </a:prstGeom>
          <a:solidFill>
            <a:srgbClr val="C00000">
              <a:alpha val="25000"/>
            </a:srgbClr>
          </a:solidFill>
          <a:ln w="12700">
            <a:noFill/>
            <a:prstDash val="solid"/>
          </a:ln>
        </p:spPr>
        <p:txBody>
          <a:bodyPr/>
          <a:p>
            <a:r>
              <a:rPr lang="en-US" altLang="ja-JP" b="1">
                <a:solidFill>
                  <a:srgbClr val="C00000"/>
                </a:solidFill>
                <a:latin typeface="Times New Roman" panose="02020603050405020304" charset="0"/>
                <a:cs typeface="Times New Roman" panose="02020603050405020304" charset="0"/>
                <a:sym typeface="+mn-ea"/>
              </a:rPr>
              <a:t>Limitations</a:t>
            </a:r>
            <a:endParaRPr lang="en-US" altLang="ja-JP" b="1">
              <a:solidFill>
                <a:srgbClr val="C00000"/>
              </a:solidFill>
              <a:latin typeface="Times New Roman" panose="02020603050405020304" charset="0"/>
              <a:cs typeface="Times New Roman" panose="02020603050405020304" charset="0"/>
              <a:sym typeface="+mn-ea"/>
            </a:endParaRPr>
          </a:p>
          <a:p>
            <a:r>
              <a:rPr lang="en-US" altLang="zh-CN" b="1">
                <a:solidFill>
                  <a:srgbClr val="C00000"/>
                </a:solidFill>
                <a:latin typeface="Times New Roman" panose="02020603050405020304" charset="0"/>
                <a:cs typeface="Times New Roman" panose="02020603050405020304" charset="0"/>
                <a:sym typeface="+mn-ea"/>
              </a:rPr>
              <a:t>Although have the high accuracy</a:t>
            </a:r>
            <a:r>
              <a:rPr lang="en-US" altLang="zh-CN" b="1">
                <a:solidFill>
                  <a:srgbClr val="C00000"/>
                </a:solidFill>
                <a:latin typeface="Times New Roman" panose="02020603050405020304" charset="0"/>
                <a:cs typeface="Times New Roman" panose="02020603050405020304" charset="0"/>
                <a:sym typeface="+mn-ea"/>
              </a:rPr>
              <a:t> of a wide range m</a:t>
            </a:r>
            <a:r>
              <a:rPr lang="en-US" altLang="zh-CN" b="1">
                <a:solidFill>
                  <a:srgbClr val="C00000"/>
                </a:solidFill>
                <a:latin typeface="Times New Roman" panose="02020603050405020304" charset="0"/>
                <a:cs typeface="Times New Roman" panose="02020603050405020304" charset="0"/>
                <a:sym typeface="+mn-ea"/>
              </a:rPr>
              <a:t>ovements</a:t>
            </a:r>
            <a:r>
              <a:rPr lang="en-US" altLang="zh-CN" b="1">
                <a:solidFill>
                  <a:srgbClr val="C00000"/>
                </a:solidFill>
                <a:latin typeface="Times New Roman" panose="02020603050405020304" charset="0"/>
                <a:cs typeface="Times New Roman" panose="02020603050405020304" charset="0"/>
                <a:sym typeface="+mn-ea"/>
              </a:rPr>
              <a:t> types, but in real-world task scenarios, even a single m</a:t>
            </a:r>
            <a:r>
              <a:rPr lang="en-US" altLang="zh-CN" b="1">
                <a:solidFill>
                  <a:srgbClr val="C00000"/>
                </a:solidFill>
                <a:latin typeface="Times New Roman" panose="02020603050405020304" charset="0"/>
                <a:cs typeface="Times New Roman" panose="02020603050405020304" charset="0"/>
                <a:sym typeface="+mn-ea"/>
              </a:rPr>
              <a:t>ovements</a:t>
            </a:r>
            <a:r>
              <a:rPr lang="en-US" altLang="zh-CN" b="1">
                <a:solidFill>
                  <a:srgbClr val="C00000"/>
                </a:solidFill>
                <a:latin typeface="Times New Roman" panose="02020603050405020304" charset="0"/>
                <a:cs typeface="Times New Roman" panose="02020603050405020304" charset="0"/>
                <a:sym typeface="+mn-ea"/>
              </a:rPr>
              <a:t> can be adjusted differently. </a:t>
            </a:r>
            <a:endParaRPr lang="en-US" altLang="zh-CN" b="1">
              <a:solidFill>
                <a:srgbClr val="C00000"/>
              </a:solidFill>
              <a:latin typeface="Times New Roman" panose="02020603050405020304" charset="0"/>
              <a:cs typeface="Times New Roman" panose="02020603050405020304" charset="0"/>
              <a:sym typeface="+mn-ea"/>
            </a:endParaRPr>
          </a:p>
          <a:p>
            <a:endParaRPr lang="en-US" altLang="zh-CN" b="1">
              <a:solidFill>
                <a:srgbClr val="C00000"/>
              </a:solidFill>
              <a:latin typeface="Times New Roman" panose="02020603050405020304" charset="0"/>
              <a:cs typeface="Times New Roman" panose="02020603050405020304" charset="0"/>
              <a:sym typeface="+mn-ea"/>
            </a:endParaRPr>
          </a:p>
        </p:txBody>
      </p:sp>
      <p:sp>
        <p:nvSpPr>
          <p:cNvPr id="2" name="矩形 1"/>
          <p:cNvSpPr/>
          <p:nvPr/>
        </p:nvSpPr>
        <p:spPr>
          <a:xfrm>
            <a:off x="220980" y="694055"/>
            <a:ext cx="4158615" cy="4282440"/>
          </a:xfrm>
          <a:prstGeom prst="rect">
            <a:avLst/>
          </a:prstGeom>
          <a:noFill/>
          <a:ln w="1905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4572000" y="693420"/>
            <a:ext cx="4366260" cy="4282440"/>
          </a:xfrm>
          <a:prstGeom prst="rect">
            <a:avLst/>
          </a:prstGeom>
          <a:noFill/>
          <a:ln w="1905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灯片编号占位符 7"/>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760730"/>
          </a:xfrm>
          <a:prstGeom prst="rect">
            <a:avLst/>
          </a:prstGeom>
          <a:noFill/>
        </p:spPr>
        <p:txBody>
          <a:bodyPr wrap="square" rtlCol="0">
            <a:noAutofit/>
          </a:bodyPr>
          <a:p>
            <a:r>
              <a:rPr lang="en-US" altLang="zh-CN" sz="3200" b="1" dirty="0"/>
              <a:t>Research Objective </a:t>
            </a:r>
            <a:r>
              <a:rPr lang="en-US" altLang="zh-CN" sz="3200" b="1" dirty="0">
                <a:sym typeface="Avenir Heavy"/>
              </a:rPr>
              <a:t>&amp; Question</a:t>
            </a:r>
            <a:endParaRPr lang="en-US" altLang="zh-CN" sz="3200" b="1" dirty="0"/>
          </a:p>
          <a:p>
            <a:endParaRPr lang="en-US" altLang="zh-CN" sz="3200" b="1">
              <a:latin typeface="Times New Roman" panose="02020603050405020304" charset="0"/>
              <a:ea typeface="宋体" panose="02010600030101010101" pitchFamily="2" charset="-122"/>
              <a:cs typeface="Times New Roman" panose="02020603050405020304" charset="0"/>
            </a:endParaRPr>
          </a:p>
        </p:txBody>
      </p:sp>
      <p:grpSp>
        <p:nvGrpSpPr>
          <p:cNvPr id="96" name="组合 95"/>
          <p:cNvGrpSpPr/>
          <p:nvPr/>
        </p:nvGrpSpPr>
        <p:grpSpPr>
          <a:xfrm>
            <a:off x="213995" y="4938395"/>
            <a:ext cx="8630920" cy="1564005"/>
            <a:chOff x="348" y="7526"/>
            <a:chExt cx="13592" cy="2928"/>
          </a:xfrm>
        </p:grpSpPr>
        <p:grpSp>
          <p:nvGrpSpPr>
            <p:cNvPr id="90" name="组合 89"/>
            <p:cNvGrpSpPr/>
            <p:nvPr>
              <p:custDataLst>
                <p:tags r:id="rId1"/>
              </p:custDataLst>
            </p:nvPr>
          </p:nvGrpSpPr>
          <p:grpSpPr>
            <a:xfrm rot="0">
              <a:off x="348" y="7526"/>
              <a:ext cx="13593" cy="2929"/>
              <a:chOff x="790" y="4952"/>
              <a:chExt cx="3791" cy="2929"/>
            </a:xfrm>
          </p:grpSpPr>
          <p:grpSp>
            <p:nvGrpSpPr>
              <p:cNvPr id="91" name="组合 90"/>
              <p:cNvGrpSpPr/>
              <p:nvPr/>
            </p:nvGrpSpPr>
            <p:grpSpPr>
              <a:xfrm>
                <a:off x="790" y="4952"/>
                <a:ext cx="3791" cy="2929"/>
                <a:chOff x="334" y="5920"/>
                <a:chExt cx="5673" cy="2929"/>
              </a:xfrm>
            </p:grpSpPr>
            <p:sp>
              <p:nvSpPr>
                <p:cNvPr id="92" name="Shape 25"/>
                <p:cNvSpPr/>
                <p:nvPr>
                  <p:custDataLst>
                    <p:tags r:id="rId2"/>
                  </p:custDataLst>
                </p:nvPr>
              </p:nvSpPr>
              <p:spPr>
                <a:xfrm>
                  <a:off x="334" y="6936"/>
                  <a:ext cx="5672" cy="1913"/>
                </a:xfrm>
                <a:prstGeom prst="rect">
                  <a:avLst/>
                </a:prstGeom>
                <a:solidFill>
                  <a:srgbClr val="F59E0B">
                    <a:alpha val="10000"/>
                  </a:srgbClr>
                </a:solidFill>
                <a:ln w="19050">
                  <a:solidFill>
                    <a:srgbClr val="F59E0B"/>
                  </a:solidFill>
                  <a:prstDash val="solid"/>
                </a:ln>
              </p:spPr>
            </p:sp>
            <p:sp>
              <p:nvSpPr>
                <p:cNvPr id="93" name="Shape 26"/>
                <p:cNvSpPr/>
                <p:nvPr>
                  <p:custDataLst>
                    <p:tags r:id="rId3"/>
                  </p:custDataLst>
                </p:nvPr>
              </p:nvSpPr>
              <p:spPr>
                <a:xfrm>
                  <a:off x="335" y="5920"/>
                  <a:ext cx="5672" cy="1016"/>
                </a:xfrm>
                <a:prstGeom prst="rect">
                  <a:avLst/>
                </a:prstGeom>
                <a:solidFill>
                  <a:srgbClr val="F59E0B"/>
                </a:solidFill>
                <a:ln w="19050">
                  <a:solidFill>
                    <a:srgbClr val="F59E0B"/>
                  </a:solidFill>
                  <a:prstDash val="solid"/>
                </a:ln>
              </p:spPr>
            </p:sp>
          </p:grpSp>
          <p:sp>
            <p:nvSpPr>
              <p:cNvPr id="94" name="Text 27"/>
              <p:cNvSpPr/>
              <p:nvPr>
                <p:custDataLst>
                  <p:tags r:id="rId4"/>
                </p:custDataLst>
              </p:nvPr>
            </p:nvSpPr>
            <p:spPr>
              <a:xfrm>
                <a:off x="790" y="4952"/>
                <a:ext cx="3790" cy="1016"/>
              </a:xfrm>
              <a:prstGeom prst="rect">
                <a:avLst/>
              </a:prstGeom>
              <a:noFill/>
            </p:spPr>
            <p:txBody>
              <a:bodyPr wrap="square" lIns="0" tIns="0" rIns="0" bIns="0" rtlCol="0" anchor="ctr"/>
              <a:lstStyle/>
              <a:p>
                <a:pPr marL="0" indent="0" algn="ctr">
                  <a:buNone/>
                </a:pPr>
                <a:r>
                  <a:rPr lang="en-US" altLang="zh-CN" b="1" dirty="0">
                    <a:sym typeface="+mn-ea"/>
                  </a:rPr>
                  <a:t>Research </a:t>
                </a:r>
                <a:r>
                  <a:rPr lang="en-US" altLang="zh-CN" b="1" dirty="0">
                    <a:sym typeface="Avenir Heavy"/>
                  </a:rPr>
                  <a:t>Question</a:t>
                </a:r>
                <a:endParaRPr lang="en-US" altLang="zh-CN" b="1" dirty="0"/>
              </a:p>
            </p:txBody>
          </p:sp>
        </p:grpSp>
        <p:sp>
          <p:nvSpPr>
            <p:cNvPr id="95" name="文本框 94"/>
            <p:cNvSpPr txBox="1"/>
            <p:nvPr>
              <p:custDataLst>
                <p:tags r:id="rId5"/>
              </p:custDataLst>
            </p:nvPr>
          </p:nvSpPr>
          <p:spPr>
            <a:xfrm>
              <a:off x="348" y="8542"/>
              <a:ext cx="13590" cy="1913"/>
            </a:xfrm>
            <a:prstGeom prst="rect">
              <a:avLst/>
            </a:prstGeom>
            <a:noFill/>
          </p:spPr>
          <p:txBody>
            <a:bodyPr wrap="square" rtlCol="0" anchor="t">
              <a:noAutofit/>
            </a:bodyPr>
            <a:p>
              <a:r>
                <a:rPr lang="en-US" altLang="zh-CN">
                  <a:ea typeface="宋体" panose="02010600030101010101" pitchFamily="2" charset="-122"/>
                </a:rPr>
                <a:t>Can the system build on an end-to-end approach combined with regression be successfully applied, while improving efficiency and reducing cognitive load?</a:t>
              </a:r>
              <a:endParaRPr lang="en-US" altLang="zh-CN">
                <a:ea typeface="宋体" panose="02010600030101010101" pitchFamily="2" charset="-122"/>
              </a:endParaRPr>
            </a:p>
          </p:txBody>
        </p:sp>
      </p:grpSp>
      <p:grpSp>
        <p:nvGrpSpPr>
          <p:cNvPr id="31" name="组合 30"/>
          <p:cNvGrpSpPr/>
          <p:nvPr>
            <p:custDataLst>
              <p:tags r:id="rId6"/>
            </p:custDataLst>
          </p:nvPr>
        </p:nvGrpSpPr>
        <p:grpSpPr>
          <a:xfrm>
            <a:off x="253365" y="1292225"/>
            <a:ext cx="3715385" cy="1268730"/>
            <a:chOff x="15576" y="4203"/>
            <a:chExt cx="5851" cy="1998"/>
          </a:xfrm>
        </p:grpSpPr>
        <p:grpSp>
          <p:nvGrpSpPr>
            <p:cNvPr id="32" name="组合 31"/>
            <p:cNvGrpSpPr/>
            <p:nvPr>
              <p:custDataLst>
                <p:tags r:id="rId7"/>
              </p:custDataLst>
            </p:nvPr>
          </p:nvGrpSpPr>
          <p:grpSpPr>
            <a:xfrm>
              <a:off x="16563" y="4203"/>
              <a:ext cx="4864" cy="1998"/>
              <a:chOff x="1943" y="3623"/>
              <a:chExt cx="4864" cy="1998"/>
            </a:xfrm>
          </p:grpSpPr>
          <p:sp>
            <p:nvSpPr>
              <p:cNvPr id="34" name="文本框 33"/>
              <p:cNvSpPr txBox="1"/>
              <p:nvPr>
                <p:custDataLst>
                  <p:tags r:id="rId8"/>
                </p:custDataLst>
              </p:nvPr>
            </p:nvSpPr>
            <p:spPr>
              <a:xfrm>
                <a:off x="1943" y="4169"/>
                <a:ext cx="4382" cy="1452"/>
              </a:xfrm>
              <a:prstGeom prst="rect">
                <a:avLst/>
              </a:prstGeom>
              <a:noFill/>
            </p:spPr>
            <p:txBody>
              <a:bodyPr wrap="square" rtlCol="0" anchor="t">
                <a:spAutoFit/>
              </a:bodyPr>
              <a:p>
                <a:r>
                  <a:rPr lang="en-US" altLang="zh-CN">
                    <a:sym typeface="+mn-ea"/>
                  </a:rPr>
                  <a:t>Transitions and adjustments between movements are not considered.</a:t>
                </a:r>
                <a:endParaRPr lang="en-US" altLang="zh-CN">
                  <a:sym typeface="+mn-ea"/>
                </a:endParaRPr>
              </a:p>
            </p:txBody>
          </p:sp>
          <p:grpSp>
            <p:nvGrpSpPr>
              <p:cNvPr id="37" name="组合 36"/>
              <p:cNvGrpSpPr/>
              <p:nvPr>
                <p:custDataLst>
                  <p:tags r:id="rId9"/>
                </p:custDataLst>
              </p:nvPr>
            </p:nvGrpSpPr>
            <p:grpSpPr>
              <a:xfrm>
                <a:off x="1943" y="3623"/>
                <a:ext cx="4864" cy="580"/>
                <a:chOff x="1943" y="3623"/>
                <a:chExt cx="4864" cy="580"/>
              </a:xfrm>
            </p:grpSpPr>
            <p:sp>
              <p:nvSpPr>
                <p:cNvPr id="38" name="文本框 37"/>
                <p:cNvSpPr txBox="1"/>
                <p:nvPr>
                  <p:custDataLst>
                    <p:tags r:id="rId10"/>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Classification Models</a:t>
                  </a:r>
                  <a:endParaRPr lang="en-US" altLang="zh-CN" b="1" dirty="0">
                    <a:sym typeface="+mn-ea"/>
                  </a:endParaRPr>
                </a:p>
              </p:txBody>
            </p:sp>
            <p:cxnSp>
              <p:nvCxnSpPr>
                <p:cNvPr id="40" name="直接连接符 39"/>
                <p:cNvCxnSpPr/>
                <p:nvPr>
                  <p:custDataLst>
                    <p:tags r:id="rId11"/>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41" name="组合 40"/>
            <p:cNvGrpSpPr>
              <a:grpSpLocks noChangeAspect="1"/>
            </p:cNvGrpSpPr>
            <p:nvPr/>
          </p:nvGrpSpPr>
          <p:grpSpPr>
            <a:xfrm>
              <a:off x="15576" y="4310"/>
              <a:ext cx="927" cy="927"/>
              <a:chOff x="4973" y="4190"/>
              <a:chExt cx="1700" cy="1700"/>
            </a:xfrm>
          </p:grpSpPr>
          <p:sp>
            <p:nvSpPr>
              <p:cNvPr id="42" name="椭圆 41"/>
              <p:cNvSpPr>
                <a:spLocks noChangeAspect="1"/>
              </p:cNvSpPr>
              <p:nvPr>
                <p:custDataLst>
                  <p:tags r:id="rId12"/>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3" name="图片 42" descr="danger"/>
              <p:cNvPicPr>
                <a:picLocks noChangeAspect="1"/>
              </p:cNvPicPr>
              <p:nvPr>
                <p:custDataLst>
                  <p:tags r:id="rId13"/>
                </p:custDataLst>
              </p:nvPr>
            </p:nvPicPr>
            <p:blipFill>
              <a:blip r:embed="rId14"/>
              <a:stretch>
                <a:fillRect/>
              </a:stretch>
            </p:blipFill>
            <p:spPr>
              <a:xfrm>
                <a:off x="5344" y="4515"/>
                <a:ext cx="959" cy="959"/>
              </a:xfrm>
              <a:prstGeom prst="rect">
                <a:avLst/>
              </a:prstGeom>
            </p:spPr>
          </p:pic>
        </p:grpSp>
      </p:grpSp>
      <p:grpSp>
        <p:nvGrpSpPr>
          <p:cNvPr id="71" name="组合 70"/>
          <p:cNvGrpSpPr/>
          <p:nvPr>
            <p:custDataLst>
              <p:tags r:id="rId15"/>
            </p:custDataLst>
          </p:nvPr>
        </p:nvGrpSpPr>
        <p:grpSpPr>
          <a:xfrm>
            <a:off x="215265" y="2831465"/>
            <a:ext cx="3447415" cy="1545590"/>
            <a:chOff x="15576" y="4203"/>
            <a:chExt cx="5429" cy="2434"/>
          </a:xfrm>
        </p:grpSpPr>
        <p:grpSp>
          <p:nvGrpSpPr>
            <p:cNvPr id="72" name="组合 71"/>
            <p:cNvGrpSpPr/>
            <p:nvPr>
              <p:custDataLst>
                <p:tags r:id="rId16"/>
              </p:custDataLst>
            </p:nvPr>
          </p:nvGrpSpPr>
          <p:grpSpPr>
            <a:xfrm>
              <a:off x="16563" y="4203"/>
              <a:ext cx="4442" cy="2434"/>
              <a:chOff x="1943" y="3623"/>
              <a:chExt cx="4442" cy="2434"/>
            </a:xfrm>
          </p:grpSpPr>
          <p:sp>
            <p:nvSpPr>
              <p:cNvPr id="83" name="文本框 82"/>
              <p:cNvSpPr txBox="1"/>
              <p:nvPr>
                <p:custDataLst>
                  <p:tags r:id="rId17"/>
                </p:custDataLst>
              </p:nvPr>
            </p:nvSpPr>
            <p:spPr>
              <a:xfrm>
                <a:off x="1943" y="4169"/>
                <a:ext cx="4442" cy="1888"/>
              </a:xfrm>
              <a:prstGeom prst="rect">
                <a:avLst/>
              </a:prstGeom>
              <a:noFill/>
            </p:spPr>
            <p:txBody>
              <a:bodyPr wrap="square" rtlCol="0" anchor="t">
                <a:spAutoFit/>
              </a:bodyPr>
              <a:p>
                <a:r>
                  <a:rPr lang="en-US" altLang="zh-CN">
                    <a:sym typeface="+mn-ea"/>
                  </a:rPr>
                  <a:t>Modular Approach increases system complexity but also may lead to the loss of important information.</a:t>
                </a:r>
                <a:endParaRPr lang="en-US" altLang="zh-CN">
                  <a:sym typeface="+mn-ea"/>
                </a:endParaRPr>
              </a:p>
            </p:txBody>
          </p:sp>
          <p:grpSp>
            <p:nvGrpSpPr>
              <p:cNvPr id="84" name="组合 83"/>
              <p:cNvGrpSpPr/>
              <p:nvPr>
                <p:custDataLst>
                  <p:tags r:id="rId18"/>
                </p:custDataLst>
              </p:nvPr>
            </p:nvGrpSpPr>
            <p:grpSpPr>
              <a:xfrm>
                <a:off x="1943" y="3623"/>
                <a:ext cx="3876" cy="580"/>
                <a:chOff x="1943" y="3623"/>
                <a:chExt cx="3876" cy="580"/>
              </a:xfrm>
            </p:grpSpPr>
            <p:sp>
              <p:nvSpPr>
                <p:cNvPr id="85" name="文本框 84"/>
                <p:cNvSpPr txBox="1"/>
                <p:nvPr>
                  <p:custDataLst>
                    <p:tags r:id="rId19"/>
                  </p:custDataLst>
                </p:nvPr>
              </p:nvSpPr>
              <p:spPr>
                <a:xfrm>
                  <a:off x="1943" y="3623"/>
                  <a:ext cx="3876" cy="580"/>
                </a:xfrm>
                <a:prstGeom prst="rect">
                  <a:avLst/>
                </a:prstGeom>
                <a:noFill/>
              </p:spPr>
              <p:txBody>
                <a:bodyPr wrap="square" rtlCol="0" anchor="t">
                  <a:spAutoFit/>
                </a:bodyPr>
                <a:p>
                  <a:pPr marL="0" indent="0" algn="l">
                    <a:buNone/>
                  </a:pPr>
                  <a:r>
                    <a:rPr lang="en-US" altLang="zh-CN" b="1" dirty="0">
                      <a:sym typeface="+mn-ea"/>
                    </a:rPr>
                    <a:t>Modular Approach</a:t>
                  </a:r>
                  <a:endParaRPr lang="en-US" altLang="zh-CN" b="1" dirty="0">
                    <a:sym typeface="+mn-ea"/>
                  </a:endParaRPr>
                </a:p>
              </p:txBody>
            </p:sp>
            <p:cxnSp>
              <p:nvCxnSpPr>
                <p:cNvPr id="86" name="直接连接符 85"/>
                <p:cNvCxnSpPr/>
                <p:nvPr>
                  <p:custDataLst>
                    <p:tags r:id="rId20"/>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87" name="组合 86"/>
            <p:cNvGrpSpPr>
              <a:grpSpLocks noChangeAspect="1"/>
            </p:cNvGrpSpPr>
            <p:nvPr/>
          </p:nvGrpSpPr>
          <p:grpSpPr>
            <a:xfrm>
              <a:off x="15576" y="4310"/>
              <a:ext cx="927" cy="927"/>
              <a:chOff x="4973" y="4190"/>
              <a:chExt cx="1700" cy="1700"/>
            </a:xfrm>
          </p:grpSpPr>
          <p:sp>
            <p:nvSpPr>
              <p:cNvPr id="88" name="椭圆 87"/>
              <p:cNvSpPr>
                <a:spLocks noChangeAspect="1"/>
              </p:cNvSpPr>
              <p:nvPr>
                <p:custDataLst>
                  <p:tags r:id="rId21"/>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9" name="图片 88" descr="danger"/>
              <p:cNvPicPr>
                <a:picLocks noChangeAspect="1"/>
              </p:cNvPicPr>
              <p:nvPr>
                <p:custDataLst>
                  <p:tags r:id="rId22"/>
                </p:custDataLst>
              </p:nvPr>
            </p:nvPicPr>
            <p:blipFill>
              <a:blip r:embed="rId14"/>
              <a:stretch>
                <a:fillRect/>
              </a:stretch>
            </p:blipFill>
            <p:spPr>
              <a:xfrm>
                <a:off x="5344" y="4515"/>
                <a:ext cx="959" cy="959"/>
              </a:xfrm>
              <a:prstGeom prst="rect">
                <a:avLst/>
              </a:prstGeom>
            </p:spPr>
          </p:pic>
        </p:grpSp>
      </p:grpSp>
      <p:sp>
        <p:nvSpPr>
          <p:cNvPr id="97" name="右箭头 96"/>
          <p:cNvSpPr/>
          <p:nvPr>
            <p:custDataLst>
              <p:tags r:id="rId23"/>
            </p:custDataLst>
          </p:nvPr>
        </p:nvSpPr>
        <p:spPr>
          <a:xfrm>
            <a:off x="3938270" y="148653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8" name="组合 97"/>
          <p:cNvGrpSpPr/>
          <p:nvPr>
            <p:custDataLst>
              <p:tags r:id="rId24"/>
            </p:custDataLst>
          </p:nvPr>
        </p:nvGrpSpPr>
        <p:grpSpPr>
          <a:xfrm>
            <a:off x="5217160" y="1263650"/>
            <a:ext cx="3715385" cy="1268730"/>
            <a:chOff x="8226" y="3049"/>
            <a:chExt cx="5851" cy="1998"/>
          </a:xfrm>
        </p:grpSpPr>
        <p:grpSp>
          <p:nvGrpSpPr>
            <p:cNvPr id="99" name="组合 98"/>
            <p:cNvGrpSpPr/>
            <p:nvPr>
              <p:custDataLst>
                <p:tags r:id="rId25"/>
              </p:custDataLst>
            </p:nvPr>
          </p:nvGrpSpPr>
          <p:grpSpPr>
            <a:xfrm rot="0">
              <a:off x="9213" y="3049"/>
              <a:ext cx="4864" cy="1998"/>
              <a:chOff x="1943" y="3623"/>
              <a:chExt cx="4864" cy="1998"/>
            </a:xfrm>
          </p:grpSpPr>
          <p:sp>
            <p:nvSpPr>
              <p:cNvPr id="100" name="文本框 99"/>
              <p:cNvSpPr txBox="1"/>
              <p:nvPr>
                <p:custDataLst>
                  <p:tags r:id="rId26"/>
                </p:custDataLst>
              </p:nvPr>
            </p:nvSpPr>
            <p:spPr>
              <a:xfrm>
                <a:off x="1943" y="4169"/>
                <a:ext cx="4863" cy="1452"/>
              </a:xfrm>
              <a:prstGeom prst="rect">
                <a:avLst/>
              </a:prstGeom>
              <a:noFill/>
            </p:spPr>
            <p:txBody>
              <a:bodyPr wrap="square" rtlCol="0" anchor="t">
                <a:spAutoFit/>
              </a:bodyPr>
              <a:p>
                <a:r>
                  <a:rPr lang="en-US" altLang="zh-CN">
                    <a:sym typeface="+mn-ea"/>
                  </a:rPr>
                  <a:t>Using regression model to enable real-time </a:t>
                </a:r>
                <a:r>
                  <a:rPr lang="en-US" altLang="zh-CN" dirty="0">
                    <a:cs typeface="+mj-lt"/>
                    <a:sym typeface="+mn-ea"/>
                  </a:rPr>
                  <a:t>c</a:t>
                </a:r>
                <a:r>
                  <a:rPr lang="en-US" altLang="zh-CN" dirty="0">
                    <a:cs typeface="+mj-lt"/>
                    <a:sym typeface="+mn-ea"/>
                  </a:rPr>
                  <a:t>ontinuous</a:t>
                </a:r>
                <a:r>
                  <a:rPr lang="en-US" altLang="zh-CN">
                    <a:sym typeface="+mn-ea"/>
                  </a:rPr>
                  <a:t> adjustment.</a:t>
                </a:r>
                <a:endParaRPr lang="en-US" altLang="zh-CN">
                  <a:sym typeface="+mn-ea"/>
                </a:endParaRPr>
              </a:p>
            </p:txBody>
          </p:sp>
          <p:grpSp>
            <p:nvGrpSpPr>
              <p:cNvPr id="101" name="组合 100"/>
              <p:cNvGrpSpPr/>
              <p:nvPr>
                <p:custDataLst>
                  <p:tags r:id="rId27"/>
                </p:custDataLst>
              </p:nvPr>
            </p:nvGrpSpPr>
            <p:grpSpPr>
              <a:xfrm>
                <a:off x="1943" y="3623"/>
                <a:ext cx="4864" cy="580"/>
                <a:chOff x="1943" y="3623"/>
                <a:chExt cx="4864" cy="580"/>
              </a:xfrm>
            </p:grpSpPr>
            <p:sp>
              <p:nvSpPr>
                <p:cNvPr id="102" name="文本框 101"/>
                <p:cNvSpPr txBox="1"/>
                <p:nvPr>
                  <p:custDataLst>
                    <p:tags r:id="rId28"/>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Regression </a:t>
                  </a:r>
                  <a:r>
                    <a:rPr lang="en-US" altLang="zh-CN" b="1" dirty="0">
                      <a:sym typeface="+mn-ea"/>
                    </a:rPr>
                    <a:t>M</a:t>
                  </a:r>
                  <a:r>
                    <a:rPr lang="en-US" altLang="zh-CN" b="1" dirty="0">
                      <a:sym typeface="+mn-ea"/>
                    </a:rPr>
                    <a:t>odels</a:t>
                  </a:r>
                  <a:endParaRPr lang="en-US" altLang="zh-CN" b="1" dirty="0">
                    <a:sym typeface="+mn-ea"/>
                  </a:endParaRPr>
                </a:p>
              </p:txBody>
            </p:sp>
            <p:cxnSp>
              <p:nvCxnSpPr>
                <p:cNvPr id="103" name="直接连接符 102"/>
                <p:cNvCxnSpPr/>
                <p:nvPr>
                  <p:custDataLst>
                    <p:tags r:id="rId29"/>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04" name="组合 103"/>
            <p:cNvGrpSpPr/>
            <p:nvPr/>
          </p:nvGrpSpPr>
          <p:grpSpPr>
            <a:xfrm>
              <a:off x="8226" y="3156"/>
              <a:ext cx="926" cy="928"/>
              <a:chOff x="8226" y="3156"/>
              <a:chExt cx="926" cy="928"/>
            </a:xfrm>
          </p:grpSpPr>
          <p:sp>
            <p:nvSpPr>
              <p:cNvPr id="105" name="椭圆 104"/>
              <p:cNvSpPr>
                <a:spLocks noChangeAspect="1"/>
              </p:cNvSpPr>
              <p:nvPr>
                <p:custDataLst>
                  <p:tags r:id="rId30"/>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6" name="图片 105" descr="security"/>
              <p:cNvPicPr>
                <a:picLocks noChangeAspect="1"/>
              </p:cNvPicPr>
              <p:nvPr>
                <p:custDataLst>
                  <p:tags r:id="rId31"/>
                </p:custDataLst>
              </p:nvPr>
            </p:nvPicPr>
            <p:blipFill>
              <a:blip r:embed="rId32"/>
              <a:stretch>
                <a:fillRect/>
              </a:stretch>
            </p:blipFill>
            <p:spPr>
              <a:xfrm>
                <a:off x="8394" y="3345"/>
                <a:ext cx="592" cy="592"/>
              </a:xfrm>
              <a:prstGeom prst="rect">
                <a:avLst/>
              </a:prstGeom>
            </p:spPr>
          </p:pic>
        </p:grpSp>
      </p:grpSp>
      <p:sp>
        <p:nvSpPr>
          <p:cNvPr id="117" name="右箭头 116"/>
          <p:cNvSpPr/>
          <p:nvPr>
            <p:custDataLst>
              <p:tags r:id="rId33"/>
            </p:custDataLst>
          </p:nvPr>
        </p:nvSpPr>
        <p:spPr>
          <a:xfrm>
            <a:off x="3955415" y="319976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18" name="组合 117"/>
          <p:cNvGrpSpPr/>
          <p:nvPr>
            <p:custDataLst>
              <p:tags r:id="rId34"/>
            </p:custDataLst>
          </p:nvPr>
        </p:nvGrpSpPr>
        <p:grpSpPr>
          <a:xfrm>
            <a:off x="5217160" y="2831465"/>
            <a:ext cx="3715385" cy="1545590"/>
            <a:chOff x="8226" y="3049"/>
            <a:chExt cx="5851" cy="2434"/>
          </a:xfrm>
        </p:grpSpPr>
        <p:grpSp>
          <p:nvGrpSpPr>
            <p:cNvPr id="119" name="组合 118"/>
            <p:cNvGrpSpPr/>
            <p:nvPr>
              <p:custDataLst>
                <p:tags r:id="rId35"/>
              </p:custDataLst>
            </p:nvPr>
          </p:nvGrpSpPr>
          <p:grpSpPr>
            <a:xfrm rot="0">
              <a:off x="9213" y="3049"/>
              <a:ext cx="4864" cy="2434"/>
              <a:chOff x="1943" y="3623"/>
              <a:chExt cx="4864" cy="2434"/>
            </a:xfrm>
          </p:grpSpPr>
          <p:sp>
            <p:nvSpPr>
              <p:cNvPr id="120" name="文本框 119"/>
              <p:cNvSpPr txBox="1"/>
              <p:nvPr>
                <p:custDataLst>
                  <p:tags r:id="rId36"/>
                </p:custDataLst>
              </p:nvPr>
            </p:nvSpPr>
            <p:spPr>
              <a:xfrm>
                <a:off x="1943" y="4169"/>
                <a:ext cx="4382" cy="1888"/>
              </a:xfrm>
              <a:prstGeom prst="rect">
                <a:avLst/>
              </a:prstGeom>
              <a:noFill/>
            </p:spPr>
            <p:txBody>
              <a:bodyPr wrap="square" rtlCol="0" anchor="t">
                <a:spAutoFit/>
              </a:bodyPr>
              <a:p>
                <a:r>
                  <a:rPr lang="en-US" altLang="zh-CN">
                    <a:sym typeface="+mn-ea"/>
                  </a:rPr>
                  <a:t>Directly mapping raw input signals to output results, enabling joint optimization of the entire system.</a:t>
                </a:r>
                <a:endParaRPr lang="en-US" altLang="zh-CN">
                  <a:sym typeface="+mn-ea"/>
                </a:endParaRPr>
              </a:p>
            </p:txBody>
          </p:sp>
          <p:grpSp>
            <p:nvGrpSpPr>
              <p:cNvPr id="121" name="组合 120"/>
              <p:cNvGrpSpPr/>
              <p:nvPr>
                <p:custDataLst>
                  <p:tags r:id="rId37"/>
                </p:custDataLst>
              </p:nvPr>
            </p:nvGrpSpPr>
            <p:grpSpPr>
              <a:xfrm>
                <a:off x="1943" y="3623"/>
                <a:ext cx="4864" cy="580"/>
                <a:chOff x="1943" y="3623"/>
                <a:chExt cx="4864" cy="580"/>
              </a:xfrm>
            </p:grpSpPr>
            <p:sp>
              <p:nvSpPr>
                <p:cNvPr id="122" name="文本框 121"/>
                <p:cNvSpPr txBox="1"/>
                <p:nvPr>
                  <p:custDataLst>
                    <p:tags r:id="rId38"/>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End-to-End </a:t>
                  </a:r>
                  <a:r>
                    <a:rPr lang="en-US" altLang="zh-CN" b="1" dirty="0">
                      <a:sym typeface="+mn-ea"/>
                    </a:rPr>
                    <a:t>Approach</a:t>
                  </a:r>
                  <a:endParaRPr lang="en-US" altLang="zh-CN" b="1" dirty="0">
                    <a:sym typeface="+mn-ea"/>
                  </a:endParaRPr>
                </a:p>
              </p:txBody>
            </p:sp>
            <p:cxnSp>
              <p:nvCxnSpPr>
                <p:cNvPr id="123" name="直接连接符 122"/>
                <p:cNvCxnSpPr/>
                <p:nvPr>
                  <p:custDataLst>
                    <p:tags r:id="rId39"/>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24" name="组合 123"/>
            <p:cNvGrpSpPr/>
            <p:nvPr/>
          </p:nvGrpSpPr>
          <p:grpSpPr>
            <a:xfrm>
              <a:off x="8226" y="3156"/>
              <a:ext cx="926" cy="928"/>
              <a:chOff x="8226" y="3156"/>
              <a:chExt cx="926" cy="928"/>
            </a:xfrm>
          </p:grpSpPr>
          <p:sp>
            <p:nvSpPr>
              <p:cNvPr id="125" name="椭圆 124"/>
              <p:cNvSpPr>
                <a:spLocks noChangeAspect="1"/>
              </p:cNvSpPr>
              <p:nvPr>
                <p:custDataLst>
                  <p:tags r:id="rId40"/>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6" name="图片 125" descr="security"/>
              <p:cNvPicPr>
                <a:picLocks noChangeAspect="1"/>
              </p:cNvPicPr>
              <p:nvPr>
                <p:custDataLst>
                  <p:tags r:id="rId41"/>
                </p:custDataLst>
              </p:nvPr>
            </p:nvPicPr>
            <p:blipFill>
              <a:blip r:embed="rId32"/>
              <a:stretch>
                <a:fillRect/>
              </a:stretch>
            </p:blipFill>
            <p:spPr>
              <a:xfrm>
                <a:off x="8394" y="3345"/>
                <a:ext cx="592" cy="592"/>
              </a:xfrm>
              <a:prstGeom prst="rect">
                <a:avLst/>
              </a:prstGeom>
            </p:spPr>
          </p:pic>
        </p:grpSp>
      </p:grpSp>
      <p:sp>
        <p:nvSpPr>
          <p:cNvPr id="2" name="灯片编号占位符 1"/>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System Architecture</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210" name="Card2BG"/>
          <p:cNvSpPr>
            <a:spLocks noGrp="1"/>
          </p:cNvSpPr>
          <p:nvPr>
            <p:custDataLst>
              <p:tags r:id="rId1"/>
            </p:custDataLst>
          </p:nvPr>
        </p:nvSpPr>
        <p:spPr>
          <a:xfrm>
            <a:off x="7524750" y="1626870"/>
            <a:ext cx="1101090" cy="2359660"/>
          </a:xfrm>
          <a:prstGeom prst="roundRect">
            <a:avLst>
              <a:gd name="adj" fmla="val 0"/>
            </a:avLst>
          </a:prstGeom>
          <a:solidFill>
            <a:schemeClr val="accent2">
              <a:lumMod val="60000"/>
              <a:lumOff val="40000"/>
              <a:alpha val="50000"/>
            </a:schemeClr>
          </a:solidFill>
          <a:ln w="15875">
            <a:solidFill>
              <a:srgbClr val="F09A70"/>
            </a:solidFill>
          </a:ln>
        </p:spPr>
        <p:txBody>
          <a:bodyPr anchor="ctr" anchorCtr="0"/>
          <a:p>
            <a:pPr algn="ctr"/>
            <a:r>
              <a:rPr lang="en-US" altLang="zh-CN"/>
              <a:t>Decision</a:t>
            </a:r>
            <a:r>
              <a:rPr lang="en-US"/>
              <a:t>Fusion</a:t>
            </a:r>
            <a:endParaRPr lang="en-US"/>
          </a:p>
        </p:txBody>
      </p:sp>
      <p:sp>
        <p:nvSpPr>
          <p:cNvPr id="200" name="Card1BG"/>
          <p:cNvSpPr>
            <a:spLocks noGrp="1"/>
          </p:cNvSpPr>
          <p:nvPr>
            <p:custDataLst>
              <p:tags r:id="rId2"/>
            </p:custDataLst>
          </p:nvPr>
        </p:nvSpPr>
        <p:spPr>
          <a:xfrm>
            <a:off x="117475" y="1012190"/>
            <a:ext cx="1450975" cy="1593215"/>
          </a:xfrm>
          <a:prstGeom prst="roundRect">
            <a:avLst>
              <a:gd name="adj" fmla="val 0"/>
            </a:avLst>
          </a:prstGeom>
          <a:solidFill>
            <a:srgbClr val="F5F5F5"/>
          </a:solidFill>
          <a:ln w="19050">
            <a:solidFill>
              <a:srgbClr val="DDDDDD"/>
            </a:solidFill>
          </a:ln>
        </p:spPr>
        <p:txBody>
          <a:bodyPr/>
          <a:p/>
        </p:txBody>
      </p:sp>
      <p:pic>
        <p:nvPicPr>
          <p:cNvPr id="202" name="EMGImg"/>
          <p:cNvPicPr>
            <a:picLocks noChangeAspect="1"/>
          </p:cNvPicPr>
          <p:nvPr>
            <p:custDataLst>
              <p:tags r:id="rId3"/>
            </p:custDataLst>
          </p:nvPr>
        </p:nvPicPr>
        <p:blipFill>
          <a:blip r:embed="rId4"/>
          <a:stretch>
            <a:fillRect/>
          </a:stretch>
        </p:blipFill>
        <p:spPr>
          <a:xfrm>
            <a:off x="205740" y="1266190"/>
            <a:ext cx="1270000" cy="1270000"/>
          </a:xfrm>
          <a:prstGeom prst="rect">
            <a:avLst/>
          </a:prstGeom>
        </p:spPr>
      </p:pic>
      <p:sp>
        <p:nvSpPr>
          <p:cNvPr id="203" name="Card1Text"/>
          <p:cNvSpPr txBox="1"/>
          <p:nvPr>
            <p:custDataLst>
              <p:tags r:id="rId5"/>
            </p:custDataLst>
          </p:nvPr>
        </p:nvSpPr>
        <p:spPr>
          <a:xfrm>
            <a:off x="205740" y="1011555"/>
            <a:ext cx="1270635" cy="254635"/>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EMG Sensor</a:t>
            </a:r>
            <a:endParaRPr lang="zh-CN" altLang="en-US" sz="1100" dirty="0">
              <a:solidFill>
                <a:srgbClr val="444444"/>
              </a:solidFill>
              <a:latin typeface="Calibri" panose="020F0502020204030204"/>
            </a:endParaRPr>
          </a:p>
        </p:txBody>
      </p:sp>
      <p:sp>
        <p:nvSpPr>
          <p:cNvPr id="2" name="Card1BG"/>
          <p:cNvSpPr>
            <a:spLocks noGrp="1"/>
          </p:cNvSpPr>
          <p:nvPr>
            <p:custDataLst>
              <p:tags r:id="rId6"/>
            </p:custDataLst>
          </p:nvPr>
        </p:nvSpPr>
        <p:spPr>
          <a:xfrm>
            <a:off x="111125" y="2855595"/>
            <a:ext cx="1450975" cy="1593215"/>
          </a:xfrm>
          <a:prstGeom prst="roundRect">
            <a:avLst>
              <a:gd name="adj" fmla="val 0"/>
            </a:avLst>
          </a:prstGeom>
          <a:solidFill>
            <a:srgbClr val="F5F5F5"/>
          </a:solidFill>
          <a:ln w="19050">
            <a:solidFill>
              <a:srgbClr val="DDDDDD"/>
            </a:solidFill>
          </a:ln>
        </p:spPr>
        <p:txBody>
          <a:bodyPr/>
          <a:p/>
        </p:txBody>
      </p:sp>
      <p:sp>
        <p:nvSpPr>
          <p:cNvPr id="4" name="Card1Text"/>
          <p:cNvSpPr txBox="1"/>
          <p:nvPr>
            <p:custDataLst>
              <p:tags r:id="rId7"/>
            </p:custDataLst>
          </p:nvPr>
        </p:nvSpPr>
        <p:spPr>
          <a:xfrm>
            <a:off x="198755" y="2855595"/>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Camera</a:t>
            </a:r>
            <a:endParaRPr lang="zh-CN" altLang="en-US" sz="1100" dirty="0">
              <a:solidFill>
                <a:srgbClr val="444444"/>
              </a:solidFill>
              <a:latin typeface="Calibri" panose="020F0502020204030204"/>
            </a:endParaRPr>
          </a:p>
        </p:txBody>
      </p:sp>
      <p:pic>
        <p:nvPicPr>
          <p:cNvPr id="212" name="CameraImg"/>
          <p:cNvPicPr>
            <a:picLocks noChangeAspect="1"/>
          </p:cNvPicPr>
          <p:nvPr>
            <p:custDataLst>
              <p:tags r:id="rId8"/>
            </p:custDataLst>
          </p:nvPr>
        </p:nvPicPr>
        <p:blipFill>
          <a:blip r:embed="rId9"/>
          <a:stretch>
            <a:fillRect/>
          </a:stretch>
        </p:blipFill>
        <p:spPr>
          <a:xfrm>
            <a:off x="199390" y="3109595"/>
            <a:ext cx="1270000" cy="1270000"/>
          </a:xfrm>
          <a:prstGeom prst="rect">
            <a:avLst/>
          </a:prstGeom>
        </p:spPr>
      </p:pic>
      <p:sp>
        <p:nvSpPr>
          <p:cNvPr id="22" name="Card1BG"/>
          <p:cNvSpPr>
            <a:spLocks noGrp="1"/>
          </p:cNvSpPr>
          <p:nvPr>
            <p:custDataLst>
              <p:tags r:id="rId10"/>
            </p:custDataLst>
          </p:nvPr>
        </p:nvSpPr>
        <p:spPr>
          <a:xfrm>
            <a:off x="2956560" y="3366770"/>
            <a:ext cx="1229995" cy="619760"/>
          </a:xfrm>
          <a:prstGeom prst="roundRect">
            <a:avLst>
              <a:gd name="adj" fmla="val 0"/>
            </a:avLst>
          </a:prstGeom>
          <a:solidFill>
            <a:srgbClr val="F5F5F5"/>
          </a:solidFill>
          <a:ln w="19050">
            <a:solidFill>
              <a:srgbClr val="DDDDDD"/>
            </a:solidFill>
          </a:ln>
        </p:spPr>
        <p:txBody>
          <a:bodyPr anchor="ctr" anchorCtr="0"/>
          <a:p>
            <a:pPr algn="ctr"/>
            <a:r>
              <a:rPr lang="en-US" altLang="ja-JP">
                <a:sym typeface="+mn-ea"/>
              </a:rPr>
              <a:t>ResNet18</a:t>
            </a:r>
            <a:endParaRPr lang="en-US" altLang="zh-CN"/>
          </a:p>
        </p:txBody>
      </p:sp>
      <p:sp>
        <p:nvSpPr>
          <p:cNvPr id="24" name="Shape 15"/>
          <p:cNvSpPr/>
          <p:nvPr/>
        </p:nvSpPr>
        <p:spPr>
          <a:xfrm flipV="1">
            <a:off x="1710055" y="1891030"/>
            <a:ext cx="946785" cy="9525"/>
          </a:xfrm>
          <a:prstGeom prst="line">
            <a:avLst/>
          </a:prstGeom>
          <a:noFill/>
          <a:ln w="19050">
            <a:solidFill>
              <a:srgbClr val="14B8A6"/>
            </a:solidFill>
            <a:prstDash val="solid"/>
            <a:tailEnd type="triangle"/>
          </a:ln>
        </p:spPr>
      </p:sp>
      <p:sp>
        <p:nvSpPr>
          <p:cNvPr id="5" name="Shape 15"/>
          <p:cNvSpPr/>
          <p:nvPr/>
        </p:nvSpPr>
        <p:spPr>
          <a:xfrm flipV="1">
            <a:off x="1710055" y="3647440"/>
            <a:ext cx="946785" cy="9525"/>
          </a:xfrm>
          <a:prstGeom prst="line">
            <a:avLst/>
          </a:prstGeom>
          <a:noFill/>
          <a:ln w="19050">
            <a:solidFill>
              <a:srgbClr val="14B8A6"/>
            </a:solidFill>
            <a:prstDash val="solid"/>
            <a:tailEnd type="triangle"/>
          </a:ln>
        </p:spPr>
      </p:sp>
      <p:sp>
        <p:nvSpPr>
          <p:cNvPr id="8" name="文本框 7"/>
          <p:cNvSpPr txBox="1"/>
          <p:nvPr/>
        </p:nvSpPr>
        <p:spPr>
          <a:xfrm>
            <a:off x="1710055" y="3310255"/>
            <a:ext cx="946785" cy="337185"/>
          </a:xfrm>
          <a:prstGeom prst="rect">
            <a:avLst/>
          </a:prstGeom>
          <a:noFill/>
        </p:spPr>
        <p:txBody>
          <a:bodyPr wrap="square" rtlCol="0" anchor="t">
            <a:spAutoFit/>
          </a:bodyPr>
          <a:p>
            <a:pPr algn="ctr"/>
            <a:r>
              <a:rPr lang="en-US" altLang="ja-JP" sz="1600">
                <a:sym typeface="+mn-ea"/>
              </a:rPr>
              <a:t>Image</a:t>
            </a:r>
            <a:endParaRPr lang="en-US" altLang="ja-JP" sz="1600">
              <a:sym typeface="+mn-ea"/>
            </a:endParaRPr>
          </a:p>
        </p:txBody>
      </p:sp>
      <p:sp>
        <p:nvSpPr>
          <p:cNvPr id="10" name="文本框 9"/>
          <p:cNvSpPr txBox="1"/>
          <p:nvPr/>
        </p:nvSpPr>
        <p:spPr>
          <a:xfrm>
            <a:off x="1569720" y="1486535"/>
            <a:ext cx="1235075" cy="337185"/>
          </a:xfrm>
          <a:prstGeom prst="rect">
            <a:avLst/>
          </a:prstGeom>
          <a:noFill/>
        </p:spPr>
        <p:txBody>
          <a:bodyPr wrap="square" rtlCol="0" anchor="t">
            <a:spAutoFit/>
          </a:bodyPr>
          <a:p>
            <a:pPr algn="ctr"/>
            <a:r>
              <a:rPr lang="en-US" altLang="ja-JP" sz="1600">
                <a:sym typeface="+mn-ea"/>
              </a:rPr>
              <a:t>EMG Signal</a:t>
            </a:r>
            <a:endParaRPr lang="en-US" altLang="ja-JP" sz="1600">
              <a:sym typeface="+mn-ea"/>
            </a:endParaRPr>
          </a:p>
        </p:txBody>
      </p:sp>
      <p:sp>
        <p:nvSpPr>
          <p:cNvPr id="9" name="Shape 15"/>
          <p:cNvSpPr/>
          <p:nvPr/>
        </p:nvSpPr>
        <p:spPr>
          <a:xfrm flipV="1">
            <a:off x="4288155" y="3637915"/>
            <a:ext cx="468000" cy="9525"/>
          </a:xfrm>
          <a:prstGeom prst="line">
            <a:avLst/>
          </a:prstGeom>
          <a:noFill/>
          <a:ln w="19050">
            <a:solidFill>
              <a:srgbClr val="14B8A6"/>
            </a:solidFill>
            <a:prstDash val="solid"/>
            <a:tailEnd type="triangle"/>
          </a:ln>
        </p:spPr>
      </p:sp>
      <p:sp>
        <p:nvSpPr>
          <p:cNvPr id="3" name="矩形 2"/>
          <p:cNvSpPr/>
          <p:nvPr/>
        </p:nvSpPr>
        <p:spPr>
          <a:xfrm>
            <a:off x="2804795" y="825500"/>
            <a:ext cx="6045835" cy="3380105"/>
          </a:xfrm>
          <a:prstGeom prst="rect">
            <a:avLst/>
          </a:prstGeom>
          <a:no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Card2BG"/>
          <p:cNvSpPr>
            <a:spLocks noGrp="1"/>
          </p:cNvSpPr>
          <p:nvPr>
            <p:custDataLst>
              <p:tags r:id="rId11"/>
            </p:custDataLst>
          </p:nvPr>
        </p:nvSpPr>
        <p:spPr>
          <a:xfrm>
            <a:off x="2956560" y="1626235"/>
            <a:ext cx="1158875" cy="540000"/>
          </a:xfrm>
          <a:prstGeom prst="roundRect">
            <a:avLst>
              <a:gd name="adj" fmla="val 0"/>
            </a:avLst>
          </a:prstGeom>
          <a:noFill/>
          <a:ln w="15875">
            <a:solidFill>
              <a:srgbClr val="F09A70"/>
            </a:solidFill>
          </a:ln>
        </p:spPr>
        <p:txBody>
          <a:bodyPr anchor="ctr" anchorCtr="0"/>
          <a:p>
            <a:pPr algn="ctr"/>
            <a:r>
              <a:rPr lang="en-US" altLang="zh-CN">
                <a:sym typeface="+mn-ea"/>
              </a:rPr>
              <a:t>1D CNN</a:t>
            </a:r>
            <a:endParaRPr lang="en-US"/>
          </a:p>
        </p:txBody>
      </p:sp>
      <p:sp>
        <p:nvSpPr>
          <p:cNvPr id="19" name="任意多边形 18"/>
          <p:cNvSpPr/>
          <p:nvPr/>
        </p:nvSpPr>
        <p:spPr>
          <a:xfrm>
            <a:off x="5396865" y="1109980"/>
            <a:ext cx="538480" cy="309245"/>
          </a:xfrm>
          <a:custGeom>
            <a:avLst/>
            <a:gdLst>
              <a:gd name="connisteX0" fmla="*/ 810260 w 810260"/>
              <a:gd name="connsiteY0" fmla="*/ 0 h 309245"/>
              <a:gd name="connisteX1" fmla="*/ 144780 w 810260"/>
              <a:gd name="connsiteY1" fmla="*/ 0 h 309245"/>
              <a:gd name="connisteX2" fmla="*/ 0 w 810260"/>
              <a:gd name="connsiteY2" fmla="*/ 309245 h 309245"/>
            </a:gdLst>
            <a:ahLst/>
            <a:cxnLst>
              <a:cxn ang="0">
                <a:pos x="connisteX0" y="connsiteY0"/>
              </a:cxn>
              <a:cxn ang="0">
                <a:pos x="connisteX1" y="connsiteY1"/>
              </a:cxn>
              <a:cxn ang="0">
                <a:pos x="connisteX2" y="connsiteY2"/>
              </a:cxn>
            </a:cxnLst>
            <a:rect l="l" t="t" r="r" b="b"/>
            <a:pathLst>
              <a:path w="810260" h="309245">
                <a:moveTo>
                  <a:pt x="810260" y="0"/>
                </a:moveTo>
                <a:lnTo>
                  <a:pt x="144780" y="0"/>
                </a:lnTo>
                <a:lnTo>
                  <a:pt x="0" y="309245"/>
                </a:lnTo>
              </a:path>
            </a:pathLst>
          </a:custGeom>
          <a:noFill/>
          <a:ln w="25400" cmpd="sng">
            <a:solidFill>
              <a:schemeClr val="tx1"/>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6044565" y="929005"/>
            <a:ext cx="2718435" cy="583565"/>
          </a:xfrm>
          <a:prstGeom prst="rect">
            <a:avLst/>
          </a:prstGeom>
        </p:spPr>
        <p:txBody>
          <a:bodyPr wrap="square">
            <a:spAutoFit/>
          </a:bodyPr>
          <a:p>
            <a:r>
              <a:rPr lang="en-US" altLang="zh-CN" sz="1600">
                <a:sym typeface="+mn-ea"/>
              </a:rPr>
              <a:t>instead of multiple intention,</a:t>
            </a:r>
            <a:endParaRPr lang="en-US" altLang="zh-CN" sz="1600">
              <a:sym typeface="+mn-ea"/>
            </a:endParaRPr>
          </a:p>
          <a:p>
            <a:r>
              <a:rPr lang="en-US" altLang="zh-CN" sz="1600">
                <a:sym typeface="+mn-ea"/>
              </a:rPr>
              <a:t>simplifed 3 intention</a:t>
            </a:r>
            <a:endParaRPr lang="en-US" altLang="zh-CN" sz="1600"/>
          </a:p>
        </p:txBody>
      </p:sp>
      <p:sp>
        <p:nvSpPr>
          <p:cNvPr id="25" name="Shape 15"/>
          <p:cNvSpPr/>
          <p:nvPr/>
        </p:nvSpPr>
        <p:spPr>
          <a:xfrm flipV="1">
            <a:off x="4288155" y="1900555"/>
            <a:ext cx="468000" cy="9525"/>
          </a:xfrm>
          <a:prstGeom prst="line">
            <a:avLst/>
          </a:prstGeom>
          <a:noFill/>
          <a:ln w="19050">
            <a:solidFill>
              <a:srgbClr val="14B8A6"/>
            </a:solidFill>
            <a:prstDash val="solid"/>
            <a:tailEnd type="triangle"/>
          </a:ln>
        </p:spPr>
      </p:sp>
      <p:sp>
        <p:nvSpPr>
          <p:cNvPr id="27" name="文本框 26"/>
          <p:cNvSpPr txBox="1"/>
          <p:nvPr/>
        </p:nvSpPr>
        <p:spPr>
          <a:xfrm>
            <a:off x="4756150" y="1626235"/>
            <a:ext cx="2049145" cy="583565"/>
          </a:xfrm>
          <a:prstGeom prst="rect">
            <a:avLst/>
          </a:prstGeom>
        </p:spPr>
        <p:txBody>
          <a:bodyPr wrap="square">
            <a:spAutoFit/>
          </a:bodyPr>
          <a:p>
            <a:pPr algn="ctr"/>
            <a:r>
              <a:rPr lang="en-US" altLang="ja-JP" sz="1600"/>
              <a:t>Intention classification</a:t>
            </a:r>
            <a:endParaRPr lang="en-US" altLang="ja-JP" sz="1600"/>
          </a:p>
          <a:p>
            <a:pPr algn="ctr"/>
            <a:r>
              <a:rPr lang="en-US" altLang="ja-JP" sz="1600"/>
              <a:t>Open/Close/Stay</a:t>
            </a:r>
            <a:endParaRPr lang="en-US" altLang="zh-CN" sz="1600">
              <a:ea typeface="宋体" panose="02010600030101010101" pitchFamily="2" charset="-122"/>
            </a:endParaRPr>
          </a:p>
        </p:txBody>
      </p:sp>
      <p:sp>
        <p:nvSpPr>
          <p:cNvPr id="28" name="文本框 27"/>
          <p:cNvSpPr txBox="1"/>
          <p:nvPr/>
        </p:nvSpPr>
        <p:spPr>
          <a:xfrm>
            <a:off x="4791075" y="3366770"/>
            <a:ext cx="2014220" cy="583565"/>
          </a:xfrm>
          <a:prstGeom prst="rect">
            <a:avLst/>
          </a:prstGeom>
        </p:spPr>
        <p:txBody>
          <a:bodyPr wrap="square">
            <a:spAutoFit/>
          </a:bodyPr>
          <a:p>
            <a:pPr algn="ctr"/>
            <a:r>
              <a:rPr lang="en-US" altLang="zh-CN" sz="1600"/>
              <a:t>Corresponding size /servo angle</a:t>
            </a:r>
            <a:endParaRPr lang="en-US" altLang="zh-CN" sz="1600"/>
          </a:p>
        </p:txBody>
      </p:sp>
      <p:sp>
        <p:nvSpPr>
          <p:cNvPr id="45" name="下箭头 44"/>
          <p:cNvSpPr/>
          <p:nvPr/>
        </p:nvSpPr>
        <p:spPr>
          <a:xfrm>
            <a:off x="7849235" y="4100830"/>
            <a:ext cx="452120" cy="716280"/>
          </a:xfrm>
          <a:prstGeom prst="downArrow">
            <a:avLst/>
          </a:prstGeom>
          <a:solidFill>
            <a:srgbClr val="14B8A6"/>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0" name="直接箭头连接符 49"/>
          <p:cNvCxnSpPr>
            <a:stCxn id="27" idx="3"/>
          </p:cNvCxnSpPr>
          <p:nvPr/>
        </p:nvCxnSpPr>
        <p:spPr>
          <a:xfrm>
            <a:off x="6805295" y="1918335"/>
            <a:ext cx="622935" cy="1905"/>
          </a:xfrm>
          <a:prstGeom prst="straightConnector1">
            <a:avLst/>
          </a:prstGeom>
          <a:noFill/>
          <a:ln w="19050">
            <a:solidFill>
              <a:srgbClr val="14B8A6"/>
            </a:solidFill>
            <a:prstDash val="solid"/>
            <a:tailEnd type="arrow"/>
          </a:ln>
        </p:spPr>
      </p:cxnSp>
      <p:cxnSp>
        <p:nvCxnSpPr>
          <p:cNvPr id="51" name="直接箭头连接符 50"/>
          <p:cNvCxnSpPr>
            <a:stCxn id="28" idx="3"/>
          </p:cNvCxnSpPr>
          <p:nvPr/>
        </p:nvCxnSpPr>
        <p:spPr>
          <a:xfrm>
            <a:off x="6805295" y="3658870"/>
            <a:ext cx="612775" cy="8890"/>
          </a:xfrm>
          <a:prstGeom prst="straightConnector1">
            <a:avLst/>
          </a:prstGeom>
          <a:noFill/>
          <a:ln w="19050">
            <a:solidFill>
              <a:srgbClr val="14B8A6"/>
            </a:solidFill>
            <a:prstDash val="solid"/>
            <a:tailEnd type="arrow"/>
          </a:ln>
        </p:spPr>
      </p:cxnSp>
      <p:sp>
        <p:nvSpPr>
          <p:cNvPr id="53" name="文本框 52"/>
          <p:cNvSpPr txBox="1"/>
          <p:nvPr/>
        </p:nvSpPr>
        <p:spPr>
          <a:xfrm>
            <a:off x="2956560" y="2712720"/>
            <a:ext cx="1992630" cy="368300"/>
          </a:xfrm>
          <a:prstGeom prst="rect">
            <a:avLst/>
          </a:prstGeom>
          <a:noFill/>
        </p:spPr>
        <p:txBody>
          <a:bodyPr wrap="square" rtlCol="0">
            <a:spAutoFit/>
          </a:bodyPr>
          <a:p>
            <a:pPr algn="ctr"/>
            <a:r>
              <a:rPr lang="en-US" altLang="zh-CN"/>
              <a:t>Directly map</a:t>
            </a:r>
            <a:endParaRPr lang="en-US" altLang="zh-CN"/>
          </a:p>
        </p:txBody>
      </p:sp>
      <p:sp>
        <p:nvSpPr>
          <p:cNvPr id="54" name="文本框 53"/>
          <p:cNvSpPr txBox="1"/>
          <p:nvPr/>
        </p:nvSpPr>
        <p:spPr>
          <a:xfrm>
            <a:off x="2684780" y="2344420"/>
            <a:ext cx="2504440" cy="368300"/>
          </a:xfrm>
          <a:prstGeom prst="rect">
            <a:avLst/>
          </a:prstGeom>
          <a:noFill/>
        </p:spPr>
        <p:txBody>
          <a:bodyPr wrap="square" rtlCol="0" anchor="t">
            <a:spAutoFit/>
          </a:bodyPr>
          <a:p>
            <a:pPr algn="ctr"/>
            <a:r>
              <a:rPr lang="en-US" altLang="zh-CN">
                <a:sym typeface="+mn-ea"/>
              </a:rPr>
              <a:t>End to End Approach</a:t>
            </a:r>
            <a:endParaRPr lang="en-US" altLang="zh-CN">
              <a:sym typeface="+mn-ea"/>
            </a:endParaRPr>
          </a:p>
        </p:txBody>
      </p:sp>
      <p:sp>
        <p:nvSpPr>
          <p:cNvPr id="55" name="文本框 54"/>
          <p:cNvSpPr txBox="1"/>
          <p:nvPr/>
        </p:nvSpPr>
        <p:spPr>
          <a:xfrm>
            <a:off x="286385" y="4833620"/>
            <a:ext cx="2371090" cy="368300"/>
          </a:xfrm>
          <a:prstGeom prst="rect">
            <a:avLst/>
          </a:prstGeom>
          <a:noFill/>
        </p:spPr>
        <p:txBody>
          <a:bodyPr wrap="square" rtlCol="0">
            <a:spAutoFit/>
          </a:bodyPr>
          <a:p>
            <a:pPr algn="ctr"/>
            <a:r>
              <a:rPr lang="en-US" altLang="zh-CN"/>
              <a:t>Previous Vision Branch</a:t>
            </a:r>
            <a:endParaRPr lang="en-US" altLang="zh-CN"/>
          </a:p>
        </p:txBody>
      </p:sp>
      <p:sp>
        <p:nvSpPr>
          <p:cNvPr id="56" name="Card1BG"/>
          <p:cNvSpPr>
            <a:spLocks noGrp="1"/>
          </p:cNvSpPr>
          <p:nvPr>
            <p:custDataLst>
              <p:tags r:id="rId12"/>
            </p:custDataLst>
          </p:nvPr>
        </p:nvSpPr>
        <p:spPr>
          <a:xfrm>
            <a:off x="358140" y="5868035"/>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t>Camera Image</a:t>
            </a:r>
            <a:endParaRPr lang="en-US" altLang="zh-CN"/>
          </a:p>
        </p:txBody>
      </p:sp>
      <p:sp>
        <p:nvSpPr>
          <p:cNvPr id="57" name="Shape 15"/>
          <p:cNvSpPr/>
          <p:nvPr/>
        </p:nvSpPr>
        <p:spPr>
          <a:xfrm>
            <a:off x="2000250" y="6169025"/>
            <a:ext cx="548640" cy="0"/>
          </a:xfrm>
          <a:prstGeom prst="line">
            <a:avLst/>
          </a:prstGeom>
          <a:noFill/>
          <a:ln w="19050">
            <a:solidFill>
              <a:srgbClr val="14B8A6"/>
            </a:solidFill>
            <a:prstDash val="solid"/>
            <a:tailEnd type="triangle"/>
          </a:ln>
        </p:spPr>
      </p:sp>
      <p:sp>
        <p:nvSpPr>
          <p:cNvPr id="58" name="Card1BG"/>
          <p:cNvSpPr>
            <a:spLocks noGrp="1"/>
          </p:cNvSpPr>
          <p:nvPr>
            <p:custDataLst>
              <p:tags r:id="rId13"/>
            </p:custDataLst>
          </p:nvPr>
        </p:nvSpPr>
        <p:spPr>
          <a:xfrm>
            <a:off x="2684780" y="5868035"/>
            <a:ext cx="1603375" cy="629285"/>
          </a:xfrm>
          <a:prstGeom prst="roundRect">
            <a:avLst>
              <a:gd name="adj" fmla="val 0"/>
            </a:avLst>
          </a:prstGeom>
          <a:solidFill>
            <a:srgbClr val="F5F5F5"/>
          </a:solidFill>
          <a:ln w="19050">
            <a:solidFill>
              <a:srgbClr val="DDDDDD"/>
            </a:solidFill>
          </a:ln>
        </p:spPr>
        <p:txBody>
          <a:bodyPr anchor="ctr" anchorCtr="0"/>
          <a:p>
            <a:pPr algn="ctr"/>
            <a:r>
              <a:rPr lang="en-US" altLang="zh-CN"/>
              <a:t>YOLO Object Classification</a:t>
            </a:r>
            <a:endParaRPr lang="en-US" altLang="zh-CN"/>
          </a:p>
        </p:txBody>
      </p:sp>
      <p:grpSp>
        <p:nvGrpSpPr>
          <p:cNvPr id="68" name="组合 67"/>
          <p:cNvGrpSpPr/>
          <p:nvPr/>
        </p:nvGrpSpPr>
        <p:grpSpPr>
          <a:xfrm>
            <a:off x="7030720" y="4899660"/>
            <a:ext cx="2040255" cy="388620"/>
            <a:chOff x="2430" y="3065"/>
            <a:chExt cx="4204" cy="612"/>
          </a:xfrm>
        </p:grpSpPr>
        <p:sp>
          <p:nvSpPr>
            <p:cNvPr id="69" name="Shape 26"/>
            <p:cNvSpPr/>
            <p:nvPr>
              <p:custDataLst>
                <p:tags r:id="rId14"/>
              </p:custDataLst>
            </p:nvPr>
          </p:nvSpPr>
          <p:spPr>
            <a:xfrm>
              <a:off x="2430" y="3065"/>
              <a:ext cx="4204" cy="613"/>
            </a:xfrm>
            <a:prstGeom prst="rect">
              <a:avLst/>
            </a:prstGeom>
            <a:solidFill>
              <a:srgbClr val="F59E0B"/>
            </a:solidFill>
            <a:ln w="19050">
              <a:solidFill>
                <a:srgbClr val="F59E0B"/>
              </a:solidFill>
              <a:prstDash val="solid"/>
            </a:ln>
          </p:spPr>
          <p:txBody>
            <a:bodyPr/>
            <a:p>
              <a:endParaRPr lang="zh-CN" altLang="en-US"/>
            </a:p>
          </p:txBody>
        </p:sp>
        <p:sp>
          <p:nvSpPr>
            <p:cNvPr id="70" name="Text 27"/>
            <p:cNvSpPr/>
            <p:nvPr>
              <p:custDataLst>
                <p:tags r:id="rId15"/>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t>Control Output</a:t>
              </a:r>
              <a:endParaRPr lang="en-US" altLang="zh-CN" b="1" dirty="0"/>
            </a:p>
          </p:txBody>
        </p:sp>
      </p:grpSp>
      <p:sp>
        <p:nvSpPr>
          <p:cNvPr id="73" name="矩形 72"/>
          <p:cNvSpPr/>
          <p:nvPr/>
        </p:nvSpPr>
        <p:spPr>
          <a:xfrm>
            <a:off x="220980" y="4822190"/>
            <a:ext cx="6672580" cy="1885950"/>
          </a:xfrm>
          <a:prstGeom prst="rect">
            <a:avLst/>
          </a:prstGeom>
          <a:noFill/>
          <a:ln w="25400" cmpd="sng">
            <a:solidFill>
              <a:srgbClr val="C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4688205" y="5016500"/>
            <a:ext cx="2117090" cy="368300"/>
          </a:xfrm>
          <a:prstGeom prst="rect">
            <a:avLst/>
          </a:prstGeom>
          <a:noFill/>
        </p:spPr>
        <p:txBody>
          <a:bodyPr wrap="square" rtlCol="0">
            <a:spAutoFit/>
          </a:bodyPr>
          <a:p>
            <a:r>
              <a:rPr lang="en-US" altLang="zh-CN"/>
              <a:t>Object Recognition</a:t>
            </a:r>
            <a:endParaRPr lang="en-US" altLang="zh-CN"/>
          </a:p>
        </p:txBody>
      </p:sp>
      <p:sp>
        <p:nvSpPr>
          <p:cNvPr id="17" name="文本框 16"/>
          <p:cNvSpPr txBox="1"/>
          <p:nvPr/>
        </p:nvSpPr>
        <p:spPr>
          <a:xfrm>
            <a:off x="4688205" y="5518150"/>
            <a:ext cx="3048000" cy="368300"/>
          </a:xfrm>
          <a:prstGeom prst="rect">
            <a:avLst/>
          </a:prstGeom>
          <a:noFill/>
        </p:spPr>
        <p:txBody>
          <a:bodyPr wrap="square" rtlCol="0">
            <a:spAutoFit/>
          </a:bodyPr>
          <a:p>
            <a:r>
              <a:rPr lang="en-US" altLang="zh-CN"/>
              <a:t>Predict Bounding Box</a:t>
            </a:r>
            <a:endParaRPr lang="en-US" altLang="zh-CN"/>
          </a:p>
        </p:txBody>
      </p:sp>
      <p:sp>
        <p:nvSpPr>
          <p:cNvPr id="26" name="任意多边形 25"/>
          <p:cNvSpPr/>
          <p:nvPr/>
        </p:nvSpPr>
        <p:spPr>
          <a:xfrm>
            <a:off x="2143125" y="2712720"/>
            <a:ext cx="3641090" cy="674370"/>
          </a:xfrm>
          <a:custGeom>
            <a:avLst/>
            <a:gdLst>
              <a:gd name="connisteX0" fmla="*/ 9525 w 3463290"/>
              <a:gd name="connsiteY0" fmla="*/ 585470 h 674370"/>
              <a:gd name="connisteX1" fmla="*/ 0 w 3463290"/>
              <a:gd name="connsiteY1" fmla="*/ 0 h 674370"/>
              <a:gd name="connisteX2" fmla="*/ 3463290 w 3463290"/>
              <a:gd name="connsiteY2" fmla="*/ 0 h 674370"/>
              <a:gd name="connisteX3" fmla="*/ 3463290 w 3463290"/>
              <a:gd name="connsiteY3" fmla="*/ 674370 h 674370"/>
            </a:gdLst>
            <a:ahLst/>
            <a:cxnLst>
              <a:cxn ang="0">
                <a:pos x="connisteX0" y="connsiteY0"/>
              </a:cxn>
              <a:cxn ang="0">
                <a:pos x="connisteX1" y="connsiteY1"/>
              </a:cxn>
              <a:cxn ang="0">
                <a:pos x="connisteX2" y="connsiteY2"/>
              </a:cxn>
              <a:cxn ang="0">
                <a:pos x="connisteX3" y="connsiteY3"/>
              </a:cxn>
            </a:cxnLst>
            <a:rect l="l" t="t" r="r" b="b"/>
            <a:pathLst>
              <a:path w="3463290" h="674370">
                <a:moveTo>
                  <a:pt x="9525" y="585470"/>
                </a:moveTo>
                <a:lnTo>
                  <a:pt x="0" y="0"/>
                </a:lnTo>
                <a:lnTo>
                  <a:pt x="3463290" y="0"/>
                </a:lnTo>
                <a:lnTo>
                  <a:pt x="3463290" y="674370"/>
                </a:lnTo>
              </a:path>
            </a:pathLst>
          </a:custGeom>
          <a:noFill/>
          <a:ln w="25400" cmpd="sng">
            <a:solidFill>
              <a:srgbClr val="06327D"/>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任意多边形 30"/>
          <p:cNvSpPr/>
          <p:nvPr/>
        </p:nvSpPr>
        <p:spPr>
          <a:xfrm>
            <a:off x="4286885" y="5215890"/>
            <a:ext cx="401320" cy="930275"/>
          </a:xfrm>
          <a:custGeom>
            <a:avLst/>
            <a:gdLst>
              <a:gd name="connisteX0" fmla="*/ 0 w 774065"/>
              <a:gd name="connsiteY0" fmla="*/ 1160780 h 1160780"/>
              <a:gd name="connisteX1" fmla="*/ 356870 w 774065"/>
              <a:gd name="connsiteY1" fmla="*/ 1160780 h 1160780"/>
              <a:gd name="connisteX2" fmla="*/ 347345 w 774065"/>
              <a:gd name="connsiteY2" fmla="*/ 9525 h 1160780"/>
              <a:gd name="connisteX3" fmla="*/ 774065 w 774065"/>
              <a:gd name="connsiteY3" fmla="*/ 0 h 1160780"/>
            </a:gdLst>
            <a:ahLst/>
            <a:cxnLst>
              <a:cxn ang="0">
                <a:pos x="connisteX0" y="connsiteY0"/>
              </a:cxn>
              <a:cxn ang="0">
                <a:pos x="connisteX1" y="connsiteY1"/>
              </a:cxn>
              <a:cxn ang="0">
                <a:pos x="connisteX2" y="connsiteY2"/>
              </a:cxn>
              <a:cxn ang="0">
                <a:pos x="connisteX3" y="connsiteY3"/>
              </a:cxn>
            </a:cxnLst>
            <a:rect l="l" t="t" r="r" b="b"/>
            <a:pathLst>
              <a:path w="774065" h="1160780">
                <a:moveTo>
                  <a:pt x="0" y="1160780"/>
                </a:moveTo>
                <a:lnTo>
                  <a:pt x="356870" y="1160780"/>
                </a:lnTo>
                <a:lnTo>
                  <a:pt x="347345" y="9525"/>
                </a:lnTo>
                <a:lnTo>
                  <a:pt x="774065"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任意多边形 32"/>
          <p:cNvSpPr/>
          <p:nvPr/>
        </p:nvSpPr>
        <p:spPr>
          <a:xfrm flipV="1">
            <a:off x="4475480" y="5650865"/>
            <a:ext cx="212725" cy="76200"/>
          </a:xfrm>
          <a:custGeom>
            <a:avLst/>
            <a:gdLst>
              <a:gd name="connisteX0" fmla="*/ 0 w 356870"/>
              <a:gd name="connsiteY0" fmla="*/ 0 h 0"/>
              <a:gd name="connisteX1" fmla="*/ 356870 w 356870"/>
              <a:gd name="connsiteY1" fmla="*/ 0 h 0"/>
            </a:gdLst>
            <a:ahLst/>
            <a:cxnLst>
              <a:cxn ang="0">
                <a:pos x="connisteX0" y="connsiteY0"/>
              </a:cxn>
              <a:cxn ang="0">
                <a:pos x="connisteX1" y="connsiteY1"/>
              </a:cxn>
            </a:cxnLst>
            <a:rect l="l" t="t" r="r" b="b"/>
            <a:pathLst>
              <a:path w="356870">
                <a:moveTo>
                  <a:pt x="0" y="0"/>
                </a:moveTo>
                <a:lnTo>
                  <a:pt x="356870"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任意多边形 33"/>
          <p:cNvSpPr/>
          <p:nvPr/>
        </p:nvSpPr>
        <p:spPr>
          <a:xfrm flipV="1">
            <a:off x="4475480" y="6069965"/>
            <a:ext cx="212725" cy="76200"/>
          </a:xfrm>
          <a:custGeom>
            <a:avLst/>
            <a:gdLst>
              <a:gd name="connisteX0" fmla="*/ 0 w 356870"/>
              <a:gd name="connsiteY0" fmla="*/ 0 h 0"/>
              <a:gd name="connisteX1" fmla="*/ 356870 w 356870"/>
              <a:gd name="connsiteY1" fmla="*/ 0 h 0"/>
            </a:gdLst>
            <a:ahLst/>
            <a:cxnLst>
              <a:cxn ang="0">
                <a:pos x="connisteX0" y="connsiteY0"/>
              </a:cxn>
              <a:cxn ang="0">
                <a:pos x="connisteX1" y="connsiteY1"/>
              </a:cxn>
            </a:cxnLst>
            <a:rect l="l" t="t" r="r" b="b"/>
            <a:pathLst>
              <a:path w="356870">
                <a:moveTo>
                  <a:pt x="0" y="0"/>
                </a:moveTo>
                <a:lnTo>
                  <a:pt x="356870"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4687570" y="5984875"/>
            <a:ext cx="2117725" cy="368300"/>
          </a:xfrm>
          <a:prstGeom prst="rect">
            <a:avLst/>
          </a:prstGeom>
        </p:spPr>
        <p:txBody>
          <a:bodyPr wrap="square">
            <a:spAutoFit/>
          </a:bodyPr>
          <a:p>
            <a:r>
              <a:rPr lang="en-US" altLang="ja-JP"/>
              <a:t>Compute the Size</a:t>
            </a:r>
            <a:endParaRPr lang="en-US" altLang="ja-JP"/>
          </a:p>
        </p:txBody>
      </p:sp>
      <p:sp>
        <p:nvSpPr>
          <p:cNvPr id="37" name="上下箭头 36"/>
          <p:cNvSpPr/>
          <p:nvPr/>
        </p:nvSpPr>
        <p:spPr>
          <a:xfrm>
            <a:off x="3237230" y="4286885"/>
            <a:ext cx="221615" cy="718820"/>
          </a:xfrm>
          <a:prstGeom prst="upDownArrow">
            <a:avLst/>
          </a:prstGeom>
          <a:solidFill>
            <a:srgbClr val="06327D"/>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nvSpPr>
        <p:spPr>
          <a:xfrm>
            <a:off x="3370580" y="4448810"/>
            <a:ext cx="2026920" cy="368300"/>
          </a:xfrm>
          <a:prstGeom prst="rect">
            <a:avLst/>
          </a:prstGeom>
        </p:spPr>
        <p:txBody>
          <a:bodyPr wrap="square">
            <a:spAutoFit/>
          </a:bodyPr>
          <a:p>
            <a:r>
              <a:rPr lang="en-US" altLang="ja-JP"/>
              <a:t>Different </a:t>
            </a:r>
            <a:r>
              <a:rPr lang="en-US" altLang="zh-CN"/>
              <a:t>Approach</a:t>
            </a:r>
            <a:endParaRPr lang="en-US" altLang="zh-CN"/>
          </a:p>
        </p:txBody>
      </p:sp>
      <p:sp>
        <p:nvSpPr>
          <p:cNvPr id="7" name="灯片编号占位符 6"/>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Real-Time Inference Demo</a:t>
            </a:r>
            <a:endParaRPr lang="en-US" altLang="zh-CN" sz="3200" b="1" dirty="0">
              <a:latin typeface="Times New Roman" panose="02020603050405020304"/>
            </a:endParaRPr>
          </a:p>
        </p:txBody>
      </p:sp>
      <p:pic>
        <p:nvPicPr>
          <p:cNvPr id="9" name="7月7日(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20345" y="1687195"/>
            <a:ext cx="8717915" cy="3178175"/>
          </a:xfrm>
          <a:prstGeom prst="rect">
            <a:avLst/>
          </a:prstGeom>
        </p:spPr>
      </p:pic>
      <p:sp>
        <p:nvSpPr>
          <p:cNvPr id="12" name="文本框 11"/>
          <p:cNvSpPr txBox="1"/>
          <p:nvPr/>
        </p:nvSpPr>
        <p:spPr>
          <a:xfrm>
            <a:off x="220980" y="5669280"/>
            <a:ext cx="8718550" cy="368300"/>
          </a:xfrm>
          <a:prstGeom prst="rect">
            <a:avLst/>
          </a:prstGeom>
        </p:spPr>
        <p:txBody>
          <a:bodyPr wrap="square">
            <a:spAutoFit/>
          </a:bodyPr>
          <a:p>
            <a:r>
              <a:rPr lang="en-US" altLang="ja-JP" b="1">
                <a:solidFill>
                  <a:srgbClr val="FF0000"/>
                </a:solidFill>
              </a:rPr>
              <a:t>#</a:t>
            </a:r>
            <a:r>
              <a:rPr lang="en-US" altLang="ja-JP"/>
              <a:t> At the current stage, only the system's real-time inference capability has been tested</a:t>
            </a:r>
            <a:endParaRPr lang="en-US" altLang="ja-JP"/>
          </a:p>
        </p:txBody>
      </p:sp>
      <p:sp>
        <p:nvSpPr>
          <p:cNvPr id="13" name="文本框 12"/>
          <p:cNvSpPr txBox="1"/>
          <p:nvPr/>
        </p:nvSpPr>
        <p:spPr>
          <a:xfrm>
            <a:off x="221615" y="5939155"/>
            <a:ext cx="8717915" cy="645160"/>
          </a:xfrm>
          <a:prstGeom prst="rect">
            <a:avLst/>
          </a:prstGeom>
        </p:spPr>
        <p:txBody>
          <a:bodyPr wrap="square">
            <a:spAutoFit/>
          </a:bodyPr>
          <a:p>
            <a:r>
              <a:rPr lang="en-US" altLang="ja-JP" b="1">
                <a:solidFill>
                  <a:srgbClr val="FF0000"/>
                </a:solidFill>
                <a:sym typeface="+mn-ea"/>
              </a:rPr>
              <a:t>#</a:t>
            </a:r>
            <a:r>
              <a:rPr lang="en-US" altLang="ja-JP">
                <a:sym typeface="+mn-ea"/>
              </a:rPr>
              <a:t> </a:t>
            </a:r>
            <a:r>
              <a:rPr lang="en-US" altLang="ja-JP"/>
              <a:t>next step is to </a:t>
            </a:r>
            <a:r>
              <a:rPr lang="en-US" altLang="ja-JP">
                <a:sym typeface="+mn-ea"/>
              </a:rPr>
              <a:t>record data of</a:t>
            </a:r>
            <a:r>
              <a:rPr lang="en-US" altLang="ja-JP"/>
              <a:t> grasping different objects, enabling the model to learn grasping angles for different objects.</a:t>
            </a:r>
            <a:endParaRPr lang="en-US" altLang="ja-JP"/>
          </a:p>
        </p:txBody>
      </p:sp>
      <p:sp>
        <p:nvSpPr>
          <p:cNvPr id="4" name="任意多边形 3"/>
          <p:cNvSpPr/>
          <p:nvPr/>
        </p:nvSpPr>
        <p:spPr>
          <a:xfrm>
            <a:off x="5732145" y="1476000"/>
            <a:ext cx="10795" cy="792000"/>
          </a:xfrm>
          <a:custGeom>
            <a:avLst/>
            <a:gdLst>
              <a:gd name="connisteX0" fmla="*/ 10795 w 10795"/>
              <a:gd name="connsiteY0" fmla="*/ 1316355 h 1316355"/>
              <a:gd name="connisteX1" fmla="*/ 0 w 10795"/>
              <a:gd name="connsiteY1" fmla="*/ 0 h 1316355"/>
            </a:gdLst>
            <a:ahLst/>
            <a:cxnLst>
              <a:cxn ang="0">
                <a:pos x="connisteX0" y="connsiteY0"/>
              </a:cxn>
              <a:cxn ang="0">
                <a:pos x="connisteX1" y="connsiteY1"/>
              </a:cxn>
            </a:cxnLst>
            <a:rect l="l" t="t" r="r" b="b"/>
            <a:pathLst>
              <a:path w="10795" h="1316355">
                <a:moveTo>
                  <a:pt x="10795" y="1316355"/>
                </a:moveTo>
                <a:lnTo>
                  <a:pt x="0" y="0"/>
                </a:lnTo>
              </a:path>
            </a:pathLst>
          </a:custGeom>
          <a:noFill/>
          <a:ln w="381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nvSpPr>
        <p:spPr>
          <a:xfrm>
            <a:off x="6369050" y="1476000"/>
            <a:ext cx="10795" cy="792000"/>
          </a:xfrm>
          <a:custGeom>
            <a:avLst/>
            <a:gdLst>
              <a:gd name="connisteX0" fmla="*/ 10795 w 10795"/>
              <a:gd name="connsiteY0" fmla="*/ 1316355 h 1316355"/>
              <a:gd name="connisteX1" fmla="*/ 0 w 10795"/>
              <a:gd name="connsiteY1" fmla="*/ 0 h 1316355"/>
            </a:gdLst>
            <a:ahLst/>
            <a:cxnLst>
              <a:cxn ang="0">
                <a:pos x="connisteX0" y="connsiteY0"/>
              </a:cxn>
              <a:cxn ang="0">
                <a:pos x="connisteX1" y="connsiteY1"/>
              </a:cxn>
            </a:cxnLst>
            <a:rect l="l" t="t" r="r" b="b"/>
            <a:pathLst>
              <a:path w="10795" h="1316355">
                <a:moveTo>
                  <a:pt x="10795" y="1316355"/>
                </a:moveTo>
                <a:lnTo>
                  <a:pt x="0" y="0"/>
                </a:lnTo>
              </a:path>
            </a:pathLst>
          </a:custGeom>
          <a:noFill/>
          <a:ln w="381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4618990" y="864000"/>
            <a:ext cx="3336290" cy="645160"/>
          </a:xfrm>
          <a:prstGeom prst="rect">
            <a:avLst/>
          </a:prstGeom>
          <a:noFill/>
        </p:spPr>
        <p:txBody>
          <a:bodyPr wrap="square" rtlCol="0">
            <a:spAutoFit/>
          </a:bodyPr>
          <a:p>
            <a:pPr algn="ctr"/>
            <a:r>
              <a:rPr lang="en-US" altLang="zh-CN">
                <a:ea typeface="宋体" panose="02010600030101010101" pitchFamily="2" charset="-122"/>
                <a:sym typeface="+mn-ea"/>
              </a:rPr>
              <a:t>Current </a:t>
            </a:r>
            <a:r>
              <a:rPr lang="en-US" altLang="ja-JP">
                <a:sym typeface="+mn-ea"/>
              </a:rPr>
              <a:t>objects</a:t>
            </a:r>
            <a:r>
              <a:rPr lang="en-US" altLang="zh-CN">
                <a:ea typeface="宋体" panose="02010600030101010101" pitchFamily="2" charset="-122"/>
                <a:sym typeface="+mn-ea"/>
              </a:rPr>
              <a:t>, </a:t>
            </a:r>
            <a:r>
              <a:rPr lang="en-US" altLang="zh-CN">
                <a:ea typeface="宋体" panose="02010600030101010101" pitchFamily="2" charset="-122"/>
              </a:rPr>
              <a:t>t</a:t>
            </a:r>
            <a:r>
              <a:rPr lang="en-US" altLang="zh-CN">
                <a:ea typeface="宋体" panose="02010600030101010101" pitchFamily="2" charset="-122"/>
              </a:rPr>
              <a:t>he model learns the opening/closing size/angle</a:t>
            </a:r>
            <a:endParaRPr lang="en-US" altLang="zh-CN">
              <a:ea typeface="宋体" panose="02010600030101010101" pitchFamily="2" charset="-122"/>
            </a:endParaRPr>
          </a:p>
        </p:txBody>
      </p:sp>
      <p:sp>
        <p:nvSpPr>
          <p:cNvPr id="10" name="文本框 9"/>
          <p:cNvSpPr txBox="1"/>
          <p:nvPr/>
        </p:nvSpPr>
        <p:spPr>
          <a:xfrm>
            <a:off x="267335" y="4946015"/>
            <a:ext cx="6190615" cy="368300"/>
          </a:xfrm>
          <a:prstGeom prst="rect">
            <a:avLst/>
          </a:prstGeom>
        </p:spPr>
        <p:txBody>
          <a:bodyPr wrap="square">
            <a:spAutoFit/>
          </a:bodyPr>
          <a:p>
            <a:r>
              <a:rPr lang="en-US" altLang="ja-JP"/>
              <a:t>Robotic hand automatically determines the </a:t>
            </a:r>
            <a:r>
              <a:rPr lang="en-US" altLang="zh-CN">
                <a:sym typeface="+mn-ea"/>
              </a:rPr>
              <a:t>suitable</a:t>
            </a:r>
            <a:r>
              <a:rPr lang="en-US" altLang="ja-JP"/>
              <a:t> size.</a:t>
            </a:r>
            <a:endParaRPr lang="en-US" altLang="ja-JP"/>
          </a:p>
        </p:txBody>
      </p:sp>
      <p:sp>
        <p:nvSpPr>
          <p:cNvPr id="11" name="下箭头 10"/>
          <p:cNvSpPr/>
          <p:nvPr/>
        </p:nvSpPr>
        <p:spPr>
          <a:xfrm rot="10800000">
            <a:off x="4428000" y="4572000"/>
            <a:ext cx="255270" cy="425450"/>
          </a:xfrm>
          <a:prstGeom prst="downArrow">
            <a:avLst/>
          </a:prstGeom>
          <a:solidFill>
            <a:srgbClr val="14B8A6"/>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灯片编号占位符 1"/>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childTnLst>
            <p:video fullScrn="0">
              <p:cMediaNode>
                <p:cTn id="2" fill="hold" display="1">
                  <p:stCondLst>
                    <p:cond delay="indefinite"/>
                  </p:stCondLst>
                </p:cTn>
                <p:tgtEl>
                  <p:spTgt spid="9"/>
                </p:tgtEl>
              </p:cMediaNode>
            </p:video>
            <p:seq concurrent="1" nextAc="seek">
              <p:cTn id="3" restart="whenNotActive" fill="hold" evtFilter="cancelBubble" nodeType="interactiveSeq">
                <p:stCondLst>
                  <p:cond evt="onClick" delay="0">
                    <p:tgtEl>
                      <p:spTgt spid="9"/>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Training</a:t>
            </a:r>
            <a:endParaRPr lang="en-US" altLang="zh-CN" sz="3200" b="1" dirty="0">
              <a:latin typeface="Times New Roman" panose="02020603050405020304"/>
            </a:endParaRPr>
          </a:p>
          <a:p>
            <a:endParaRPr lang="en-US" altLang="zh-CN" sz="3200" b="1" dirty="0">
              <a:latin typeface="Times New Roman" panose="02020603050405020304"/>
            </a:endParaRPr>
          </a:p>
        </p:txBody>
      </p:sp>
      <p:pic>
        <p:nvPicPr>
          <p:cNvPr id="3" name="7月7日">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20980" y="3515360"/>
            <a:ext cx="8717280" cy="3166110"/>
          </a:xfrm>
          <a:prstGeom prst="rect">
            <a:avLst/>
          </a:prstGeom>
        </p:spPr>
      </p:pic>
      <p:sp>
        <p:nvSpPr>
          <p:cNvPr id="28" name="Shape 25"/>
          <p:cNvSpPr/>
          <p:nvPr>
            <p:custDataLst>
              <p:tags r:id="rId4"/>
            </p:custDataLst>
          </p:nvPr>
        </p:nvSpPr>
        <p:spPr>
          <a:xfrm>
            <a:off x="220980" y="877570"/>
            <a:ext cx="8718550" cy="1221740"/>
          </a:xfrm>
          <a:prstGeom prst="rect">
            <a:avLst/>
          </a:prstGeom>
          <a:solidFill>
            <a:srgbClr val="F59E0B">
              <a:alpha val="10000"/>
            </a:srgbClr>
          </a:solidFill>
          <a:ln w="19050">
            <a:solidFill>
              <a:srgbClr val="F59E0B"/>
            </a:solidFill>
            <a:prstDash val="solid"/>
          </a:ln>
        </p:spPr>
        <p:txBody>
          <a:bodyPr/>
          <a:p>
            <a:r>
              <a:rPr lang="en-US" altLang="zh-CN"/>
              <a:t>Imitation learning:</a:t>
            </a:r>
            <a:endParaRPr lang="en-US" altLang="zh-CN"/>
          </a:p>
          <a:p>
            <a:r>
              <a:rPr lang="en-US" altLang="zh-CN"/>
              <a:t>Records the operator grasping objects using EMG-Only mode (manual mode).</a:t>
            </a:r>
            <a:endParaRPr lang="en-US" altLang="zh-CN"/>
          </a:p>
          <a:p>
            <a:r>
              <a:rPr lang="en-US" altLang="zh-CN">
                <a:sym typeface="+mn-ea"/>
              </a:rPr>
              <a:t>The system will l</a:t>
            </a:r>
            <a:r>
              <a:rPr lang="en-US" altLang="zh-CN"/>
              <a:t>earns the operator's usage habits.</a:t>
            </a:r>
            <a:endParaRPr lang="en-US" altLang="zh-CN"/>
          </a:p>
        </p:txBody>
      </p:sp>
      <p:sp>
        <p:nvSpPr>
          <p:cNvPr id="19" name="文本框 18"/>
          <p:cNvSpPr txBox="1"/>
          <p:nvPr/>
        </p:nvSpPr>
        <p:spPr>
          <a:xfrm>
            <a:off x="5926455" y="2484755"/>
            <a:ext cx="3217545" cy="645160"/>
          </a:xfrm>
          <a:prstGeom prst="rect">
            <a:avLst/>
          </a:prstGeom>
          <a:noFill/>
        </p:spPr>
        <p:txBody>
          <a:bodyPr wrap="square" rtlCol="0">
            <a:spAutoFit/>
          </a:bodyPr>
          <a:p>
            <a:pPr algn="ctr"/>
            <a:r>
              <a:rPr lang="en-US" altLang="zh-CN"/>
              <a:t>Records</a:t>
            </a:r>
            <a:endParaRPr lang="en-US" altLang="zh-CN"/>
          </a:p>
          <a:p>
            <a:pPr algn="ctr"/>
            <a:r>
              <a:rPr lang="en-US" altLang="zh-CN"/>
              <a:t>Image, EMG Signal, Angle</a:t>
            </a:r>
            <a:endParaRPr lang="zh-CN" altLang="en-US">
              <a:ea typeface="宋体" panose="02010600030101010101" pitchFamily="2" charset="-122"/>
            </a:endParaRPr>
          </a:p>
        </p:txBody>
      </p:sp>
      <p:sp>
        <p:nvSpPr>
          <p:cNvPr id="20" name="下箭头 19"/>
          <p:cNvSpPr/>
          <p:nvPr/>
        </p:nvSpPr>
        <p:spPr>
          <a:xfrm>
            <a:off x="7081520" y="3129915"/>
            <a:ext cx="530860" cy="575310"/>
          </a:xfrm>
          <a:prstGeom prst="downArrow">
            <a:avLst/>
          </a:prstGeom>
          <a:solidFill>
            <a:srgbClr val="14B8A6"/>
          </a:solid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208915" y="2484755"/>
            <a:ext cx="5981700" cy="645160"/>
          </a:xfrm>
          <a:prstGeom prst="rect">
            <a:avLst/>
          </a:prstGeom>
        </p:spPr>
        <p:txBody>
          <a:bodyPr wrap="square">
            <a:spAutoFit/>
          </a:bodyPr>
          <a:p>
            <a:r>
              <a:rPr lang="en-US" altLang="ja-JP"/>
              <a:t>A grasping </a:t>
            </a:r>
            <a:r>
              <a:rPr lang="en-US" altLang="zh-CN"/>
              <a:t>process</a:t>
            </a:r>
            <a:r>
              <a:rPr lang="en-US" altLang="ja-JP"/>
              <a:t> consists of: closed state → moving toward the object → opening the hand → closing to grasp.</a:t>
            </a:r>
            <a:endParaRPr lang="en-US" altLang="ja-JP"/>
          </a:p>
        </p:txBody>
      </p:sp>
      <p:sp>
        <p:nvSpPr>
          <p:cNvPr id="22" name="下箭头 21"/>
          <p:cNvSpPr/>
          <p:nvPr/>
        </p:nvSpPr>
        <p:spPr>
          <a:xfrm>
            <a:off x="2247900" y="3129915"/>
            <a:ext cx="530860" cy="575310"/>
          </a:xfrm>
          <a:prstGeom prst="downArrow">
            <a:avLst/>
          </a:prstGeom>
          <a:solidFill>
            <a:srgbClr val="14B8A6"/>
          </a:solid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灯片编号占位符 1"/>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Data Processing</a:t>
            </a:r>
            <a:endParaRPr lang="en-US" altLang="zh-CN" sz="3200" b="1" dirty="0">
              <a:latin typeface="Times New Roman" panose="02020603050405020304"/>
            </a:endParaRPr>
          </a:p>
          <a:p>
            <a:endParaRPr lang="en-US" altLang="zh-CN" sz="3200" b="1" dirty="0">
              <a:latin typeface="Times New Roman" panose="02020603050405020304"/>
            </a:endParaRPr>
          </a:p>
        </p:txBody>
      </p:sp>
      <p:grpSp>
        <p:nvGrpSpPr>
          <p:cNvPr id="12" name="组合 11"/>
          <p:cNvGrpSpPr>
            <a:grpSpLocks noChangeAspect="1"/>
          </p:cNvGrpSpPr>
          <p:nvPr/>
        </p:nvGrpSpPr>
        <p:grpSpPr>
          <a:xfrm>
            <a:off x="109220" y="2446655"/>
            <a:ext cx="8905240" cy="3976370"/>
            <a:chOff x="2210" y="1391"/>
            <a:chExt cx="8976" cy="4008"/>
          </a:xfrm>
        </p:grpSpPr>
        <p:pic>
          <p:nvPicPr>
            <p:cNvPr id="5" name="图片 4" descr="Figure_1321"/>
            <p:cNvPicPr>
              <a:picLocks noChangeAspect="1"/>
            </p:cNvPicPr>
            <p:nvPr/>
          </p:nvPicPr>
          <p:blipFill>
            <a:blip r:embed="rId1"/>
            <a:stretch>
              <a:fillRect/>
            </a:stretch>
          </p:blipFill>
          <p:spPr>
            <a:xfrm>
              <a:off x="2210" y="1391"/>
              <a:ext cx="8976" cy="4008"/>
            </a:xfrm>
            <a:prstGeom prst="rect">
              <a:avLst/>
            </a:prstGeom>
          </p:spPr>
        </p:pic>
        <p:sp>
          <p:nvSpPr>
            <p:cNvPr id="8" name="矩形 7"/>
            <p:cNvSpPr/>
            <p:nvPr/>
          </p:nvSpPr>
          <p:spPr>
            <a:xfrm>
              <a:off x="2864" y="1734"/>
              <a:ext cx="3820" cy="3191"/>
            </a:xfrm>
            <a:prstGeom prst="rect">
              <a:avLst/>
            </a:prstGeom>
            <a:noFill/>
            <a:ln w="12700" cmpd="sng">
              <a:solidFill>
                <a:srgbClr val="FF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0" name="文本框 9"/>
          <p:cNvSpPr txBox="1"/>
          <p:nvPr/>
        </p:nvSpPr>
        <p:spPr>
          <a:xfrm>
            <a:off x="220980" y="1428115"/>
            <a:ext cx="3811905" cy="645160"/>
          </a:xfrm>
          <a:prstGeom prst="rect">
            <a:avLst/>
          </a:prstGeom>
        </p:spPr>
        <p:txBody>
          <a:bodyPr wrap="square">
            <a:spAutoFit/>
          </a:bodyPr>
          <a:p>
            <a:r>
              <a:rPr lang="en-US" altLang="zh-CN"/>
              <a:t>Discarded data:</a:t>
            </a:r>
            <a:endParaRPr lang="en-US" altLang="zh-CN"/>
          </a:p>
          <a:p>
            <a:r>
              <a:rPr lang="en-US" altLang="zh-CN"/>
              <a:t>System startup calibration phase</a:t>
            </a:r>
            <a:endParaRPr lang="en-US" altLang="zh-CN"/>
          </a:p>
        </p:txBody>
      </p:sp>
      <p:sp>
        <p:nvSpPr>
          <p:cNvPr id="14" name="文本框 13"/>
          <p:cNvSpPr txBox="1"/>
          <p:nvPr/>
        </p:nvSpPr>
        <p:spPr>
          <a:xfrm>
            <a:off x="4171315" y="1205865"/>
            <a:ext cx="4467225" cy="867410"/>
          </a:xfrm>
          <a:prstGeom prst="rect">
            <a:avLst/>
          </a:prstGeom>
        </p:spPr>
        <p:txBody>
          <a:bodyPr wrap="square">
            <a:noAutofit/>
          </a:bodyPr>
          <a:p>
            <a:r>
              <a:rPr lang="en-US" altLang="zh-CN"/>
              <a:t>label:</a:t>
            </a:r>
            <a:endParaRPr lang="en-US" altLang="zh-CN"/>
          </a:p>
          <a:p>
            <a:r>
              <a:rPr lang="en-US" altLang="zh-CN"/>
              <a:t>Each grasping process is labeled with the peak (open) and trough (closed) values.</a:t>
            </a:r>
            <a:endParaRPr lang="en-US" altLang="zh-CN"/>
          </a:p>
        </p:txBody>
      </p:sp>
      <p:cxnSp>
        <p:nvCxnSpPr>
          <p:cNvPr id="11" name="直接箭头连接符 10"/>
          <p:cNvCxnSpPr/>
          <p:nvPr/>
        </p:nvCxnSpPr>
        <p:spPr>
          <a:xfrm flipV="1">
            <a:off x="6767830" y="2849245"/>
            <a:ext cx="560070" cy="9525"/>
          </a:xfrm>
          <a:prstGeom prst="straightConnector1">
            <a:avLst/>
          </a:prstGeom>
          <a:noFill/>
          <a:ln w="12700" cmpd="sng">
            <a:solidFill>
              <a:srgbClr val="14B8A6"/>
            </a:solidFill>
            <a:prstDash val="solid"/>
            <a:tailEnd type="arrow"/>
          </a:ln>
        </p:spPr>
      </p:cxnSp>
      <p:sp>
        <p:nvSpPr>
          <p:cNvPr id="16" name="下箭头 15"/>
          <p:cNvSpPr/>
          <p:nvPr/>
        </p:nvSpPr>
        <p:spPr>
          <a:xfrm>
            <a:off x="4631690" y="2139315"/>
            <a:ext cx="172720" cy="583200"/>
          </a:xfrm>
          <a:prstGeom prst="downArrow">
            <a:avLst/>
          </a:prstGeom>
          <a:solidFill>
            <a:srgbClr val="14B8A6"/>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下箭头 16"/>
          <p:cNvSpPr/>
          <p:nvPr/>
        </p:nvSpPr>
        <p:spPr>
          <a:xfrm>
            <a:off x="2628000" y="2138045"/>
            <a:ext cx="172720" cy="584200"/>
          </a:xfrm>
          <a:prstGeom prst="downArrow">
            <a:avLst/>
          </a:prstGeom>
          <a:solidFill>
            <a:srgbClr val="FF0000"/>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09220" y="2353945"/>
            <a:ext cx="2543175" cy="368300"/>
          </a:xfrm>
          <a:prstGeom prst="rect">
            <a:avLst/>
          </a:prstGeom>
          <a:noFill/>
        </p:spPr>
        <p:txBody>
          <a:bodyPr wrap="square" rtlCol="0" anchor="t">
            <a:spAutoFit/>
          </a:bodyPr>
          <a:p>
            <a:pPr algn="ctr"/>
            <a:r>
              <a:rPr lang="en-US" altLang="zh-CN"/>
              <a:t>Angle Change Curve</a:t>
            </a:r>
            <a:endParaRPr lang="en-US" altLang="zh-CN"/>
          </a:p>
        </p:txBody>
      </p:sp>
      <p:sp>
        <p:nvSpPr>
          <p:cNvPr id="2" name="灯片编号占位符 1"/>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文本框 61"/>
          <p:cNvSpPr txBox="1"/>
          <p:nvPr/>
        </p:nvSpPr>
        <p:spPr>
          <a:xfrm>
            <a:off x="220980" y="973455"/>
            <a:ext cx="4641850" cy="1889760"/>
          </a:xfrm>
          <a:prstGeom prst="rect">
            <a:avLst/>
          </a:prstGeom>
          <a:noFill/>
        </p:spPr>
        <p:txBody>
          <a:bodyPr wrap="square" rtlCol="0">
            <a:noAutofit/>
          </a:bodyPr>
          <a:p>
            <a:pPr marL="285750" indent="-285750">
              <a:buFont typeface="Wingdings" panose="05000000000000000000" charset="0"/>
              <a:buChar char="n"/>
            </a:pPr>
            <a:r>
              <a:rPr lang="en-US" altLang="zh-CN">
                <a:sym typeface="+mn-ea"/>
              </a:rPr>
              <a:t>Objective : </a:t>
            </a:r>
            <a:endParaRPr lang="en-US" altLang="zh-CN">
              <a:sym typeface="+mn-ea"/>
            </a:endParaRPr>
          </a:p>
          <a:p>
            <a:pPr indent="0">
              <a:buFont typeface="Wingdings" panose="05000000000000000000" charset="0"/>
              <a:buNone/>
            </a:pPr>
            <a:r>
              <a:rPr lang="en-US" altLang="zh-CN">
                <a:sym typeface="+mn-ea"/>
              </a:rPr>
              <a:t>Evaluate the system’s performance, and its ability to reduce the operator’s cognitive load</a:t>
            </a:r>
            <a:endParaRPr lang="en-US" altLang="zh-CN">
              <a:sym typeface="+mn-ea"/>
            </a:endParaRPr>
          </a:p>
          <a:p>
            <a:pPr indent="0">
              <a:buFont typeface="Wingdings" panose="05000000000000000000" charset="0"/>
              <a:buNone/>
            </a:pPr>
            <a:endParaRPr lang="en-US" altLang="zh-CN">
              <a:sym typeface="+mn-ea"/>
            </a:endParaRPr>
          </a:p>
          <a:p>
            <a:pPr marL="285750" indent="-285750">
              <a:buFont typeface="Wingdings" panose="05000000000000000000" charset="0"/>
              <a:buChar char="n"/>
            </a:pPr>
            <a:r>
              <a:rPr lang="en-US" altLang="zh-CN">
                <a:sym typeface="+mn-ea"/>
              </a:rPr>
              <a:t>Participants : </a:t>
            </a:r>
            <a:endParaRPr lang="en-US" altLang="zh-CN">
              <a:sym typeface="+mn-ea"/>
            </a:endParaRPr>
          </a:p>
          <a:p>
            <a:r>
              <a:rPr lang="en-US" altLang="zh-CN">
                <a:ea typeface="宋体" panose="02010600030101010101" pitchFamily="2" charset="-122"/>
                <a:sym typeface="+mn-ea"/>
              </a:rPr>
              <a:t>10 healthy adults</a:t>
            </a:r>
            <a:endParaRPr lang="zh-CN" altLang="en-US" sz="1400">
              <a:ea typeface="宋体" panose="02010600030101010101" pitchFamily="2" charset="-122"/>
              <a:sym typeface="+mn-ea"/>
            </a:endParaRPr>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rPr>
              <a:t>E</a:t>
            </a:r>
            <a:r>
              <a:rPr lang="en-US" altLang="zh-CN" sz="3200" b="1">
                <a:latin typeface="Times New Roman" panose="02020603050405020304" charset="0"/>
                <a:ea typeface="宋体" panose="02010600030101010101" pitchFamily="2" charset="-122"/>
                <a:cs typeface="Times New Roman" panose="02020603050405020304" charset="0"/>
              </a:rPr>
              <a:t>xperiment</a:t>
            </a:r>
            <a:endParaRPr lang="en-US" altLang="zh-CN" sz="3200" b="1">
              <a:latin typeface="Times New Roman" panose="02020603050405020304" charset="0"/>
              <a:ea typeface="宋体" panose="02010600030101010101" pitchFamily="2" charset="-122"/>
              <a:cs typeface="Times New Roman" panose="02020603050405020304" charset="0"/>
            </a:endParaRPr>
          </a:p>
        </p:txBody>
      </p:sp>
      <p:grpSp>
        <p:nvGrpSpPr>
          <p:cNvPr id="61" name="组合 60"/>
          <p:cNvGrpSpPr/>
          <p:nvPr/>
        </p:nvGrpSpPr>
        <p:grpSpPr>
          <a:xfrm>
            <a:off x="655955" y="3984625"/>
            <a:ext cx="3691890" cy="2357755"/>
            <a:chOff x="8025" y="3001"/>
            <a:chExt cx="4293" cy="2887"/>
          </a:xfrm>
        </p:grpSpPr>
        <p:grpSp>
          <p:nvGrpSpPr>
            <p:cNvPr id="59" name="组合 58"/>
            <p:cNvGrpSpPr/>
            <p:nvPr/>
          </p:nvGrpSpPr>
          <p:grpSpPr>
            <a:xfrm>
              <a:off x="8025" y="3001"/>
              <a:ext cx="4293" cy="2887"/>
              <a:chOff x="8857" y="1916"/>
              <a:chExt cx="4293" cy="2887"/>
            </a:xfrm>
          </p:grpSpPr>
          <p:grpSp>
            <p:nvGrpSpPr>
              <p:cNvPr id="3" name="组合 2"/>
              <p:cNvGrpSpPr>
                <a:grpSpLocks noChangeAspect="1"/>
              </p:cNvGrpSpPr>
              <p:nvPr/>
            </p:nvGrpSpPr>
            <p:grpSpPr>
              <a:xfrm>
                <a:off x="8857" y="1916"/>
                <a:ext cx="4293" cy="2887"/>
                <a:chOff x="3392" y="2238"/>
                <a:chExt cx="5359" cy="3372"/>
              </a:xfrm>
            </p:grpSpPr>
            <p:sp>
              <p:nvSpPr>
                <p:cNvPr id="5" name="フローチャート: データ 3"/>
                <p:cNvSpPr/>
                <p:nvPr/>
              </p:nvSpPr>
              <p:spPr>
                <a:xfrm>
                  <a:off x="3392" y="3294"/>
                  <a:ext cx="3488" cy="1746"/>
                </a:xfrm>
                <a:prstGeom prst="flowChartInputOutpu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组合 6"/>
                <p:cNvGrpSpPr/>
                <p:nvPr/>
              </p:nvGrpSpPr>
              <p:grpSpPr>
                <a:xfrm>
                  <a:off x="5950" y="2238"/>
                  <a:ext cx="2801" cy="3372"/>
                  <a:chOff x="8391" y="2469"/>
                  <a:chExt cx="2801" cy="3372"/>
                </a:xfrm>
              </p:grpSpPr>
              <p:grpSp>
                <p:nvGrpSpPr>
                  <p:cNvPr id="8" name="组合 7"/>
                  <p:cNvGrpSpPr/>
                  <p:nvPr/>
                </p:nvGrpSpPr>
                <p:grpSpPr>
                  <a:xfrm>
                    <a:off x="9560" y="2469"/>
                    <a:ext cx="1633" cy="3373"/>
                    <a:chOff x="9560" y="2469"/>
                    <a:chExt cx="1633" cy="3373"/>
                  </a:xfrm>
                </p:grpSpPr>
                <p:sp>
                  <p:nvSpPr>
                    <p:cNvPr id="9" name="フリーフォーム: 図形 6"/>
                    <p:cNvSpPr/>
                    <p:nvPr/>
                  </p:nvSpPr>
                  <p:spPr bwMode="auto">
                    <a:xfrm rot="21227523">
                      <a:off x="9837" y="3496"/>
                      <a:ext cx="1357" cy="2346"/>
                    </a:xfrm>
                    <a:custGeom>
                      <a:avLst/>
                      <a:gdLst>
                        <a:gd name="connsiteX0" fmla="*/ 455339 w 980001"/>
                        <a:gd name="connsiteY0" fmla="*/ 317 h 1483570"/>
                        <a:gd name="connsiteX1" fmla="*/ 479456 w 980001"/>
                        <a:gd name="connsiteY1" fmla="*/ 3956 h 1483570"/>
                        <a:gd name="connsiteX2" fmla="*/ 488638 w 980001"/>
                        <a:gd name="connsiteY2" fmla="*/ 2871 h 1483570"/>
                        <a:gd name="connsiteX3" fmla="*/ 660744 w 980001"/>
                        <a:gd name="connsiteY3" fmla="*/ 46415 h 1483570"/>
                        <a:gd name="connsiteX4" fmla="*/ 764008 w 980001"/>
                        <a:gd name="connsiteY4" fmla="*/ 126971 h 1483570"/>
                        <a:gd name="connsiteX5" fmla="*/ 842030 w 980001"/>
                        <a:gd name="connsiteY5" fmla="*/ 229299 h 1483570"/>
                        <a:gd name="connsiteX6" fmla="*/ 903988 w 980001"/>
                        <a:gd name="connsiteY6" fmla="*/ 322917 h 1483570"/>
                        <a:gd name="connsiteX7" fmla="*/ 945294 w 980001"/>
                        <a:gd name="connsiteY7" fmla="*/ 464435 h 1483570"/>
                        <a:gd name="connsiteX8" fmla="*/ 961357 w 980001"/>
                        <a:gd name="connsiteY8" fmla="*/ 738760 h 1483570"/>
                        <a:gd name="connsiteX9" fmla="*/ 977420 w 980001"/>
                        <a:gd name="connsiteY9" fmla="*/ 1026149 h 1483570"/>
                        <a:gd name="connsiteX10" fmla="*/ 972831 w 980001"/>
                        <a:gd name="connsiteY10" fmla="*/ 1224273 h 1483570"/>
                        <a:gd name="connsiteX11" fmla="*/ 910873 w 980001"/>
                        <a:gd name="connsiteY11" fmla="*/ 1365790 h 1483570"/>
                        <a:gd name="connsiteX12" fmla="*/ 773188 w 980001"/>
                        <a:gd name="connsiteY12" fmla="*/ 1455055 h 1483570"/>
                        <a:gd name="connsiteX13" fmla="*/ 603375 w 980001"/>
                        <a:gd name="connsiteY13" fmla="*/ 1483358 h 1483570"/>
                        <a:gd name="connsiteX14" fmla="*/ 364722 w 980001"/>
                        <a:gd name="connsiteY14" fmla="*/ 1465941 h 1483570"/>
                        <a:gd name="connsiteX15" fmla="*/ 190320 w 980001"/>
                        <a:gd name="connsiteY15" fmla="*/ 1428929 h 1483570"/>
                        <a:gd name="connsiteX16" fmla="*/ 73288 w 980001"/>
                        <a:gd name="connsiteY16" fmla="*/ 1372321 h 1483570"/>
                        <a:gd name="connsiteX17" fmla="*/ 9035 w 980001"/>
                        <a:gd name="connsiteY17" fmla="*/ 1241690 h 1483570"/>
                        <a:gd name="connsiteX18" fmla="*/ 2151 w 980001"/>
                        <a:gd name="connsiteY18" fmla="*/ 1100173 h 1483570"/>
                        <a:gd name="connsiteX19" fmla="*/ 25098 w 980001"/>
                        <a:gd name="connsiteY19" fmla="*/ 775773 h 1483570"/>
                        <a:gd name="connsiteX20" fmla="*/ 67083 w 980001"/>
                        <a:gd name="connsiteY20" fmla="*/ 598007 h 1483570"/>
                        <a:gd name="connsiteX21" fmla="*/ 114708 w 980001"/>
                        <a:gd name="connsiteY21" fmla="*/ 454930 h 1483570"/>
                        <a:gd name="connsiteX22" fmla="*/ 178604 w 980001"/>
                        <a:gd name="connsiteY22" fmla="*/ 204950 h 1483570"/>
                        <a:gd name="connsiteX23" fmla="*/ 455339 w 980001"/>
                        <a:gd name="connsiteY23" fmla="*/ 317 h 148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80001" h="1483570">
                          <a:moveTo>
                            <a:pt x="455339" y="317"/>
                          </a:moveTo>
                          <a:lnTo>
                            <a:pt x="479456" y="3956"/>
                          </a:lnTo>
                          <a:lnTo>
                            <a:pt x="488638" y="2871"/>
                          </a:lnTo>
                          <a:cubicBezTo>
                            <a:pt x="541035" y="5411"/>
                            <a:pt x="614849" y="25732"/>
                            <a:pt x="660744" y="46415"/>
                          </a:cubicBezTo>
                          <a:cubicBezTo>
                            <a:pt x="706639" y="67098"/>
                            <a:pt x="733794" y="96490"/>
                            <a:pt x="764008" y="126971"/>
                          </a:cubicBezTo>
                          <a:cubicBezTo>
                            <a:pt x="794222" y="157451"/>
                            <a:pt x="818700" y="196641"/>
                            <a:pt x="842030" y="229299"/>
                          </a:cubicBezTo>
                          <a:cubicBezTo>
                            <a:pt x="865360" y="261956"/>
                            <a:pt x="886777" y="283728"/>
                            <a:pt x="903988" y="322917"/>
                          </a:cubicBezTo>
                          <a:cubicBezTo>
                            <a:pt x="921198" y="362107"/>
                            <a:pt x="935733" y="395128"/>
                            <a:pt x="945294" y="464435"/>
                          </a:cubicBezTo>
                          <a:cubicBezTo>
                            <a:pt x="954855" y="533742"/>
                            <a:pt x="956003" y="645142"/>
                            <a:pt x="961357" y="738760"/>
                          </a:cubicBezTo>
                          <a:cubicBezTo>
                            <a:pt x="966711" y="832379"/>
                            <a:pt x="975508" y="945230"/>
                            <a:pt x="977420" y="1026149"/>
                          </a:cubicBezTo>
                          <a:cubicBezTo>
                            <a:pt x="979332" y="1107067"/>
                            <a:pt x="983922" y="1167666"/>
                            <a:pt x="972831" y="1224273"/>
                          </a:cubicBezTo>
                          <a:cubicBezTo>
                            <a:pt x="961740" y="1280880"/>
                            <a:pt x="944147" y="1327327"/>
                            <a:pt x="910873" y="1365790"/>
                          </a:cubicBezTo>
                          <a:cubicBezTo>
                            <a:pt x="877599" y="1404254"/>
                            <a:pt x="824437" y="1435460"/>
                            <a:pt x="773188" y="1455055"/>
                          </a:cubicBezTo>
                          <a:cubicBezTo>
                            <a:pt x="721938" y="1474650"/>
                            <a:pt x="671453" y="1481544"/>
                            <a:pt x="603375" y="1483358"/>
                          </a:cubicBezTo>
                          <a:cubicBezTo>
                            <a:pt x="535298" y="1485173"/>
                            <a:pt x="433565" y="1475013"/>
                            <a:pt x="364722" y="1465941"/>
                          </a:cubicBezTo>
                          <a:cubicBezTo>
                            <a:pt x="295879" y="1456869"/>
                            <a:pt x="238892" y="1444532"/>
                            <a:pt x="190320" y="1428929"/>
                          </a:cubicBezTo>
                          <a:cubicBezTo>
                            <a:pt x="141748" y="1413326"/>
                            <a:pt x="103502" y="1403528"/>
                            <a:pt x="73288" y="1372321"/>
                          </a:cubicBezTo>
                          <a:cubicBezTo>
                            <a:pt x="43074" y="1341115"/>
                            <a:pt x="20891" y="1287048"/>
                            <a:pt x="9035" y="1241690"/>
                          </a:cubicBezTo>
                          <a:cubicBezTo>
                            <a:pt x="-2821" y="1196333"/>
                            <a:pt x="-526" y="1177826"/>
                            <a:pt x="2151" y="1100173"/>
                          </a:cubicBezTo>
                          <a:cubicBezTo>
                            <a:pt x="4828" y="1022521"/>
                            <a:pt x="3950" y="890489"/>
                            <a:pt x="25098" y="775773"/>
                          </a:cubicBezTo>
                          <a:cubicBezTo>
                            <a:pt x="35672" y="718414"/>
                            <a:pt x="49713" y="658908"/>
                            <a:pt x="67083" y="598007"/>
                          </a:cubicBezTo>
                          <a:lnTo>
                            <a:pt x="114708" y="454930"/>
                          </a:lnTo>
                          <a:lnTo>
                            <a:pt x="178604" y="204950"/>
                          </a:lnTo>
                          <a:cubicBezTo>
                            <a:pt x="211193" y="77449"/>
                            <a:pt x="328823" y="-5812"/>
                            <a:pt x="455339" y="317"/>
                          </a:cubicBez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1" name="フリーフォーム 10"/>
                    <p:cNvSpPr/>
                    <p:nvPr/>
                  </p:nvSpPr>
                  <p:spPr bwMode="auto">
                    <a:xfrm rot="2493260">
                      <a:off x="9560" y="3658"/>
                      <a:ext cx="824" cy="798"/>
                    </a:xfrm>
                    <a:custGeom>
                      <a:avLst/>
                      <a:gdLst>
                        <a:gd name="connsiteX0" fmla="*/ 643847 w 1123308"/>
                        <a:gd name="connsiteY0" fmla="*/ 616449 h 2106202"/>
                        <a:gd name="connsiteX1" fmla="*/ 636998 w 1123308"/>
                        <a:gd name="connsiteY1" fmla="*/ 777411 h 2106202"/>
                        <a:gd name="connsiteX2" fmla="*/ 643847 w 1123308"/>
                        <a:gd name="connsiteY2" fmla="*/ 887002 h 2106202"/>
                        <a:gd name="connsiteX3" fmla="*/ 654121 w 1123308"/>
                        <a:gd name="connsiteY3" fmla="*/ 1027416 h 2106202"/>
                        <a:gd name="connsiteX4" fmla="*/ 674669 w 1123308"/>
                        <a:gd name="connsiteY4" fmla="*/ 1157555 h 2106202"/>
                        <a:gd name="connsiteX5" fmla="*/ 705492 w 1123308"/>
                        <a:gd name="connsiteY5" fmla="*/ 1260297 h 2106202"/>
                        <a:gd name="connsiteX6" fmla="*/ 500009 w 1123308"/>
                        <a:gd name="connsiteY6" fmla="*/ 1380162 h 2106202"/>
                        <a:gd name="connsiteX7" fmla="*/ 410966 w 1123308"/>
                        <a:gd name="connsiteY7" fmla="*/ 1472629 h 2106202"/>
                        <a:gd name="connsiteX8" fmla="*/ 315074 w 1123308"/>
                        <a:gd name="connsiteY8" fmla="*/ 1571946 h 2106202"/>
                        <a:gd name="connsiteX9" fmla="*/ 212332 w 1123308"/>
                        <a:gd name="connsiteY9" fmla="*/ 1657564 h 2106202"/>
                        <a:gd name="connsiteX10" fmla="*/ 78768 w 1123308"/>
                        <a:gd name="connsiteY10" fmla="*/ 1760306 h 2106202"/>
                        <a:gd name="connsiteX11" fmla="*/ 0 w 1123308"/>
                        <a:gd name="connsiteY11" fmla="*/ 1815101 h 2106202"/>
                        <a:gd name="connsiteX12" fmla="*/ 157537 w 1123308"/>
                        <a:gd name="connsiteY12" fmla="*/ 2106202 h 2106202"/>
                        <a:gd name="connsiteX13" fmla="*/ 287676 w 1123308"/>
                        <a:gd name="connsiteY13" fmla="*/ 2054832 h 2106202"/>
                        <a:gd name="connsiteX14" fmla="*/ 513708 w 1123308"/>
                        <a:gd name="connsiteY14" fmla="*/ 1955515 h 2106202"/>
                        <a:gd name="connsiteX15" fmla="*/ 643847 w 1123308"/>
                        <a:gd name="connsiteY15" fmla="*/ 1883596 h 2106202"/>
                        <a:gd name="connsiteX16" fmla="*/ 801384 w 1123308"/>
                        <a:gd name="connsiteY16" fmla="*/ 1698661 h 2106202"/>
                        <a:gd name="connsiteX17" fmla="*/ 934948 w 1123308"/>
                        <a:gd name="connsiteY17" fmla="*/ 1530849 h 2106202"/>
                        <a:gd name="connsiteX18" fmla="*/ 1027415 w 1123308"/>
                        <a:gd name="connsiteY18" fmla="*/ 1359614 h 2106202"/>
                        <a:gd name="connsiteX19" fmla="*/ 1078786 w 1123308"/>
                        <a:gd name="connsiteY19" fmla="*/ 1171254 h 2106202"/>
                        <a:gd name="connsiteX20" fmla="*/ 1123308 w 1123308"/>
                        <a:gd name="connsiteY20" fmla="*/ 808234 h 2106202"/>
                        <a:gd name="connsiteX21" fmla="*/ 1119883 w 1123308"/>
                        <a:gd name="connsiteY21" fmla="*/ 623299 h 2106202"/>
                        <a:gd name="connsiteX22" fmla="*/ 1109609 w 1123308"/>
                        <a:gd name="connsiteY22" fmla="*/ 469187 h 2106202"/>
                        <a:gd name="connsiteX23" fmla="*/ 1078786 w 1123308"/>
                        <a:gd name="connsiteY23" fmla="*/ 311649 h 2106202"/>
                        <a:gd name="connsiteX24" fmla="*/ 1023991 w 1123308"/>
                        <a:gd name="connsiteY24" fmla="*/ 157537 h 2106202"/>
                        <a:gd name="connsiteX25" fmla="*/ 969195 w 1123308"/>
                        <a:gd name="connsiteY25" fmla="*/ 68494 h 2106202"/>
                        <a:gd name="connsiteX26" fmla="*/ 893851 w 1123308"/>
                        <a:gd name="connsiteY26" fmla="*/ 0 h 2106202"/>
                        <a:gd name="connsiteX27" fmla="*/ 797959 w 1123308"/>
                        <a:gd name="connsiteY27" fmla="*/ 41097 h 2106202"/>
                        <a:gd name="connsiteX28" fmla="*/ 729465 w 1123308"/>
                        <a:gd name="connsiteY28" fmla="*/ 167811 h 2106202"/>
                        <a:gd name="connsiteX29" fmla="*/ 681519 w 1123308"/>
                        <a:gd name="connsiteY29" fmla="*/ 339047 h 2106202"/>
                        <a:gd name="connsiteX30" fmla="*/ 671245 w 1123308"/>
                        <a:gd name="connsiteY30" fmla="*/ 410966 h 2106202"/>
                        <a:gd name="connsiteX31" fmla="*/ 664395 w 1123308"/>
                        <a:gd name="connsiteY31" fmla="*/ 458912 h 2106202"/>
                        <a:gd name="connsiteX0-1" fmla="*/ 643847 w 1123308"/>
                        <a:gd name="connsiteY0-2" fmla="*/ 616449 h 2106202"/>
                        <a:gd name="connsiteX1-3" fmla="*/ 636998 w 1123308"/>
                        <a:gd name="connsiteY1-4" fmla="*/ 777411 h 2106202"/>
                        <a:gd name="connsiteX2-5" fmla="*/ 643847 w 1123308"/>
                        <a:gd name="connsiteY2-6" fmla="*/ 887002 h 2106202"/>
                        <a:gd name="connsiteX3-7" fmla="*/ 654121 w 1123308"/>
                        <a:gd name="connsiteY3-8" fmla="*/ 1027416 h 2106202"/>
                        <a:gd name="connsiteX4-9" fmla="*/ 674669 w 1123308"/>
                        <a:gd name="connsiteY4-10" fmla="*/ 1157555 h 2106202"/>
                        <a:gd name="connsiteX5-11" fmla="*/ 705492 w 1123308"/>
                        <a:gd name="connsiteY5-12" fmla="*/ 1260297 h 2106202"/>
                        <a:gd name="connsiteX6-13" fmla="*/ 500009 w 1123308"/>
                        <a:gd name="connsiteY6-14" fmla="*/ 1380162 h 2106202"/>
                        <a:gd name="connsiteX7-15" fmla="*/ 410966 w 1123308"/>
                        <a:gd name="connsiteY7-16" fmla="*/ 1472629 h 2106202"/>
                        <a:gd name="connsiteX8-17" fmla="*/ 315074 w 1123308"/>
                        <a:gd name="connsiteY8-18" fmla="*/ 1571946 h 2106202"/>
                        <a:gd name="connsiteX9-19" fmla="*/ 212332 w 1123308"/>
                        <a:gd name="connsiteY9-20" fmla="*/ 1657564 h 2106202"/>
                        <a:gd name="connsiteX10-21" fmla="*/ 78768 w 1123308"/>
                        <a:gd name="connsiteY10-22" fmla="*/ 1760306 h 2106202"/>
                        <a:gd name="connsiteX11-23" fmla="*/ 0 w 1123308"/>
                        <a:gd name="connsiteY11-24" fmla="*/ 1815101 h 2106202"/>
                        <a:gd name="connsiteX12-25" fmla="*/ 157537 w 1123308"/>
                        <a:gd name="connsiteY12-26" fmla="*/ 2106202 h 2106202"/>
                        <a:gd name="connsiteX13-27" fmla="*/ 287676 w 1123308"/>
                        <a:gd name="connsiteY13-28" fmla="*/ 2054832 h 2106202"/>
                        <a:gd name="connsiteX14-29" fmla="*/ 513708 w 1123308"/>
                        <a:gd name="connsiteY14-30" fmla="*/ 1955515 h 2106202"/>
                        <a:gd name="connsiteX15-31" fmla="*/ 643847 w 1123308"/>
                        <a:gd name="connsiteY15-32" fmla="*/ 1883596 h 2106202"/>
                        <a:gd name="connsiteX16-33" fmla="*/ 801384 w 1123308"/>
                        <a:gd name="connsiteY16-34" fmla="*/ 1698661 h 2106202"/>
                        <a:gd name="connsiteX17-35" fmla="*/ 934948 w 1123308"/>
                        <a:gd name="connsiteY17-36" fmla="*/ 1530849 h 2106202"/>
                        <a:gd name="connsiteX18-37" fmla="*/ 1027415 w 1123308"/>
                        <a:gd name="connsiteY18-38" fmla="*/ 1359614 h 2106202"/>
                        <a:gd name="connsiteX19-39" fmla="*/ 1078786 w 1123308"/>
                        <a:gd name="connsiteY19-40" fmla="*/ 1171254 h 2106202"/>
                        <a:gd name="connsiteX20-41" fmla="*/ 1123308 w 1123308"/>
                        <a:gd name="connsiteY20-42" fmla="*/ 808234 h 2106202"/>
                        <a:gd name="connsiteX21-43" fmla="*/ 1119883 w 1123308"/>
                        <a:gd name="connsiteY21-44" fmla="*/ 623299 h 2106202"/>
                        <a:gd name="connsiteX22-45" fmla="*/ 1109609 w 1123308"/>
                        <a:gd name="connsiteY22-46" fmla="*/ 469187 h 2106202"/>
                        <a:gd name="connsiteX23-47" fmla="*/ 1078786 w 1123308"/>
                        <a:gd name="connsiteY23-48" fmla="*/ 311649 h 2106202"/>
                        <a:gd name="connsiteX24-49" fmla="*/ 1023991 w 1123308"/>
                        <a:gd name="connsiteY24-50" fmla="*/ 157537 h 2106202"/>
                        <a:gd name="connsiteX25-51" fmla="*/ 969195 w 1123308"/>
                        <a:gd name="connsiteY25-52" fmla="*/ 68494 h 2106202"/>
                        <a:gd name="connsiteX26-53" fmla="*/ 893851 w 1123308"/>
                        <a:gd name="connsiteY26-54" fmla="*/ 0 h 2106202"/>
                        <a:gd name="connsiteX27-55" fmla="*/ 797959 w 1123308"/>
                        <a:gd name="connsiteY27-56" fmla="*/ 41097 h 2106202"/>
                        <a:gd name="connsiteX28-57" fmla="*/ 729465 w 1123308"/>
                        <a:gd name="connsiteY28-58" fmla="*/ 167811 h 2106202"/>
                        <a:gd name="connsiteX29-59" fmla="*/ 681519 w 1123308"/>
                        <a:gd name="connsiteY29-60" fmla="*/ 339047 h 2106202"/>
                        <a:gd name="connsiteX30-61" fmla="*/ 671245 w 1123308"/>
                        <a:gd name="connsiteY30-62" fmla="*/ 410966 h 2106202"/>
                        <a:gd name="connsiteX0-63" fmla="*/ 643847 w 1123308"/>
                        <a:gd name="connsiteY0-64" fmla="*/ 616449 h 2106202"/>
                        <a:gd name="connsiteX1-65" fmla="*/ 636998 w 1123308"/>
                        <a:gd name="connsiteY1-66" fmla="*/ 777411 h 2106202"/>
                        <a:gd name="connsiteX2-67" fmla="*/ 643847 w 1123308"/>
                        <a:gd name="connsiteY2-68" fmla="*/ 887002 h 2106202"/>
                        <a:gd name="connsiteX3-69" fmla="*/ 654121 w 1123308"/>
                        <a:gd name="connsiteY3-70" fmla="*/ 1027416 h 2106202"/>
                        <a:gd name="connsiteX4-71" fmla="*/ 674669 w 1123308"/>
                        <a:gd name="connsiteY4-72" fmla="*/ 1157555 h 2106202"/>
                        <a:gd name="connsiteX5-73" fmla="*/ 705492 w 1123308"/>
                        <a:gd name="connsiteY5-74" fmla="*/ 1260297 h 2106202"/>
                        <a:gd name="connsiteX6-75" fmla="*/ 500009 w 1123308"/>
                        <a:gd name="connsiteY6-76" fmla="*/ 1380162 h 2106202"/>
                        <a:gd name="connsiteX7-77" fmla="*/ 410966 w 1123308"/>
                        <a:gd name="connsiteY7-78" fmla="*/ 1472629 h 2106202"/>
                        <a:gd name="connsiteX8-79" fmla="*/ 315074 w 1123308"/>
                        <a:gd name="connsiteY8-80" fmla="*/ 1571946 h 2106202"/>
                        <a:gd name="connsiteX9-81" fmla="*/ 212332 w 1123308"/>
                        <a:gd name="connsiteY9-82" fmla="*/ 1657564 h 2106202"/>
                        <a:gd name="connsiteX10-83" fmla="*/ 78768 w 1123308"/>
                        <a:gd name="connsiteY10-84" fmla="*/ 1760306 h 2106202"/>
                        <a:gd name="connsiteX11-85" fmla="*/ 0 w 1123308"/>
                        <a:gd name="connsiteY11-86" fmla="*/ 1815101 h 2106202"/>
                        <a:gd name="connsiteX12-87" fmla="*/ 157537 w 1123308"/>
                        <a:gd name="connsiteY12-88" fmla="*/ 2106202 h 2106202"/>
                        <a:gd name="connsiteX13-89" fmla="*/ 287676 w 1123308"/>
                        <a:gd name="connsiteY13-90" fmla="*/ 2054832 h 2106202"/>
                        <a:gd name="connsiteX14-91" fmla="*/ 513708 w 1123308"/>
                        <a:gd name="connsiteY14-92" fmla="*/ 1955515 h 2106202"/>
                        <a:gd name="connsiteX15-93" fmla="*/ 643847 w 1123308"/>
                        <a:gd name="connsiteY15-94" fmla="*/ 1883596 h 2106202"/>
                        <a:gd name="connsiteX16-95" fmla="*/ 801384 w 1123308"/>
                        <a:gd name="connsiteY16-96" fmla="*/ 1698661 h 2106202"/>
                        <a:gd name="connsiteX17-97" fmla="*/ 934948 w 1123308"/>
                        <a:gd name="connsiteY17-98" fmla="*/ 1530849 h 2106202"/>
                        <a:gd name="connsiteX18-99" fmla="*/ 1027415 w 1123308"/>
                        <a:gd name="connsiteY18-100" fmla="*/ 1359614 h 2106202"/>
                        <a:gd name="connsiteX19-101" fmla="*/ 1078786 w 1123308"/>
                        <a:gd name="connsiteY19-102" fmla="*/ 1171254 h 2106202"/>
                        <a:gd name="connsiteX20-103" fmla="*/ 1123308 w 1123308"/>
                        <a:gd name="connsiteY20-104" fmla="*/ 808234 h 2106202"/>
                        <a:gd name="connsiteX21-105" fmla="*/ 1119883 w 1123308"/>
                        <a:gd name="connsiteY21-106" fmla="*/ 623299 h 2106202"/>
                        <a:gd name="connsiteX22-107" fmla="*/ 1109609 w 1123308"/>
                        <a:gd name="connsiteY22-108" fmla="*/ 469187 h 2106202"/>
                        <a:gd name="connsiteX23-109" fmla="*/ 1078786 w 1123308"/>
                        <a:gd name="connsiteY23-110" fmla="*/ 311649 h 2106202"/>
                        <a:gd name="connsiteX24-111" fmla="*/ 1023991 w 1123308"/>
                        <a:gd name="connsiteY24-112" fmla="*/ 157537 h 2106202"/>
                        <a:gd name="connsiteX25-113" fmla="*/ 969195 w 1123308"/>
                        <a:gd name="connsiteY25-114" fmla="*/ 68494 h 2106202"/>
                        <a:gd name="connsiteX26-115" fmla="*/ 893851 w 1123308"/>
                        <a:gd name="connsiteY26-116" fmla="*/ 0 h 2106202"/>
                        <a:gd name="connsiteX27-117" fmla="*/ 797959 w 1123308"/>
                        <a:gd name="connsiteY27-118" fmla="*/ 41097 h 2106202"/>
                        <a:gd name="connsiteX28-119" fmla="*/ 729465 w 1123308"/>
                        <a:gd name="connsiteY28-120" fmla="*/ 167811 h 2106202"/>
                        <a:gd name="connsiteX29-121" fmla="*/ 681519 w 1123308"/>
                        <a:gd name="connsiteY29-122" fmla="*/ 339047 h 2106202"/>
                        <a:gd name="connsiteX0-123" fmla="*/ 643847 w 1123308"/>
                        <a:gd name="connsiteY0-124" fmla="*/ 616449 h 2106202"/>
                        <a:gd name="connsiteX1-125" fmla="*/ 636998 w 1123308"/>
                        <a:gd name="connsiteY1-126" fmla="*/ 777411 h 2106202"/>
                        <a:gd name="connsiteX2-127" fmla="*/ 643847 w 1123308"/>
                        <a:gd name="connsiteY2-128" fmla="*/ 887002 h 2106202"/>
                        <a:gd name="connsiteX3-129" fmla="*/ 654121 w 1123308"/>
                        <a:gd name="connsiteY3-130" fmla="*/ 1027416 h 2106202"/>
                        <a:gd name="connsiteX4-131" fmla="*/ 674669 w 1123308"/>
                        <a:gd name="connsiteY4-132" fmla="*/ 1157555 h 2106202"/>
                        <a:gd name="connsiteX5-133" fmla="*/ 705492 w 1123308"/>
                        <a:gd name="connsiteY5-134" fmla="*/ 1260297 h 2106202"/>
                        <a:gd name="connsiteX6-135" fmla="*/ 500009 w 1123308"/>
                        <a:gd name="connsiteY6-136" fmla="*/ 1380162 h 2106202"/>
                        <a:gd name="connsiteX7-137" fmla="*/ 410966 w 1123308"/>
                        <a:gd name="connsiteY7-138" fmla="*/ 1472629 h 2106202"/>
                        <a:gd name="connsiteX8-139" fmla="*/ 315074 w 1123308"/>
                        <a:gd name="connsiteY8-140" fmla="*/ 1571946 h 2106202"/>
                        <a:gd name="connsiteX9-141" fmla="*/ 212332 w 1123308"/>
                        <a:gd name="connsiteY9-142" fmla="*/ 1657564 h 2106202"/>
                        <a:gd name="connsiteX10-143" fmla="*/ 78768 w 1123308"/>
                        <a:gd name="connsiteY10-144" fmla="*/ 1760306 h 2106202"/>
                        <a:gd name="connsiteX11-145" fmla="*/ 0 w 1123308"/>
                        <a:gd name="connsiteY11-146" fmla="*/ 1815101 h 2106202"/>
                        <a:gd name="connsiteX12-147" fmla="*/ 157537 w 1123308"/>
                        <a:gd name="connsiteY12-148" fmla="*/ 2106202 h 2106202"/>
                        <a:gd name="connsiteX13-149" fmla="*/ 287676 w 1123308"/>
                        <a:gd name="connsiteY13-150" fmla="*/ 2054832 h 2106202"/>
                        <a:gd name="connsiteX14-151" fmla="*/ 513708 w 1123308"/>
                        <a:gd name="connsiteY14-152" fmla="*/ 1955515 h 2106202"/>
                        <a:gd name="connsiteX15-153" fmla="*/ 643847 w 1123308"/>
                        <a:gd name="connsiteY15-154" fmla="*/ 1883596 h 2106202"/>
                        <a:gd name="connsiteX16-155" fmla="*/ 801384 w 1123308"/>
                        <a:gd name="connsiteY16-156" fmla="*/ 1698661 h 2106202"/>
                        <a:gd name="connsiteX17-157" fmla="*/ 934948 w 1123308"/>
                        <a:gd name="connsiteY17-158" fmla="*/ 1530849 h 2106202"/>
                        <a:gd name="connsiteX18-159" fmla="*/ 1027415 w 1123308"/>
                        <a:gd name="connsiteY18-160" fmla="*/ 1359614 h 2106202"/>
                        <a:gd name="connsiteX19-161" fmla="*/ 1078786 w 1123308"/>
                        <a:gd name="connsiteY19-162" fmla="*/ 1171254 h 2106202"/>
                        <a:gd name="connsiteX20-163" fmla="*/ 1123308 w 1123308"/>
                        <a:gd name="connsiteY20-164" fmla="*/ 808234 h 2106202"/>
                        <a:gd name="connsiteX21-165" fmla="*/ 1119883 w 1123308"/>
                        <a:gd name="connsiteY21-166" fmla="*/ 623299 h 2106202"/>
                        <a:gd name="connsiteX22-167" fmla="*/ 1109609 w 1123308"/>
                        <a:gd name="connsiteY22-168" fmla="*/ 469187 h 2106202"/>
                        <a:gd name="connsiteX23-169" fmla="*/ 1078786 w 1123308"/>
                        <a:gd name="connsiteY23-170" fmla="*/ 311649 h 2106202"/>
                        <a:gd name="connsiteX24-171" fmla="*/ 1023991 w 1123308"/>
                        <a:gd name="connsiteY24-172" fmla="*/ 157537 h 2106202"/>
                        <a:gd name="connsiteX25-173" fmla="*/ 969195 w 1123308"/>
                        <a:gd name="connsiteY25-174" fmla="*/ 68494 h 2106202"/>
                        <a:gd name="connsiteX26-175" fmla="*/ 893851 w 1123308"/>
                        <a:gd name="connsiteY26-176" fmla="*/ 0 h 2106202"/>
                        <a:gd name="connsiteX27-177" fmla="*/ 797959 w 1123308"/>
                        <a:gd name="connsiteY27-178" fmla="*/ 41097 h 2106202"/>
                        <a:gd name="connsiteX28-179" fmla="*/ 729465 w 1123308"/>
                        <a:gd name="connsiteY28-180" fmla="*/ 167811 h 2106202"/>
                        <a:gd name="connsiteX0-181" fmla="*/ 643847 w 1123308"/>
                        <a:gd name="connsiteY0-182" fmla="*/ 616449 h 2106202"/>
                        <a:gd name="connsiteX1-183" fmla="*/ 636998 w 1123308"/>
                        <a:gd name="connsiteY1-184" fmla="*/ 777411 h 2106202"/>
                        <a:gd name="connsiteX2-185" fmla="*/ 643847 w 1123308"/>
                        <a:gd name="connsiteY2-186" fmla="*/ 887002 h 2106202"/>
                        <a:gd name="connsiteX3-187" fmla="*/ 654121 w 1123308"/>
                        <a:gd name="connsiteY3-188" fmla="*/ 1027416 h 2106202"/>
                        <a:gd name="connsiteX4-189" fmla="*/ 674669 w 1123308"/>
                        <a:gd name="connsiteY4-190" fmla="*/ 1157555 h 2106202"/>
                        <a:gd name="connsiteX5-191" fmla="*/ 705492 w 1123308"/>
                        <a:gd name="connsiteY5-192" fmla="*/ 1260297 h 2106202"/>
                        <a:gd name="connsiteX6-193" fmla="*/ 500009 w 1123308"/>
                        <a:gd name="connsiteY6-194" fmla="*/ 1380162 h 2106202"/>
                        <a:gd name="connsiteX7-195" fmla="*/ 410966 w 1123308"/>
                        <a:gd name="connsiteY7-196" fmla="*/ 1472629 h 2106202"/>
                        <a:gd name="connsiteX8-197" fmla="*/ 315074 w 1123308"/>
                        <a:gd name="connsiteY8-198" fmla="*/ 1571946 h 2106202"/>
                        <a:gd name="connsiteX9-199" fmla="*/ 212332 w 1123308"/>
                        <a:gd name="connsiteY9-200" fmla="*/ 1657564 h 2106202"/>
                        <a:gd name="connsiteX10-201" fmla="*/ 78768 w 1123308"/>
                        <a:gd name="connsiteY10-202" fmla="*/ 1760306 h 2106202"/>
                        <a:gd name="connsiteX11-203" fmla="*/ 0 w 1123308"/>
                        <a:gd name="connsiteY11-204" fmla="*/ 1815101 h 2106202"/>
                        <a:gd name="connsiteX12-205" fmla="*/ 157537 w 1123308"/>
                        <a:gd name="connsiteY12-206" fmla="*/ 2106202 h 2106202"/>
                        <a:gd name="connsiteX13-207" fmla="*/ 287676 w 1123308"/>
                        <a:gd name="connsiteY13-208" fmla="*/ 2054832 h 2106202"/>
                        <a:gd name="connsiteX14-209" fmla="*/ 513708 w 1123308"/>
                        <a:gd name="connsiteY14-210" fmla="*/ 1955515 h 2106202"/>
                        <a:gd name="connsiteX15-211" fmla="*/ 643847 w 1123308"/>
                        <a:gd name="connsiteY15-212" fmla="*/ 1883596 h 2106202"/>
                        <a:gd name="connsiteX16-213" fmla="*/ 801384 w 1123308"/>
                        <a:gd name="connsiteY16-214" fmla="*/ 1698661 h 2106202"/>
                        <a:gd name="connsiteX17-215" fmla="*/ 934948 w 1123308"/>
                        <a:gd name="connsiteY17-216" fmla="*/ 1530849 h 2106202"/>
                        <a:gd name="connsiteX18-217" fmla="*/ 1027415 w 1123308"/>
                        <a:gd name="connsiteY18-218" fmla="*/ 1359614 h 2106202"/>
                        <a:gd name="connsiteX19-219" fmla="*/ 1078786 w 1123308"/>
                        <a:gd name="connsiteY19-220" fmla="*/ 1171254 h 2106202"/>
                        <a:gd name="connsiteX20-221" fmla="*/ 1123308 w 1123308"/>
                        <a:gd name="connsiteY20-222" fmla="*/ 808234 h 2106202"/>
                        <a:gd name="connsiteX21-223" fmla="*/ 1119883 w 1123308"/>
                        <a:gd name="connsiteY21-224" fmla="*/ 623299 h 2106202"/>
                        <a:gd name="connsiteX22-225" fmla="*/ 1109609 w 1123308"/>
                        <a:gd name="connsiteY22-226" fmla="*/ 469187 h 2106202"/>
                        <a:gd name="connsiteX23-227" fmla="*/ 1078786 w 1123308"/>
                        <a:gd name="connsiteY23-228" fmla="*/ 311649 h 2106202"/>
                        <a:gd name="connsiteX24-229" fmla="*/ 1023991 w 1123308"/>
                        <a:gd name="connsiteY24-230" fmla="*/ 157537 h 2106202"/>
                        <a:gd name="connsiteX25-231" fmla="*/ 969195 w 1123308"/>
                        <a:gd name="connsiteY25-232" fmla="*/ 68494 h 2106202"/>
                        <a:gd name="connsiteX26-233" fmla="*/ 893851 w 1123308"/>
                        <a:gd name="connsiteY26-234" fmla="*/ 0 h 2106202"/>
                        <a:gd name="connsiteX27-235" fmla="*/ 797959 w 1123308"/>
                        <a:gd name="connsiteY27-236" fmla="*/ 41097 h 2106202"/>
                        <a:gd name="connsiteX0-237" fmla="*/ 643847 w 1123308"/>
                        <a:gd name="connsiteY0-238" fmla="*/ 616449 h 2106202"/>
                        <a:gd name="connsiteX1-239" fmla="*/ 636998 w 1123308"/>
                        <a:gd name="connsiteY1-240" fmla="*/ 777411 h 2106202"/>
                        <a:gd name="connsiteX2-241" fmla="*/ 643847 w 1123308"/>
                        <a:gd name="connsiteY2-242" fmla="*/ 887002 h 2106202"/>
                        <a:gd name="connsiteX3-243" fmla="*/ 654121 w 1123308"/>
                        <a:gd name="connsiteY3-244" fmla="*/ 1027416 h 2106202"/>
                        <a:gd name="connsiteX4-245" fmla="*/ 674669 w 1123308"/>
                        <a:gd name="connsiteY4-246" fmla="*/ 1157555 h 2106202"/>
                        <a:gd name="connsiteX5-247" fmla="*/ 705492 w 1123308"/>
                        <a:gd name="connsiteY5-248" fmla="*/ 1260297 h 2106202"/>
                        <a:gd name="connsiteX6-249" fmla="*/ 500009 w 1123308"/>
                        <a:gd name="connsiteY6-250" fmla="*/ 1380162 h 2106202"/>
                        <a:gd name="connsiteX7-251" fmla="*/ 410966 w 1123308"/>
                        <a:gd name="connsiteY7-252" fmla="*/ 1472629 h 2106202"/>
                        <a:gd name="connsiteX8-253" fmla="*/ 315074 w 1123308"/>
                        <a:gd name="connsiteY8-254" fmla="*/ 1571946 h 2106202"/>
                        <a:gd name="connsiteX9-255" fmla="*/ 212332 w 1123308"/>
                        <a:gd name="connsiteY9-256" fmla="*/ 1657564 h 2106202"/>
                        <a:gd name="connsiteX10-257" fmla="*/ 78768 w 1123308"/>
                        <a:gd name="connsiteY10-258" fmla="*/ 1760306 h 2106202"/>
                        <a:gd name="connsiteX11-259" fmla="*/ 0 w 1123308"/>
                        <a:gd name="connsiteY11-260" fmla="*/ 1815101 h 2106202"/>
                        <a:gd name="connsiteX12-261" fmla="*/ 157537 w 1123308"/>
                        <a:gd name="connsiteY12-262" fmla="*/ 2106202 h 2106202"/>
                        <a:gd name="connsiteX13-263" fmla="*/ 287676 w 1123308"/>
                        <a:gd name="connsiteY13-264" fmla="*/ 2054832 h 2106202"/>
                        <a:gd name="connsiteX14-265" fmla="*/ 513708 w 1123308"/>
                        <a:gd name="connsiteY14-266" fmla="*/ 1955515 h 2106202"/>
                        <a:gd name="connsiteX15-267" fmla="*/ 643847 w 1123308"/>
                        <a:gd name="connsiteY15-268" fmla="*/ 1883596 h 2106202"/>
                        <a:gd name="connsiteX16-269" fmla="*/ 801384 w 1123308"/>
                        <a:gd name="connsiteY16-270" fmla="*/ 1698661 h 2106202"/>
                        <a:gd name="connsiteX17-271" fmla="*/ 934948 w 1123308"/>
                        <a:gd name="connsiteY17-272" fmla="*/ 1530849 h 2106202"/>
                        <a:gd name="connsiteX18-273" fmla="*/ 1027415 w 1123308"/>
                        <a:gd name="connsiteY18-274" fmla="*/ 1359614 h 2106202"/>
                        <a:gd name="connsiteX19-275" fmla="*/ 1078786 w 1123308"/>
                        <a:gd name="connsiteY19-276" fmla="*/ 1171254 h 2106202"/>
                        <a:gd name="connsiteX20-277" fmla="*/ 1123308 w 1123308"/>
                        <a:gd name="connsiteY20-278" fmla="*/ 808234 h 2106202"/>
                        <a:gd name="connsiteX21-279" fmla="*/ 1119883 w 1123308"/>
                        <a:gd name="connsiteY21-280" fmla="*/ 623299 h 2106202"/>
                        <a:gd name="connsiteX22-281" fmla="*/ 1109609 w 1123308"/>
                        <a:gd name="connsiteY22-282" fmla="*/ 469187 h 2106202"/>
                        <a:gd name="connsiteX23-283" fmla="*/ 1078786 w 1123308"/>
                        <a:gd name="connsiteY23-284" fmla="*/ 311649 h 2106202"/>
                        <a:gd name="connsiteX24-285" fmla="*/ 1023991 w 1123308"/>
                        <a:gd name="connsiteY24-286" fmla="*/ 157537 h 2106202"/>
                        <a:gd name="connsiteX25-287" fmla="*/ 969195 w 1123308"/>
                        <a:gd name="connsiteY25-288" fmla="*/ 68494 h 2106202"/>
                        <a:gd name="connsiteX26-289" fmla="*/ 893851 w 1123308"/>
                        <a:gd name="connsiteY26-290" fmla="*/ 0 h 210620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Lst>
                      <a:rect l="l" t="t" r="r" b="b"/>
                      <a:pathLst>
                        <a:path w="1123308" h="2106202">
                          <a:moveTo>
                            <a:pt x="643847" y="616449"/>
                          </a:moveTo>
                          <a:lnTo>
                            <a:pt x="636998" y="777411"/>
                          </a:lnTo>
                          <a:lnTo>
                            <a:pt x="643847" y="887002"/>
                          </a:lnTo>
                          <a:lnTo>
                            <a:pt x="654121" y="1027416"/>
                          </a:lnTo>
                          <a:lnTo>
                            <a:pt x="674669" y="1157555"/>
                          </a:lnTo>
                          <a:lnTo>
                            <a:pt x="705492" y="1260297"/>
                          </a:lnTo>
                          <a:lnTo>
                            <a:pt x="500009" y="1380162"/>
                          </a:lnTo>
                          <a:lnTo>
                            <a:pt x="410966" y="1472629"/>
                          </a:lnTo>
                          <a:lnTo>
                            <a:pt x="315074" y="1571946"/>
                          </a:lnTo>
                          <a:lnTo>
                            <a:pt x="212332" y="1657564"/>
                          </a:lnTo>
                          <a:lnTo>
                            <a:pt x="78768" y="1760306"/>
                          </a:lnTo>
                          <a:lnTo>
                            <a:pt x="0" y="1815101"/>
                          </a:lnTo>
                          <a:lnTo>
                            <a:pt x="157537" y="2106202"/>
                          </a:lnTo>
                          <a:lnTo>
                            <a:pt x="287676" y="2054832"/>
                          </a:lnTo>
                          <a:lnTo>
                            <a:pt x="513708" y="1955515"/>
                          </a:lnTo>
                          <a:lnTo>
                            <a:pt x="643847" y="1883596"/>
                          </a:lnTo>
                          <a:lnTo>
                            <a:pt x="801384" y="1698661"/>
                          </a:lnTo>
                          <a:lnTo>
                            <a:pt x="934948" y="1530849"/>
                          </a:lnTo>
                          <a:lnTo>
                            <a:pt x="1027415" y="1359614"/>
                          </a:lnTo>
                          <a:lnTo>
                            <a:pt x="1078786" y="1171254"/>
                          </a:lnTo>
                          <a:lnTo>
                            <a:pt x="1123308" y="808234"/>
                          </a:lnTo>
                          <a:cubicBezTo>
                            <a:pt x="1122166" y="746589"/>
                            <a:pt x="1121025" y="684944"/>
                            <a:pt x="1119883" y="623299"/>
                          </a:cubicBezTo>
                          <a:lnTo>
                            <a:pt x="1109609" y="469187"/>
                          </a:lnTo>
                          <a:lnTo>
                            <a:pt x="1078786" y="311649"/>
                          </a:lnTo>
                          <a:lnTo>
                            <a:pt x="1023991" y="157537"/>
                          </a:lnTo>
                          <a:lnTo>
                            <a:pt x="969195" y="68494"/>
                          </a:lnTo>
                          <a:lnTo>
                            <a:pt x="893851" y="0"/>
                          </a:lnTo>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2" name="円/楕円 11"/>
                    <p:cNvSpPr/>
                    <p:nvPr/>
                  </p:nvSpPr>
                  <p:spPr>
                    <a:xfrm>
                      <a:off x="9889" y="2469"/>
                      <a:ext cx="1072" cy="126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975" dirty="0">
                        <a:latin typeface="MS PGothic" panose="020B0600070205080204" charset="-128"/>
                        <a:ea typeface="MS PGothic" panose="020B0600070205080204" charset="-128"/>
                      </a:endParaRPr>
                    </a:p>
                  </p:txBody>
                </p:sp>
              </p:grpSp>
              <p:grpSp>
                <p:nvGrpSpPr>
                  <p:cNvPr id="40" name="组合 39"/>
                  <p:cNvGrpSpPr/>
                  <p:nvPr/>
                </p:nvGrpSpPr>
                <p:grpSpPr>
                  <a:xfrm>
                    <a:off x="8391" y="3184"/>
                    <a:ext cx="1145" cy="1305"/>
                    <a:chOff x="8161" y="4243"/>
                    <a:chExt cx="1145" cy="1305"/>
                  </a:xfrm>
                </p:grpSpPr>
                <p:grpSp>
                  <p:nvGrpSpPr>
                    <p:cNvPr id="10" name="グループ化 10"/>
                    <p:cNvGrpSpPr/>
                    <p:nvPr/>
                  </p:nvGrpSpPr>
                  <p:grpSpPr>
                    <a:xfrm rot="290409">
                      <a:off x="8161" y="4824"/>
                      <a:ext cx="1088" cy="725"/>
                      <a:chOff x="3047465" y="4059226"/>
                      <a:chExt cx="922569" cy="720307"/>
                    </a:xfrm>
                  </p:grpSpPr>
                  <p:sp>
                    <p:nvSpPr>
                      <p:cNvPr id="15" name="フリーフォーム 170"/>
                      <p:cNvSpPr/>
                      <p:nvPr/>
                    </p:nvSpPr>
                    <p:spPr>
                      <a:xfrm rot="20273636">
                        <a:off x="3789087" y="4126983"/>
                        <a:ext cx="180947" cy="370157"/>
                      </a:xfrm>
                      <a:custGeom>
                        <a:avLst/>
                        <a:gdLst>
                          <a:gd name="connsiteX0" fmla="*/ 1038 w 296005"/>
                          <a:gd name="connsiteY0" fmla="*/ 65085 h 605531"/>
                          <a:gd name="connsiteX1" fmla="*/ 65930 w 296005"/>
                          <a:gd name="connsiteY1" fmla="*/ 283361 h 605531"/>
                          <a:gd name="connsiteX2" fmla="*/ 71830 w 296005"/>
                          <a:gd name="connsiteY2" fmla="*/ 430845 h 605531"/>
                          <a:gd name="connsiteX3" fmla="*/ 42333 w 296005"/>
                          <a:gd name="connsiteY3" fmla="*/ 554732 h 605531"/>
                          <a:gd name="connsiteX4" fmla="*/ 219314 w 296005"/>
                          <a:gd name="connsiteY4" fmla="*/ 601926 h 605531"/>
                          <a:gd name="connsiteX5" fmla="*/ 278307 w 296005"/>
                          <a:gd name="connsiteY5" fmla="*/ 466241 h 605531"/>
                          <a:gd name="connsiteX6" fmla="*/ 296005 w 296005"/>
                          <a:gd name="connsiteY6" fmla="*/ 289261 h 605531"/>
                          <a:gd name="connsiteX7" fmla="*/ 278307 w 296005"/>
                          <a:gd name="connsiteY7" fmla="*/ 112280 h 605531"/>
                          <a:gd name="connsiteX8" fmla="*/ 260609 w 296005"/>
                          <a:gd name="connsiteY8" fmla="*/ 6092 h 605531"/>
                          <a:gd name="connsiteX9" fmla="*/ 124924 w 296005"/>
                          <a:gd name="connsiteY9" fmla="*/ 17890 h 605531"/>
                          <a:gd name="connsiteX10" fmla="*/ 1038 w 296005"/>
                          <a:gd name="connsiteY10" fmla="*/ 65085 h 60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005" h="605531">
                            <a:moveTo>
                              <a:pt x="1038" y="65085"/>
                            </a:moveTo>
                            <a:cubicBezTo>
                              <a:pt x="-8794" y="109330"/>
                              <a:pt x="54131" y="222401"/>
                              <a:pt x="65930" y="283361"/>
                            </a:cubicBezTo>
                            <a:cubicBezTo>
                              <a:pt x="77729" y="344321"/>
                              <a:pt x="75763" y="385617"/>
                              <a:pt x="71830" y="430845"/>
                            </a:cubicBezTo>
                            <a:cubicBezTo>
                              <a:pt x="67897" y="476074"/>
                              <a:pt x="17752" y="526219"/>
                              <a:pt x="42333" y="554732"/>
                            </a:cubicBezTo>
                            <a:cubicBezTo>
                              <a:pt x="66914" y="583245"/>
                              <a:pt x="179985" y="616675"/>
                              <a:pt x="219314" y="601926"/>
                            </a:cubicBezTo>
                            <a:cubicBezTo>
                              <a:pt x="258643" y="587178"/>
                              <a:pt x="265525" y="518352"/>
                              <a:pt x="278307" y="466241"/>
                            </a:cubicBezTo>
                            <a:cubicBezTo>
                              <a:pt x="291089" y="414130"/>
                              <a:pt x="296005" y="348254"/>
                              <a:pt x="296005" y="289261"/>
                            </a:cubicBezTo>
                            <a:cubicBezTo>
                              <a:pt x="296005" y="230268"/>
                              <a:pt x="284206" y="159475"/>
                              <a:pt x="278307" y="112280"/>
                            </a:cubicBezTo>
                            <a:cubicBezTo>
                              <a:pt x="272408" y="65085"/>
                              <a:pt x="286173" y="21824"/>
                              <a:pt x="260609" y="6092"/>
                            </a:cubicBezTo>
                            <a:cubicBezTo>
                              <a:pt x="235045" y="-9640"/>
                              <a:pt x="161303" y="9041"/>
                              <a:pt x="124924" y="17890"/>
                            </a:cubicBezTo>
                            <a:cubicBezTo>
                              <a:pt x="88545" y="26739"/>
                              <a:pt x="10870" y="20840"/>
                              <a:pt x="1038" y="65085"/>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S PGothic" panose="020B0600070205080204" charset="-128"/>
                          <a:ea typeface="MS PGothic" panose="020B0600070205080204" charset="-128"/>
                        </a:endParaRPr>
                      </a:p>
                    </p:txBody>
                  </p:sp>
                  <p:sp>
                    <p:nvSpPr>
                      <p:cNvPr id="16" name="円/楕円 12"/>
                      <p:cNvSpPr/>
                      <p:nvPr/>
                    </p:nvSpPr>
                    <p:spPr>
                      <a:xfrm>
                        <a:off x="3429947" y="4126137"/>
                        <a:ext cx="440191" cy="504237"/>
                      </a:xfrm>
                      <a:custGeom>
                        <a:avLst/>
                        <a:gdLst>
                          <a:gd name="connsiteX0" fmla="*/ 0 w 1406381"/>
                          <a:gd name="connsiteY0" fmla="*/ 762684 h 1525367"/>
                          <a:gd name="connsiteX1" fmla="*/ 703191 w 1406381"/>
                          <a:gd name="connsiteY1" fmla="*/ 0 h 1525367"/>
                          <a:gd name="connsiteX2" fmla="*/ 1406382 w 1406381"/>
                          <a:gd name="connsiteY2" fmla="*/ 762684 h 1525367"/>
                          <a:gd name="connsiteX3" fmla="*/ 703191 w 1406381"/>
                          <a:gd name="connsiteY3" fmla="*/ 1525368 h 1525367"/>
                          <a:gd name="connsiteX4" fmla="*/ 0 w 1406381"/>
                          <a:gd name="connsiteY4" fmla="*/ 762684 h 1525367"/>
                          <a:gd name="connsiteX0-1" fmla="*/ 2902 w 1409284"/>
                          <a:gd name="connsiteY0-2" fmla="*/ 647071 h 1409755"/>
                          <a:gd name="connsiteX1-3" fmla="*/ 537928 w 1409284"/>
                          <a:gd name="connsiteY1-4" fmla="*/ 0 h 1409755"/>
                          <a:gd name="connsiteX2-5" fmla="*/ 1409284 w 1409284"/>
                          <a:gd name="connsiteY2-6" fmla="*/ 647071 h 1409755"/>
                          <a:gd name="connsiteX3-7" fmla="*/ 706093 w 1409284"/>
                          <a:gd name="connsiteY3-8" fmla="*/ 1409755 h 1409755"/>
                          <a:gd name="connsiteX4-9" fmla="*/ 2902 w 1409284"/>
                          <a:gd name="connsiteY4-10" fmla="*/ 647071 h 1409755"/>
                          <a:gd name="connsiteX0-11" fmla="*/ 2902 w 1409284"/>
                          <a:gd name="connsiteY0-12" fmla="*/ 648835 h 1411519"/>
                          <a:gd name="connsiteX1-13" fmla="*/ 537928 w 1409284"/>
                          <a:gd name="connsiteY1-14" fmla="*/ 1764 h 1411519"/>
                          <a:gd name="connsiteX2-15" fmla="*/ 1409284 w 1409284"/>
                          <a:gd name="connsiteY2-16" fmla="*/ 648835 h 1411519"/>
                          <a:gd name="connsiteX3-17" fmla="*/ 706093 w 1409284"/>
                          <a:gd name="connsiteY3-18" fmla="*/ 1411519 h 1411519"/>
                          <a:gd name="connsiteX4-19" fmla="*/ 2902 w 1409284"/>
                          <a:gd name="connsiteY4-20" fmla="*/ 648835 h 1411519"/>
                          <a:gd name="connsiteX0-21" fmla="*/ 2902 w 1434226"/>
                          <a:gd name="connsiteY0-22" fmla="*/ 648835 h 1411519"/>
                          <a:gd name="connsiteX1-23" fmla="*/ 537928 w 1434226"/>
                          <a:gd name="connsiteY1-24" fmla="*/ 1764 h 1411519"/>
                          <a:gd name="connsiteX2-25" fmla="*/ 1409284 w 1434226"/>
                          <a:gd name="connsiteY2-26" fmla="*/ 648835 h 1411519"/>
                          <a:gd name="connsiteX3-27" fmla="*/ 706093 w 1434226"/>
                          <a:gd name="connsiteY3-28" fmla="*/ 1411519 h 1411519"/>
                          <a:gd name="connsiteX4-29" fmla="*/ 2902 w 1434226"/>
                          <a:gd name="connsiteY4-30" fmla="*/ 648835 h 1411519"/>
                          <a:gd name="connsiteX0-31" fmla="*/ 2902 w 1429310"/>
                          <a:gd name="connsiteY0-32" fmla="*/ 648835 h 1421223"/>
                          <a:gd name="connsiteX1-33" fmla="*/ 537928 w 1429310"/>
                          <a:gd name="connsiteY1-34" fmla="*/ 1764 h 1421223"/>
                          <a:gd name="connsiteX2-35" fmla="*/ 1409284 w 1429310"/>
                          <a:gd name="connsiteY2-36" fmla="*/ 648835 h 1421223"/>
                          <a:gd name="connsiteX3-37" fmla="*/ 706093 w 1429310"/>
                          <a:gd name="connsiteY3-38" fmla="*/ 1411519 h 1421223"/>
                          <a:gd name="connsiteX4-39" fmla="*/ 2902 w 1429310"/>
                          <a:gd name="connsiteY4-40" fmla="*/ 648835 h 1421223"/>
                          <a:gd name="connsiteX0-41" fmla="*/ 3222 w 1429931"/>
                          <a:gd name="connsiteY0-42" fmla="*/ 648835 h 1483603"/>
                          <a:gd name="connsiteX1-43" fmla="*/ 538248 w 1429931"/>
                          <a:gd name="connsiteY1-44" fmla="*/ 1764 h 1483603"/>
                          <a:gd name="connsiteX2-45" fmla="*/ 1409604 w 1429931"/>
                          <a:gd name="connsiteY2-46" fmla="*/ 648835 h 1483603"/>
                          <a:gd name="connsiteX3-47" fmla="*/ 716924 w 1429931"/>
                          <a:gd name="connsiteY3-48" fmla="*/ 1474581 h 1483603"/>
                          <a:gd name="connsiteX4-49" fmla="*/ 3222 w 1429931"/>
                          <a:gd name="connsiteY4-50" fmla="*/ 648835 h 1483603"/>
                          <a:gd name="connsiteX0-51" fmla="*/ 3222 w 1429931"/>
                          <a:gd name="connsiteY0-52" fmla="*/ 648835 h 1484124"/>
                          <a:gd name="connsiteX1-53" fmla="*/ 538248 w 1429931"/>
                          <a:gd name="connsiteY1-54" fmla="*/ 1764 h 1484124"/>
                          <a:gd name="connsiteX2-55" fmla="*/ 1409604 w 1429931"/>
                          <a:gd name="connsiteY2-56" fmla="*/ 648835 h 1484124"/>
                          <a:gd name="connsiteX3-57" fmla="*/ 716924 w 1429931"/>
                          <a:gd name="connsiteY3-58" fmla="*/ 1474581 h 1484124"/>
                          <a:gd name="connsiteX4-59" fmla="*/ 3222 w 1429931"/>
                          <a:gd name="connsiteY4-60" fmla="*/ 648835 h 1484124"/>
                          <a:gd name="connsiteX0-61" fmla="*/ 2861 w 1281581"/>
                          <a:gd name="connsiteY0-62" fmla="*/ 637738 h 1474000"/>
                          <a:gd name="connsiteX1-63" fmla="*/ 390742 w 1281581"/>
                          <a:gd name="connsiteY1-64" fmla="*/ 1177 h 1474000"/>
                          <a:gd name="connsiteX2-65" fmla="*/ 1262098 w 1281581"/>
                          <a:gd name="connsiteY2-66" fmla="*/ 648248 h 1474000"/>
                          <a:gd name="connsiteX3-67" fmla="*/ 569418 w 1281581"/>
                          <a:gd name="connsiteY3-68" fmla="*/ 1473994 h 1474000"/>
                          <a:gd name="connsiteX4-69" fmla="*/ 2861 w 1281581"/>
                          <a:gd name="connsiteY4-70" fmla="*/ 637738 h 1474000"/>
                          <a:gd name="connsiteX0-71" fmla="*/ 36382 w 1315102"/>
                          <a:gd name="connsiteY0-72" fmla="*/ 637738 h 1474000"/>
                          <a:gd name="connsiteX1-73" fmla="*/ 424263 w 1315102"/>
                          <a:gd name="connsiteY1-74" fmla="*/ 1177 h 1474000"/>
                          <a:gd name="connsiteX2-75" fmla="*/ 1295619 w 1315102"/>
                          <a:gd name="connsiteY2-76" fmla="*/ 648248 h 1474000"/>
                          <a:gd name="connsiteX3-77" fmla="*/ 602939 w 1315102"/>
                          <a:gd name="connsiteY3-78" fmla="*/ 1473994 h 1474000"/>
                          <a:gd name="connsiteX4-79" fmla="*/ 36382 w 1315102"/>
                          <a:gd name="connsiteY4-80" fmla="*/ 637738 h 1474000"/>
                          <a:gd name="connsiteX0-81" fmla="*/ 69692 w 1348412"/>
                          <a:gd name="connsiteY0-82" fmla="*/ 708338 h 1544600"/>
                          <a:gd name="connsiteX1-83" fmla="*/ 457573 w 1348412"/>
                          <a:gd name="connsiteY1-84" fmla="*/ 71777 h 1544600"/>
                          <a:gd name="connsiteX2-85" fmla="*/ 1328929 w 1348412"/>
                          <a:gd name="connsiteY2-86" fmla="*/ 718848 h 1544600"/>
                          <a:gd name="connsiteX3-87" fmla="*/ 636249 w 1348412"/>
                          <a:gd name="connsiteY3-88" fmla="*/ 1544594 h 1544600"/>
                          <a:gd name="connsiteX4-89" fmla="*/ 69692 w 1348412"/>
                          <a:gd name="connsiteY4-90" fmla="*/ 708338 h 1544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412" h="1544600">
                            <a:moveTo>
                              <a:pt x="69692" y="708338"/>
                            </a:moveTo>
                            <a:cubicBezTo>
                              <a:pt x="-75700" y="63475"/>
                              <a:pt x="-15058" y="-119162"/>
                              <a:pt x="457573" y="71777"/>
                            </a:cubicBezTo>
                            <a:cubicBezTo>
                              <a:pt x="930204" y="262716"/>
                              <a:pt x="992598" y="3339"/>
                              <a:pt x="1328929" y="718848"/>
                            </a:cubicBezTo>
                            <a:cubicBezTo>
                              <a:pt x="1465564" y="1171598"/>
                              <a:pt x="846122" y="1546346"/>
                              <a:pt x="636249" y="1544594"/>
                            </a:cubicBezTo>
                            <a:cubicBezTo>
                              <a:pt x="426376" y="1542842"/>
                              <a:pt x="215084" y="1353201"/>
                              <a:pt x="69692" y="708338"/>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176"/>
                      <p:cNvSpPr/>
                      <p:nvPr/>
                    </p:nvSpPr>
                    <p:spPr>
                      <a:xfrm>
                        <a:off x="3224219" y="4101354"/>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177"/>
                      <p:cNvSpPr/>
                      <p:nvPr/>
                    </p:nvSpPr>
                    <p:spPr>
                      <a:xfrm rot="18723341">
                        <a:off x="3407984" y="4567390"/>
                        <a:ext cx="229191" cy="130795"/>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178"/>
                      <p:cNvSpPr/>
                      <p:nvPr/>
                    </p:nvSpPr>
                    <p:spPr>
                      <a:xfrm rot="20718969">
                        <a:off x="3190089" y="4306199"/>
                        <a:ext cx="293640" cy="146447"/>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179"/>
                      <p:cNvSpPr/>
                      <p:nvPr/>
                    </p:nvSpPr>
                    <p:spPr>
                      <a:xfrm>
                        <a:off x="3242593" y="4192523"/>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180"/>
                      <p:cNvSpPr/>
                      <p:nvPr/>
                    </p:nvSpPr>
                    <p:spPr>
                      <a:xfrm rot="19105625">
                        <a:off x="3047465" y="4168450"/>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181"/>
                      <p:cNvSpPr/>
                      <p:nvPr/>
                    </p:nvSpPr>
                    <p:spPr>
                      <a:xfrm rot="19105625">
                        <a:off x="3084464" y="4258587"/>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182"/>
                      <p:cNvSpPr/>
                      <p:nvPr/>
                    </p:nvSpPr>
                    <p:spPr>
                      <a:xfrm rot="16755692">
                        <a:off x="3058967" y="4494801"/>
                        <a:ext cx="292462" cy="10016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183"/>
                      <p:cNvSpPr/>
                      <p:nvPr/>
                    </p:nvSpPr>
                    <p:spPr>
                      <a:xfrm rot="20206640">
                        <a:off x="3301011" y="4675841"/>
                        <a:ext cx="192498" cy="103692"/>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柱 24"/>
                      <p:cNvSpPr/>
                      <p:nvPr/>
                    </p:nvSpPr>
                    <p:spPr>
                      <a:xfrm rot="10800000">
                        <a:off x="3408555" y="4059226"/>
                        <a:ext cx="7115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柱 25"/>
                      <p:cNvSpPr/>
                      <p:nvPr/>
                    </p:nvSpPr>
                    <p:spPr>
                      <a:xfrm rot="10474734">
                        <a:off x="3416350" y="4159325"/>
                        <a:ext cx="71151"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柱 26"/>
                      <p:cNvSpPr/>
                      <p:nvPr/>
                    </p:nvSpPr>
                    <p:spPr>
                      <a:xfrm rot="9758492">
                        <a:off x="3447727" y="4287451"/>
                        <a:ext cx="6722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柱 27"/>
                      <p:cNvSpPr/>
                      <p:nvPr/>
                    </p:nvSpPr>
                    <p:spPr>
                      <a:xfrm rot="8504862">
                        <a:off x="3553843" y="4503969"/>
                        <a:ext cx="69949"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柱 28"/>
                      <p:cNvSpPr/>
                      <p:nvPr/>
                    </p:nvSpPr>
                    <p:spPr>
                      <a:xfrm rot="9906573">
                        <a:off x="3225345" y="4080595"/>
                        <a:ext cx="55239"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柱 30"/>
                      <p:cNvSpPr/>
                      <p:nvPr/>
                    </p:nvSpPr>
                    <p:spPr>
                      <a:xfrm rot="9906573">
                        <a:off x="3260138" y="4190660"/>
                        <a:ext cx="52223"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柱 31"/>
                      <p:cNvSpPr/>
                      <p:nvPr/>
                    </p:nvSpPr>
                    <p:spPr>
                      <a:xfrm rot="7547432">
                        <a:off x="3211970" y="4366416"/>
                        <a:ext cx="56335"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柱 32"/>
                      <p:cNvSpPr/>
                      <p:nvPr/>
                    </p:nvSpPr>
                    <p:spPr>
                      <a:xfrm rot="8499449">
                        <a:off x="3435980" y="4618733"/>
                        <a:ext cx="44830"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40"/>
                    <p:cNvGrpSpPr/>
                    <p:nvPr/>
                  </p:nvGrpSpPr>
                  <p:grpSpPr>
                    <a:xfrm rot="0">
                      <a:off x="8438" y="4243"/>
                      <a:ext cx="869" cy="836"/>
                      <a:chOff x="548845" y="2977005"/>
                      <a:chExt cx="2700000" cy="2700000"/>
                    </a:xfrm>
                  </p:grpSpPr>
                  <p:pic>
                    <p:nvPicPr>
                      <p:cNvPr id="55" name="グラフィックス 41" descr="セキュリティ カメラ 単色塗りつぶ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flipH="1">
                        <a:off x="548845" y="2977005"/>
                        <a:ext cx="2700000" cy="2700000"/>
                      </a:xfrm>
                      <a:prstGeom prst="rect">
                        <a:avLst/>
                      </a:prstGeom>
                    </p:spPr>
                  </p:pic>
                  <p:sp>
                    <p:nvSpPr>
                      <p:cNvPr id="56" name="正方形/長方形 42"/>
                      <p:cNvSpPr/>
                      <p:nvPr/>
                    </p:nvSpPr>
                    <p:spPr>
                      <a:xfrm>
                        <a:off x="2720049" y="3305593"/>
                        <a:ext cx="370390" cy="13387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grpSp>
              </p:grpSp>
            </p:grpSp>
            <p:sp>
              <p:nvSpPr>
                <p:cNvPr id="57" name="フローチャート: 磁気ディスク 2"/>
                <p:cNvSpPr/>
                <p:nvPr/>
              </p:nvSpPr>
              <p:spPr>
                <a:xfrm>
                  <a:off x="4945" y="3772"/>
                  <a:ext cx="629" cy="819"/>
                </a:xfrm>
                <a:prstGeom prst="flowChartMagneticDisk">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8" name="图片 57" descr="cube"/>
              <p:cNvPicPr>
                <a:picLocks noChangeAspect="1"/>
              </p:cNvPicPr>
              <p:nvPr/>
            </p:nvPicPr>
            <p:blipFill>
              <a:blip r:embed="rId3"/>
              <a:stretch>
                <a:fillRect/>
              </a:stretch>
            </p:blipFill>
            <p:spPr>
              <a:xfrm>
                <a:off x="9340" y="2826"/>
                <a:ext cx="588" cy="588"/>
              </a:xfrm>
              <a:prstGeom prst="rect">
                <a:avLst/>
              </a:prstGeom>
            </p:spPr>
          </p:pic>
        </p:grpSp>
        <p:pic>
          <p:nvPicPr>
            <p:cNvPr id="60" name="图片 59" descr="triangular"/>
            <p:cNvPicPr>
              <a:picLocks noChangeAspect="1"/>
            </p:cNvPicPr>
            <p:nvPr/>
          </p:nvPicPr>
          <p:blipFill>
            <a:blip r:embed="rId4"/>
            <a:stretch>
              <a:fillRect/>
            </a:stretch>
          </p:blipFill>
          <p:spPr>
            <a:xfrm>
              <a:off x="8406" y="4606"/>
              <a:ext cx="690" cy="690"/>
            </a:xfrm>
            <a:prstGeom prst="rect">
              <a:avLst/>
            </a:prstGeom>
          </p:spPr>
        </p:pic>
      </p:grpSp>
      <p:sp>
        <p:nvSpPr>
          <p:cNvPr id="68" name="文本框 67"/>
          <p:cNvSpPr txBox="1"/>
          <p:nvPr/>
        </p:nvSpPr>
        <p:spPr>
          <a:xfrm>
            <a:off x="220980" y="2953385"/>
            <a:ext cx="4733925" cy="922020"/>
          </a:xfrm>
          <a:prstGeom prst="rect">
            <a:avLst/>
          </a:prstGeom>
          <a:noFill/>
        </p:spPr>
        <p:txBody>
          <a:bodyPr wrap="square" rtlCol="0" anchor="t">
            <a:spAutoFit/>
          </a:bodyPr>
          <a:p>
            <a:pPr marL="285750" indent="-285750">
              <a:buFont typeface="Wingdings" panose="05000000000000000000" charset="0"/>
              <a:buChar char="n"/>
            </a:pPr>
            <a:r>
              <a:rPr lang="en-US" altLang="zh-CN">
                <a:sym typeface="+mn-ea"/>
              </a:rPr>
              <a:t>Scene:</a:t>
            </a:r>
            <a:endParaRPr lang="en-US" altLang="zh-CN">
              <a:sym typeface="+mn-ea"/>
            </a:endParaRPr>
          </a:p>
          <a:p>
            <a:pPr indent="457200">
              <a:buFont typeface="Wingdings" panose="05000000000000000000" charset="0"/>
              <a:buNone/>
            </a:pPr>
            <a:r>
              <a:rPr lang="en-US" altLang="zh-CN">
                <a:ea typeface="宋体" panose="02010600030101010101" pitchFamily="2" charset="-122"/>
                <a:sym typeface="+mn-ea"/>
              </a:rPr>
              <a:t>Grasping different size objects under two conditions</a:t>
            </a:r>
            <a:endParaRPr lang="en-US" altLang="zh-CN">
              <a:ea typeface="宋体" panose="02010600030101010101" pitchFamily="2" charset="-122"/>
              <a:sym typeface="+mn-ea"/>
            </a:endParaRPr>
          </a:p>
        </p:txBody>
      </p:sp>
      <p:sp>
        <p:nvSpPr>
          <p:cNvPr id="82" name="Card1"/>
          <p:cNvSpPr>
            <a:spLocks noGrp="1"/>
          </p:cNvSpPr>
          <p:nvPr/>
        </p:nvSpPr>
        <p:spPr>
          <a:xfrm>
            <a:off x="5160010" y="1435735"/>
            <a:ext cx="3712210" cy="1954530"/>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0" name="文本框 69"/>
          <p:cNvSpPr txBox="1"/>
          <p:nvPr>
            <p:custDataLst>
              <p:tags r:id="rId5"/>
            </p:custDataLst>
          </p:nvPr>
        </p:nvSpPr>
        <p:spPr>
          <a:xfrm>
            <a:off x="5319395" y="1522095"/>
            <a:ext cx="3616960" cy="368300"/>
          </a:xfrm>
          <a:prstGeom prst="rect">
            <a:avLst/>
          </a:prstGeom>
          <a:noFill/>
        </p:spPr>
        <p:txBody>
          <a:bodyPr wrap="square" rtlCol="0">
            <a:spAutoFit/>
          </a:bodyPr>
          <a:p>
            <a:pPr algn="ctr"/>
            <a:r>
              <a:rPr lang="en-US" altLang="zh-CN"/>
              <a:t>Condition A: EMG-Only Control</a:t>
            </a:r>
            <a:endParaRPr lang="en-US" altLang="zh-CN"/>
          </a:p>
        </p:txBody>
      </p:sp>
      <p:pic>
        <p:nvPicPr>
          <p:cNvPr id="78" name="图片 77" descr="屏幕截图 2026-04-29 162033"/>
          <p:cNvPicPr>
            <a:picLocks noChangeAspect="1"/>
          </p:cNvPicPr>
          <p:nvPr/>
        </p:nvPicPr>
        <p:blipFill>
          <a:blip r:embed="rId6"/>
          <a:stretch>
            <a:fillRect/>
          </a:stretch>
        </p:blipFill>
        <p:spPr>
          <a:xfrm>
            <a:off x="5986145" y="1974215"/>
            <a:ext cx="1998980" cy="1258570"/>
          </a:xfrm>
          <a:prstGeom prst="rect">
            <a:avLst/>
          </a:prstGeom>
        </p:spPr>
      </p:pic>
      <p:sp>
        <p:nvSpPr>
          <p:cNvPr id="85" name="Card1"/>
          <p:cNvSpPr>
            <a:spLocks noGrp="1"/>
          </p:cNvSpPr>
          <p:nvPr/>
        </p:nvSpPr>
        <p:spPr>
          <a:xfrm>
            <a:off x="5160010" y="3942715"/>
            <a:ext cx="3712210" cy="2016125"/>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2" name="文本框 71"/>
          <p:cNvSpPr txBox="1"/>
          <p:nvPr>
            <p:custDataLst>
              <p:tags r:id="rId7"/>
            </p:custDataLst>
          </p:nvPr>
        </p:nvSpPr>
        <p:spPr>
          <a:xfrm>
            <a:off x="5133975" y="4060190"/>
            <a:ext cx="3816350" cy="337185"/>
          </a:xfrm>
          <a:prstGeom prst="rect">
            <a:avLst/>
          </a:prstGeom>
          <a:noFill/>
        </p:spPr>
        <p:txBody>
          <a:bodyPr wrap="square" rtlCol="0">
            <a:spAutoFit/>
          </a:bodyPr>
          <a:p>
            <a:pPr algn="ctr"/>
            <a:r>
              <a:rPr lang="en-US" altLang="zh-CN" sz="1600"/>
              <a:t>Condition B: Proposed System </a:t>
            </a:r>
            <a:r>
              <a:rPr lang="en-US" altLang="zh-CN" sz="1600">
                <a:sym typeface="+mn-ea"/>
              </a:rPr>
              <a:t>Control</a:t>
            </a:r>
            <a:endParaRPr lang="en-US" altLang="zh-CN" sz="1600"/>
          </a:p>
        </p:txBody>
      </p:sp>
      <p:pic>
        <p:nvPicPr>
          <p:cNvPr id="65" name="图片 64" descr="屏幕截图 333"/>
          <p:cNvPicPr>
            <a:picLocks noChangeAspect="1"/>
          </p:cNvPicPr>
          <p:nvPr/>
        </p:nvPicPr>
        <p:blipFill>
          <a:blip r:embed="rId8"/>
          <a:stretch>
            <a:fillRect/>
          </a:stretch>
        </p:blipFill>
        <p:spPr>
          <a:xfrm>
            <a:off x="5986145" y="4406900"/>
            <a:ext cx="1998980" cy="1399540"/>
          </a:xfrm>
          <a:prstGeom prst="rect">
            <a:avLst/>
          </a:prstGeom>
        </p:spPr>
      </p:pic>
      <p:sp>
        <p:nvSpPr>
          <p:cNvPr id="2" name="灯片编号占位符 1"/>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ea typeface="宋体" panose="02010600030101010101" pitchFamily="2" charset="-122"/>
                <a:sym typeface="+mn-ea"/>
              </a:rPr>
              <a:t>Evaluation</a:t>
            </a:r>
            <a:endParaRPr lang="en-US" altLang="zh-CN" sz="3200" b="1">
              <a:latin typeface="Times New Roman" panose="02020603050405020304" charset="0"/>
              <a:ea typeface="宋体" panose="02010600030101010101" pitchFamily="2" charset="-122"/>
              <a:cs typeface="Times New Roman" panose="02020603050405020304" charset="0"/>
            </a:endParaRPr>
          </a:p>
        </p:txBody>
      </p:sp>
      <p:cxnSp>
        <p:nvCxnSpPr>
          <p:cNvPr id="21" name="Divider"/>
          <p:cNvCxnSpPr/>
          <p:nvPr/>
        </p:nvCxnSpPr>
        <p:spPr>
          <a:xfrm>
            <a:off x="4554220" y="895985"/>
            <a:ext cx="40005" cy="5347335"/>
          </a:xfrm>
          <a:prstGeom prst="line">
            <a:avLst/>
          </a:prstGeom>
          <a:ln w="12700" cmpd="sng">
            <a:solidFill>
              <a:srgbClr val="BBCCDD"/>
            </a:solidFill>
            <a:prstDash val="dash"/>
          </a:ln>
        </p:spPr>
        <p:style>
          <a:lnRef idx="2">
            <a:schemeClr val="accent1"/>
          </a:lnRef>
          <a:fillRef idx="0">
            <a:schemeClr val="accent1"/>
          </a:fillRef>
          <a:effectRef idx="1">
            <a:schemeClr val="accent1"/>
          </a:effectRef>
          <a:fontRef idx="minor">
            <a:schemeClr val="tx1"/>
          </a:fontRef>
        </p:style>
      </p:cxnSp>
      <p:sp>
        <p:nvSpPr>
          <p:cNvPr id="200" name="LeftBar"/>
          <p:cNvSpPr>
            <a:spLocks noGrp="1"/>
          </p:cNvSpPr>
          <p:nvPr/>
        </p:nvSpPr>
        <p:spPr>
          <a:xfrm>
            <a:off x="304800" y="950000"/>
            <a:ext cx="190500" cy="457200"/>
          </a:xfrm>
          <a:prstGeom prst="rect">
            <a:avLst/>
          </a:prstGeom>
          <a:solidFill>
            <a:srgbClr val="1E3A5F"/>
          </a:solidFill>
          <a:ln>
            <a:noFill/>
          </a:ln>
        </p:spPr>
        <p:txBody>
          <a:bodyPr/>
          <a:p/>
        </p:txBody>
      </p:sp>
      <p:sp>
        <p:nvSpPr>
          <p:cNvPr id="201" name="LeftHeader"/>
          <p:cNvSpPr txBox="1"/>
          <p:nvPr/>
        </p:nvSpPr>
        <p:spPr>
          <a:xfrm>
            <a:off x="571500" y="950000"/>
            <a:ext cx="3600000" cy="457200"/>
          </a:xfrm>
          <a:prstGeom prst="rect">
            <a:avLst/>
          </a:prstGeom>
          <a:noFill/>
        </p:spPr>
        <p:txBody>
          <a:bodyPr wrap="square" rtlCol="0">
            <a:noAutofit/>
          </a:bodyPr>
          <a:p>
            <a:r>
              <a:rPr lang="en-US" altLang="zh-CN" sz="2000" b="1" dirty="0">
                <a:solidFill>
                  <a:srgbClr val="1E3A5F"/>
                </a:solidFill>
                <a:latin typeface="+mj-lt"/>
                <a:ea typeface="宋体" panose="02010600030101010101" pitchFamily="2" charset="-122"/>
                <a:cs typeface="+mj-lt"/>
              </a:rPr>
              <a:t>Performance</a:t>
            </a:r>
            <a:endParaRPr lang="en-US" altLang="zh-CN" sz="2000" b="1" dirty="0">
              <a:solidFill>
                <a:srgbClr val="1E3A5F"/>
              </a:solidFill>
              <a:latin typeface="+mj-lt"/>
              <a:ea typeface="宋体" panose="02010600030101010101" pitchFamily="2" charset="-122"/>
              <a:cs typeface="+mj-lt"/>
            </a:endParaRPr>
          </a:p>
        </p:txBody>
      </p:sp>
      <p:sp>
        <p:nvSpPr>
          <p:cNvPr id="300" name="RightBar"/>
          <p:cNvSpPr>
            <a:spLocks noGrp="1"/>
          </p:cNvSpPr>
          <p:nvPr/>
        </p:nvSpPr>
        <p:spPr>
          <a:xfrm>
            <a:off x="4876020" y="950000"/>
            <a:ext cx="190500" cy="457200"/>
          </a:xfrm>
          <a:prstGeom prst="rect">
            <a:avLst/>
          </a:prstGeom>
          <a:solidFill>
            <a:srgbClr val="7A1E5F"/>
          </a:solidFill>
          <a:ln>
            <a:noFill/>
          </a:ln>
        </p:spPr>
        <p:txBody>
          <a:bodyPr/>
          <a:p/>
        </p:txBody>
      </p:sp>
      <p:sp>
        <p:nvSpPr>
          <p:cNvPr id="301" name="RightHeader"/>
          <p:cNvSpPr txBox="1"/>
          <p:nvPr/>
        </p:nvSpPr>
        <p:spPr>
          <a:xfrm>
            <a:off x="5142720" y="950000"/>
            <a:ext cx="3600000" cy="457200"/>
          </a:xfrm>
          <a:prstGeom prst="rect">
            <a:avLst/>
          </a:prstGeom>
          <a:noFill/>
        </p:spPr>
        <p:txBody>
          <a:bodyPr wrap="square" rtlCol="0">
            <a:noAutofit/>
          </a:bodyPr>
          <a:p>
            <a:r>
              <a:rPr lang="en-US" altLang="zh-CN" sz="2000" b="1" dirty="0">
                <a:solidFill>
                  <a:srgbClr val="7A1E5F"/>
                </a:solidFill>
                <a:latin typeface="+mj-lt"/>
                <a:ea typeface="宋体" panose="02010600030101010101" pitchFamily="2" charset="-122"/>
                <a:cs typeface="+mj-lt"/>
              </a:rPr>
              <a:t>Cognitive load</a:t>
            </a:r>
            <a:endParaRPr lang="en-US" altLang="zh-CN" sz="2000" b="1" dirty="0">
              <a:solidFill>
                <a:srgbClr val="7A1E5F"/>
              </a:solidFill>
              <a:latin typeface="+mj-lt"/>
              <a:ea typeface="宋体" panose="02010600030101010101" pitchFamily="2" charset="-122"/>
              <a:cs typeface="+mj-lt"/>
            </a:endParaRPr>
          </a:p>
        </p:txBody>
      </p:sp>
      <p:sp>
        <p:nvSpPr>
          <p:cNvPr id="210" name="Card1"/>
          <p:cNvSpPr>
            <a:spLocks noGrp="1"/>
          </p:cNvSpPr>
          <p:nvPr/>
        </p:nvSpPr>
        <p:spPr>
          <a:xfrm>
            <a:off x="304800" y="180320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Task Completion Time</a:t>
            </a:r>
            <a:endParaRPr lang="en-US" sz="2400" dirty="0">
              <a:solidFill>
                <a:srgbClr val="555555"/>
              </a:solidFill>
              <a:latin typeface="+mj-lt"/>
              <a:cs typeface="+mj-lt"/>
            </a:endParaRPr>
          </a:p>
        </p:txBody>
      </p:sp>
      <p:pic>
        <p:nvPicPr>
          <p:cNvPr id="2" name="图片 1" descr="clock"/>
          <p:cNvPicPr>
            <a:picLocks noChangeAspect="1"/>
          </p:cNvPicPr>
          <p:nvPr/>
        </p:nvPicPr>
        <p:blipFill>
          <a:blip r:embed="rId1"/>
          <a:stretch>
            <a:fillRect/>
          </a:stretch>
        </p:blipFill>
        <p:spPr>
          <a:xfrm>
            <a:off x="426720" y="2248535"/>
            <a:ext cx="609600" cy="609600"/>
          </a:xfrm>
          <a:prstGeom prst="rect">
            <a:avLst/>
          </a:prstGeom>
        </p:spPr>
      </p:pic>
      <p:sp>
        <p:nvSpPr>
          <p:cNvPr id="4" name="Card1"/>
          <p:cNvSpPr>
            <a:spLocks noGrp="1"/>
          </p:cNvSpPr>
          <p:nvPr/>
        </p:nvSpPr>
        <p:spPr>
          <a:xfrm>
            <a:off x="304800" y="381996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Grasp Success Rate</a:t>
            </a:r>
            <a:endParaRPr lang="en-US" altLang="zh-CN" sz="2400" dirty="0">
              <a:solidFill>
                <a:srgbClr val="555555"/>
              </a:solidFill>
              <a:latin typeface="+mj-lt"/>
              <a:cs typeface="+mj-lt"/>
            </a:endParaRPr>
          </a:p>
        </p:txBody>
      </p:sp>
      <p:pic>
        <p:nvPicPr>
          <p:cNvPr id="13" name="图片 12" descr="C:/Users/Di/Desktop/achieve-goal (1).pngachieve-goal (1)"/>
          <p:cNvPicPr>
            <a:picLocks noChangeAspect="1"/>
          </p:cNvPicPr>
          <p:nvPr/>
        </p:nvPicPr>
        <p:blipFill>
          <a:blip r:embed="rId2"/>
          <a:srcRect/>
          <a:stretch>
            <a:fillRect/>
          </a:stretch>
        </p:blipFill>
        <p:spPr>
          <a:xfrm>
            <a:off x="426720" y="4265295"/>
            <a:ext cx="609600" cy="609600"/>
          </a:xfrm>
          <a:prstGeom prst="rect">
            <a:avLst/>
          </a:prstGeom>
        </p:spPr>
      </p:pic>
      <p:sp>
        <p:nvSpPr>
          <p:cNvPr id="17" name="Card1"/>
          <p:cNvSpPr>
            <a:spLocks noGrp="1"/>
          </p:cNvSpPr>
          <p:nvPr/>
        </p:nvSpPr>
        <p:spPr>
          <a:xfrm>
            <a:off x="4876165" y="1803200"/>
            <a:ext cx="3962400" cy="1500000"/>
          </a:xfrm>
          <a:prstGeom prst="roundRect">
            <a:avLst>
              <a:gd name="adj" fmla="val 0"/>
            </a:avLst>
          </a:prstGeom>
          <a:solidFill>
            <a:srgbClr val="F5EEF5"/>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NASA-TLX [5]</a:t>
            </a:r>
            <a:endParaRPr lang="en-US" altLang="zh-CN" sz="2400" dirty="0">
              <a:solidFill>
                <a:srgbClr val="555555"/>
              </a:solidFill>
              <a:latin typeface="+mj-lt"/>
              <a:cs typeface="+mj-lt"/>
            </a:endParaRPr>
          </a:p>
        </p:txBody>
      </p:sp>
      <p:pic>
        <p:nvPicPr>
          <p:cNvPr id="18" name="图片 17" descr="C:/Users/Di/Desktop/exam.pngexam"/>
          <p:cNvPicPr>
            <a:picLocks noChangeAspect="1"/>
          </p:cNvPicPr>
          <p:nvPr/>
        </p:nvPicPr>
        <p:blipFill>
          <a:blip r:embed="rId3"/>
          <a:srcRect/>
          <a:stretch>
            <a:fillRect/>
          </a:stretch>
        </p:blipFill>
        <p:spPr>
          <a:xfrm>
            <a:off x="5066665" y="2248535"/>
            <a:ext cx="609600" cy="609600"/>
          </a:xfrm>
          <a:prstGeom prst="rect">
            <a:avLst/>
          </a:prstGeom>
        </p:spPr>
      </p:pic>
      <p:sp>
        <p:nvSpPr>
          <p:cNvPr id="3" name="灯片编号占位符 2"/>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sym typeface="+mn-ea"/>
              </a:rPr>
              <a:t>Summary</a:t>
            </a:r>
            <a:endParaRPr lang="en-US" altLang="zh-CN" sz="3200" b="1">
              <a:latin typeface="Times New Roman" panose="02020603050405020304" charset="0"/>
              <a:ea typeface="宋体" panose="02010600030101010101" pitchFamily="2" charset="-122"/>
              <a:cs typeface="Times New Roman" panose="02020603050405020304" charset="0"/>
            </a:endParaRPr>
          </a:p>
          <a:p>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2" name="文本框 1"/>
          <p:cNvSpPr txBox="1"/>
          <p:nvPr/>
        </p:nvSpPr>
        <p:spPr>
          <a:xfrm>
            <a:off x="220980" y="3429000"/>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rPr>
              <a:t>Next Steps</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4" name="文本框 3"/>
          <p:cNvSpPr txBox="1"/>
          <p:nvPr/>
        </p:nvSpPr>
        <p:spPr>
          <a:xfrm>
            <a:off x="306705" y="4023995"/>
            <a:ext cx="7856855" cy="727710"/>
          </a:xfrm>
          <a:prstGeom prst="rect">
            <a:avLst/>
          </a:prstGeom>
          <a:noFill/>
        </p:spPr>
        <p:txBody>
          <a:bodyPr wrap="square" rtlCol="0" anchor="t">
            <a:noAutofit/>
          </a:bodyPr>
          <a:p>
            <a:pPr indent="457200">
              <a:buFont typeface="Wingdings" panose="05000000000000000000" charset="0"/>
              <a:buNone/>
            </a:pPr>
            <a:r>
              <a:rPr lang="en-US" altLang="zh-CN"/>
              <a:t>Completed grasping tests on multiple objects, and preparing to conduct the experiment.</a:t>
            </a:r>
            <a:endParaRPr lang="en-US" altLang="zh-CN"/>
          </a:p>
        </p:txBody>
      </p:sp>
      <p:sp>
        <p:nvSpPr>
          <p:cNvPr id="5" name="文本框 4"/>
          <p:cNvSpPr txBox="1"/>
          <p:nvPr/>
        </p:nvSpPr>
        <p:spPr>
          <a:xfrm>
            <a:off x="306705" y="883285"/>
            <a:ext cx="8441055" cy="2306955"/>
          </a:xfrm>
          <a:prstGeom prst="rect">
            <a:avLst/>
          </a:prstGeom>
        </p:spPr>
        <p:txBody>
          <a:bodyPr wrap="square">
            <a:spAutoFit/>
          </a:bodyPr>
          <a:p>
            <a:pPr marL="285750" indent="-285750">
              <a:buFont typeface="Wingdings" panose="05000000000000000000" charset="0"/>
              <a:buChar char="Ø"/>
            </a:pPr>
            <a:r>
              <a:rPr lang="en-US" altLang="zh-CN"/>
              <a:t>The two sensors, the camera and EMG, have been successfully integrated. </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r>
              <a:rPr lang="en-US" altLang="zh-CN"/>
              <a:t>Record control mode, Button-based control has been replaced with EMG-based control.</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r>
              <a:rPr lang="en-US" altLang="zh-CN"/>
              <a:t>Synchronized data acquisition and recording have been successfully implemented.</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r>
              <a:rPr lang="en-US" altLang="zh-CN"/>
              <a:t>Achieved decision fusion, successfully enabling real-time inference.</a:t>
            </a:r>
            <a:endParaRPr lang="en-US" altLang="zh-CN"/>
          </a:p>
        </p:txBody>
      </p:sp>
      <p:sp>
        <p:nvSpPr>
          <p:cNvPr id="3" name="灯片编号占位符 2"/>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192135" cy="583565"/>
          </a:xfrm>
          <a:prstGeom prst="rect">
            <a:avLst/>
          </a:prstGeom>
          <a:noFill/>
        </p:spPr>
        <p:txBody>
          <a:bodyPr wrap="square" rtlCol="0">
            <a:spAutoFit/>
          </a:bodyPr>
          <a:p>
            <a:r>
              <a:rPr lang="en-US" sz="3200" b="1" dirty="0">
                <a:latin typeface="Times New Roman" panose="02020603050405020304" charset="0"/>
                <a:cs typeface="Times New Roman" panose="02020603050405020304" charset="0"/>
                <a:sym typeface="+mn-ea"/>
              </a:rPr>
              <a:t>References</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3" name="文本框 2"/>
          <p:cNvSpPr txBox="1"/>
          <p:nvPr/>
        </p:nvSpPr>
        <p:spPr>
          <a:xfrm>
            <a:off x="275590" y="902970"/>
            <a:ext cx="8529955" cy="4418330"/>
          </a:xfrm>
          <a:prstGeom prst="rect">
            <a:avLst/>
          </a:prstGeom>
          <a:noFill/>
        </p:spPr>
        <p:txBody>
          <a:bodyPr wrap="square" rtlCol="0" anchor="t">
            <a:spAutoFit/>
          </a:bodyPr>
          <a:p>
            <a:pPr marL="0" indent="0">
              <a:lnSpc>
                <a:spcPct val="120000"/>
              </a:lnSpc>
              <a:buNone/>
            </a:pPr>
            <a:r>
              <a:rPr lang="en-US" sz="1600">
                <a:sym typeface="+mn-ea"/>
              </a:rPr>
              <a:t>[1] </a:t>
            </a:r>
            <a:r>
              <a:rPr lang="en-US" altLang="zh-CN" sz="1600" dirty="0">
                <a:sym typeface="+mn-ea"/>
              </a:rPr>
              <a:t>McDonald C L, Westcott-McCoy S, Weaver M R, et al. Global prevalence of traumatic non-fatal limb amputation[J]. Prosthetics and orthotics international, 2021, 45(2): 105-114.</a:t>
            </a:r>
            <a:endParaRPr lang="en-US" altLang="zh-CN" sz="1600" dirty="0">
              <a:sym typeface="+mn-ea"/>
            </a:endParaRPr>
          </a:p>
          <a:p>
            <a:pPr marL="0" indent="0">
              <a:lnSpc>
                <a:spcPct val="120000"/>
              </a:lnSpc>
              <a:buNone/>
            </a:pPr>
            <a:endParaRPr lang="en-US" altLang="zh-CN" sz="1600" dirty="0">
              <a:sym typeface="+mn-ea"/>
            </a:endParaRPr>
          </a:p>
          <a:p>
            <a:pPr marL="0" indent="0">
              <a:lnSpc>
                <a:spcPct val="120000"/>
              </a:lnSpc>
              <a:buNone/>
            </a:pPr>
            <a:r>
              <a:rPr lang="en-US" sz="1600">
                <a:sym typeface="+mn-ea"/>
              </a:rPr>
              <a:t>[2] </a:t>
            </a:r>
            <a:r>
              <a:rPr lang="en-US" altLang="zh-CN" sz="1600"/>
              <a:t>Chen, Z., Min, H., Wang, D., Xia, Z., Sun, F., &amp; Fang, B. (2023). A review of myoelectric control for prosthetic hand manipulation. Biomimetics, 8(3), 328.</a:t>
            </a:r>
            <a:endParaRPr lang="en-US" altLang="zh-CN" sz="1600"/>
          </a:p>
          <a:p>
            <a:pPr marL="0" indent="0">
              <a:lnSpc>
                <a:spcPct val="120000"/>
              </a:lnSpc>
              <a:buNone/>
            </a:pPr>
            <a:endParaRPr lang="en-US" altLang="zh-CN" sz="1600"/>
          </a:p>
          <a:p>
            <a:pPr marL="0" indent="0">
              <a:lnSpc>
                <a:spcPct val="120000"/>
              </a:lnSpc>
              <a:buNone/>
            </a:pPr>
            <a:r>
              <a:rPr lang="en-US" sz="1600">
                <a:sym typeface="+mn-ea"/>
              </a:rPr>
              <a:t>[3] </a:t>
            </a:r>
            <a:r>
              <a:rPr lang="en-US" altLang="zh-CN" sz="1600"/>
              <a:t>V</a:t>
            </a:r>
            <a:r>
              <a:rPr lang="en-US" altLang="en-US" sz="1600"/>
              <a:t>á</a:t>
            </a:r>
            <a:r>
              <a:rPr lang="en-US" altLang="zh-CN" sz="1600"/>
              <a:t>sconez, J. P., Barona L</a:t>
            </a:r>
            <a:r>
              <a:rPr lang="en-US" altLang="en-US" sz="1600"/>
              <a:t>ó</a:t>
            </a:r>
            <a:r>
              <a:rPr lang="en-US" altLang="zh-CN" sz="1600"/>
              <a:t>pez, L. I., Valdivieso Caraguay, </a:t>
            </a:r>
            <a:r>
              <a:rPr lang="en-US" altLang="en-US" sz="1600"/>
              <a:t>Á. </a:t>
            </a:r>
            <a:r>
              <a:rPr lang="en-US" altLang="zh-CN" sz="1600"/>
              <a:t>L., &amp; Benalc</a:t>
            </a:r>
            <a:r>
              <a:rPr lang="en-US" altLang="en-US" sz="1600"/>
              <a:t>á</a:t>
            </a:r>
            <a:r>
              <a:rPr lang="en-US" altLang="zh-CN" sz="1600"/>
              <a:t>zar, M. E. (2022). Hand gesture recognition using EMG-IMU signals and deep q-networks. Sensors, 22(24), 9613.</a:t>
            </a:r>
            <a:endParaRPr lang="en-US" altLang="zh-CN" sz="1600"/>
          </a:p>
          <a:p>
            <a:pPr marL="0" indent="0">
              <a:lnSpc>
                <a:spcPct val="120000"/>
              </a:lnSpc>
              <a:buNone/>
            </a:pPr>
            <a:endParaRPr lang="en-US" altLang="zh-CN" sz="1600"/>
          </a:p>
          <a:p>
            <a:pPr marL="0" indent="0">
              <a:lnSpc>
                <a:spcPct val="120000"/>
              </a:lnSpc>
              <a:buNone/>
            </a:pPr>
            <a:r>
              <a:rPr lang="en-US" sz="1600">
                <a:sym typeface="+mn-ea"/>
              </a:rPr>
              <a:t>[4] </a:t>
            </a:r>
            <a:r>
              <a:rPr lang="en-US" altLang="zh-CN" sz="1600">
                <a:sym typeface="+mn-ea"/>
              </a:rPr>
              <a:t>Zandigohar, M., Han, M., Sharif, M., G</a:t>
            </a:r>
            <a:r>
              <a:rPr lang="en-US" altLang="en-US" sz="1600">
                <a:sym typeface="+mn-ea"/>
              </a:rPr>
              <a:t>ü</a:t>
            </a:r>
            <a:r>
              <a:rPr lang="en-US" altLang="zh-CN" sz="1600">
                <a:sym typeface="+mn-ea"/>
              </a:rPr>
              <a:t>nay, S. Y., Furmanek, M. P., Yarossi, M., ... &amp; Schirner, G. (2024). Multimodal fusion of EMG and vision for human grasp intent inference in prosthetic hand control. Frontiers in Robotics and AI, 11, 1312554.</a:t>
            </a:r>
            <a:endParaRPr lang="en-US" altLang="zh-CN" sz="1600">
              <a:sym typeface="+mn-ea"/>
            </a:endParaRPr>
          </a:p>
          <a:p>
            <a:pPr marL="0" indent="0">
              <a:lnSpc>
                <a:spcPct val="120000"/>
              </a:lnSpc>
              <a:buNone/>
            </a:pPr>
            <a:endParaRPr lang="en-US" altLang="zh-CN" sz="1600" dirty="0"/>
          </a:p>
          <a:p>
            <a:pPr marL="0" indent="0" fontAlgn="t">
              <a:spcBef>
                <a:spcPct val="0"/>
              </a:spcBef>
              <a:spcAft>
                <a:spcPct val="0"/>
              </a:spcAft>
            </a:pPr>
            <a:r>
              <a:rPr lang="en-US" sz="1600">
                <a:sym typeface="+mn-ea"/>
              </a:rPr>
              <a:t>[5] </a:t>
            </a:r>
            <a:r>
              <a:rPr lang="en-US" altLang="zh-CN" sz="1600">
                <a:solidFill>
                  <a:srgbClr val="222222"/>
                </a:solidFill>
                <a:latin typeface="Times New Roman" panose="02020603050405020304" charset="0"/>
                <a:ea typeface="Arial" panose="020B0604020202020204"/>
                <a:cs typeface="Times New Roman" panose="02020603050405020304" charset="0"/>
                <a:sym typeface="+mn-ea"/>
              </a:rPr>
              <a:t>Hart, S. G., &amp; Staveland, L. E. (1988). Development of NASA-TLX (Task Load Index): Results of empirical and theoretical research. In Advances in psychology (Vol. 52, pp. 139-183). North-holland.</a:t>
            </a:r>
            <a:endParaRPr lang="en-US" altLang="zh-CN" sz="1600" dirty="0"/>
          </a:p>
        </p:txBody>
      </p:sp>
      <p:sp>
        <p:nvSpPr>
          <p:cNvPr id="2" name="灯片编号占位符 1"/>
          <p:cNvSpPr>
            <a:spLocks noGrp="1"/>
          </p:cNvSpPr>
          <p:nvPr>
            <p:ph type="sldNum" sz="quarter" idx="12"/>
          </p:nvPr>
        </p:nvSpPr>
        <p:spPr/>
        <p:txBody>
          <a:bodyPr/>
          <a:p>
            <a:fld id="{6F00E456-75B8-4C92-99E8-A0CAB60115A8}" type="slidenum">
              <a:rPr kumimoji="1" lang="ja-JP" altLang="en-US" smtClean="0"/>
            </a:fld>
            <a:endParaRPr kumimoji="1" lang="ja-JP" altLang="en-US"/>
          </a:p>
        </p:txBody>
      </p:sp>
    </p:spTree>
  </p:cSld>
  <p:clrMapOvr>
    <a:masterClrMapping/>
  </p:clrMapOvr>
</p:sld>
</file>

<file path=ppt/tags/tag1.xml><?xml version="1.0" encoding="utf-8"?>
<p:tagLst xmlns:p="http://schemas.openxmlformats.org/presentationml/2006/main">
  <p:tag name="KSO_WM_DIAGRAM_VIRTUALLY_FRAME" val="{&quot;height&quot;:275.65,&quot;left&quot;:17.5,&quot;top&quot;:193.7,&quot;width&quot;:687.2}"/>
</p:tagLst>
</file>

<file path=ppt/tags/tag2.xml><?xml version="1.0" encoding="utf-8"?>
<p:tagLst xmlns:p="http://schemas.openxmlformats.org/presentationml/2006/main">
  <p:tag name="KSO_WM_DIAGRAM_VIRTUALLY_FRAME" val="{&quot;height&quot;:275.65,&quot;left&quot;:17.5,&quot;top&quot;:193.7,&quot;width&quot;:687.2}"/>
</p:tagLst>
</file>

<file path=ppt/tags/tag3.xml><?xml version="1.0" encoding="utf-8"?>
<p:tagLst xmlns:p="http://schemas.openxmlformats.org/presentationml/2006/main">
  <p:tag name="KSO_WM_DIAGRAM_VIRTUALLY_FRAME" val="{&quot;height&quot;:275.65,&quot;left&quot;:17.5,&quot;top&quot;:193.7,&quot;width&quot;:687.2}"/>
</p:tagLst>
</file>

<file path=ppt/tags/tag4.xml><?xml version="1.0" encoding="utf-8"?>
<p:tagLst xmlns:p="http://schemas.openxmlformats.org/presentationml/2006/main">
  <p:tag name="KSO_WM_DIAGRAM_VIRTUALLY_FRAME" val="{&quot;height&quot;:275.65,&quot;left&quot;:17.5,&quot;top&quot;:193.7,&quot;width&quot;:687.2}"/>
</p:tagLst>
</file>

<file path=ppt/tags/tag5.xml><?xml version="1.0" encoding="utf-8"?>
<p:tagLst xmlns:p="http://schemas.openxmlformats.org/presentationml/2006/main">
  <p:tag name="KSO_WM_DIAGRAM_VIRTUALLY_FRAME" val="{&quot;height&quot;:275.65,&quot;left&quot;:17.5,&quot;top&quot;:193.7,&quot;width&quot;:687.2}"/>
</p:tagLst>
</file>

<file path=ppt/tags/tag6.xml><?xml version="1.0" encoding="utf-8"?>
<p:tagLst xmlns:p="http://schemas.openxmlformats.org/presentationml/2006/main">
  <p:tag name="KSO_WM_DIAGRAM_VIRTUALLY_FRAME" val="{&quot;height&quot;:464.4,&quot;left&quot;:12.9,&quot;top&quot;:99.5,&quot;width&quot;:1501.65}"/>
</p:tagLst>
</file>

<file path=ppt/tags/tag7.xml><?xml version="1.0" encoding="utf-8"?>
<p:tagLst xmlns:p="http://schemas.openxmlformats.org/presentationml/2006/main">
  <p:tag name="KSO_WM_DIAGRAM_VIRTUALLY_FRAME" val="{&quot;height&quot;:278.25,&quot;left&quot;:12.9,&quot;top&quot;:181.15,&quot;width&quot;:1501.65}"/>
</p:tagLst>
</file>

<file path=ppt/tags/tag8.xml><?xml version="1.0" encoding="utf-8"?>
<p:tagLst xmlns:p="http://schemas.openxmlformats.org/presentationml/2006/main">
  <p:tag name="KSO_WM_DIAGRAM_VIRTUALLY_FRAME" val="{&quot;height&quot;:464.4,&quot;left&quot;:12.9,&quot;top&quot;:99.5,&quot;width&quot;:1501.65}"/>
</p:tagLst>
</file>

<file path=ppt/tags/tag9.xml><?xml version="1.0" encoding="utf-8"?>
<p:tagLst xmlns:p="http://schemas.openxmlformats.org/presentationml/2006/main">
  <p:tag name="KSO_WM_DIAGRAM_VIRTUALLY_FRAME" val="{&quot;height&quot;:278.25,&quot;left&quot;:12.9,&quot;top&quot;:181.15,&quot;width&quot;:770.7}"/>
</p:tagLst>
</file>

<file path=ppt/tags/tag10.xml><?xml version="1.0" encoding="utf-8"?>
<p:tagLst xmlns:p="http://schemas.openxmlformats.org/presentationml/2006/main">
  <p:tag name="KSO_WM_DIAGRAM_VIRTUALLY_FRAME" val="{&quot;height&quot;:464.4,&quot;left&quot;:12.9,&quot;top&quot;:99.5,&quot;width&quot;:1501.65}"/>
</p:tagLst>
</file>

<file path=ppt/tags/tag11.xml><?xml version="1.0" encoding="utf-8"?>
<p:tagLst xmlns:p="http://schemas.openxmlformats.org/presentationml/2006/main">
  <p:tag name="KSO_WM_DIAGRAM_VIRTUALLY_FRAME" val="{&quot;height&quot;:464.4,&quot;left&quot;:12.9,&quot;top&quot;:99.5,&quot;width&quot;:1501.65}"/>
</p:tagLst>
</file>

<file path=ppt/tags/tag12.xml><?xml version="1.0" encoding="utf-8"?>
<p:tagLst xmlns:p="http://schemas.openxmlformats.org/presentationml/2006/main">
  <p:tag name="KSO_WM_DIAGRAM_VIRTUALLY_FRAME" val="{&quot;height&quot;:464.4,&quot;left&quot;:12.9,&quot;top&quot;:99.5,&quot;width&quot;:1501.65}"/>
</p:tagLst>
</file>

<file path=ppt/tags/tag13.xml><?xml version="1.0" encoding="utf-8"?>
<p:tagLst xmlns:p="http://schemas.openxmlformats.org/presentationml/2006/main">
  <p:tag name="KSO_WM_DIAGRAM_VIRTUALLY_FRAME" val="{&quot;height&quot;:464.4,&quot;left&quot;:12.9,&quot;top&quot;:99.5,&quot;width&quot;:1501.65}"/>
</p:tagLst>
</file>

<file path=ppt/tags/tag14.xml><?xml version="1.0" encoding="utf-8"?>
<p:tagLst xmlns:p="http://schemas.openxmlformats.org/presentationml/2006/main">
  <p:tag name="KSO_WM_DIAGRAM_VIRTUALLY_FRAME" val="{&quot;height&quot;:464.4,&quot;left&quot;:12.9,&quot;top&quot;:99.5,&quot;width&quot;:1501.65}"/>
</p:tagLst>
</file>

<file path=ppt/tags/tag15.xml><?xml version="1.0" encoding="utf-8"?>
<p:tagLst xmlns:p="http://schemas.openxmlformats.org/presentationml/2006/main">
  <p:tag name="KSO_WM_DIAGRAM_VIRTUALLY_FRAME" val="{&quot;height&quot;:278.25,&quot;left&quot;:12.9,&quot;top&quot;:181.15,&quot;width&quot;:1501.65}"/>
</p:tagLst>
</file>

<file path=ppt/tags/tag16.xml><?xml version="1.0" encoding="utf-8"?>
<p:tagLst xmlns:p="http://schemas.openxmlformats.org/presentationml/2006/main">
  <p:tag name="KSO_WM_DIAGRAM_VIRTUALLY_FRAME" val="{&quot;height&quot;:464.4,&quot;left&quot;:12.9,&quot;top&quot;:99.5,&quot;width&quot;:1501.65}"/>
</p:tagLst>
</file>

<file path=ppt/tags/tag17.xml><?xml version="1.0" encoding="utf-8"?>
<p:tagLst xmlns:p="http://schemas.openxmlformats.org/presentationml/2006/main">
  <p:tag name="KSO_WM_DIAGRAM_VIRTUALLY_FRAME" val="{&quot;height&quot;:278.25,&quot;left&quot;:12.9,&quot;top&quot;:181.15,&quot;width&quot;:770.7}"/>
</p:tagLst>
</file>

<file path=ppt/tags/tag18.xml><?xml version="1.0" encoding="utf-8"?>
<p:tagLst xmlns:p="http://schemas.openxmlformats.org/presentationml/2006/main">
  <p:tag name="KSO_WM_DIAGRAM_VIRTUALLY_FRAME" val="{&quot;height&quot;:464.4,&quot;left&quot;:12.9,&quot;top&quot;:99.5,&quot;width&quot;:1501.65}"/>
</p:tagLst>
</file>

<file path=ppt/tags/tag19.xml><?xml version="1.0" encoding="utf-8"?>
<p:tagLst xmlns:p="http://schemas.openxmlformats.org/presentationml/2006/main">
  <p:tag name="KSO_WM_DIAGRAM_VIRTUALLY_FRAME" val="{&quot;height&quot;:464.4,&quot;left&quot;:12.9,&quot;top&quot;:99.5,&quot;width&quot;:1501.65}"/>
</p:tagLst>
</file>

<file path=ppt/tags/tag20.xml><?xml version="1.0" encoding="utf-8"?>
<p:tagLst xmlns:p="http://schemas.openxmlformats.org/presentationml/2006/main">
  <p:tag name="KSO_WM_DIAGRAM_VIRTUALLY_FRAME" val="{&quot;height&quot;:464.4,&quot;left&quot;:12.9,&quot;top&quot;:99.5,&quot;width&quot;:1501.65}"/>
</p:tagLst>
</file>

<file path=ppt/tags/tag21.xml><?xml version="1.0" encoding="utf-8"?>
<p:tagLst xmlns:p="http://schemas.openxmlformats.org/presentationml/2006/main">
  <p:tag name="KSO_WM_DIAGRAM_VIRTUALLY_FRAME" val="{&quot;height&quot;:464.4,&quot;left&quot;:12.9,&quot;top&quot;:99.5,&quot;width&quot;:1501.65}"/>
</p:tagLst>
</file>

<file path=ppt/tags/tag22.xml><?xml version="1.0" encoding="utf-8"?>
<p:tagLst xmlns:p="http://schemas.openxmlformats.org/presentationml/2006/main">
  <p:tag name="KSO_WM_DIAGRAM_VIRTUALLY_FRAME" val="{&quot;height&quot;:464.4,&quot;left&quot;:12.9,&quot;top&quot;:99.5,&quot;width&quot;:1501.65}"/>
</p:tagLst>
</file>

<file path=ppt/tags/tag23.xml><?xml version="1.0" encoding="utf-8"?>
<p:tagLst xmlns:p="http://schemas.openxmlformats.org/presentationml/2006/main">
  <p:tag name="KSO_WM_DIAGRAM_VIRTUALLY_FRAME" val="{&quot;height&quot;:464.4,&quot;left&quot;:12.9,&quot;top&quot;:99.5,&quot;width&quot;:1501.65}"/>
</p:tagLst>
</file>

<file path=ppt/tags/tag24.xml><?xml version="1.0" encoding="utf-8"?>
<p:tagLst xmlns:p="http://schemas.openxmlformats.org/presentationml/2006/main">
  <p:tag name="KSO_WM_DIAGRAM_VIRTUALLY_FRAME" val="{&quot;height&quot;:278.25,&quot;left&quot;:12.9,&quot;top&quot;:181.15,&quot;width&quot;:1501.65}"/>
</p:tagLst>
</file>

<file path=ppt/tags/tag25.xml><?xml version="1.0" encoding="utf-8"?>
<p:tagLst xmlns:p="http://schemas.openxmlformats.org/presentationml/2006/main">
  <p:tag name="KSO_WM_DIAGRAM_VIRTUALLY_FRAME" val="{&quot;height&quot;:464.4,&quot;left&quot;:12.9,&quot;top&quot;:99.5,&quot;width&quot;:1501.65}"/>
</p:tagLst>
</file>

<file path=ppt/tags/tag26.xml><?xml version="1.0" encoding="utf-8"?>
<p:tagLst xmlns:p="http://schemas.openxmlformats.org/presentationml/2006/main">
  <p:tag name="KSO_WM_DIAGRAM_VIRTUALLY_FRAME" val="{&quot;height&quot;:278.25,&quot;left&quot;:12.9,&quot;top&quot;:181.15,&quot;width&quot;:770.7}"/>
</p:tagLst>
</file>

<file path=ppt/tags/tag27.xml><?xml version="1.0" encoding="utf-8"?>
<p:tagLst xmlns:p="http://schemas.openxmlformats.org/presentationml/2006/main">
  <p:tag name="KSO_WM_DIAGRAM_VIRTUALLY_FRAME" val="{&quot;height&quot;:464.4,&quot;left&quot;:12.9,&quot;top&quot;:99.5,&quot;width&quot;:1501.65}"/>
</p:tagLst>
</file>

<file path=ppt/tags/tag28.xml><?xml version="1.0" encoding="utf-8"?>
<p:tagLst xmlns:p="http://schemas.openxmlformats.org/presentationml/2006/main">
  <p:tag name="KSO_WM_DIAGRAM_VIRTUALLY_FRAME" val="{&quot;height&quot;:464.4,&quot;left&quot;:12.9,&quot;top&quot;:99.5,&quot;width&quot;:1501.65}"/>
</p:tagLst>
</file>

<file path=ppt/tags/tag29.xml><?xml version="1.0" encoding="utf-8"?>
<p:tagLst xmlns:p="http://schemas.openxmlformats.org/presentationml/2006/main">
  <p:tag name="KSO_WM_DIAGRAM_VIRTUALLY_FRAME" val="{&quot;height&quot;:464.4,&quot;left&quot;:12.9,&quot;top&quot;:99.5,&quot;width&quot;:1501.65}"/>
</p:tagLst>
</file>

<file path=ppt/tags/tag30.xml><?xml version="1.0" encoding="utf-8"?>
<p:tagLst xmlns:p="http://schemas.openxmlformats.org/presentationml/2006/main">
  <p:tag name="KSO_WM_DIAGRAM_VIRTUALLY_FRAME" val="{&quot;height&quot;:464.4,&quot;left&quot;:12.9,&quot;top&quot;:99.5,&quot;width&quot;:1501.65}"/>
</p:tagLst>
</file>

<file path=ppt/tags/tag31.xml><?xml version="1.0" encoding="utf-8"?>
<p:tagLst xmlns:p="http://schemas.openxmlformats.org/presentationml/2006/main">
  <p:tag name="KSO_WM_DIAGRAM_VIRTUALLY_FRAME" val="{&quot;height&quot;:464.4,&quot;left&quot;:12.9,&quot;top&quot;:99.5,&quot;width&quot;:1501.65}"/>
</p:tagLst>
</file>

<file path=ppt/tags/tag32.xml><?xml version="1.0" encoding="utf-8"?>
<p:tagLst xmlns:p="http://schemas.openxmlformats.org/presentationml/2006/main">
  <p:tag name="KSO_WM_DIAGRAM_VIRTUALLY_FRAME" val="{&quot;height&quot;:464.4,&quot;left&quot;:12.9,&quot;top&quot;:99.5,&quot;width&quot;:1501.65}"/>
</p:tagLst>
</file>

<file path=ppt/tags/tag33.xml><?xml version="1.0" encoding="utf-8"?>
<p:tagLst xmlns:p="http://schemas.openxmlformats.org/presentationml/2006/main">
  <p:tag name="KSO_WM_DIAGRAM_VIRTUALLY_FRAME" val="{&quot;height&quot;:278.25,&quot;left&quot;:12.9,&quot;top&quot;:181.15,&quot;width&quot;:1501.65}"/>
</p:tagLst>
</file>

<file path=ppt/tags/tag34.xml><?xml version="1.0" encoding="utf-8"?>
<p:tagLst xmlns:p="http://schemas.openxmlformats.org/presentationml/2006/main">
  <p:tag name="KSO_WM_DIAGRAM_VIRTUALLY_FRAME" val="{&quot;height&quot;:464.4,&quot;left&quot;:12.9,&quot;top&quot;:99.5,&quot;width&quot;:1501.65}"/>
</p:tagLst>
</file>

<file path=ppt/tags/tag35.xml><?xml version="1.0" encoding="utf-8"?>
<p:tagLst xmlns:p="http://schemas.openxmlformats.org/presentationml/2006/main">
  <p:tag name="KSO_WM_DIAGRAM_VIRTUALLY_FRAME" val="{&quot;height&quot;:278.25,&quot;left&quot;:12.9,&quot;top&quot;:181.15,&quot;width&quot;:770.7}"/>
</p:tagLst>
</file>

<file path=ppt/tags/tag36.xml><?xml version="1.0" encoding="utf-8"?>
<p:tagLst xmlns:p="http://schemas.openxmlformats.org/presentationml/2006/main">
  <p:tag name="KSO_WM_DIAGRAM_VIRTUALLY_FRAME" val="{&quot;height&quot;:464.4,&quot;left&quot;:12.9,&quot;top&quot;:99.5,&quot;width&quot;:1501.65}"/>
</p:tagLst>
</file>

<file path=ppt/tags/tag37.xml><?xml version="1.0" encoding="utf-8"?>
<p:tagLst xmlns:p="http://schemas.openxmlformats.org/presentationml/2006/main">
  <p:tag name="KSO_WM_DIAGRAM_VIRTUALLY_FRAME" val="{&quot;height&quot;:464.4,&quot;left&quot;:12.9,&quot;top&quot;:99.5,&quot;width&quot;:1501.65}"/>
</p:tagLst>
</file>

<file path=ppt/tags/tag38.xml><?xml version="1.0" encoding="utf-8"?>
<p:tagLst xmlns:p="http://schemas.openxmlformats.org/presentationml/2006/main">
  <p:tag name="KSO_WM_DIAGRAM_VIRTUALLY_FRAME" val="{&quot;height&quot;:464.4,&quot;left&quot;:12.9,&quot;top&quot;:99.5,&quot;width&quot;:1501.65}"/>
</p:tagLst>
</file>

<file path=ppt/tags/tag39.xml><?xml version="1.0" encoding="utf-8"?>
<p:tagLst xmlns:p="http://schemas.openxmlformats.org/presentationml/2006/main">
  <p:tag name="KSO_WM_DIAGRAM_VIRTUALLY_FRAME" val="{&quot;height&quot;:464.4,&quot;left&quot;:12.9,&quot;top&quot;:99.5,&quot;width&quot;:1501.65}"/>
</p:tagLst>
</file>

<file path=ppt/tags/tag40.xml><?xml version="1.0" encoding="utf-8"?>
<p:tagLst xmlns:p="http://schemas.openxmlformats.org/presentationml/2006/main">
  <p:tag name="KSO_WM_DIAGRAM_VIRTUALLY_FRAME" val="{&quot;height&quot;:409.9212598425197,&quot;left&quot;:36,&quot;top&quot;:94,&quot;width&quot;:283.46456692913387}"/>
</p:tagLst>
</file>

<file path=ppt/tags/tag41.xml><?xml version="1.0" encoding="utf-8"?>
<p:tagLst xmlns:p="http://schemas.openxmlformats.org/presentationml/2006/main">
  <p:tag name="KSO_WM_DIAGRAM_VIRTUALLY_FRAME" val="{&quot;height&quot;:409.9212598425197,&quot;left&quot;:36,&quot;top&quot;:94,&quot;width&quot;:283.46456692913387}"/>
</p:tagLst>
</file>

<file path=ppt/tags/tag42.xml><?xml version="1.0" encoding="utf-8"?>
<p:tagLst xmlns:p="http://schemas.openxmlformats.org/presentationml/2006/main">
  <p:tag name="KSO_WM_DIAGRAM_VIRTUALLY_FRAME" val="{&quot;height&quot;:409.9212598425197,&quot;left&quot;:36,&quot;top&quot;:94,&quot;width&quot;:283.46456692913387}"/>
</p:tagLst>
</file>

<file path=ppt/tags/tag43.xml><?xml version="1.0" encoding="utf-8"?>
<p:tagLst xmlns:p="http://schemas.openxmlformats.org/presentationml/2006/main">
  <p:tag name="KSO_WM_DIAGRAM_VIRTUALLY_FRAME" val="{&quot;height&quot;:409.9212598425197,&quot;left&quot;:36,&quot;top&quot;:94,&quot;width&quot;:283.46456692913387}"/>
</p:tagLst>
</file>

<file path=ppt/tags/tag44.xml><?xml version="1.0" encoding="utf-8"?>
<p:tagLst xmlns:p="http://schemas.openxmlformats.org/presentationml/2006/main">
  <p:tag name="KSO_WM_DIAGRAM_VIRTUALLY_FRAME" val="{&quot;height&quot;:409.9212598425197,&quot;left&quot;:36,&quot;top&quot;:94,&quot;width&quot;:283.46456692913387}"/>
</p:tagLst>
</file>

<file path=ppt/tags/tag45.xml><?xml version="1.0" encoding="utf-8"?>
<p:tagLst xmlns:p="http://schemas.openxmlformats.org/presentationml/2006/main">
  <p:tag name="KSO_WM_DIAGRAM_VIRTUALLY_FRAME" val="{&quot;height&quot;:409.9212598425197,&quot;left&quot;:36,&quot;top&quot;:94,&quot;width&quot;:283.46456692913387}"/>
</p:tagLst>
</file>

<file path=ppt/tags/tag46.xml><?xml version="1.0" encoding="utf-8"?>
<p:tagLst xmlns:p="http://schemas.openxmlformats.org/presentationml/2006/main">
  <p:tag name="KSO_WM_DIAGRAM_VIRTUALLY_FRAME" val="{&quot;height&quot;:409.9212598425197,&quot;left&quot;:36,&quot;top&quot;:94,&quot;width&quot;:283.46456692913387}"/>
</p:tagLst>
</file>

<file path=ppt/tags/tag47.xml><?xml version="1.0" encoding="utf-8"?>
<p:tagLst xmlns:p="http://schemas.openxmlformats.org/presentationml/2006/main">
  <p:tag name="KSO_WM_DIAGRAM_VIRTUALLY_FRAME" val="{&quot;height&quot;:409.9212598425197,&quot;left&quot;:36,&quot;top&quot;:94,&quot;width&quot;:283.46456692913387}"/>
</p:tagLst>
</file>

<file path=ppt/tags/tag48.xml><?xml version="1.0" encoding="utf-8"?>
<p:tagLst xmlns:p="http://schemas.openxmlformats.org/presentationml/2006/main">
  <p:tag name="KSO_WM_DIAGRAM_VIRTUALLY_FRAME" val="{&quot;height&quot;:409.9212598425197,&quot;left&quot;:36,&quot;top&quot;:94,&quot;width&quot;:283.46456692913387}"/>
</p:tagLst>
</file>

<file path=ppt/tags/tag49.xml><?xml version="1.0" encoding="utf-8"?>
<p:tagLst xmlns:p="http://schemas.openxmlformats.org/presentationml/2006/main">
  <p:tag name="KSO_WM_DIAGRAM_VIRTUALLY_FRAME" val="{&quot;height&quot;:409.9212598425197,&quot;left&quot;:36,&quot;top&quot;:94,&quot;width&quot;:283.46456692913387}"/>
</p:tagLst>
</file>

<file path=ppt/tags/tag50.xml><?xml version="1.0" encoding="utf-8"?>
<p:tagLst xmlns:p="http://schemas.openxmlformats.org/presentationml/2006/main">
  <p:tag name="KSO_WM_DIAGRAM_VIRTUALLY_FRAME" val="{&quot;height&quot;:409.9212598425197,&quot;left&quot;:36,&quot;top&quot;:94,&quot;width&quot;:283.46456692913387}"/>
</p:tagLst>
</file>

<file path=ppt/tags/tag51.xml><?xml version="1.0" encoding="utf-8"?>
<p:tagLst xmlns:p="http://schemas.openxmlformats.org/presentationml/2006/main">
  <p:tag name="KSO_WM_DIAGRAM_VIRTUALLY_FRAME" val="{&quot;height&quot;:275.65,&quot;left&quot;:17.5,&quot;top&quot;:193.7,&quot;width&quot;:687.2}"/>
</p:tagLst>
</file>

<file path=ppt/tags/tag52.xml><?xml version="1.0" encoding="utf-8"?>
<p:tagLst xmlns:p="http://schemas.openxmlformats.org/presentationml/2006/main">
  <p:tag name="KSO_WM_DIAGRAM_VIRTUALLY_FRAME" val="{&quot;height&quot;:275.65,&quot;left&quot;:17.5,&quot;top&quot;:193.7,&quot;width&quot;:687.2}"/>
</p:tagLst>
</file>

<file path=ppt/tags/tag53.xml><?xml version="1.0" encoding="utf-8"?>
<p:tagLst xmlns:p="http://schemas.openxmlformats.org/presentationml/2006/main">
  <p:tag name="KSO_WM_DIAGRAM_VIRTUALLY_FRAME" val="{&quot;height&quot;:275.65,&quot;left&quot;:17.5,&quot;top&quot;:193.7,&quot;width&quot;:687.2}"/>
</p:tagLst>
</file>

<file path=ppt/tags/tag54.xml><?xml version="1.0" encoding="utf-8"?>
<p:tagLst xmlns:p="http://schemas.openxmlformats.org/presentationml/2006/main">
  <p:tag name="KSO_WM_DIAGRAM_VIRTUALLY_FRAME" val="{&quot;height&quot;:294.05,&quot;left&quot;:382.85,&quot;top&quot;:206.6,&quot;width&quot;:321.5}"/>
</p:tagLst>
</file>

<file path=ppt/tags/tag55.xml><?xml version="1.0" encoding="utf-8"?>
<p:tagLst xmlns:p="http://schemas.openxmlformats.org/presentationml/2006/main">
  <p:tag name="KSO_WM_DIAGRAM_VIRTUALLY_FRAME" val="{&quot;height&quot;:294.05,&quot;left&quot;:382.85,&quot;top&quot;:206.6,&quot;width&quot;:321.5}"/>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cmpd="sng">
          <a:solidFill>
            <a:schemeClr val="tx1"/>
          </a:solidFill>
          <a:prstDash val="solid"/>
          <a:tailEnd type="arrow"/>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lnDef>
      <a:spPr>
        <a:noFill/>
        <a:ln w="19050">
          <a:solidFill>
            <a:srgbClr val="14B8A6"/>
          </a:solidFill>
          <a:prstDash val="solid"/>
          <a:tailEnd type="triangle"/>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58.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a3c59a-3bb1-4ac4-8580-9b2ba74cfe5b">
      <Terms xmlns="http://schemas.microsoft.com/office/infopath/2007/PartnerControls"/>
    </lcf76f155ced4ddcb4097134ff3c332f>
    <TaxCatchAll xmlns="56bf2a1e-b0f5-401e-a825-4d0cd333482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EEA4EB4B1C87045B2C7B9E34AE6DFF4" ma:contentTypeVersion="19" ma:contentTypeDescription="新しいドキュメントを作成します。" ma:contentTypeScope="" ma:versionID="195f4af887e8b02337b1b142d1f847de">
  <xsd:schema xmlns:xsd="http://www.w3.org/2001/XMLSchema" xmlns:xs="http://www.w3.org/2001/XMLSchema" xmlns:p="http://schemas.microsoft.com/office/2006/metadata/properties" xmlns:ns2="c8a3c59a-3bb1-4ac4-8580-9b2ba74cfe5b" xmlns:ns3="56bf2a1e-b0f5-401e-a825-4d0cd333482d" targetNamespace="http://schemas.microsoft.com/office/2006/metadata/properties" ma:root="true" ma:fieldsID="81e6449237d2fc142489e0904e1e7166" ns2:_="" ns3:_="">
    <xsd:import namespace="c8a3c59a-3bb1-4ac4-8580-9b2ba74cfe5b"/>
    <xsd:import namespace="56bf2a1e-b0f5-401e-a825-4d0cd333482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3c59a-3bb1-4ac4-8580-9b2ba74cfe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0da577d-8c11-42e1-9807-59d1f71190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f2a1e-b0f5-401e-a825-4d0cd333482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afb7adad-3fb7-4e7a-8b83-8b41f07d25c8}" ma:internalName="TaxCatchAll" ma:showField="CatchAllData" ma:web="56bf2a1e-b0f5-401e-a825-4d0cd33348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56.xml><?xml version="1.0" encoding="utf-8"?>
<ds:datastoreItem xmlns:ds="http://schemas.openxmlformats.org/officeDocument/2006/customXml" ds:itemID="{D3FA7E84-7FC5-4C41-A4F9-8872414BB2F4}">
  <ds:schemaRefs/>
</ds:datastoreItem>
</file>

<file path=customXml/itemProps57.xml><?xml version="1.0" encoding="utf-8"?>
<ds:datastoreItem xmlns:ds="http://schemas.openxmlformats.org/officeDocument/2006/customXml" ds:itemID="{0E5148B6-4531-42C7-8EF9-49C77F467C6E}">
  <ds:schemaRefs/>
</ds:datastoreItem>
</file>

<file path=customXml/itemProps58.xml><?xml version="1.0" encoding="utf-8"?>
<ds:datastoreItem xmlns:ds="http://schemas.openxmlformats.org/officeDocument/2006/customXml" ds:itemID="{9FF3F963-4824-4617-9390-F81F48A450C9}">
  <ds:schemaRefs/>
</ds:datastoreItem>
</file>

<file path=docProps/app.xml><?xml version="1.0" encoding="utf-8"?>
<Properties xmlns="http://schemas.openxmlformats.org/officeDocument/2006/extended-properties" xmlns:vt="http://schemas.openxmlformats.org/officeDocument/2006/docPropsVTypes">
  <TotalTime>0</TotalTime>
  <Words>4551</Words>
  <Application>WPS 演示</Application>
  <PresentationFormat>画面に合わせる (4:3)</PresentationFormat>
  <Paragraphs>223</Paragraphs>
  <Slides>12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12</vt:i4>
      </vt:variant>
    </vt:vector>
  </HeadingPairs>
  <TitlesOfParts>
    <vt:vector size="29" baseType="lpstr">
      <vt:lpstr>Arial</vt:lpstr>
      <vt:lpstr>宋体</vt:lpstr>
      <vt:lpstr>Wingdings</vt:lpstr>
      <vt:lpstr>Times New Roman</vt:lpstr>
      <vt:lpstr>Source Han Sans JP Bold</vt:lpstr>
      <vt:lpstr>Segoe Print</vt:lpstr>
      <vt:lpstr>Avenir Heavy</vt:lpstr>
      <vt:lpstr>Times New Roman</vt:lpstr>
      <vt:lpstr>Calibri</vt:lpstr>
      <vt:lpstr>Wingdings</vt:lpstr>
      <vt:lpstr>MS PGothic</vt:lpstr>
      <vt:lpstr>Arial</vt:lpstr>
      <vt:lpstr>微软雅黑</vt:lpstr>
      <vt:lpstr>Arial Unicode MS</vt:lpstr>
      <vt:lpstr>Calibri Light</vt:lpstr>
      <vt:lpstr>Calibri</vt:lpstr>
      <vt:lpstr>Office テーマ</vt:lpstr>
      <vt:lpstr>End-to-End Multimodal Learning for Continuous Prosthetic Hand Control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24742101 石津七海</dc:creator>
  <cp:lastModifiedBy>down down down down down</cp:lastModifiedBy>
  <cp:revision>350</cp:revision>
  <dcterms:created xsi:type="dcterms:W3CDTF">2025-10-02T04:01:00Z</dcterms:created>
  <dcterms:modified xsi:type="dcterms:W3CDTF">2026-07-15T15:29:22Z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0x010100EEEA4EB4B1C87045B2C7B9E34AE6DFF4</vt:lpwstr>
  </property>
  <property fmtid="{D5CDD505-2E9C-101B-9397-08002B2CF9AE}" pid="3" name="ICV">
    <vt:lpwstr>B70015103C7249FE8210DA285DD4FDE3_12</vt:lpwstr>
  </property>
  <property fmtid="{D5CDD505-2E9C-101B-9397-08002B2CF9AE}" pid="4" name="KSOProductBuildVer">
    <vt:lpwstr>2052-12.1.0.26895</vt:lpwstr>
  </property>
</Properties>
</file>