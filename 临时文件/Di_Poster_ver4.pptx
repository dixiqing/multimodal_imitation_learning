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2" r:id="rId3"/>
  </p:sldIdLst>
  <p:sldSz cx="21383625" cy="3027489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9AFB9AC9-849A-46B5-8791-5A4776CB4721}">
          <p14:sldIdLst>
            <p14:sldId id="262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9704021" initials="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2832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ustomXml" Target="../customXml/item3.xml"/><Relationship Id="rId11" Type="http://schemas.openxmlformats.org/officeDocument/2006/relationships/customXml" Target="../customXml/item2.xml"/><Relationship Id="rId10" Type="http://schemas.openxmlformats.org/officeDocument/2006/relationships/customXml" Target="../customXml/item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9A3C2-EFA0-436B-B6F2-D154FB18DCD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E25C6-AF22-4119-9F16-34E82B50A0C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E25C6-AF22-4119-9F16-34E82B50A0C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0"/>
            </a:lvl1pPr>
            <a:lvl2pPr marL="1069340" indent="0" algn="ctr">
              <a:buNone/>
              <a:defRPr sz="4675"/>
            </a:lvl2pPr>
            <a:lvl3pPr marL="2138045" indent="0" algn="ctr">
              <a:buNone/>
              <a:defRPr sz="4210"/>
            </a:lvl3pPr>
            <a:lvl4pPr marL="3207385" indent="0" algn="ctr">
              <a:buNone/>
              <a:defRPr sz="3740"/>
            </a:lvl4pPr>
            <a:lvl5pPr marL="4276725" indent="0" algn="ctr">
              <a:buNone/>
              <a:defRPr sz="3740"/>
            </a:lvl5pPr>
            <a:lvl6pPr marL="5346065" indent="0" algn="ctr">
              <a:buNone/>
              <a:defRPr sz="3740"/>
            </a:lvl6pPr>
            <a:lvl7pPr marL="6414770" indent="0" algn="ctr">
              <a:buNone/>
              <a:defRPr sz="3740"/>
            </a:lvl7pPr>
            <a:lvl8pPr marL="7484110" indent="0" algn="ctr">
              <a:buNone/>
              <a:defRPr sz="3740"/>
            </a:lvl8pPr>
            <a:lvl9pPr marL="8553450" indent="0" algn="ctr">
              <a:buNone/>
              <a:defRPr sz="374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0">
                <a:solidFill>
                  <a:schemeClr val="tx1"/>
                </a:solidFill>
              </a:defRPr>
            </a:lvl1pPr>
            <a:lvl2pPr marL="1069340" indent="0">
              <a:buNone/>
              <a:defRPr sz="4675">
                <a:solidFill>
                  <a:schemeClr val="tx1">
                    <a:tint val="75000"/>
                  </a:schemeClr>
                </a:solidFill>
              </a:defRPr>
            </a:lvl2pPr>
            <a:lvl3pPr marL="2138045" indent="0">
              <a:buNone/>
              <a:defRPr sz="4210">
                <a:solidFill>
                  <a:schemeClr val="tx1">
                    <a:tint val="75000"/>
                  </a:schemeClr>
                </a:solidFill>
              </a:defRPr>
            </a:lvl3pPr>
            <a:lvl4pPr marL="320738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4pPr>
            <a:lvl5pPr marL="427672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5pPr>
            <a:lvl6pPr marL="534606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6pPr>
            <a:lvl7pPr marL="641477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7pPr>
            <a:lvl8pPr marL="748411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8pPr>
            <a:lvl9pPr marL="855345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0" b="1"/>
            </a:lvl1pPr>
            <a:lvl2pPr marL="1069340" indent="0">
              <a:buNone/>
              <a:defRPr sz="4675" b="1"/>
            </a:lvl2pPr>
            <a:lvl3pPr marL="2138045" indent="0">
              <a:buNone/>
              <a:defRPr sz="4210" b="1"/>
            </a:lvl3pPr>
            <a:lvl4pPr marL="3207385" indent="0">
              <a:buNone/>
              <a:defRPr sz="3740" b="1"/>
            </a:lvl4pPr>
            <a:lvl5pPr marL="4276725" indent="0">
              <a:buNone/>
              <a:defRPr sz="3740" b="1"/>
            </a:lvl5pPr>
            <a:lvl6pPr marL="5346065" indent="0">
              <a:buNone/>
              <a:defRPr sz="3740" b="1"/>
            </a:lvl6pPr>
            <a:lvl7pPr marL="6414770" indent="0">
              <a:buNone/>
              <a:defRPr sz="3740" b="1"/>
            </a:lvl7pPr>
            <a:lvl8pPr marL="7484110" indent="0">
              <a:buNone/>
              <a:defRPr sz="3740" b="1"/>
            </a:lvl8pPr>
            <a:lvl9pPr marL="8553450" indent="0">
              <a:buNone/>
              <a:defRPr sz="3740" b="1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0" b="1"/>
            </a:lvl1pPr>
            <a:lvl2pPr marL="1069340" indent="0">
              <a:buNone/>
              <a:defRPr sz="4675" b="1"/>
            </a:lvl2pPr>
            <a:lvl3pPr marL="2138045" indent="0">
              <a:buNone/>
              <a:defRPr sz="4210" b="1"/>
            </a:lvl3pPr>
            <a:lvl4pPr marL="3207385" indent="0">
              <a:buNone/>
              <a:defRPr sz="3740" b="1"/>
            </a:lvl4pPr>
            <a:lvl5pPr marL="4276725" indent="0">
              <a:buNone/>
              <a:defRPr sz="3740" b="1"/>
            </a:lvl5pPr>
            <a:lvl6pPr marL="5346065" indent="0">
              <a:buNone/>
              <a:defRPr sz="3740" b="1"/>
            </a:lvl6pPr>
            <a:lvl7pPr marL="6414770" indent="0">
              <a:buNone/>
              <a:defRPr sz="3740" b="1"/>
            </a:lvl7pPr>
            <a:lvl8pPr marL="7484110" indent="0">
              <a:buNone/>
              <a:defRPr sz="3740" b="1"/>
            </a:lvl8pPr>
            <a:lvl9pPr marL="8553450" indent="0">
              <a:buNone/>
              <a:defRPr sz="3740" b="1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5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5"/>
            </a:lvl1pPr>
            <a:lvl2pPr>
              <a:defRPr sz="6550"/>
            </a:lvl2pPr>
            <a:lvl3pPr>
              <a:defRPr sz="5610"/>
            </a:lvl3pPr>
            <a:lvl4pPr>
              <a:defRPr sz="4675"/>
            </a:lvl4pPr>
            <a:lvl5pPr>
              <a:defRPr sz="4675"/>
            </a:lvl5pPr>
            <a:lvl6pPr>
              <a:defRPr sz="4675"/>
            </a:lvl6pPr>
            <a:lvl7pPr>
              <a:defRPr sz="4675"/>
            </a:lvl7pPr>
            <a:lvl8pPr>
              <a:defRPr sz="4675"/>
            </a:lvl8pPr>
            <a:lvl9pPr>
              <a:defRPr sz="4675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0"/>
            </a:lvl1pPr>
            <a:lvl2pPr marL="1069340" indent="0">
              <a:buNone/>
              <a:defRPr sz="3275"/>
            </a:lvl2pPr>
            <a:lvl3pPr marL="2138045" indent="0">
              <a:buNone/>
              <a:defRPr sz="2805"/>
            </a:lvl3pPr>
            <a:lvl4pPr marL="3207385" indent="0">
              <a:buNone/>
              <a:defRPr sz="2340"/>
            </a:lvl4pPr>
            <a:lvl5pPr marL="4276725" indent="0">
              <a:buNone/>
              <a:defRPr sz="2340"/>
            </a:lvl5pPr>
            <a:lvl6pPr marL="5346065" indent="0">
              <a:buNone/>
              <a:defRPr sz="2340"/>
            </a:lvl6pPr>
            <a:lvl7pPr marL="6414770" indent="0">
              <a:buNone/>
              <a:defRPr sz="2340"/>
            </a:lvl7pPr>
            <a:lvl8pPr marL="7484110" indent="0">
              <a:buNone/>
              <a:defRPr sz="2340"/>
            </a:lvl8pPr>
            <a:lvl9pPr marL="8553450" indent="0">
              <a:buNone/>
              <a:defRPr sz="234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5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5"/>
            </a:lvl1pPr>
            <a:lvl2pPr marL="1069340" indent="0">
              <a:buNone/>
              <a:defRPr sz="6550"/>
            </a:lvl2pPr>
            <a:lvl3pPr marL="2138045" indent="0">
              <a:buNone/>
              <a:defRPr sz="5610"/>
            </a:lvl3pPr>
            <a:lvl4pPr marL="3207385" indent="0">
              <a:buNone/>
              <a:defRPr sz="4675"/>
            </a:lvl4pPr>
            <a:lvl5pPr marL="4276725" indent="0">
              <a:buNone/>
              <a:defRPr sz="4675"/>
            </a:lvl5pPr>
            <a:lvl6pPr marL="5346065" indent="0">
              <a:buNone/>
              <a:defRPr sz="4675"/>
            </a:lvl6pPr>
            <a:lvl7pPr marL="6414770" indent="0">
              <a:buNone/>
              <a:defRPr sz="4675"/>
            </a:lvl7pPr>
            <a:lvl8pPr marL="7484110" indent="0">
              <a:buNone/>
              <a:defRPr sz="4675"/>
            </a:lvl8pPr>
            <a:lvl9pPr marL="8553450" indent="0">
              <a:buNone/>
              <a:defRPr sz="4675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0"/>
            </a:lvl1pPr>
            <a:lvl2pPr marL="1069340" indent="0">
              <a:buNone/>
              <a:defRPr sz="3275"/>
            </a:lvl2pPr>
            <a:lvl3pPr marL="2138045" indent="0">
              <a:buNone/>
              <a:defRPr sz="2805"/>
            </a:lvl3pPr>
            <a:lvl4pPr marL="3207385" indent="0">
              <a:buNone/>
              <a:defRPr sz="2340"/>
            </a:lvl4pPr>
            <a:lvl5pPr marL="4276725" indent="0">
              <a:buNone/>
              <a:defRPr sz="2340"/>
            </a:lvl5pPr>
            <a:lvl6pPr marL="5346065" indent="0">
              <a:buNone/>
              <a:defRPr sz="2340"/>
            </a:lvl6pPr>
            <a:lvl7pPr marL="6414770" indent="0">
              <a:buNone/>
              <a:defRPr sz="2340"/>
            </a:lvl7pPr>
            <a:lvl8pPr marL="7484110" indent="0">
              <a:buNone/>
              <a:defRPr sz="2340"/>
            </a:lvl8pPr>
            <a:lvl9pPr marL="8553450" indent="0">
              <a:buNone/>
              <a:defRPr sz="234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138045" rtl="0" eaLnBrk="1" latinLnBrk="0" hangingPunct="1">
        <a:lnSpc>
          <a:spcPct val="90000"/>
        </a:lnSpc>
        <a:spcBef>
          <a:spcPct val="0"/>
        </a:spcBef>
        <a:buNone/>
        <a:defRPr kumimoji="1" sz="102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670" indent="-534670" algn="l" defTabSz="2138045" rtl="0" eaLnBrk="1" latinLnBrk="0" hangingPunct="1">
        <a:lnSpc>
          <a:spcPct val="90000"/>
        </a:lnSpc>
        <a:spcBef>
          <a:spcPts val="2340"/>
        </a:spcBef>
        <a:buFont typeface="Arial" panose="020B0604020202020204" pitchFamily="34" charset="0"/>
        <a:buChar char="•"/>
        <a:defRPr kumimoji="1" sz="6550" kern="1200">
          <a:solidFill>
            <a:schemeClr val="tx1"/>
          </a:solidFill>
          <a:latin typeface="+mn-lt"/>
          <a:ea typeface="+mn-ea"/>
          <a:cs typeface="+mn-cs"/>
        </a:defRPr>
      </a:lvl1pPr>
      <a:lvl2pPr marL="160401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5610" kern="1200">
          <a:solidFill>
            <a:schemeClr val="tx1"/>
          </a:solidFill>
          <a:latin typeface="+mn-lt"/>
          <a:ea typeface="+mn-ea"/>
          <a:cs typeface="+mn-cs"/>
        </a:defRPr>
      </a:lvl2pPr>
      <a:lvl3pPr marL="2672715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675" kern="1200">
          <a:solidFill>
            <a:schemeClr val="tx1"/>
          </a:solidFill>
          <a:latin typeface="+mn-lt"/>
          <a:ea typeface="+mn-ea"/>
          <a:cs typeface="+mn-cs"/>
        </a:defRPr>
      </a:lvl3pPr>
      <a:lvl4pPr marL="3742055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811395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88010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94944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801878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908812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1pPr>
      <a:lvl2pPr marL="106934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2pPr>
      <a:lvl3pPr marL="213804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3pPr>
      <a:lvl4pPr marL="320738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27672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34606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41477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748411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855345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/>
          <p:cNvSpPr/>
          <p:nvPr/>
        </p:nvSpPr>
        <p:spPr>
          <a:xfrm>
            <a:off x="0" y="-6627"/>
            <a:ext cx="21383625" cy="324512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/>
          </a:p>
        </p:txBody>
      </p:sp>
      <p:sp>
        <p:nvSpPr>
          <p:cNvPr id="4" name="正方形/長方形 3"/>
          <p:cNvSpPr/>
          <p:nvPr/>
        </p:nvSpPr>
        <p:spPr>
          <a:xfrm>
            <a:off x="2743199" y="-275713"/>
            <a:ext cx="18514478" cy="3868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7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Vision-Motion Regression Model for Prosthetic Hand Control</a:t>
            </a:r>
            <a:endParaRPr kumimoji="1" lang="en-US" altLang="zh-CN" sz="72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0" y="1"/>
            <a:ext cx="2743199" cy="32385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4">
                  <a:lumMod val="75000"/>
                </a:schemeClr>
              </a:solidFill>
              <a:highlight>
                <a:srgbClr val="0000FF"/>
              </a:highlight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515620" y="3592195"/>
            <a:ext cx="20318095" cy="52698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972185" y="3722370"/>
            <a:ext cx="19431000" cy="5158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5200"/>
              <a:t>This study investigates the relationship between hand motion, object apparent size, and fingertip aperture during </a:t>
            </a:r>
            <a:r>
              <a:rPr kumimoji="1" lang="en-US" altLang="zh-CN" sz="5200" dirty="0">
                <a:sym typeface="+mn-ea"/>
              </a:rPr>
              <a:t>reach-to-grasp movements</a:t>
            </a:r>
            <a:r>
              <a:rPr lang="en-US" altLang="zh-CN" sz="5200"/>
              <a:t>. A camera and 3-axis accelerometer were used to collect synchronized motion and visual data. A regression model was developed to predict fingertip aperture from hand </a:t>
            </a:r>
            <a:r>
              <a:rPr lang="en-US" altLang="zh-CN" sz="5200">
                <a:sym typeface="+mn-ea"/>
              </a:rPr>
              <a:t>velocity</a:t>
            </a:r>
            <a:r>
              <a:rPr lang="en-US" altLang="zh-CN" sz="5200"/>
              <a:t> and object apparent size, providing a potential approach for real-time prosthetic hand control.</a:t>
            </a:r>
            <a:endParaRPr lang="en-US" altLang="zh-CN" sz="5200"/>
          </a:p>
        </p:txBody>
      </p:sp>
      <p:grpSp>
        <p:nvGrpSpPr>
          <p:cNvPr id="31" name="グループ化 30"/>
          <p:cNvGrpSpPr/>
          <p:nvPr/>
        </p:nvGrpSpPr>
        <p:grpSpPr>
          <a:xfrm>
            <a:off x="515619" y="9233145"/>
            <a:ext cx="9885680" cy="6724015"/>
            <a:chOff x="806449" y="8398905"/>
            <a:chExt cx="9885680" cy="6724015"/>
          </a:xfrm>
        </p:grpSpPr>
        <p:sp>
          <p:nvSpPr>
            <p:cNvPr id="17" name="正方形/長方形 16"/>
            <p:cNvSpPr/>
            <p:nvPr/>
          </p:nvSpPr>
          <p:spPr>
            <a:xfrm>
              <a:off x="847724" y="9586355"/>
              <a:ext cx="9844405" cy="55365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kumimoji="1" lang="en-US" altLang="zh-CN" sz="5200" dirty="0">
                  <a:solidFill>
                    <a:schemeClr val="tx1"/>
                  </a:solidFill>
                </a:rPr>
                <a:t>In reach-to-grasp movements, hand </a:t>
              </a:r>
              <a:r>
                <a:rPr lang="en-US" altLang="zh-CN" sz="5200">
                  <a:sym typeface="+mn-ea"/>
                </a:rPr>
                <a:t>velocity </a:t>
              </a:r>
              <a:r>
                <a:rPr kumimoji="1" lang="en-US" altLang="zh-CN" sz="5200" dirty="0">
                  <a:solidFill>
                    <a:schemeClr val="tx1"/>
                  </a:solidFill>
                </a:rPr>
                <a:t>and object apparent size closely relate to fingertip aperture. This study quantifies that relatio-nship to build a prosthetic control model driven only by vision and acceleration sensors.</a:t>
              </a:r>
              <a:endParaRPr kumimoji="1" lang="en-US" altLang="zh-CN" sz="5200" dirty="0">
                <a:solidFill>
                  <a:schemeClr val="tx1"/>
                </a:solidFill>
              </a:endParaRPr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806449" y="8398905"/>
              <a:ext cx="3441700" cy="1106805"/>
            </a:xfrm>
            <a:prstGeom prst="rect">
              <a:avLst/>
            </a:prstGeom>
            <a:solidFill>
              <a:srgbClr val="0070C0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6600">
                  <a:solidFill>
                    <a:schemeClr val="bg1"/>
                  </a:solidFill>
                </a:rPr>
                <a:t>Objective</a:t>
              </a:r>
              <a:endParaRPr kumimoji="1" lang="en-US" altLang="zh-CN" sz="6600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グループ化 31"/>
          <p:cNvGrpSpPr/>
          <p:nvPr/>
        </p:nvGrpSpPr>
        <p:grpSpPr>
          <a:xfrm>
            <a:off x="447040" y="16334035"/>
            <a:ext cx="9885680" cy="6630035"/>
            <a:chOff x="806448" y="16406592"/>
            <a:chExt cx="9575800" cy="6362901"/>
          </a:xfrm>
        </p:grpSpPr>
        <p:sp>
          <p:nvSpPr>
            <p:cNvPr id="16" name="正方形/長方形 15"/>
            <p:cNvSpPr/>
            <p:nvPr/>
          </p:nvSpPr>
          <p:spPr>
            <a:xfrm>
              <a:off x="806448" y="17692457"/>
              <a:ext cx="9575800" cy="50770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en-US" altLang="zh-CN" sz="5200"/>
                <a:t>A camera and 3-axis accelerometer mounted on the hand record </a:t>
              </a:r>
              <a:r>
                <a:rPr kumimoji="1" lang="en-US" altLang="zh-CN" sz="5200" dirty="0">
                  <a:solidFill>
                    <a:schemeClr val="tx1"/>
                  </a:solidFill>
                  <a:sym typeface="+mn-ea"/>
                </a:rPr>
                <a:t>reach-to-grasp</a:t>
              </a:r>
              <a:r>
                <a:rPr lang="en-US" altLang="zh-CN" sz="5200"/>
                <a:t> movements. Hand velocity is derived from acceleration; object apparent size and </a:t>
              </a:r>
              <a:r>
                <a:rPr lang="en-US" altLang="zh-CN" sz="5200">
                  <a:sym typeface="+mn-ea"/>
                </a:rPr>
                <a:t>fingertip aperture</a:t>
              </a:r>
              <a:r>
                <a:rPr lang="en-US" altLang="zh-CN" sz="5200"/>
                <a:t> are extracted from video and synchr-onized in normalized time.</a:t>
              </a:r>
              <a:endParaRPr lang="en-US" altLang="zh-CN" sz="5200"/>
            </a:p>
          </p:txBody>
        </p:sp>
        <p:sp>
          <p:nvSpPr>
            <p:cNvPr id="30" name="テキスト ボックス 29"/>
            <p:cNvSpPr txBox="1"/>
            <p:nvPr/>
          </p:nvSpPr>
          <p:spPr>
            <a:xfrm>
              <a:off x="806448" y="16406592"/>
              <a:ext cx="3100694" cy="1115229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noAutofit/>
            </a:bodyPr>
            <a:lstStyle/>
            <a:p>
              <a:r>
                <a:rPr kumimoji="1" lang="en-US" altLang="zh-CN" sz="6600">
                  <a:solidFill>
                    <a:schemeClr val="bg1"/>
                  </a:solidFill>
                </a:rPr>
                <a:t>Methods</a:t>
              </a:r>
              <a:endParaRPr kumimoji="1" lang="en-US" altLang="zh-CN" sz="660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グループ化 4"/>
          <p:cNvGrpSpPr/>
          <p:nvPr/>
        </p:nvGrpSpPr>
        <p:grpSpPr>
          <a:xfrm>
            <a:off x="447040" y="23490805"/>
            <a:ext cx="9885045" cy="6499225"/>
            <a:chOff x="847819" y="21510380"/>
            <a:chExt cx="9885045" cy="6499225"/>
          </a:xfrm>
        </p:grpSpPr>
        <p:sp>
          <p:nvSpPr>
            <p:cNvPr id="19" name="正方形/長方形 18"/>
            <p:cNvSpPr/>
            <p:nvPr/>
          </p:nvSpPr>
          <p:spPr>
            <a:xfrm>
              <a:off x="847819" y="22739740"/>
              <a:ext cx="9885045" cy="5269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kumimoji="1" lang="en-US" altLang="zh-CN" sz="5200" dirty="0">
                  <a:solidFill>
                    <a:schemeClr val="tx1"/>
                  </a:solidFill>
                </a:rPr>
                <a:t>A regression model uses hand vel-ocity and object apparent size as independent variables, fingertip aperture as the dependent variable. Embedded in real-time prosthetic control, it predicts natural grasping motion from sensor data alone.</a:t>
              </a:r>
              <a:endParaRPr kumimoji="1" lang="en-US" altLang="zh-CN" sz="5200" dirty="0">
                <a:solidFill>
                  <a:schemeClr val="tx1"/>
                </a:solidFill>
              </a:endParaRPr>
            </a:p>
          </p:txBody>
        </p:sp>
        <p:sp>
          <p:nvSpPr>
            <p:cNvPr id="34" name="テキスト ボックス 33"/>
            <p:cNvSpPr txBox="1"/>
            <p:nvPr/>
          </p:nvSpPr>
          <p:spPr>
            <a:xfrm>
              <a:off x="847819" y="21510380"/>
              <a:ext cx="2325370" cy="1106805"/>
            </a:xfrm>
            <a:prstGeom prst="rect">
              <a:avLst/>
            </a:prstGeom>
            <a:solidFill>
              <a:srgbClr val="0070C0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6600" dirty="0">
                  <a:solidFill>
                    <a:schemeClr val="bg1"/>
                  </a:solidFill>
                </a:rPr>
                <a:t>Result</a:t>
              </a:r>
              <a:endParaRPr kumimoji="1" lang="en-US" altLang="zh-CN" sz="6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0550525" y="15494000"/>
            <a:ext cx="10282555" cy="814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kumimoji="1" lang="en-US" altLang="zh-CN" sz="4000" dirty="0">
                <a:sym typeface="+mn-ea"/>
              </a:rPr>
              <a:t> Reach-to-Grasp Movements</a:t>
            </a:r>
            <a:endParaRPr lang="en-US" altLang="zh-CN" sz="4000"/>
          </a:p>
        </p:txBody>
      </p:sp>
      <p:pic>
        <p:nvPicPr>
          <p:cNvPr id="6" name="图片 5" descr="rwzpw-kkt0d-0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455" y="23651845"/>
            <a:ext cx="4391025" cy="5763260"/>
          </a:xfrm>
          <a:prstGeom prst="rect">
            <a:avLst/>
          </a:prstGeom>
        </p:spPr>
      </p:pic>
      <p:pic>
        <p:nvPicPr>
          <p:cNvPr id="14" name="图片 13" descr="a5le6-8l4c8-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165" y="16610330"/>
            <a:ext cx="6218555" cy="584517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0464165" y="22608000"/>
            <a:ext cx="10681335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000"/>
              <a:t> 	System Architecture 			      Data Types</a:t>
            </a:r>
            <a:endParaRPr lang="en-US" altLang="zh-CN" sz="4000"/>
          </a:p>
        </p:txBody>
      </p:sp>
      <p:sp>
        <p:nvSpPr>
          <p:cNvPr id="33" name="文本框 32"/>
          <p:cNvSpPr txBox="1"/>
          <p:nvPr/>
        </p:nvSpPr>
        <p:spPr>
          <a:xfrm>
            <a:off x="10464165" y="29415105"/>
            <a:ext cx="10681335" cy="859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1" algn="ctr"/>
            <a:r>
              <a:rPr lang="en-US" altLang="zh-CN" sz="4000"/>
              <a:t>Regression Model 		      Data Relationships</a:t>
            </a:r>
            <a:endParaRPr lang="en-US" altLang="zh-CN" sz="4000"/>
          </a:p>
        </p:txBody>
      </p:sp>
      <p:pic>
        <p:nvPicPr>
          <p:cNvPr id="8" name="图片 7" descr="finger_tracking_timeser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3355" y="16435070"/>
            <a:ext cx="4574540" cy="6275705"/>
          </a:xfrm>
          <a:prstGeom prst="rect">
            <a:avLst/>
          </a:prstGeom>
        </p:spPr>
      </p:pic>
      <p:pic>
        <p:nvPicPr>
          <p:cNvPr id="21" name="图片 20" descr="Codex 图像 2026年9月23日 22_50_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9890" y="9480550"/>
            <a:ext cx="10595610" cy="6071235"/>
          </a:xfrm>
          <a:prstGeom prst="rect">
            <a:avLst/>
          </a:prstGeom>
        </p:spPr>
      </p:pic>
      <p:pic>
        <p:nvPicPr>
          <p:cNvPr id="24" name="图片 23" descr="finger_tracking_3d_surfa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59355" y="23514050"/>
            <a:ext cx="6104255" cy="5962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ゼミ用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a3c59a-3bb1-4ac4-8580-9b2ba74cfe5b">
      <Terms xmlns="http://schemas.microsoft.com/office/infopath/2007/PartnerControls"/>
    </lcf76f155ced4ddcb4097134ff3c332f>
    <TaxCatchAll xmlns="56bf2a1e-b0f5-401e-a825-4d0cd333482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EEA4EB4B1C87045B2C7B9E34AE6DFF4" ma:contentTypeVersion="19" ma:contentTypeDescription="新しいドキュメントを作成します。" ma:contentTypeScope="" ma:versionID="4f038ffa0c726833972f2af68c46cc30">
  <xsd:schema xmlns:xsd="http://www.w3.org/2001/XMLSchema" xmlns:xs="http://www.w3.org/2001/XMLSchema" xmlns:p="http://schemas.microsoft.com/office/2006/metadata/properties" xmlns:ns2="c8a3c59a-3bb1-4ac4-8580-9b2ba74cfe5b" xmlns:ns3="56bf2a1e-b0f5-401e-a825-4d0cd333482d" targetNamespace="http://schemas.microsoft.com/office/2006/metadata/properties" ma:root="true" ma:fieldsID="187025544e01ff297cbf3bf0307fb9a6" ns2:_="" ns3:_="">
    <xsd:import namespace="c8a3c59a-3bb1-4ac4-8580-9b2ba74cfe5b"/>
    <xsd:import namespace="56bf2a1e-b0f5-401e-a825-4d0cd33348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3c59a-3bb1-4ac4-8580-9b2ba74cf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60da577d-8c11-42e1-9807-59d1f71190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f2a1e-b0f5-401e-a825-4d0cd333482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b7adad-3fb7-4e7a-8b83-8b41f07d25c8}" ma:internalName="TaxCatchAll" ma:showField="CatchAllData" ma:web="56bf2a1e-b0f5-401e-a825-4d0cd33348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FF5254-6677-40D1-9AC5-708BD99A5F2F}">
  <ds:schemaRefs/>
</ds:datastoreItem>
</file>

<file path=customXml/itemProps2.xml><?xml version="1.0" encoding="utf-8"?>
<ds:datastoreItem xmlns:ds="http://schemas.openxmlformats.org/officeDocument/2006/customXml" ds:itemID="{421482C2-62AA-49D5-A8C6-3B11DBF976A6}">
  <ds:schemaRefs/>
</ds:datastoreItem>
</file>

<file path=customXml/itemProps3.xml><?xml version="1.0" encoding="utf-8"?>
<ds:datastoreItem xmlns:ds="http://schemas.openxmlformats.org/officeDocument/2006/customXml" ds:itemID="{EA20DB92-DE40-4CC4-943F-262A99D6EC7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1304</Words>
  <Application>WPS 演示</Application>
  <PresentationFormat>ユーザー設定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Times New Roman</vt:lpstr>
      <vt:lpstr>MS PGothic</vt:lpstr>
      <vt:lpstr>微软雅黑</vt:lpstr>
      <vt:lpstr>Arial Unicode MS</vt:lpstr>
      <vt:lpstr>Yu Gothic</vt:lpstr>
      <vt:lpstr>等线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19704021</dc:creator>
  <cp:lastModifiedBy>down down down down down</cp:lastModifiedBy>
  <cp:revision>17</cp:revision>
  <dcterms:created xsi:type="dcterms:W3CDTF">2020-05-28T10:29:00Z</dcterms:created>
  <dcterms:modified xsi:type="dcterms:W3CDTF">2026-10-01T06:02:07Z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0x010100EEEA4EB4B1C87045B2C7B9E34AE6DFF4</vt:lpwstr>
  </property>
  <property fmtid="{D5CDD505-2E9C-101B-9397-08002B2CF9AE}" pid="3" name="MediaServiceImageTags">
    <vt:lpwstr/>
  </property>
  <property fmtid="{D5CDD505-2E9C-101B-9397-08002B2CF9AE}" pid="4" name="KSOProductBuildVer">
    <vt:lpwstr>2052-12.1.0.28505</vt:lpwstr>
  </property>
  <property fmtid="{D5CDD505-2E9C-101B-9397-08002B2CF9AE}" pid="5" name="ICV">
    <vt:lpwstr>D5846C5C13A94B38A80437D250824E60_12</vt:lpwstr>
  </property>
</Properties>
</file>