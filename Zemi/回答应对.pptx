
<file path=[Content_Types].xml><?xml version="1.0" encoding="utf-8"?>
<Types xmlns="http://schemas.openxmlformats.org/package/2006/content-types">
  <Default Extension="xml" ContentType="application/xml"/>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60" r:id="rId3"/>
    <p:sldId id="359" r:id="rId5"/>
    <p:sldId id="361" r:id="rId6"/>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0000"/>
    <a:srgbClr val="FADB32"/>
    <a:srgbClr val="FCCA73"/>
    <a:srgbClr val="F59E0B"/>
    <a:srgbClr val="14B8A6"/>
    <a:srgbClr val="FFD700"/>
    <a:srgbClr val="FFB66F"/>
    <a:srgbClr val="FFE1C3"/>
    <a:srgbClr val="FABA67"/>
    <a:srgbClr val="FCF3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14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customXml" Target="../customXml/item3.xml"/><Relationship Id="rId11" Type="http://schemas.openxmlformats.org/officeDocument/2006/relationships/customXml" Target="../customXml/item2.xml"/><Relationship Id="rId10" Type="http://schemas.openxmlformats.org/officeDocument/2006/relationships/customXml" Target="../customXml/item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143000" y="1122363"/>
            <a:ext cx="6858000" cy="2387600"/>
          </a:xfrm>
        </p:spPr>
        <p:txBody>
          <a:bodyPr anchor="b"/>
          <a:lstStyle>
            <a:lvl1pPr algn="ctr">
              <a:defRPr sz="4500"/>
            </a:lvl1pPr>
          </a:lstStyle>
          <a:p>
            <a:r>
              <a:rPr kumimoji="1" lang="ja-JP" altLang="en-US"/>
              <a:t>マスター タイトルの書式設定</a:t>
            </a:r>
            <a:endParaRPr kumimoji="1" lang="ja-JP" altLang="en-US"/>
          </a:p>
        </p:txBody>
      </p:sp>
      <p:sp>
        <p:nvSpPr>
          <p:cNvPr id="3" name="字幕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623888" y="1709739"/>
            <a:ext cx="7886700" cy="2852737"/>
          </a:xfrm>
        </p:spPr>
        <p:txBody>
          <a:bodyPr anchor="b"/>
          <a:lstStyle>
            <a:lvl1pPr>
              <a:defRPr sz="4500"/>
            </a:lvl1p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ja-JP" altLang="en-US"/>
              <a:t>マスター テキストの書式設定</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sz="half" idx="1"/>
          </p:nvPr>
        </p:nvSpPr>
        <p:spPr>
          <a:xfrm>
            <a:off x="628650" y="1825625"/>
            <a:ext cx="38862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コンテンツ プレースホルダー 3"/>
          <p:cNvSpPr>
            <a:spLocks noGrp="1"/>
          </p:cNvSpPr>
          <p:nvPr>
            <p:ph sz="half" idx="2"/>
          </p:nvPr>
        </p:nvSpPr>
        <p:spPr>
          <a:xfrm>
            <a:off x="4629150" y="1825625"/>
            <a:ext cx="38862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365126"/>
            <a:ext cx="7886700" cy="1325563"/>
          </a:xfrm>
        </p:spPr>
        <p:txBody>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endParaRPr kumimoji="1" lang="ja-JP" altLang="en-US"/>
          </a:p>
        </p:txBody>
      </p:sp>
      <p:sp>
        <p:nvSpPr>
          <p:cNvPr id="4" name="コンテンツ プレースホルダー 3"/>
          <p:cNvSpPr>
            <a:spLocks noGrp="1"/>
          </p:cNvSpPr>
          <p:nvPr>
            <p:ph sz="half" idx="2"/>
          </p:nvPr>
        </p:nvSpPr>
        <p:spPr>
          <a:xfrm>
            <a:off x="629842" y="2505075"/>
            <a:ext cx="3868340"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テキスト プレースホルダー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endParaRPr kumimoji="1" lang="ja-JP" altLang="en-US"/>
          </a:p>
        </p:txBody>
      </p:sp>
      <p:sp>
        <p:nvSpPr>
          <p:cNvPr id="6" name="コンテンツ プレースホルダー 5"/>
          <p:cNvSpPr>
            <a:spLocks noGrp="1"/>
          </p:cNvSpPr>
          <p:nvPr>
            <p:ph sz="quarter" idx="4"/>
          </p:nvPr>
        </p:nvSpPr>
        <p:spPr>
          <a:xfrm>
            <a:off x="4629150" y="2505075"/>
            <a:ext cx="3887391"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7" name="日付プレースホルダー 6"/>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205954" y="94797"/>
            <a:ext cx="7886700" cy="488889"/>
          </a:xfrm>
        </p:spPr>
        <p:txBody>
          <a:bodyPr>
            <a:normAutofit/>
          </a:bodyPr>
          <a:lstStyle>
            <a:lvl1pPr>
              <a:defRPr sz="2800"/>
            </a:lvl1pPr>
          </a:lstStyle>
          <a:p>
            <a:r>
              <a:rPr kumimoji="1" lang="ja-JP" altLang="en-US"/>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cxnSp>
        <p:nvCxnSpPr>
          <p:cNvPr id="7" name="直線コネクタ 6"/>
          <p:cNvCxnSpPr/>
          <p:nvPr userDrawn="1"/>
        </p:nvCxnSpPr>
        <p:spPr>
          <a:xfrm>
            <a:off x="171450" y="94086"/>
            <a:ext cx="0" cy="489600"/>
          </a:xfrm>
          <a:prstGeom prst="line">
            <a:avLst/>
          </a:prstGeom>
          <a:ln w="5715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5" name="スライド番号プレースホルダー 4"/>
          <p:cNvSpPr>
            <a:spLocks noGrp="1"/>
          </p:cNvSpPr>
          <p:nvPr>
            <p:ph type="sldNum" sz="quarter" idx="12"/>
          </p:nvPr>
        </p:nvSpPr>
        <p:spPr>
          <a:xfrm>
            <a:off x="7063954" y="6574305"/>
            <a:ext cx="2057400" cy="365125"/>
          </a:xfrm>
        </p:spPr>
        <p:txBody>
          <a:bodyPr/>
          <a:lstStyle>
            <a:lvl1pPr>
              <a:defRPr sz="1400">
                <a:solidFill>
                  <a:schemeClr val="accent1">
                    <a:lumMod val="75000"/>
                  </a:schemeClr>
                </a:solidFill>
              </a:defRPr>
            </a:lvl1pPr>
          </a:lstStyle>
          <a:p>
            <a:fld id="{6F00E456-75B8-4C92-99E8-A0CAB60115A8}" type="slidenum">
              <a:rPr lang="ja-JP" altLang="en-US" smtClean="0"/>
            </a:fld>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テキスト プレースホルダー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endParaRPr kumimoji="1" lang="ja-JP" altLang="en-US"/>
          </a:p>
        </p:txBody>
      </p:sp>
      <p:sp>
        <p:nvSpPr>
          <p:cNvPr id="3" name="図プレースホルダー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ja-JP" altLang="en-US"/>
          </a:p>
        </p:txBody>
      </p:sp>
      <p:sp>
        <p:nvSpPr>
          <p:cNvPr id="4" name="テキスト プレースホルダー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543675" y="365125"/>
            <a:ext cx="1971675" cy="5811838"/>
          </a:xfrm>
        </p:spPr>
        <p:txBody>
          <a:bodyPr vert="eaVert"/>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628650" y="365125"/>
            <a:ext cx="5800725" cy="5811838"/>
          </a:xfrm>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6F00E456-75B8-4C92-99E8-A0CAB60115A8}" type="slidenum">
              <a:rPr kumimoji="1" lang="ja-JP" altLang="en-US" smtClean="0"/>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56235" y="739140"/>
            <a:ext cx="8431530" cy="5813425"/>
          </a:xfrm>
          <a:prstGeom prst="rect">
            <a:avLst/>
          </a:prstGeom>
        </p:spPr>
        <p:txBody>
          <a:bodyPr wrap="square">
            <a:spAutoFit/>
          </a:bodyPr>
          <a:p>
            <a:pPr indent="0">
              <a:lnSpc>
                <a:spcPct val="90000"/>
              </a:lnSpc>
              <a:buFont typeface="Arial" panose="020B0604020202020204" pitchFamily="34" charset="0"/>
              <a:buNone/>
            </a:pPr>
            <a:r>
              <a:rPr lang="en-US" altLang="zh-CN"/>
              <a:t>Q</a:t>
            </a:r>
            <a:r>
              <a:rPr lang="zh-CN" altLang="en-US">
                <a:ea typeface="SimSun" panose="02010600030101010101" pitchFamily="2" charset="-122"/>
              </a:rPr>
              <a:t>：为什么要使用回归模型，分类模型不行吗</a:t>
            </a:r>
            <a:br>
              <a:rPr lang="zh-CN" altLang="en-US">
                <a:ea typeface="SimSun" panose="02010600030101010101" pitchFamily="2" charset="-122"/>
              </a:rPr>
            </a:br>
            <a:r>
              <a:rPr lang="en-US" altLang="zh-CN">
                <a:ea typeface="SimSun" panose="02010600030101010101" pitchFamily="2" charset="-122"/>
              </a:rPr>
              <a:t>A</a:t>
            </a:r>
            <a:r>
              <a:rPr lang="zh-CN" altLang="en-US">
                <a:ea typeface="SimSun" panose="02010600030101010101" pitchFamily="2" charset="-122"/>
              </a:rPr>
              <a:t>：</a:t>
            </a:r>
            <a:r>
              <a:rPr lang="en-US" altLang="zh-CN">
                <a:ea typeface="SimSun" panose="02010600030101010101" pitchFamily="2" charset="-122"/>
              </a:rPr>
              <a:t>Classification models can recognize discrete gestures, such as opening and closing the hand. However, they do not directly provide continuous fingertip aperture information. This may limit the ability to reproduce natural human grasping movements.</a:t>
            </a:r>
            <a:endParaRPr lang="en-US" altLang="zh-CN">
              <a:ea typeface="SimSun" panose="02010600030101010101" pitchFamily="2" charset="-122"/>
            </a:endParaRPr>
          </a:p>
          <a:p>
            <a:pPr indent="0">
              <a:lnSpc>
                <a:spcPct val="90000"/>
              </a:lnSpc>
              <a:buFont typeface="Arial" panose="020B0604020202020204" pitchFamily="34" charset="0"/>
              <a:buNone/>
            </a:pPr>
            <a:endParaRPr lang="en-US" altLang="zh-CN">
              <a:ea typeface="SimSun" panose="02010600030101010101" pitchFamily="2" charset="-122"/>
            </a:endParaRPr>
          </a:p>
          <a:p>
            <a:pPr indent="0">
              <a:lnSpc>
                <a:spcPct val="90000"/>
              </a:lnSpc>
              <a:buFont typeface="Arial" panose="020B0604020202020204" pitchFamily="34" charset="0"/>
              <a:buNone/>
            </a:pPr>
            <a:r>
              <a:rPr lang="en-US" altLang="zh-CN">
                <a:ea typeface="SimSun" panose="02010600030101010101" pitchFamily="2" charset="-122"/>
              </a:rPr>
              <a:t>Q</a:t>
            </a:r>
            <a:r>
              <a:rPr lang="zh-CN" altLang="en-US">
                <a:ea typeface="SimSun" panose="02010600030101010101" pitchFamily="2" charset="-122"/>
              </a:rPr>
              <a:t>：分类模型也能做到那个动作，为什么要使用回归模型</a:t>
            </a:r>
            <a:br>
              <a:rPr lang="zh-CN" altLang="en-US">
                <a:ea typeface="SimSun" panose="02010600030101010101" pitchFamily="2" charset="-122"/>
              </a:rPr>
            </a:br>
            <a:r>
              <a:rPr lang="en-US" altLang="zh-CN">
                <a:ea typeface="SimSun" panose="02010600030101010101" pitchFamily="2" charset="-122"/>
              </a:rPr>
              <a:t>A</a:t>
            </a:r>
            <a:r>
              <a:rPr lang="zh-CN" altLang="en-US">
                <a:ea typeface="SimSun" panose="02010600030101010101" pitchFamily="2" charset="-122"/>
              </a:rPr>
              <a:t>：或许在某个时间点，机械手会处于那个动作。</a:t>
            </a:r>
            <a:endParaRPr lang="zh-CN" altLang="en-US">
              <a:ea typeface="SimSun" panose="02010600030101010101" pitchFamily="2" charset="-122"/>
            </a:endParaRPr>
          </a:p>
          <a:p>
            <a:pPr indent="0">
              <a:lnSpc>
                <a:spcPct val="90000"/>
              </a:lnSpc>
              <a:buFont typeface="Arial" panose="020B0604020202020204" pitchFamily="34" charset="0"/>
              <a:buNone/>
            </a:pPr>
            <a:endParaRPr lang="zh-CN" altLang="en-US">
              <a:ea typeface="SimSun" panose="02010600030101010101" pitchFamily="2" charset="-122"/>
            </a:endParaRPr>
          </a:p>
          <a:p>
            <a:pPr indent="0">
              <a:lnSpc>
                <a:spcPct val="90000"/>
              </a:lnSpc>
              <a:buFont typeface="Arial" panose="020B0604020202020204" pitchFamily="34" charset="0"/>
              <a:buNone/>
            </a:pPr>
            <a:r>
              <a:rPr lang="en-US" altLang="zh-CN">
                <a:ea typeface="SimSun" panose="02010600030101010101" pitchFamily="2" charset="-122"/>
              </a:rPr>
              <a:t>Q</a:t>
            </a:r>
            <a:r>
              <a:rPr lang="zh-CN" altLang="en-US">
                <a:ea typeface="SimSun" panose="02010600030101010101" pitchFamily="2" charset="-122"/>
              </a:rPr>
              <a:t>：为什么选择</a:t>
            </a:r>
            <a:r>
              <a:rPr lang="en-US" altLang="zh-CN">
                <a:ea typeface="SimSun" panose="02010600030101010101" pitchFamily="2" charset="-122"/>
              </a:rPr>
              <a:t>MLP</a:t>
            </a:r>
            <a:br>
              <a:rPr lang="en-US" altLang="zh-CN">
                <a:ea typeface="SimSun" panose="02010600030101010101" pitchFamily="2" charset="-122"/>
              </a:rPr>
            </a:br>
            <a:r>
              <a:rPr lang="en-US" altLang="zh-CN">
                <a:ea typeface="SimSun" panose="02010600030101010101" pitchFamily="2" charset="-122"/>
              </a:rPr>
              <a:t>A</a:t>
            </a:r>
            <a:r>
              <a:rPr lang="zh-CN" altLang="en-US">
                <a:ea typeface="SimSun" panose="02010600030101010101" pitchFamily="2" charset="-122"/>
              </a:rPr>
              <a:t>：最开始我因为构建简单而选择他，然后也很轻巧，发现效果还可以就先没换模型。之后我会尝试用其他模型来对比看会有多少提升。</a:t>
            </a:r>
            <a:endParaRPr lang="zh-CN" altLang="en-US">
              <a:ea typeface="SimSun" panose="02010600030101010101" pitchFamily="2" charset="-122"/>
            </a:endParaRPr>
          </a:p>
          <a:p>
            <a:pPr indent="0">
              <a:lnSpc>
                <a:spcPct val="90000"/>
              </a:lnSpc>
              <a:buFont typeface="Arial" panose="020B0604020202020204" pitchFamily="34" charset="0"/>
              <a:buNone/>
            </a:pPr>
            <a:endParaRPr lang="zh-CN" altLang="en-US">
              <a:ea typeface="SimSun" panose="02010600030101010101" pitchFamily="2" charset="-122"/>
            </a:endParaRPr>
          </a:p>
          <a:p>
            <a:pPr indent="0">
              <a:lnSpc>
                <a:spcPct val="90000"/>
              </a:lnSpc>
              <a:buFont typeface="Arial" panose="020B0604020202020204" pitchFamily="34" charset="0"/>
              <a:buNone/>
            </a:pPr>
            <a:r>
              <a:rPr lang="en-US" altLang="zh-CN">
                <a:ea typeface="SimSun" panose="02010600030101010101" pitchFamily="2" charset="-122"/>
                <a:sym typeface="+mn-ea"/>
              </a:rPr>
              <a:t>Q</a:t>
            </a:r>
            <a:r>
              <a:rPr lang="zh-CN" altLang="en-US">
                <a:ea typeface="SimSun" panose="02010600030101010101" pitchFamily="2" charset="-122"/>
                <a:sym typeface="+mn-ea"/>
              </a:rPr>
              <a:t>：2个隐藏层，每层32个神经元。为什么这样设置</a:t>
            </a:r>
            <a:br>
              <a:rPr lang="zh-CN" altLang="en-US">
                <a:ea typeface="SimSun" panose="02010600030101010101" pitchFamily="2" charset="-122"/>
                <a:sym typeface="+mn-ea"/>
              </a:rPr>
            </a:br>
            <a:r>
              <a:rPr lang="en-US" altLang="zh-CN">
                <a:ea typeface="SimSun" panose="02010600030101010101" pitchFamily="2" charset="-122"/>
                <a:sym typeface="+mn-ea"/>
              </a:rPr>
              <a:t>A</a:t>
            </a:r>
            <a:r>
              <a:rPr lang="zh-CN" altLang="en-US">
                <a:ea typeface="SimSun" panose="02010600030101010101" pitchFamily="2" charset="-122"/>
                <a:sym typeface="+mn-ea"/>
              </a:rPr>
              <a:t>：我是根据大众设置，但我要说的是大部分是这样设置的，设置的理由是</a:t>
            </a:r>
            <a:r>
              <a:rPr lang="en-US" altLang="zh-CN">
                <a:ea typeface="SimSun" panose="02010600030101010101" pitchFamily="2" charset="-122"/>
                <a:sym typeface="+mn-ea"/>
              </a:rPr>
              <a:t>...</a:t>
            </a:r>
            <a:endParaRPr lang="en-US" altLang="zh-CN">
              <a:ea typeface="SimSun" panose="02010600030101010101" pitchFamily="2" charset="-122"/>
              <a:sym typeface="+mn-ea"/>
            </a:endParaRPr>
          </a:p>
          <a:p>
            <a:pPr indent="0">
              <a:lnSpc>
                <a:spcPct val="90000"/>
              </a:lnSpc>
              <a:buFont typeface="Arial" panose="020B0604020202020204" pitchFamily="34" charset="0"/>
              <a:buNone/>
            </a:pPr>
            <a:endParaRPr lang="en-US" altLang="zh-CN">
              <a:ea typeface="SimSun" panose="02010600030101010101" pitchFamily="2" charset="-122"/>
              <a:sym typeface="+mn-ea"/>
            </a:endParaRPr>
          </a:p>
          <a:p>
            <a:pPr indent="0">
              <a:lnSpc>
                <a:spcPct val="90000"/>
              </a:lnSpc>
              <a:buFont typeface="Arial" panose="020B0604020202020204" pitchFamily="34" charset="0"/>
              <a:buNone/>
            </a:pPr>
            <a:r>
              <a:rPr lang="en-US" altLang="zh-CN">
                <a:ea typeface="SimSun" panose="02010600030101010101" pitchFamily="2" charset="-122"/>
                <a:sym typeface="+mn-ea"/>
              </a:rPr>
              <a:t>Q</a:t>
            </a:r>
            <a:r>
              <a:rPr lang="zh-CN" altLang="en-US">
                <a:ea typeface="SimSun" panose="02010600030101010101" pitchFamily="2" charset="-122"/>
                <a:sym typeface="+mn-ea"/>
              </a:rPr>
              <a:t>：为什么设置手指中点，不是手掌中点</a:t>
            </a:r>
            <a:endParaRPr lang="zh-CN" altLang="en-US">
              <a:ea typeface="SimSun" panose="02010600030101010101" pitchFamily="2" charset="-122"/>
              <a:sym typeface="+mn-ea"/>
            </a:endParaRPr>
          </a:p>
          <a:p>
            <a:pPr indent="0">
              <a:lnSpc>
                <a:spcPct val="90000"/>
              </a:lnSpc>
              <a:buFont typeface="Arial" panose="020B0604020202020204" pitchFamily="34" charset="0"/>
              <a:buNone/>
            </a:pPr>
            <a:endParaRPr lang="zh-CN" altLang="en-US">
              <a:ea typeface="SimSun" panose="02010600030101010101" pitchFamily="2" charset="-122"/>
              <a:sym typeface="+mn-ea"/>
            </a:endParaRPr>
          </a:p>
          <a:p>
            <a:pPr indent="0">
              <a:lnSpc>
                <a:spcPct val="90000"/>
              </a:lnSpc>
              <a:buFont typeface="Arial" panose="020B0604020202020204" pitchFamily="34" charset="0"/>
              <a:buNone/>
            </a:pPr>
            <a:r>
              <a:rPr lang="en-US" altLang="zh-CN">
                <a:ea typeface="SimSun" panose="02010600030101010101" pitchFamily="2" charset="-122"/>
                <a:sym typeface="+mn-ea"/>
              </a:rPr>
              <a:t>Q</a:t>
            </a:r>
            <a:r>
              <a:rPr lang="zh-CN" altLang="en-US">
                <a:ea typeface="SimSun" panose="02010600030101010101" pitchFamily="2" charset="-122"/>
                <a:sym typeface="+mn-ea"/>
              </a:rPr>
              <a:t>：在研究中，有人已经研究过你的，有什么不同吗</a:t>
            </a:r>
            <a:endParaRPr lang="zh-CN" altLang="en-US">
              <a:ea typeface="SimSun" panose="02010600030101010101" pitchFamily="2" charset="-122"/>
              <a:sym typeface="+mn-ea"/>
            </a:endParaRPr>
          </a:p>
          <a:p>
            <a:pPr indent="0">
              <a:lnSpc>
                <a:spcPct val="90000"/>
              </a:lnSpc>
              <a:buFont typeface="Arial" panose="020B0604020202020204" pitchFamily="34" charset="0"/>
              <a:buNone/>
            </a:pPr>
            <a:r>
              <a:rPr lang="en-US" altLang="zh-CN">
                <a:ea typeface="SimSun" panose="02010600030101010101" pitchFamily="2" charset="-122"/>
                <a:sym typeface="+mn-ea"/>
              </a:rPr>
              <a:t>A</a:t>
            </a:r>
            <a:r>
              <a:rPr lang="zh-CN" altLang="en-US">
                <a:ea typeface="SimSun" panose="02010600030101010101" pitchFamily="2" charset="-122"/>
                <a:sym typeface="+mn-ea"/>
              </a:rPr>
              <a:t>：主要在一些细节和研究方法上不同，本研究变量首先是距离和手指开合，做了一个模型进行预测，进行了对比。</a:t>
            </a:r>
            <a:br>
              <a:rPr lang="zh-CN" altLang="en-US">
                <a:ea typeface="SimSun" panose="02010600030101010101" pitchFamily="2" charset="-122"/>
                <a:sym typeface="+mn-ea"/>
              </a:rPr>
            </a:br>
            <a:r>
              <a:rPr lang="zh-CN" altLang="en-US">
                <a:ea typeface="SimSun" panose="02010600030101010101" pitchFamily="2" charset="-122"/>
                <a:sym typeface="+mn-ea"/>
              </a:rPr>
              <a:t>而比如</a:t>
            </a:r>
            <a:r>
              <a:rPr lang="en-US" altLang="zh-CN">
                <a:ea typeface="SimSun" panose="02010600030101010101" pitchFamily="2" charset="-122"/>
                <a:sym typeface="+mn-ea"/>
              </a:rPr>
              <a:t>coast</a:t>
            </a:r>
            <a:r>
              <a:rPr lang="zh-CN" altLang="en-US">
                <a:ea typeface="SimSun" panose="02010600030101010101" pitchFamily="2" charset="-122"/>
                <a:sym typeface="+mn-ea"/>
              </a:rPr>
              <a:t>的研究，他也是研究距离和开口，但他做的是不同距离间与开口的关系。</a:t>
            </a:r>
            <a:br>
              <a:rPr lang="zh-CN" altLang="en-US">
                <a:ea typeface="SimSun" panose="02010600030101010101" pitchFamily="2" charset="-122"/>
                <a:sym typeface="+mn-ea"/>
              </a:rPr>
            </a:br>
            <a:r>
              <a:rPr lang="zh-CN" altLang="en-US">
                <a:ea typeface="SimSun" panose="02010600030101010101" pitchFamily="2" charset="-122"/>
                <a:sym typeface="+mn-ea"/>
              </a:rPr>
              <a:t>并且还集中在抓取面积上。</a:t>
            </a:r>
            <a:endParaRPr lang="zh-CN" altLang="en-US">
              <a:ea typeface="SimSun" panose="02010600030101010101" pitchFamily="2" charset="-122"/>
            </a:endParaRPr>
          </a:p>
          <a:p>
            <a:pPr indent="0">
              <a:lnSpc>
                <a:spcPct val="90000"/>
              </a:lnSpc>
              <a:buFont typeface="Arial" panose="020B0604020202020204" pitchFamily="34" charset="0"/>
              <a:buNone/>
            </a:pPr>
            <a:endParaRPr lang="zh-CN" altLang="en-US">
              <a:ea typeface="SimSun"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56235" y="739140"/>
            <a:ext cx="8431530" cy="6062345"/>
          </a:xfrm>
          <a:prstGeom prst="rect">
            <a:avLst/>
          </a:prstGeom>
        </p:spPr>
        <p:txBody>
          <a:bodyPr wrap="square">
            <a:spAutoFit/>
          </a:bodyPr>
          <a:p>
            <a:pPr indent="0">
              <a:lnSpc>
                <a:spcPct val="90000"/>
              </a:lnSpc>
              <a:buFont typeface="Arial" panose="020B0604020202020204" pitchFamily="34" charset="0"/>
              <a:buNone/>
            </a:pPr>
            <a:r>
              <a:rPr lang="en-US" altLang="zh-CN"/>
              <a:t>Q</a:t>
            </a:r>
            <a:r>
              <a:rPr lang="zh-CN" altLang="en-US">
                <a:ea typeface="SimSun" panose="02010600030101010101" pitchFamily="2" charset="-122"/>
              </a:rPr>
              <a:t>：</a:t>
            </a:r>
            <a:r>
              <a:rPr lang="en-US" altLang="zh-CN"/>
              <a:t>Why did you choose distance as the only input variable?</a:t>
            </a:r>
            <a:endParaRPr lang="en-US" altLang="zh-CN"/>
          </a:p>
          <a:p>
            <a:pPr indent="0">
              <a:lnSpc>
                <a:spcPct val="90000"/>
              </a:lnSpc>
              <a:buFont typeface="Arial" panose="020B0604020202020204" pitchFamily="34" charset="0"/>
              <a:buNone/>
            </a:pPr>
            <a:r>
              <a:rPr lang="en-US" altLang="zh-CN"/>
              <a:t>A</a:t>
            </a:r>
            <a:r>
              <a:rPr lang="zh-CN" altLang="en-US">
                <a:ea typeface="SimSun" panose="02010600030101010101" pitchFamily="2" charset="-122"/>
              </a:rPr>
              <a:t>：</a:t>
            </a:r>
            <a:r>
              <a:rPr lang="en-US" altLang="zh-CN">
                <a:ea typeface="SimSun" panose="02010600030101010101" pitchFamily="2" charset="-122"/>
              </a:rPr>
              <a:t>In my previous experiments, the camera was attached to the arm, using a relative coordinate system. However, the prediction performance was not satisfactory.</a:t>
            </a:r>
            <a:endParaRPr lang="en-US" altLang="zh-CN">
              <a:ea typeface="SimSun" panose="02010600030101010101" pitchFamily="2" charset="-122"/>
            </a:endParaRPr>
          </a:p>
          <a:p>
            <a:pPr indent="0">
              <a:lnSpc>
                <a:spcPct val="90000"/>
              </a:lnSpc>
              <a:buFont typeface="Arial" panose="020B0604020202020204" pitchFamily="34" charset="0"/>
              <a:buNone/>
            </a:pPr>
            <a:endParaRPr lang="en-US" altLang="zh-CN">
              <a:ea typeface="SimSun" panose="02010600030101010101" pitchFamily="2" charset="-122"/>
            </a:endParaRPr>
          </a:p>
          <a:p>
            <a:pPr indent="0">
              <a:lnSpc>
                <a:spcPct val="90000"/>
              </a:lnSpc>
              <a:buFont typeface="Arial" panose="020B0604020202020204" pitchFamily="34" charset="0"/>
              <a:buNone/>
            </a:pPr>
            <a:r>
              <a:rPr lang="en-US" altLang="zh-CN">
                <a:ea typeface="SimSun" panose="02010600030101010101" pitchFamily="2" charset="-122"/>
              </a:rPr>
              <a:t>Therefore, I tried fixing the camera in an absolute coordinate system, and the results improved significantly.</a:t>
            </a:r>
            <a:endParaRPr lang="en-US" altLang="zh-CN">
              <a:ea typeface="SimSun" panose="02010600030101010101" pitchFamily="2" charset="-122"/>
            </a:endParaRPr>
          </a:p>
          <a:p>
            <a:pPr indent="0">
              <a:lnSpc>
                <a:spcPct val="90000"/>
              </a:lnSpc>
              <a:buFont typeface="Arial" panose="020B0604020202020204" pitchFamily="34" charset="0"/>
              <a:buNone/>
            </a:pPr>
            <a:endParaRPr lang="en-US" altLang="zh-CN">
              <a:ea typeface="SimSun" panose="02010600030101010101" pitchFamily="2" charset="-122"/>
            </a:endParaRPr>
          </a:p>
          <a:p>
            <a:pPr indent="0">
              <a:lnSpc>
                <a:spcPct val="90000"/>
              </a:lnSpc>
              <a:buFont typeface="Arial" panose="020B0604020202020204" pitchFamily="34" charset="0"/>
              <a:buNone/>
            </a:pPr>
            <a:r>
              <a:rPr lang="en-US" altLang="zh-CN">
                <a:ea typeface="SimSun" panose="02010600030101010101" pitchFamily="2" charset="-122"/>
              </a:rPr>
              <a:t>In this setup, distance is a suitable input variable because it reflects how the hand approaches the object.</a:t>
            </a:r>
            <a:endParaRPr lang="en-US" altLang="zh-CN">
              <a:ea typeface="SimSun" panose="02010600030101010101" pitchFamily="2" charset="-122"/>
            </a:endParaRPr>
          </a:p>
          <a:p>
            <a:pPr indent="0">
              <a:lnSpc>
                <a:spcPct val="90000"/>
              </a:lnSpc>
              <a:buFont typeface="Arial" panose="020B0604020202020204" pitchFamily="34" charset="0"/>
              <a:buNone/>
            </a:pPr>
            <a:endParaRPr lang="en-US" altLang="zh-CN">
              <a:ea typeface="SimSun" panose="02010600030101010101" pitchFamily="2" charset="-122"/>
            </a:endParaRPr>
          </a:p>
          <a:p>
            <a:pPr indent="0">
              <a:lnSpc>
                <a:spcPct val="90000"/>
              </a:lnSpc>
              <a:buFont typeface="Arial" panose="020B0604020202020204" pitchFamily="34" charset="0"/>
              <a:buNone/>
            </a:pPr>
            <a:r>
              <a:rPr lang="en-US" altLang="zh-CN">
                <a:ea typeface="SimSun" panose="02010600030101010101" pitchFamily="2" charset="-122"/>
              </a:rPr>
              <a:t>The experimental results also suggest a nonlinear relationship between distance and fingertip aperture.</a:t>
            </a:r>
            <a:endParaRPr lang="en-US" altLang="zh-CN">
              <a:ea typeface="SimSun" panose="02010600030101010101" pitchFamily="2" charset="-122"/>
            </a:endParaRPr>
          </a:p>
          <a:p>
            <a:pPr indent="0">
              <a:lnSpc>
                <a:spcPct val="90000"/>
              </a:lnSpc>
              <a:buFont typeface="Arial" panose="020B0604020202020204" pitchFamily="34" charset="0"/>
              <a:buNone/>
            </a:pPr>
            <a:endParaRPr lang="en-US" altLang="zh-CN"/>
          </a:p>
          <a:p>
            <a:pPr indent="0">
              <a:lnSpc>
                <a:spcPct val="90000"/>
              </a:lnSpc>
              <a:buFont typeface="Arial" panose="020B0604020202020204" pitchFamily="34" charset="0"/>
              <a:buNone/>
            </a:pPr>
            <a:r>
              <a:rPr lang="en-US" altLang="zh-CN">
                <a:sym typeface="+mn-ea"/>
              </a:rPr>
              <a:t>Q</a:t>
            </a:r>
            <a:r>
              <a:rPr lang="zh-CN" altLang="en-US">
                <a:ea typeface="SimSun" panose="02010600030101010101" pitchFamily="2" charset="-122"/>
                <a:sym typeface="+mn-ea"/>
              </a:rPr>
              <a:t>：</a:t>
            </a:r>
            <a:r>
              <a:rPr lang="en-US" altLang="zh-CN"/>
              <a:t>R²</a:t>
            </a:r>
            <a:r>
              <a:rPr lang="zh-CN" altLang="en-US">
                <a:ea typeface="SimSun" panose="02010600030101010101" pitchFamily="2" charset="-122"/>
              </a:rPr>
              <a:t>是什么</a:t>
            </a:r>
            <a:endParaRPr lang="zh-CN" altLang="en-US">
              <a:ea typeface="SimSun" panose="02010600030101010101" pitchFamily="2" charset="-122"/>
            </a:endParaRPr>
          </a:p>
          <a:p>
            <a:pPr indent="0">
              <a:lnSpc>
                <a:spcPct val="90000"/>
              </a:lnSpc>
              <a:buFont typeface="Arial" panose="020B0604020202020204" pitchFamily="34" charset="0"/>
              <a:buNone/>
            </a:pPr>
            <a:endParaRPr lang="zh-CN" altLang="en-US">
              <a:ea typeface="SimSun" panose="02010600030101010101" pitchFamily="2" charset="-122"/>
            </a:endParaRPr>
          </a:p>
          <a:p>
            <a:pPr indent="0">
              <a:lnSpc>
                <a:spcPct val="90000"/>
              </a:lnSpc>
              <a:buFont typeface="Arial" panose="020B0604020202020204" pitchFamily="34" charset="0"/>
              <a:buNone/>
            </a:pPr>
            <a:r>
              <a:rPr lang="en-US" altLang="zh-CN">
                <a:ea typeface="SimSun" panose="02010600030101010101" pitchFamily="2" charset="-122"/>
              </a:rPr>
              <a:t>Q</a:t>
            </a:r>
            <a:r>
              <a:rPr lang="zh-CN" altLang="en-US">
                <a:ea typeface="SimSun" panose="02010600030101010101" pitchFamily="2" charset="-122"/>
              </a:rPr>
              <a:t>：为什么使用</a:t>
            </a:r>
            <a:r>
              <a:rPr lang="en-US" altLang="zh-CN">
                <a:ea typeface="SimSun" panose="02010600030101010101" pitchFamily="2" charset="-122"/>
              </a:rPr>
              <a:t>PX</a:t>
            </a:r>
            <a:r>
              <a:rPr lang="zh-CN" altLang="en-US">
                <a:ea typeface="SimSun" panose="02010600030101010101" pitchFamily="2" charset="-122"/>
              </a:rPr>
              <a:t>？不会有什么问题吗？</a:t>
            </a:r>
            <a:endParaRPr lang="zh-CN" altLang="en-US">
              <a:ea typeface="SimSun" panose="02010600030101010101" pitchFamily="2" charset="-122"/>
            </a:endParaRPr>
          </a:p>
          <a:p>
            <a:pPr indent="0">
              <a:lnSpc>
                <a:spcPct val="90000"/>
              </a:lnSpc>
              <a:buFont typeface="Arial" panose="020B0604020202020204" pitchFamily="34" charset="0"/>
              <a:buNone/>
            </a:pPr>
            <a:endParaRPr lang="zh-CN" altLang="en-US">
              <a:ea typeface="SimSun" panose="02010600030101010101" pitchFamily="2" charset="-122"/>
            </a:endParaRPr>
          </a:p>
          <a:p>
            <a:pPr indent="0">
              <a:lnSpc>
                <a:spcPct val="90000"/>
              </a:lnSpc>
              <a:buFont typeface="Arial" panose="020B0604020202020204" pitchFamily="34" charset="0"/>
              <a:buNone/>
            </a:pPr>
            <a:r>
              <a:rPr lang="en-US" altLang="zh-CN">
                <a:ea typeface="SimSun" panose="02010600030101010101" pitchFamily="2" charset="-122"/>
                <a:sym typeface="+mn-ea"/>
              </a:rPr>
              <a:t>Q</a:t>
            </a:r>
            <a:r>
              <a:rPr lang="zh-CN" altLang="en-US">
                <a:ea typeface="SimSun" panose="02010600030101010101" pitchFamily="2" charset="-122"/>
                <a:sym typeface="+mn-ea"/>
              </a:rPr>
              <a:t>：</a:t>
            </a:r>
            <a:r>
              <a:rPr lang="en-US" altLang="zh-CN">
                <a:ea typeface="SimSun" panose="02010600030101010101" pitchFamily="2" charset="-122"/>
                <a:sym typeface="+mn-ea"/>
              </a:rPr>
              <a:t>Nomalized RMSE</a:t>
            </a:r>
            <a:r>
              <a:rPr lang="zh-CN" altLang="en-US">
                <a:ea typeface="SimSun" panose="02010600030101010101" pitchFamily="2" charset="-122"/>
                <a:sym typeface="+mn-ea"/>
              </a:rPr>
              <a:t>是什么</a:t>
            </a:r>
            <a:br>
              <a:rPr lang="zh-CN" altLang="en-US">
                <a:ea typeface="SimSun" panose="02010600030101010101" pitchFamily="2" charset="-122"/>
                <a:sym typeface="+mn-ea"/>
              </a:rPr>
            </a:br>
            <a:r>
              <a:rPr lang="en-US" altLang="zh-CN">
                <a:ea typeface="SimSun" panose="02010600030101010101" pitchFamily="2" charset="-122"/>
                <a:sym typeface="+mn-ea"/>
              </a:rPr>
              <a:t>A</a:t>
            </a:r>
            <a:r>
              <a:rPr lang="zh-CN" altLang="en-US">
                <a:ea typeface="SimSun" panose="02010600030101010101" pitchFamily="2" charset="-122"/>
                <a:sym typeface="+mn-ea"/>
              </a:rPr>
              <a:t>：</a:t>
            </a:r>
            <a:r>
              <a:rPr lang="en-US" altLang="zh-CN">
                <a:ea typeface="SimSun" panose="02010600030101010101" pitchFamily="2" charset="-122"/>
                <a:sym typeface="+mn-ea"/>
              </a:rPr>
              <a:t>root mean square error</a:t>
            </a:r>
            <a:endParaRPr lang="zh-CN" altLang="en-US">
              <a:ea typeface="SimSun" panose="02010600030101010101" pitchFamily="2" charset="-122"/>
            </a:endParaRPr>
          </a:p>
          <a:p>
            <a:pPr indent="0">
              <a:lnSpc>
                <a:spcPct val="90000"/>
              </a:lnSpc>
              <a:buFont typeface="Arial" panose="020B0604020202020204" pitchFamily="34" charset="0"/>
              <a:buNone/>
            </a:pPr>
            <a:endParaRPr lang="zh-CN" altLang="en-US">
              <a:ea typeface="SimSun" panose="02010600030101010101" pitchFamily="2" charset="-122"/>
            </a:endParaRPr>
          </a:p>
          <a:p>
            <a:pPr indent="0">
              <a:lnSpc>
                <a:spcPct val="90000"/>
              </a:lnSpc>
              <a:buFont typeface="Arial" panose="020B0604020202020204" pitchFamily="34" charset="0"/>
              <a:buNone/>
            </a:pPr>
            <a:r>
              <a:rPr lang="en-US" altLang="zh-CN">
                <a:ea typeface="SimSun" panose="02010600030101010101" pitchFamily="2" charset="-122"/>
              </a:rPr>
              <a:t>Q</a:t>
            </a:r>
            <a:r>
              <a:rPr lang="zh-CN" altLang="en-US">
                <a:ea typeface="SimSun" panose="02010600030101010101" pitchFamily="2" charset="-122"/>
              </a:rPr>
              <a:t>：</a:t>
            </a:r>
            <a:r>
              <a:rPr lang="en-US" altLang="zh-CN">
                <a:ea typeface="SimSun" panose="02010600030101010101" pitchFamily="2" charset="-122"/>
              </a:rPr>
              <a:t>Nomalized RMSE</a:t>
            </a:r>
            <a:r>
              <a:rPr lang="zh-CN" altLang="en-US">
                <a:ea typeface="SimSun" panose="02010600030101010101" pitchFamily="2" charset="-122"/>
              </a:rPr>
              <a:t>是怎么算的</a:t>
            </a:r>
            <a:endParaRPr lang="zh-CN" altLang="en-US">
              <a:ea typeface="SimSun" panose="02010600030101010101" pitchFamily="2" charset="-122"/>
            </a:endParaRPr>
          </a:p>
          <a:p>
            <a:pPr indent="0">
              <a:lnSpc>
                <a:spcPct val="90000"/>
              </a:lnSpc>
              <a:buFont typeface="Arial" panose="020B0604020202020204" pitchFamily="34" charset="0"/>
              <a:buNone/>
            </a:pPr>
            <a:r>
              <a:rPr lang="en-US" altLang="zh-CN">
                <a:ea typeface="SimSun" panose="02010600030101010101" pitchFamily="2" charset="-122"/>
              </a:rPr>
              <a:t>A</a:t>
            </a:r>
            <a:r>
              <a:rPr lang="zh-CN" altLang="en-US">
                <a:ea typeface="SimSun" panose="02010600030101010101" pitchFamily="2" charset="-122"/>
              </a:rPr>
              <a:t>：每一组与其他 29 组的平均曲线比较</a:t>
            </a:r>
            <a:endParaRPr lang="zh-CN" altLang="en-US">
              <a:ea typeface="SimSun" panose="02010600030101010101" pitchFamily="2" charset="-122"/>
            </a:endParaRPr>
          </a:p>
          <a:p>
            <a:pPr indent="0">
              <a:lnSpc>
                <a:spcPct val="90000"/>
              </a:lnSpc>
              <a:buFont typeface="Arial" panose="020B0604020202020204" pitchFamily="34" charset="0"/>
              <a:buNone/>
            </a:pPr>
            <a:endParaRPr lang="zh-CN" altLang="en-US">
              <a:ea typeface="SimSun" panose="02010600030101010101" pitchFamily="2" charset="-122"/>
            </a:endParaRPr>
          </a:p>
          <a:p>
            <a:pPr indent="0">
              <a:lnSpc>
                <a:spcPct val="90000"/>
              </a:lnSpc>
              <a:buFont typeface="Arial" panose="020B0604020202020204" pitchFamily="34" charset="0"/>
              <a:buNone/>
            </a:pPr>
            <a:r>
              <a:rPr lang="en-US" altLang="zh-CN">
                <a:ea typeface="SimSun" panose="02010600030101010101" pitchFamily="2" charset="-122"/>
                <a:sym typeface="+mn-ea"/>
              </a:rPr>
              <a:t>Q</a:t>
            </a:r>
            <a:r>
              <a:rPr lang="zh-CN" altLang="en-US">
                <a:ea typeface="SimSun" panose="02010600030101010101" pitchFamily="2" charset="-122"/>
                <a:sym typeface="+mn-ea"/>
              </a:rPr>
              <a:t>：关于剪辑点的问题</a:t>
            </a:r>
            <a:endParaRPr lang="en-US">
              <a:ea typeface="SimSun" panose="02010600030101010101" pitchFamily="2"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56235" y="739140"/>
            <a:ext cx="8431530" cy="339725"/>
          </a:xfrm>
          <a:prstGeom prst="rect">
            <a:avLst/>
          </a:prstGeom>
        </p:spPr>
        <p:txBody>
          <a:bodyPr wrap="square">
            <a:spAutoFit/>
          </a:bodyPr>
          <a:p>
            <a:pPr indent="0">
              <a:lnSpc>
                <a:spcPct val="90000"/>
              </a:lnSpc>
              <a:buFont typeface="Arial" panose="020B0604020202020204" pitchFamily="34" charset="0"/>
              <a:buNone/>
            </a:pPr>
            <a:r>
              <a:rPr lang="en-US" altLang="zh-CN">
                <a:ea typeface="SimSun" panose="02010600030101010101" pitchFamily="2" charset="-122"/>
                <a:sym typeface="+mn-ea"/>
              </a:rPr>
              <a:t>Q</a:t>
            </a:r>
            <a:r>
              <a:rPr lang="zh-CN" altLang="en-US">
                <a:ea typeface="SimSun" panose="02010600030101010101" pitchFamily="2" charset="-122"/>
                <a:sym typeface="+mn-ea"/>
              </a:rPr>
              <a:t>：首位不足</a:t>
            </a:r>
            <a:r>
              <a:rPr lang="en-US" altLang="zh-CN">
                <a:ea typeface="SimSun" panose="02010600030101010101" pitchFamily="2" charset="-122"/>
                <a:sym typeface="+mn-ea"/>
              </a:rPr>
              <a:t>10frame</a:t>
            </a:r>
            <a:endParaRPr lang="en-US" altLang="zh-CN">
              <a:ea typeface="SimSun" panose="02010600030101010101" pitchFamily="2" charset="-122"/>
              <a:sym typeface="+mn-ea"/>
            </a:endParaRPr>
          </a:p>
        </p:txBody>
      </p:sp>
      <p:sp>
        <p:nvSpPr>
          <p:cNvPr id="3" name="文本框 2"/>
          <p:cNvSpPr txBox="1"/>
          <p:nvPr/>
        </p:nvSpPr>
        <p:spPr>
          <a:xfrm>
            <a:off x="356235" y="1690370"/>
            <a:ext cx="8431530" cy="339725"/>
          </a:xfrm>
          <a:prstGeom prst="rect">
            <a:avLst/>
          </a:prstGeom>
        </p:spPr>
        <p:txBody>
          <a:bodyPr wrap="square">
            <a:spAutoFit/>
          </a:bodyPr>
          <a:p>
            <a:pPr indent="0">
              <a:lnSpc>
                <a:spcPct val="90000"/>
              </a:lnSpc>
              <a:buFont typeface="Arial" panose="020B0604020202020204" pitchFamily="34" charset="0"/>
              <a:buNone/>
            </a:pPr>
            <a:r>
              <a:rPr lang="en-US" altLang="zh-CN">
                <a:ea typeface="SimSun" panose="02010600030101010101" pitchFamily="2" charset="-122"/>
                <a:sym typeface="+mn-ea"/>
              </a:rPr>
              <a:t>Q</a:t>
            </a:r>
            <a:r>
              <a:rPr lang="zh-CN" altLang="en-US">
                <a:ea typeface="SimSun" panose="02010600030101010101" pitchFamily="2" charset="-122"/>
                <a:sym typeface="+mn-ea"/>
              </a:rPr>
              <a:t>：为什么下降这么快</a:t>
            </a:r>
            <a:endParaRPr lang="en-US" altLang="zh-CN">
              <a:ea typeface="SimSun" panose="02010600030101010101" pitchFamily="2" charset="-122"/>
              <a:sym typeface="+mn-ea"/>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PS">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14B8A6"/>
          </a:solidFill>
          <a:tailEnd type="triangle"/>
        </a:ln>
      </a:spPr>
      <a:bodyPr rtlCol="0" anchor="ctr"/>
      <a:lstStyle>
        <a:defPPr algn="ctr">
          <a:defRPr lang="zh-CN" altLang="en-US"/>
        </a:defPPr>
      </a:lstStyle>
      <a:style>
        <a:lnRef idx="2">
          <a:schemeClr val="accent1">
            <a:lumMod val="75000"/>
          </a:schemeClr>
        </a:lnRef>
        <a:fillRef idx="1">
          <a:schemeClr val="accent1"/>
        </a:fillRef>
        <a:effectRef idx="0">
          <a:srgbClr val="FFFFFF"/>
        </a:effectRef>
        <a:fontRef idx="minor">
          <a:schemeClr val="lt1"/>
        </a:fontRef>
      </a:style>
    </a:spDef>
    <a:lnDef>
      <a:spPr>
        <a:noFill/>
        <a:ln w="12700" cmpd="sng">
          <a:solidFill>
            <a:srgbClr val="F20000"/>
          </a:solidFill>
          <a:prstDash val="solid"/>
          <a:tailEnd type="arrow"/>
        </a:ln>
      </a:spPr>
      <a:body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EEEA4EB4B1C87045B2C7B9E34AE6DFF4" ma:contentTypeVersion="19" ma:contentTypeDescription="新しいドキュメントを作成します。" ma:contentTypeScope="" ma:versionID="195f4af887e8b02337b1b142d1f847de">
  <xsd:schema xmlns:xsd="http://www.w3.org/2001/XMLSchema" xmlns:xs="http://www.w3.org/2001/XMLSchema" xmlns:p="http://schemas.microsoft.com/office/2006/metadata/properties" xmlns:ns2="c8a3c59a-3bb1-4ac4-8580-9b2ba74cfe5b" xmlns:ns3="56bf2a1e-b0f5-401e-a825-4d0cd333482d" targetNamespace="http://schemas.microsoft.com/office/2006/metadata/properties" ma:root="true" ma:fieldsID="81e6449237d2fc142489e0904e1e7166" ns2:_="" ns3:_="">
    <xsd:import namespace="c8a3c59a-3bb1-4ac4-8580-9b2ba74cfe5b"/>
    <xsd:import namespace="56bf2a1e-b0f5-401e-a825-4d0cd333482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a3c59a-3bb1-4ac4-8580-9b2ba74cfe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60da577d-8c11-42e1-9807-59d1f71190c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bf2a1e-b0f5-401e-a825-4d0cd333482d"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afb7adad-3fb7-4e7a-8b83-8b41f07d25c8}" ma:internalName="TaxCatchAll" ma:showField="CatchAllData" ma:web="56bf2a1e-b0f5-401e-a825-4d0cd333482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8a3c59a-3bb1-4ac4-8580-9b2ba74cfe5b">
      <Terms xmlns="http://schemas.microsoft.com/office/infopath/2007/PartnerControls"/>
    </lcf76f155ced4ddcb4097134ff3c332f>
    <TaxCatchAll xmlns="56bf2a1e-b0f5-401e-a825-4d0cd333482d" xsi:nil="true"/>
  </documentManagement>
</p:properties>
</file>

<file path=customXml/itemProps1.xml><?xml version="1.0" encoding="utf-8"?>
<ds:datastoreItem xmlns:ds="http://schemas.openxmlformats.org/officeDocument/2006/customXml" ds:itemID="{0E5148B6-4531-42C7-8EF9-49C77F467C6E}">
  <ds:schemaRefs/>
</ds:datastoreItem>
</file>

<file path=customXml/itemProps2.xml><?xml version="1.0" encoding="utf-8"?>
<ds:datastoreItem xmlns:ds="http://schemas.openxmlformats.org/officeDocument/2006/customXml" ds:itemID="{9FF3F963-4824-4617-9390-F81F48A450C9}">
  <ds:schemaRefs/>
</ds:datastoreItem>
</file>

<file path=customXml/itemProps3.xml><?xml version="1.0" encoding="utf-8"?>
<ds:datastoreItem xmlns:ds="http://schemas.openxmlformats.org/officeDocument/2006/customXml" ds:itemID="{D3FA7E84-7FC5-4C41-A4F9-8872414BB2F4}">
  <ds:schemaRefs/>
</ds:datastoreItem>
</file>

<file path=docProps/app.xml><?xml version="1.0" encoding="utf-8"?>
<Properties xmlns="http://schemas.openxmlformats.org/officeDocument/2006/extended-properties" xmlns:vt="http://schemas.openxmlformats.org/officeDocument/2006/docPropsVTypes">
  <TotalTime>0</TotalTime>
  <Words>1277</Words>
  <Application>WPS 演示</Application>
  <PresentationFormat>画面に合わせる (4:3)</PresentationFormat>
  <Paragraphs>38</Paragraphs>
  <Slides>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vt:i4>
      </vt:variant>
    </vt:vector>
  </HeadingPairs>
  <TitlesOfParts>
    <vt:vector size="12" baseType="lpstr">
      <vt:lpstr>Arial</vt:lpstr>
      <vt:lpstr>SimSun</vt:lpstr>
      <vt:lpstr>Wingdings</vt:lpstr>
      <vt:lpstr>Times New Roman</vt:lpstr>
      <vt:lpstr>Microsoft YaHei</vt:lpstr>
      <vt:lpstr>Arial Unicode MS</vt:lpstr>
      <vt:lpstr>MS PGothic</vt:lpstr>
      <vt:lpstr>Calibri</vt:lpstr>
      <vt:lpstr>Office テーマ</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24742101 石津七海</dc:creator>
  <cp:lastModifiedBy>down down down down down</cp:lastModifiedBy>
  <cp:revision>336</cp:revision>
  <dcterms:created xsi:type="dcterms:W3CDTF">2025-10-02T04:01:00Z</dcterms:created>
  <dcterms:modified xsi:type="dcterms:W3CDTF">2026-10-27T08:01:23Z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0x010100EEEA4EB4B1C87045B2C7B9E34AE6DFF4</vt:lpwstr>
  </property>
  <property fmtid="{D5CDD505-2E9C-101B-9397-08002B2CF9AE}" pid="3" name="ICV">
    <vt:lpwstr>B70015103C7249FE8210DA285DD4FDE3_12</vt:lpwstr>
  </property>
  <property fmtid="{D5CDD505-2E9C-101B-9397-08002B2CF9AE}" pid="4" name="KSOProductBuildVer">
    <vt:lpwstr>2052-12.1.0.29161</vt:lpwstr>
  </property>
</Properties>
</file>