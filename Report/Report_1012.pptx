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5" r:id="rId3"/>
    <p:sldId id="278" r:id="rId5"/>
    <p:sldId id="287" r:id="rId6"/>
    <p:sldId id="282" r:id="rId7"/>
    <p:sldId id="283" r:id="rId8"/>
    <p:sldId id="288" r:id="rId9"/>
    <p:sldId id="275" r:id="rId10"/>
    <p:sldId id="289" r:id="rId11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So in my research, objective is to Replace classification models to Regression Models.</a:t>
            </a:r>
            <a:br>
              <a:rPr lang="en-US" altLang="zh-CN"/>
            </a:br>
            <a:r>
              <a:rPr lang="en-US" altLang="zh-CN"/>
              <a:t>From modular approach to end to end approach to reduce </a:t>
            </a:r>
            <a:r>
              <a:rPr lang="en-US" altLang="zh-CN">
                <a:sym typeface="+mn-ea"/>
              </a:rPr>
              <a:t>system complexity and loss of important information</a:t>
            </a:r>
            <a:endParaRPr lang="en-US" altLang="zh-CN"/>
          </a:p>
          <a:p>
            <a:r>
              <a:rPr lang="en-US" altLang="zh-CN"/>
              <a:t>RQ is to verify that can the system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build </a:t>
            </a:r>
            <a:r>
              <a:rPr lang="en-US" altLang="zh-CN"/>
              <a:t>on an end-to-end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approach combined with regression be successfully applied, 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760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/>
              <a:t>Research Objective </a:t>
            </a:r>
            <a:r>
              <a:rPr lang="en-US" altLang="zh-CN" sz="3200" b="1" dirty="0">
                <a:sym typeface="Avenir Heavy"/>
              </a:rPr>
              <a:t>&amp; Question</a:t>
            </a:r>
            <a:endParaRPr lang="en-US" altLang="zh-CN" sz="3200" b="1" dirty="0"/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96" name="组合 95"/>
          <p:cNvGrpSpPr/>
          <p:nvPr>
            <p:custDataLst>
              <p:tags r:id="rId1"/>
            </p:custDataLst>
          </p:nvPr>
        </p:nvGrpSpPr>
        <p:grpSpPr>
          <a:xfrm>
            <a:off x="219710" y="2963545"/>
            <a:ext cx="8630920" cy="1564005"/>
            <a:chOff x="348" y="7526"/>
            <a:chExt cx="13592" cy="2928"/>
          </a:xfrm>
        </p:grpSpPr>
        <p:grpSp>
          <p:nvGrpSpPr>
            <p:cNvPr id="90" name="组合 89"/>
            <p:cNvGrpSpPr/>
            <p:nvPr>
              <p:custDataLst>
                <p:tags r:id="rId2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92" name="Shape 2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93" name="Shape 2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4" name="Text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1</a:t>
                </a:r>
                <a:endParaRPr lang="en-US" altLang="zh-CN" b="1" dirty="0"/>
              </a:p>
            </p:txBody>
          </p:sp>
        </p:grpSp>
        <p:sp>
          <p:nvSpPr>
            <p:cNvPr id="95" name="文本框 94"/>
            <p:cNvSpPr txBox="1"/>
            <p:nvPr>
              <p:custDataLst>
                <p:tags r:id="rId6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sym typeface="+mn-ea"/>
                </a:rPr>
                <a:t>Is there a consistent relationship among </a:t>
              </a:r>
              <a:r>
                <a:rPr kumimoji="1" lang="en-US" altLang="zh-CN" dirty="0">
                  <a:sym typeface="+mn-ea"/>
                </a:rPr>
                <a:t>object apparent size</a:t>
              </a:r>
              <a:r>
                <a:rPr lang="en-US" altLang="zh-CN">
                  <a:sym typeface="+mn-ea"/>
                </a:rPr>
                <a:t>, fingertip aperture, and hand acceleration during reach-to-grasp movements</a:t>
              </a:r>
              <a:r>
                <a:rPr lang="en-US" altLang="zh-CN">
                  <a:ea typeface="SimSun" panose="02010600030101010101" pitchFamily="2" charset="-122"/>
                </a:rPr>
                <a:t>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219710" y="4939030"/>
            <a:ext cx="8630920" cy="1564005"/>
            <a:chOff x="348" y="7526"/>
            <a:chExt cx="13592" cy="2928"/>
          </a:xfrm>
        </p:grpSpPr>
        <p:grpSp>
          <p:nvGrpSpPr>
            <p:cNvPr id="4" name="组合 3"/>
            <p:cNvGrpSpPr/>
            <p:nvPr>
              <p:custDataLst>
                <p:tags r:id="rId8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7" name="Shape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8" name="Shape 2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" name="Text 2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2</a:t>
                </a:r>
                <a:endParaRPr lang="en-US" altLang="zh-CN" b="1" dirty="0"/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12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ea typeface="SimSun" panose="02010600030101010101" pitchFamily="2" charset="-122"/>
                </a:rPr>
                <a:t>Can fingertip aperture during reach-to-grasp movements be predicted using object apparent size and hand acceleration?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5590" y="909320"/>
            <a:ext cx="85731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During reach-to-grasp movements, finger opening/closing and hand motion are usually coordinated naturally and unconsciously.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study aims to investigate the relationship among </a:t>
            </a:r>
            <a:r>
              <a:rPr kumimoji="1" lang="en-US" altLang="zh-CN" dirty="0">
                <a:sym typeface="+mn-ea"/>
              </a:rPr>
              <a:t>object apparent size</a:t>
            </a:r>
            <a:r>
              <a:rPr lang="en-US" altLang="zh-CN"/>
              <a:t>, fingertip aperture, and hand acceleration during grasping, and further examine whether this information can be used to predict the fingertip aperture process.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Data Collection</a:t>
            </a:r>
            <a:endParaRPr lang="zh-CN" altLang="en-US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2094230"/>
            <a:ext cx="5217160" cy="37719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90000"/>
              </a:lnSpc>
            </a:pPr>
            <a:r>
              <a:rPr lang="en-US" altLang="zh-CN">
                <a:sym typeface="+mn-ea"/>
              </a:rPr>
              <a:t>Task: natural reach-to-grasp movement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Initial hand position: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Target position: 30 mm from the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Target size: 20, 25, 30, 35, 40, and 45 mm cubes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>
                <a:ea typeface="SimSun" panose="02010600030101010101" pitchFamily="2" charset="-122"/>
                <a:sym typeface="+mn-ea"/>
              </a:rPr>
              <a:t>Equipment : A recording device consisting of a web camera and an IMU was mounted on the participant's forearm.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1"/>
            </p:custDataLst>
          </p:nvPr>
        </p:nvSpPr>
        <p:spPr>
          <a:xfrm>
            <a:off x="275590" y="963930"/>
            <a:ext cx="8522970" cy="3886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Collect participants grasping data for objects of different sizes.</a:t>
            </a:r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275590" y="1724025"/>
            <a:ext cx="3247390" cy="457200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r>
              <a:rPr lang="en-US" altLang="zh-CN" sz="2400">
                <a:sym typeface="+mn-ea"/>
              </a:rPr>
              <a:t>Experimental Conditions</a:t>
            </a:r>
            <a:endParaRPr lang="zh-CN" altLang="en-US" sz="2400"/>
          </a:p>
        </p:txBody>
      </p:sp>
      <p:pic>
        <p:nvPicPr>
          <p:cNvPr id="19" name="图片 18" descr="5273e5566c3c504abbb8337e55c211a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492750" y="1963420"/>
            <a:ext cx="2531745" cy="4502785"/>
          </a:xfrm>
          <a:prstGeom prst="rect">
            <a:avLst/>
          </a:prstGeom>
        </p:spPr>
      </p:pic>
      <p:sp>
        <p:nvSpPr>
          <p:cNvPr id="20" name="任意多边形 19"/>
          <p:cNvSpPr/>
          <p:nvPr/>
        </p:nvSpPr>
        <p:spPr>
          <a:xfrm>
            <a:off x="6387465" y="1724025"/>
            <a:ext cx="621665" cy="833120"/>
          </a:xfrm>
          <a:custGeom>
            <a:avLst/>
            <a:gdLst>
              <a:gd name="connisteX0" fmla="*/ 9525 w 995680"/>
              <a:gd name="connsiteY0" fmla="*/ 1590040 h 1590040"/>
              <a:gd name="connisteX1" fmla="*/ 0 w 995680"/>
              <a:gd name="connsiteY1" fmla="*/ 0 h 1590040"/>
              <a:gd name="connisteX2" fmla="*/ 995680 w 995680"/>
              <a:gd name="connsiteY2" fmla="*/ 0 h 15900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995680" h="1590040">
                <a:moveTo>
                  <a:pt x="9525" y="1590040"/>
                </a:moveTo>
                <a:lnTo>
                  <a:pt x="0" y="0"/>
                </a:lnTo>
                <a:lnTo>
                  <a:pt x="995680" y="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>
            <a:off x="6798945" y="5191125"/>
            <a:ext cx="530860" cy="1474470"/>
          </a:xfrm>
          <a:custGeom>
            <a:avLst/>
            <a:gdLst>
              <a:gd name="connisteX0" fmla="*/ 0 w 948690"/>
              <a:gd name="connsiteY0" fmla="*/ 0 h 1819910"/>
              <a:gd name="connisteX1" fmla="*/ 0 w 948690"/>
              <a:gd name="connsiteY1" fmla="*/ 1819910 h 1819910"/>
              <a:gd name="connisteX2" fmla="*/ 948690 w 948690"/>
              <a:gd name="connsiteY2" fmla="*/ 1819910 h 18199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948690" h="1819910">
                <a:moveTo>
                  <a:pt x="0" y="0"/>
                </a:moveTo>
                <a:lnTo>
                  <a:pt x="0" y="1819910"/>
                </a:lnTo>
                <a:lnTo>
                  <a:pt x="948690" y="181991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009130" y="15576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Web Camera (30hz)</a:t>
            </a:r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49185" y="6466205"/>
            <a:ext cx="1489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50hz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Relationship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245" y="864870"/>
            <a:ext cx="8454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2">
                    <a:lumMod val="75000"/>
                    <a:lumOff val="25000"/>
                  </a:schemeClr>
                </a:solidFill>
              </a:rPr>
              <a:t>20</a:t>
            </a:r>
            <a:r>
              <a:rPr lang="en-US" altLang="zh-CN" sz="2000" b="1">
                <a:solidFill>
                  <a:schemeClr val="tx2">
                    <a:lumMod val="75000"/>
                    <a:lumOff val="25000"/>
                  </a:schemeClr>
                </a:solidFill>
              </a:rPr>
              <a:t> experiments with a 40 mm object</a:t>
            </a:r>
            <a:endParaRPr lang="en-US" altLang="zh-CN" sz="20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 descr="size_4cm_three_signals_horizontal_over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925" y="2424430"/>
            <a:ext cx="9144000" cy="2133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83280" y="4558030"/>
            <a:ext cx="251714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apparent size </a:t>
            </a:r>
            <a:endParaRPr lang="en-US" altLang="zh-CN"/>
          </a:p>
          <a:p>
            <a:r>
              <a:rPr lang="en-US" altLang="zh-CN"/>
              <a:t>Normalized RMSE</a:t>
            </a:r>
            <a:endParaRPr lang="en-US" altLang="zh-CN"/>
          </a:p>
          <a:p>
            <a:r>
              <a:rPr lang="en-US" altLang="zh-CN"/>
              <a:t>0.0486 ± 0.0313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457950" y="4558030"/>
            <a:ext cx="2516505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apparent size Normalized RMSE</a:t>
            </a:r>
            <a:endParaRPr lang="en-US" altLang="zh-CN"/>
          </a:p>
          <a:p>
            <a:r>
              <a:rPr lang="en-US" altLang="zh-CN"/>
              <a:t>0.0757 ± 0.0294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09245" y="4558030"/>
            <a:ext cx="2516505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/>
              <a:t>Fingertip aperture Normalized RMSE</a:t>
            </a:r>
            <a:endParaRPr lang="en-US" altLang="zh-CN"/>
          </a:p>
          <a:p>
            <a:pPr algn="l"/>
            <a:r>
              <a:rPr lang="en-US" altLang="zh-CN"/>
              <a:t>0.0415 ± 0.0160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309245" y="1640840"/>
            <a:ext cx="269811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Maximum aperture timing</a:t>
            </a:r>
            <a:endParaRPr lang="zh-CN" altLang="en-US"/>
          </a:p>
          <a:p>
            <a:r>
              <a:rPr lang="en-US" altLang="zh-CN"/>
              <a:t>55.79 ± 2.45%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293110" y="1502410"/>
            <a:ext cx="269748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Object area at maximum aperture / final object area</a:t>
            </a:r>
            <a:endParaRPr lang="en-US" altLang="zh-CN"/>
          </a:p>
          <a:p>
            <a:r>
              <a:rPr lang="en-US" altLang="zh-CN"/>
              <a:t>59.42 ± 4.15%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457950" y="1502410"/>
            <a:ext cx="2517140" cy="922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Mean acceleration during opening</a:t>
            </a:r>
            <a:endParaRPr lang="en-US" altLang="zh-CN"/>
          </a:p>
          <a:p>
            <a:r>
              <a:rPr lang="en-US" altLang="zh-CN"/>
              <a:t>0.611 ± 0.139 m/s²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2"/>
            </p:custDataLst>
          </p:nvPr>
        </p:nvSpPr>
        <p:spPr>
          <a:xfrm>
            <a:off x="104140" y="5738495"/>
            <a:ext cx="8870950" cy="9220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The data showed high consistency across </a:t>
            </a:r>
            <a:r>
              <a:rPr lang="en-US" altLang="zh-CN">
                <a:sym typeface="+mn-ea"/>
              </a:rPr>
              <a:t>experiments, suggesting a consistent relationship among object apparent size, fingertip aperture, and hand acceleration during reach-to-grasp movements.</a:t>
            </a:r>
            <a:endParaRPr lang="en-US" altLang="zh-CN"/>
          </a:p>
          <a:p>
            <a:pPr algn="ctr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6225" y="956945"/>
            <a:ext cx="8522335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2000"/>
              <a:t>Further validation</a:t>
            </a:r>
            <a:endParaRPr lang="en-US" altLang="zh-CN" sz="2000"/>
          </a:p>
        </p:txBody>
      </p:sp>
      <p:grpSp>
        <p:nvGrpSpPr>
          <p:cNvPr id="4" name="组合 3"/>
          <p:cNvGrpSpPr/>
          <p:nvPr/>
        </p:nvGrpSpPr>
        <p:grpSpPr>
          <a:xfrm>
            <a:off x="1586230" y="4347210"/>
            <a:ext cx="1868170" cy="1159510"/>
            <a:chOff x="4230" y="2456"/>
            <a:chExt cx="2942" cy="1826"/>
          </a:xfrm>
        </p:grpSpPr>
        <p:sp>
          <p:nvSpPr>
            <p:cNvPr id="5" name="Google Shape;4859;p44"/>
            <p:cNvSpPr/>
            <p:nvPr/>
          </p:nvSpPr>
          <p:spPr>
            <a:xfrm>
              <a:off x="4230" y="2456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" name="直接箭头连接符 7"/>
            <p:cNvCxnSpPr>
              <a:stCxn id="5" idx="4"/>
            </p:cNvCxnSpPr>
            <p:nvPr/>
          </p:nvCxnSpPr>
          <p:spPr>
            <a:xfrm flipV="1">
              <a:off x="6265" y="3436"/>
              <a:ext cx="907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1430020" y="5198110"/>
            <a:ext cx="1906905" cy="1159510"/>
            <a:chOff x="3630" y="4675"/>
            <a:chExt cx="3003" cy="1826"/>
          </a:xfrm>
        </p:grpSpPr>
        <p:sp>
          <p:nvSpPr>
            <p:cNvPr id="18" name="Google Shape;4859;p44"/>
            <p:cNvSpPr/>
            <p:nvPr/>
          </p:nvSpPr>
          <p:spPr>
            <a:xfrm>
              <a:off x="3630" y="4675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V="1">
              <a:off x="5669" y="5734"/>
              <a:ext cx="964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3571875" y="4609465"/>
            <a:ext cx="2215515" cy="1678940"/>
            <a:chOff x="4753" y="3707"/>
            <a:chExt cx="2440" cy="1961"/>
          </a:xfrm>
        </p:grpSpPr>
        <p:sp>
          <p:nvSpPr>
            <p:cNvPr id="5342" name="Google Shape;5342;p51"/>
            <p:cNvSpPr/>
            <p:nvPr/>
          </p:nvSpPr>
          <p:spPr>
            <a:xfrm>
              <a:off x="4761" y="3707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FF0E0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3" name="Google Shape;5343;p51"/>
            <p:cNvSpPr/>
            <p:nvPr/>
          </p:nvSpPr>
          <p:spPr>
            <a:xfrm>
              <a:off x="4753" y="4964"/>
              <a:ext cx="712" cy="705"/>
            </a:xfrm>
            <a:prstGeom prst="cube">
              <a:avLst>
                <a:gd name="adj" fmla="val 66940"/>
              </a:avLst>
            </a:prstGeom>
            <a:solidFill>
              <a:schemeClr val="tx2">
                <a:lumMod val="50000"/>
                <a:lumOff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4" name="Google Shape;5344;p51"/>
            <p:cNvSpPr/>
            <p:nvPr/>
          </p:nvSpPr>
          <p:spPr>
            <a:xfrm>
              <a:off x="6481" y="4135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4E95D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5" name="Google Shape;5345;p51"/>
            <p:cNvSpPr/>
            <p:nvPr/>
          </p:nvSpPr>
          <p:spPr>
            <a:xfrm>
              <a:off x="5984" y="4637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FF0E0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5358" name="Google Shape;5358;p51"/>
            <p:cNvCxnSpPr>
              <a:stCxn id="5342" idx="5"/>
              <a:endCxn id="5344" idx="0"/>
            </p:cNvCxnSpPr>
            <p:nvPr/>
          </p:nvCxnSpPr>
          <p:spPr>
            <a:xfrm>
              <a:off x="5473" y="3824"/>
              <a:ext cx="1600" cy="311"/>
            </a:xfrm>
            <a:prstGeom prst="curved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9" name="Google Shape;5359;p51"/>
            <p:cNvCxnSpPr>
              <a:stCxn id="5343" idx="4"/>
              <a:endCxn id="5345" idx="3"/>
            </p:cNvCxnSpPr>
            <p:nvPr/>
          </p:nvCxnSpPr>
          <p:spPr>
            <a:xfrm rot="10800000" flipH="1">
              <a:off x="4994" y="5342"/>
              <a:ext cx="1111" cy="210"/>
            </a:xfrm>
            <a:prstGeom prst="curvedConnector2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4" name="直接箭头连接符 23"/>
          <p:cNvCxnSpPr/>
          <p:nvPr/>
        </p:nvCxnSpPr>
        <p:spPr>
          <a:xfrm flipV="1">
            <a:off x="5407660" y="5622290"/>
            <a:ext cx="684000" cy="7620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1386205" y="595185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Acceleration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39875" y="4512945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 Size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162675" y="5098415"/>
            <a:ext cx="1423670" cy="853440"/>
            <a:chOff x="9310" y="4361"/>
            <a:chExt cx="2242" cy="1344"/>
          </a:xfrm>
        </p:grpSpPr>
        <p:sp>
          <p:nvSpPr>
            <p:cNvPr id="4861" name="Google Shape;4861;p44"/>
            <p:cNvSpPr/>
            <p:nvPr/>
          </p:nvSpPr>
          <p:spPr>
            <a:xfrm>
              <a:off x="9310" y="4361"/>
              <a:ext cx="2192" cy="1344"/>
            </a:xfrm>
            <a:prstGeom prst="cube">
              <a:avLst>
                <a:gd name="adj" fmla="val 21848"/>
              </a:avLst>
            </a:prstGeom>
            <a:solidFill>
              <a:srgbClr val="09CDA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10" y="4688"/>
              <a:ext cx="2242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Fingertip </a:t>
              </a:r>
              <a:endParaRPr lang="en-US" altLang="zh-CN" sz="1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Aperture</a:t>
              </a:r>
              <a:endParaRPr lang="en-US" altLang="ja-JP" sz="1600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3157855" y="49428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0" name="Shape 25"/>
          <p:cNvSpPr/>
          <p:nvPr>
            <p:custDataLst>
              <p:tags r:id="rId1"/>
            </p:custDataLst>
          </p:nvPr>
        </p:nvSpPr>
        <p:spPr>
          <a:xfrm>
            <a:off x="276225" y="1398270"/>
            <a:ext cx="8522970" cy="7054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ea typeface="SimSun" panose="02010600030101010101" pitchFamily="2" charset="-122"/>
                <a:sym typeface="+mn-ea"/>
              </a:rPr>
              <a:t>Can fingertip aperture during reach-to-grasp movements be predicted using object apparent size and hand acceleration?</a:t>
            </a:r>
            <a:endParaRPr lang="en-US" altLang="zh-CN">
              <a:ea typeface="SimSun" panose="02010600030101010101" pitchFamily="2" charset="-122"/>
            </a:endParaRPr>
          </a:p>
          <a:p>
            <a:pPr algn="ctr"/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3571875" y="4231005"/>
            <a:ext cx="2413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15-frame window MLP</a:t>
            </a:r>
            <a:endParaRPr lang="en-US" altLang="zh-CN" sz="1600" b="1">
              <a:sym typeface="+mn-ea"/>
            </a:endParaRPr>
          </a:p>
        </p:txBody>
      </p:sp>
      <p:pic>
        <p:nvPicPr>
          <p:cNvPr id="31" name="图片 30" descr="QQ20261011-2047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55" y="2476500"/>
            <a:ext cx="1036320" cy="1016000"/>
          </a:xfrm>
          <a:prstGeom prst="rect">
            <a:avLst/>
          </a:prstGeom>
        </p:spPr>
      </p:pic>
      <p:sp>
        <p:nvSpPr>
          <p:cNvPr id="32" name="圆角右箭头 31"/>
          <p:cNvSpPr/>
          <p:nvPr/>
        </p:nvSpPr>
        <p:spPr>
          <a:xfrm rot="6960000">
            <a:off x="1669415" y="3329305"/>
            <a:ext cx="633730" cy="929005"/>
          </a:xfrm>
          <a:prstGeom prst="ben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868805" y="2595245"/>
            <a:ext cx="616712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20, 30, 40 mm: 15 training experiments + 5 test experiments</a:t>
            </a:r>
            <a:endParaRPr lang="en-US" altLang="zh-CN"/>
          </a:p>
          <a:p>
            <a:r>
              <a:rPr lang="en-US" altLang="zh-CN"/>
              <a:t>25, 35, 45 mm: 5 experiments for generalization testing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Standard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 descr="C:/MineApp/Code/Multimodal_Imitation_Learning/generalization_20261012_111640_003207/test_predictions/TRIAL_Size_4cm_20261011_145939.pngTRIAL_Size_4cm_20261011_145939"/>
          <p:cNvPicPr>
            <a:picLocks noChangeAspect="1"/>
          </p:cNvPicPr>
          <p:nvPr/>
        </p:nvPicPr>
        <p:blipFill>
          <a:blip r:embed="rId1"/>
          <a:srcRect b="36"/>
          <a:stretch>
            <a:fillRect/>
          </a:stretch>
        </p:blipFill>
        <p:spPr>
          <a:xfrm>
            <a:off x="3893820" y="4570730"/>
            <a:ext cx="5249545" cy="2249170"/>
          </a:xfrm>
          <a:prstGeom prst="rect">
            <a:avLst/>
          </a:prstGeom>
        </p:spPr>
      </p:pic>
      <p:pic>
        <p:nvPicPr>
          <p:cNvPr id="10" name="图片 9" descr="C:/MineApp/Code/Multimodal_Imitation_Learning/generalization_20261012_111640_003207/test_predictions/TRIAL_Size_3cm_20261012_104738.pngTRIAL_Size_3cm_20261012_104738"/>
          <p:cNvPicPr>
            <a:picLocks noChangeAspect="1"/>
          </p:cNvPicPr>
          <p:nvPr/>
        </p:nvPicPr>
        <p:blipFill>
          <a:blip r:embed="rId2"/>
          <a:srcRect t="36"/>
          <a:stretch>
            <a:fillRect/>
          </a:stretch>
        </p:blipFill>
        <p:spPr>
          <a:xfrm>
            <a:off x="3893820" y="2304415"/>
            <a:ext cx="5249545" cy="2249170"/>
          </a:xfrm>
          <a:prstGeom prst="rect">
            <a:avLst/>
          </a:prstGeom>
        </p:spPr>
      </p:pic>
      <p:pic>
        <p:nvPicPr>
          <p:cNvPr id="11" name="图片 10" descr="C:/MineApp/Code/Multimodal_Imitation_Learning/generalization_20261012_111640_003207/test_predictions/TRIAL_Size_2cm_20261006_193241.pngTRIAL_Size_2cm_20261006_193241"/>
          <p:cNvPicPr>
            <a:picLocks noChangeAspect="1"/>
          </p:cNvPicPr>
          <p:nvPr/>
        </p:nvPicPr>
        <p:blipFill>
          <a:blip r:embed="rId3"/>
          <a:srcRect l="14" r="14"/>
          <a:stretch>
            <a:fillRect/>
          </a:stretch>
        </p:blipFill>
        <p:spPr>
          <a:xfrm>
            <a:off x="3893185" y="53975"/>
            <a:ext cx="5250180" cy="22504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5590" y="810260"/>
            <a:ext cx="3314700" cy="9772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Held-out experiments at trained object sizes.</a:t>
            </a:r>
            <a:endParaRPr lang="en-US" altLang="zh-CN"/>
          </a:p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5 experiments per size.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/>
        </p:nvGraphicFramePr>
        <p:xfrm>
          <a:off x="197485" y="2059940"/>
          <a:ext cx="3695700" cy="1438275"/>
        </p:xfrm>
        <a:graphic>
          <a:graphicData uri="http://schemas.openxmlformats.org/drawingml/2006/table">
            <a:tbl>
              <a:tblPr/>
              <a:tblGrid>
                <a:gridCol w="1231900"/>
                <a:gridCol w="1231900"/>
                <a:gridCol w="1231900"/>
              </a:tblGrid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Object size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 sz="1350">
                          <a:sym typeface="+mn-ea"/>
                        </a:rPr>
                        <a:t>object size</a:t>
                      </a:r>
                      <a:r>
                        <a:rPr lang="en-US" altLang="zh-CN"/>
                        <a:t> only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 sz="1350">
                          <a:sym typeface="+mn-ea"/>
                        </a:rPr>
                        <a:t>object size</a:t>
                      </a:r>
                      <a:r>
                        <a:rPr lang="en-US" altLang="zh-CN"/>
                        <a:t> + Acceleration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20 mm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27.7 ± 4.3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17.7 ± 5.8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30 mm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31.3 ± 10.9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30.2 ± 11.2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40 mm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19.1 ± 1.3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</a:pPr>
                      <a:r>
                        <a:rPr lang="en-US" altLang="zh-CN"/>
                        <a:t>17.0 ± 6.4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>
            <p:custDataLst>
              <p:tags r:id="rId4"/>
            </p:custDataLst>
          </p:nvPr>
        </p:nvSpPr>
        <p:spPr>
          <a:xfrm>
            <a:off x="197485" y="3769995"/>
            <a:ext cx="3695065" cy="28644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l"/>
            <a:r>
              <a:rPr lang="en-US" altLang="zh-CN">
                <a:sym typeface="+mn-ea"/>
              </a:rPr>
              <a:t>Combining object apparent size with acceleration achieved RMSE below 20 px in selected held-out experiments.</a:t>
            </a:r>
            <a:endParaRPr lang="en-US" altLang="zh-CN">
              <a:sym typeface="+mn-ea"/>
            </a:endParaRPr>
          </a:p>
          <a:p>
            <a:pPr algn="l"/>
            <a:endParaRPr lang="en-US" altLang="zh-CN"/>
          </a:p>
          <a:p>
            <a:pPr algn="l"/>
            <a:r>
              <a:rPr lang="en-US" altLang="zh-CN"/>
              <a:t>The results suggest that fingertip aperture during natural grasping can be learned from object apparent size and acceleration.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Generalization Test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图片 8" descr="C:/MineApp/Code/Multimodal_Imitation_Learning/generalization_20261012_111640_003207/generalization_predictions/TRIAL_Size_4p5cm_20260929_104825.pngTRIAL_Size_4p5cm_20260929_104825"/>
          <p:cNvPicPr>
            <a:picLocks noChangeAspect="1"/>
          </p:cNvPicPr>
          <p:nvPr/>
        </p:nvPicPr>
        <p:blipFill>
          <a:blip r:embed="rId1"/>
          <a:srcRect b="36"/>
          <a:stretch>
            <a:fillRect/>
          </a:stretch>
        </p:blipFill>
        <p:spPr>
          <a:xfrm>
            <a:off x="3893820" y="4570730"/>
            <a:ext cx="5249545" cy="2249170"/>
          </a:xfrm>
          <a:prstGeom prst="rect">
            <a:avLst/>
          </a:prstGeom>
        </p:spPr>
      </p:pic>
      <p:pic>
        <p:nvPicPr>
          <p:cNvPr id="10" name="图片 9" descr="C:/MineApp/Code/Multimodal_Imitation_Learning/generalization_20261012_111640_003207/generalization_predictions/TRIAL_Size_3p5cm_20261011_151707.pngTRIAL_Size_3p5cm_20261011_151707"/>
          <p:cNvPicPr>
            <a:picLocks noChangeAspect="1"/>
          </p:cNvPicPr>
          <p:nvPr/>
        </p:nvPicPr>
        <p:blipFill>
          <a:blip r:embed="rId2"/>
          <a:srcRect b="36"/>
          <a:stretch>
            <a:fillRect/>
          </a:stretch>
        </p:blipFill>
        <p:spPr>
          <a:xfrm>
            <a:off x="3893820" y="2304415"/>
            <a:ext cx="5249545" cy="2249170"/>
          </a:xfrm>
          <a:prstGeom prst="rect">
            <a:avLst/>
          </a:prstGeom>
        </p:spPr>
      </p:pic>
      <p:pic>
        <p:nvPicPr>
          <p:cNvPr id="11" name="图片 10" descr="C:/MineApp/Code/Multimodal_Imitation_Learning/generalization_20261012_111640_003207/generalization_predictions/TRIAL_Size_2p5cm_20261011_152702.pngTRIAL_Size_2p5cm_20261011_152702"/>
          <p:cNvPicPr>
            <a:picLocks noChangeAspect="1"/>
          </p:cNvPicPr>
          <p:nvPr/>
        </p:nvPicPr>
        <p:blipFill>
          <a:blip r:embed="rId3"/>
          <a:srcRect l="28"/>
          <a:stretch>
            <a:fillRect/>
          </a:stretch>
        </p:blipFill>
        <p:spPr>
          <a:xfrm>
            <a:off x="3893185" y="53975"/>
            <a:ext cx="5250180" cy="225044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79375" y="2131695"/>
          <a:ext cx="3815715" cy="1231900"/>
        </p:xfrm>
        <a:graphic>
          <a:graphicData uri="http://schemas.openxmlformats.org/drawingml/2006/table">
            <a:tbl>
              <a:tblPr/>
              <a:tblGrid>
                <a:gridCol w="1289685"/>
                <a:gridCol w="1254125"/>
                <a:gridCol w="1271905"/>
              </a:tblGrid>
              <a:tr h="49276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Object size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object size only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object size + acceleration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25 mm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n=7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38.8 ± 6.1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26.0 ± 9.4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35 mm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n=11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37.1 ± 11.9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20.6 ± 11.3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45 mm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n=20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47.4 ± 13.5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/>
                        <a:t>43.2 ± 9.8</a:t>
                      </a:r>
                      <a:endParaRPr lang="en-US" altLang="zh-CN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>
            <p:custDataLst>
              <p:tags r:id="rId4"/>
            </p:custDataLst>
          </p:nvPr>
        </p:nvSpPr>
        <p:spPr>
          <a:xfrm>
            <a:off x="78105" y="3557905"/>
            <a:ext cx="3816350" cy="319468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l"/>
            <a:r>
              <a:rPr lang="en-US" altLang="zh-CN"/>
              <a:t>At unseen sizes of 25 and 35 mm, selected experiments maintained RMSE around 20 px. </a:t>
            </a:r>
            <a:endParaRPr lang="en-US" altLang="zh-CN"/>
          </a:p>
          <a:p>
            <a:pPr algn="l"/>
            <a:r>
              <a:rPr lang="en-US" altLang="zh-CN"/>
              <a:t>suggesting interpolation capability.</a:t>
            </a:r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/>
              <a:t> At 45 mm, </a:t>
            </a:r>
            <a:endParaRPr lang="en-US" altLang="zh-CN"/>
          </a:p>
          <a:p>
            <a:pPr algn="l"/>
            <a:r>
              <a:rPr lang="en-US" altLang="zh-CN"/>
              <a:t>beyond the training size range, prediction error increased,</a:t>
            </a:r>
            <a:endParaRPr lang="en-US" altLang="zh-CN"/>
          </a:p>
          <a:p>
            <a:pPr algn="l"/>
            <a:r>
              <a:rPr lang="en-US" altLang="zh-CN"/>
              <a:t>indicating limited extrapolation capability and motivating further investigation.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75590" y="810260"/>
            <a:ext cx="3314700" cy="10877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Held-out experiments at unseen object sizes.</a:t>
            </a:r>
            <a:endParaRPr lang="en-US" altLang="zh-CN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5 experiments per size.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Results and Discussion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1083310"/>
            <a:ext cx="8431530" cy="233045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The results suggest that fingertip aperture during reach-to-grasp movements can be predicted using object apparent size and hand acceleration.</a:t>
            </a: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Adding hand acceleration generally improves aperture prediction compared with using object apparent size alone.</a:t>
            </a: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The model shows generalization to unseen object sizes within the training size range. Prediction error increases beyond this range, indicating that extrapolation requires further investigation.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Experimental Error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1009650"/>
            <a:ext cx="852297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ea typeface="SimSun" panose="02010600030101010101" pitchFamily="2" charset="-122"/>
              </a:rPr>
              <a:t>△</a:t>
            </a:r>
            <a:r>
              <a:rPr lang="en-US" altLang="zh-CN">
                <a:ea typeface="SimSun" panose="02010600030101010101" pitchFamily="2" charset="-122"/>
              </a:rPr>
              <a:t> </a:t>
            </a:r>
            <a:r>
              <a:rPr lang="en-US" altLang="zh-CN"/>
              <a:t>Equipment-related errors</a:t>
            </a:r>
            <a:endParaRPr lang="en-US" altLang="zh-CN"/>
          </a:p>
          <a:p>
            <a:r>
              <a:rPr lang="en-US" altLang="zh-CN"/>
              <a:t>- Visual measurement variability: Object apparent size and fingertip aperture are estimated using visual algorithms, which may introduce measurement fluctuations.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IMU measurement uncertainty: Sensor noise may affect measurement accuracy.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ea typeface="SimSun" panose="02010600030101010101" pitchFamily="2" charset="-122"/>
                <a:sym typeface="+mn-ea"/>
              </a:rPr>
              <a:t>△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 </a:t>
            </a:r>
            <a:r>
              <a:rPr lang="en-US" altLang="zh-CN"/>
              <a:t>Experiment-related variability</a:t>
            </a:r>
            <a:endParaRPr lang="en-US" altLang="zh-CN"/>
          </a:p>
          <a:p>
            <a:r>
              <a:rPr lang="en-US" altLang="zh-CN"/>
              <a:t>- Natural grasping variability: Movement speed and grasping strategy may vary between experiments.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Object position variability: Small differences in object placement may change the reaching trajectory and visual measurements.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2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4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5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6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7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9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0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2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3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4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5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6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7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3877</Words>
  <Application>WPS 演示</Application>
  <PresentationFormat>Converted Presentation</PresentationFormat>
  <Paragraphs>170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Arial</vt:lpstr>
      <vt:lpstr>Avenir Heavy</vt:lpstr>
      <vt:lpstr>Segoe Print</vt:lpstr>
      <vt:lpstr>Times New Roman</vt:lpstr>
      <vt:lpstr>Times New Roman</vt:lpstr>
      <vt:lpstr>Microsoft YaHei</vt:lpstr>
      <vt:lpstr>Arial Unicode MS</vt:lpstr>
      <vt:lpstr>MS PGothic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15</cp:revision>
  <dcterms:created xsi:type="dcterms:W3CDTF">2026-09-29T07:20:00Z</dcterms:created>
  <dcterms:modified xsi:type="dcterms:W3CDTF">2026-10-12T04:26:06Z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