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5" r:id="rId3"/>
    <p:sldId id="324" r:id="rId5"/>
    <p:sldId id="326" r:id="rId6"/>
    <p:sldId id="327" r:id="rId7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.png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.png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Training set without including slow grasping data</a:t>
            </a:r>
            <a:endParaRPr lang="en-US" altLang="zh-CN" sz="28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4800" y="810260"/>
            <a:ext cx="8523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 validation trials</a:t>
            </a:r>
            <a:endParaRPr lang="en-US" altLang="zh-CN"/>
          </a:p>
        </p:txBody>
      </p:sp>
      <p:grpSp>
        <p:nvGrpSpPr>
          <p:cNvPr id="25" name="组合 24"/>
          <p:cNvGrpSpPr/>
          <p:nvPr/>
        </p:nvGrpSpPr>
        <p:grpSpPr>
          <a:xfrm>
            <a:off x="351790" y="1756410"/>
            <a:ext cx="2421890" cy="1184910"/>
            <a:chOff x="475" y="1870"/>
            <a:chExt cx="3814" cy="1866"/>
          </a:xfrm>
        </p:grpSpPr>
        <p:grpSp>
          <p:nvGrpSpPr>
            <p:cNvPr id="13" name="组合 12"/>
            <p:cNvGrpSpPr/>
            <p:nvPr>
              <p:custDataLst>
                <p:tags r:id="rId1"/>
              </p:custDataLst>
            </p:nvPr>
          </p:nvGrpSpPr>
          <p:grpSpPr>
            <a:xfrm>
              <a:off x="475" y="1870"/>
              <a:ext cx="3814" cy="1867"/>
              <a:chOff x="1286" y="8225"/>
              <a:chExt cx="2919" cy="1446"/>
            </a:xfrm>
          </p:grpSpPr>
          <p:sp>
            <p:nvSpPr>
              <p:cNvPr id="7" name="圆角矩形 6"/>
              <p:cNvSpPr/>
              <p:nvPr>
                <p:custDataLst>
                  <p:tags r:id="rId2"/>
                </p:custDataLst>
              </p:nvPr>
            </p:nvSpPr>
            <p:spPr>
              <a:xfrm>
                <a:off x="1296" y="8244"/>
                <a:ext cx="2909" cy="1427"/>
              </a:xfrm>
              <a:prstGeom prst="roundRect">
                <a:avLst>
                  <a:gd name="adj" fmla="val 2873"/>
                </a:avLst>
              </a:prstGeom>
              <a:solidFill>
                <a:srgbClr val="EEF3F8"/>
              </a:solidFill>
              <a:ln>
                <a:noFill/>
                <a:tailEnd type="triangl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86" y="8225"/>
                <a:ext cx="2907" cy="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MAE</a:t>
                </a:r>
                <a:endParaRPr lang="en-US" altLang="zh-CN"/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07" y="8676"/>
                <a:ext cx="2886" cy="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800"/>
                  <a:t>9.05</a:t>
                </a:r>
                <a:endParaRPr lang="en-US" altLang="zh-CN" sz="2800"/>
              </a:p>
            </p:txBody>
          </p:sp>
        </p:grp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475" y="3175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465280" y="1809115"/>
            <a:ext cx="2421890" cy="1185545"/>
            <a:chOff x="5443" y="1879"/>
            <a:chExt cx="3814" cy="1867"/>
          </a:xfrm>
        </p:grpSpPr>
        <p:sp>
          <p:nvSpPr>
            <p:cNvPr id="28" name="圆角矩形 27"/>
            <p:cNvSpPr/>
            <p:nvPr>
              <p:custDataLst>
                <p:tags r:id="rId6"/>
              </p:custDataLst>
            </p:nvPr>
          </p:nvSpPr>
          <p:spPr>
            <a:xfrm>
              <a:off x="5456" y="1904"/>
              <a:ext cx="3801" cy="1842"/>
            </a:xfrm>
            <a:prstGeom prst="roundRect">
              <a:avLst>
                <a:gd name="adj" fmla="val 2873"/>
              </a:avLst>
            </a:prstGeom>
            <a:solidFill>
              <a:srgbClr val="EEF9F5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7"/>
              </p:custDataLst>
            </p:nvPr>
          </p:nvSpPr>
          <p:spPr>
            <a:xfrm>
              <a:off x="5443" y="1879"/>
              <a:ext cx="379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RMSE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>
              <p:custDataLst>
                <p:tags r:id="rId8"/>
              </p:custDataLst>
            </p:nvPr>
          </p:nvSpPr>
          <p:spPr>
            <a:xfrm>
              <a:off x="5470" y="2461"/>
              <a:ext cx="3771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11.85</a:t>
              </a:r>
              <a:endParaRPr lang="en-US" altLang="zh-CN" sz="2800"/>
            </a:p>
          </p:txBody>
        </p:sp>
        <p:sp>
          <p:nvSpPr>
            <p:cNvPr id="31" name="文本框 30"/>
            <p:cNvSpPr txBox="1"/>
            <p:nvPr>
              <p:custDataLst>
                <p:tags r:id="rId9"/>
              </p:custDataLst>
            </p:nvPr>
          </p:nvSpPr>
          <p:spPr>
            <a:xfrm>
              <a:off x="5443" y="3184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 rot="0">
            <a:off x="6416675" y="1780540"/>
            <a:ext cx="2421890" cy="1185545"/>
            <a:chOff x="1286" y="8225"/>
            <a:chExt cx="2919" cy="1446"/>
          </a:xfrm>
        </p:grpSpPr>
        <p:sp>
          <p:nvSpPr>
            <p:cNvPr id="34" name="圆角矩形 33"/>
            <p:cNvSpPr/>
            <p:nvPr>
              <p:custDataLst>
                <p:tags r:id="rId11"/>
              </p:custDataLst>
            </p:nvPr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F9EEF9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1286" y="8225"/>
              <a:ext cx="2907" cy="4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R²</a:t>
              </a:r>
              <a:endParaRPr lang="en-US" altLang="zh-CN"/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1307" y="8676"/>
              <a:ext cx="2886" cy="6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0.740</a:t>
              </a:r>
              <a:endParaRPr lang="en-US" altLang="zh-CN" sz="2800"/>
            </a:p>
          </p:txBody>
        </p:sp>
      </p:grpSp>
      <p:pic>
        <p:nvPicPr>
          <p:cNvPr id="3" name="图片 2" descr="01_overall_metric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3131185"/>
            <a:ext cx="91440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Prediction Example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35685" y="1202690"/>
            <a:ext cx="7071995" cy="5113020"/>
            <a:chOff x="1972" y="1276"/>
            <a:chExt cx="11137" cy="9523"/>
          </a:xfrm>
        </p:grpSpPr>
        <p:pic>
          <p:nvPicPr>
            <p:cNvPr id="2" name="图片 1" descr="Black_4cm_20261022_19204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72" y="4394"/>
              <a:ext cx="11137" cy="3065"/>
            </a:xfrm>
            <a:prstGeom prst="rect">
              <a:avLst/>
            </a:prstGeom>
          </p:spPr>
        </p:pic>
        <p:pic>
          <p:nvPicPr>
            <p:cNvPr id="4" name="图片 3" descr="Black_4cm_20261022_1920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3" y="7459"/>
              <a:ext cx="11137" cy="3341"/>
            </a:xfrm>
            <a:prstGeom prst="rect">
              <a:avLst/>
            </a:prstGeom>
          </p:spPr>
        </p:pic>
        <p:pic>
          <p:nvPicPr>
            <p:cNvPr id="5" name="图片 4" descr="Black_4cm_20261022_1920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3" y="1276"/>
              <a:ext cx="11136" cy="311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Trained using 20 trials of normal grasping (1s) and 20 trials of slow grasping (3s).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51790" y="1756410"/>
            <a:ext cx="2421890" cy="1184910"/>
            <a:chOff x="475" y="1870"/>
            <a:chExt cx="3814" cy="1866"/>
          </a:xfrm>
        </p:grpSpPr>
        <p:grpSp>
          <p:nvGrpSpPr>
            <p:cNvPr id="13" name="组合 12"/>
            <p:cNvGrpSpPr/>
            <p:nvPr>
              <p:custDataLst>
                <p:tags r:id="rId1"/>
              </p:custDataLst>
            </p:nvPr>
          </p:nvGrpSpPr>
          <p:grpSpPr>
            <a:xfrm>
              <a:off x="475" y="1870"/>
              <a:ext cx="3814" cy="1867"/>
              <a:chOff x="1286" y="8225"/>
              <a:chExt cx="2919" cy="1446"/>
            </a:xfrm>
          </p:grpSpPr>
          <p:sp>
            <p:nvSpPr>
              <p:cNvPr id="7" name="圆角矩形 6"/>
              <p:cNvSpPr/>
              <p:nvPr>
                <p:custDataLst>
                  <p:tags r:id="rId2"/>
                </p:custDataLst>
              </p:nvPr>
            </p:nvSpPr>
            <p:spPr>
              <a:xfrm>
                <a:off x="1296" y="8244"/>
                <a:ext cx="2909" cy="1427"/>
              </a:xfrm>
              <a:prstGeom prst="roundRect">
                <a:avLst>
                  <a:gd name="adj" fmla="val 2873"/>
                </a:avLst>
              </a:prstGeom>
              <a:solidFill>
                <a:srgbClr val="EEF3F8"/>
              </a:solidFill>
              <a:ln>
                <a:noFill/>
                <a:tailEnd type="triangl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86" y="8225"/>
                <a:ext cx="2907" cy="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MAE</a:t>
                </a:r>
                <a:endParaRPr lang="en-US" altLang="zh-CN"/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07" y="8676"/>
                <a:ext cx="2886" cy="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800"/>
                  <a:t>4.13</a:t>
                </a:r>
                <a:endParaRPr lang="en-US" altLang="zh-CN" sz="2800"/>
              </a:p>
            </p:txBody>
          </p:sp>
        </p:grp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475" y="3175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465280" y="1809115"/>
            <a:ext cx="2421890" cy="1185545"/>
            <a:chOff x="5443" y="1879"/>
            <a:chExt cx="3814" cy="1867"/>
          </a:xfrm>
        </p:grpSpPr>
        <p:sp>
          <p:nvSpPr>
            <p:cNvPr id="28" name="圆角矩形 27"/>
            <p:cNvSpPr/>
            <p:nvPr>
              <p:custDataLst>
                <p:tags r:id="rId6"/>
              </p:custDataLst>
            </p:nvPr>
          </p:nvSpPr>
          <p:spPr>
            <a:xfrm>
              <a:off x="5456" y="1904"/>
              <a:ext cx="3801" cy="1842"/>
            </a:xfrm>
            <a:prstGeom prst="roundRect">
              <a:avLst>
                <a:gd name="adj" fmla="val 2873"/>
              </a:avLst>
            </a:prstGeom>
            <a:solidFill>
              <a:srgbClr val="EEF9F5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7"/>
              </p:custDataLst>
            </p:nvPr>
          </p:nvSpPr>
          <p:spPr>
            <a:xfrm>
              <a:off x="5443" y="1879"/>
              <a:ext cx="379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RMSE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>
              <p:custDataLst>
                <p:tags r:id="rId8"/>
              </p:custDataLst>
            </p:nvPr>
          </p:nvSpPr>
          <p:spPr>
            <a:xfrm>
              <a:off x="5470" y="2461"/>
              <a:ext cx="3771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6</a:t>
              </a:r>
              <a:endParaRPr lang="en-US" altLang="zh-CN" sz="2800"/>
            </a:p>
          </p:txBody>
        </p:sp>
        <p:sp>
          <p:nvSpPr>
            <p:cNvPr id="31" name="文本框 30"/>
            <p:cNvSpPr txBox="1"/>
            <p:nvPr>
              <p:custDataLst>
                <p:tags r:id="rId9"/>
              </p:custDataLst>
            </p:nvPr>
          </p:nvSpPr>
          <p:spPr>
            <a:xfrm>
              <a:off x="5443" y="3184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 rot="0">
            <a:off x="6416675" y="1780540"/>
            <a:ext cx="2421890" cy="1185545"/>
            <a:chOff x="1286" y="8225"/>
            <a:chExt cx="2919" cy="1446"/>
          </a:xfrm>
        </p:grpSpPr>
        <p:sp>
          <p:nvSpPr>
            <p:cNvPr id="34" name="圆角矩形 33"/>
            <p:cNvSpPr/>
            <p:nvPr>
              <p:custDataLst>
                <p:tags r:id="rId11"/>
              </p:custDataLst>
            </p:nvPr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F9EEF9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1286" y="8225"/>
              <a:ext cx="2907" cy="4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R²</a:t>
              </a:r>
              <a:endParaRPr lang="en-US" altLang="zh-CN"/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1307" y="8676"/>
              <a:ext cx="2886" cy="6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0.941</a:t>
              </a:r>
              <a:endParaRPr lang="en-US" altLang="zh-CN" sz="2800"/>
            </a:p>
          </p:txBody>
        </p:sp>
      </p:grpSp>
      <p:pic>
        <p:nvPicPr>
          <p:cNvPr id="2" name="图片 1" descr="validation_model_comparison"/>
          <p:cNvPicPr>
            <a:picLocks noChangeAspect="1"/>
          </p:cNvPicPr>
          <p:nvPr/>
        </p:nvPicPr>
        <p:blipFill>
          <a:blip r:embed="rId14"/>
          <a:srcRect t="10333"/>
          <a:stretch>
            <a:fillRect/>
          </a:stretch>
        </p:blipFill>
        <p:spPr>
          <a:xfrm>
            <a:off x="0" y="3516630"/>
            <a:ext cx="9144000" cy="307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Prediction Example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04925" y="937260"/>
            <a:ext cx="6452235" cy="5769610"/>
            <a:chOff x="0" y="1476"/>
            <a:chExt cx="14400" cy="9086"/>
          </a:xfrm>
        </p:grpSpPr>
        <p:pic>
          <p:nvPicPr>
            <p:cNvPr id="10" name="图片 9" descr="Black_4cm_20261022_1919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476"/>
              <a:ext cx="14400" cy="3052"/>
            </a:xfrm>
            <a:prstGeom prst="rect">
              <a:avLst/>
            </a:prstGeom>
          </p:spPr>
        </p:pic>
        <p:pic>
          <p:nvPicPr>
            <p:cNvPr id="14" name="图片 13" descr="Black_4cm_20261022_19200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528"/>
              <a:ext cx="14400" cy="3052"/>
            </a:xfrm>
            <a:prstGeom prst="rect">
              <a:avLst/>
            </a:prstGeom>
          </p:spPr>
        </p:pic>
        <p:pic>
          <p:nvPicPr>
            <p:cNvPr id="15" name="图片 14" descr="Black_4cm_20261022_19200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580"/>
              <a:ext cx="14400" cy="298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3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5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6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7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8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9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0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2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3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4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5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6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7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8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19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0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2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3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4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5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6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WPS 演示</Application>
  <PresentationFormat>Converted Presentation</PresentationFormat>
  <Paragraphs>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SimSun</vt:lpstr>
      <vt:lpstr>Wingdings</vt:lpstr>
      <vt:lpstr>Arial</vt:lpstr>
      <vt:lpstr>Times New Roman</vt:lpstr>
      <vt:lpstr>Times New Roman</vt:lpstr>
      <vt:lpstr>Wingdings</vt:lpstr>
      <vt:lpstr>Microsoft YaHei</vt:lpstr>
      <vt:lpstr>Arial Unicode MS</vt:lpstr>
      <vt:lpstr>MS PGothic</vt:lpstr>
      <vt:lpstr>Calibri</vt:lpstr>
      <vt:lpstr>Office テーマ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46</cp:revision>
  <dcterms:created xsi:type="dcterms:W3CDTF">2026-09-29T07:20:00Z</dcterms:created>
  <dcterms:modified xsi:type="dcterms:W3CDTF">2026-10-23T02:36:18Z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