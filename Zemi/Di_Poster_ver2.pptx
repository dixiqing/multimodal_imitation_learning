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2" r:id="rId3"/>
  </p:sldIdLst>
  <p:sldSz cx="21383625" cy="3027489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9AFB9AC9-849A-46B5-8791-5A4776CB4721}">
          <p14:sldIdLst>
            <p14:sldId id="262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9704021" initials="1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0" d="100"/>
          <a:sy n="30" d="100"/>
        </p:scale>
        <p:origin x="2832" y="-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ustomXml" Target="../customXml/item1.xml"/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customXml" Target="../customXml/item3.xml"/><Relationship Id="rId10" Type="http://schemas.openxmlformats.org/officeDocument/2006/relationships/customXml" Target="../customXml/item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F9A3C2-EFA0-436B-B6F2-D154FB18DCD2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3E25C6-AF22-4119-9F16-34E82B50A0C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E25C6-AF22-4119-9F16-34E82B50A0C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0"/>
            </a:lvl1pPr>
            <a:lvl2pPr marL="1069340" indent="0" algn="ctr">
              <a:buNone/>
              <a:defRPr sz="4675"/>
            </a:lvl2pPr>
            <a:lvl3pPr marL="2138045" indent="0" algn="ctr">
              <a:buNone/>
              <a:defRPr sz="4210"/>
            </a:lvl3pPr>
            <a:lvl4pPr marL="3207385" indent="0" algn="ctr">
              <a:buNone/>
              <a:defRPr sz="3740"/>
            </a:lvl4pPr>
            <a:lvl5pPr marL="4276725" indent="0" algn="ctr">
              <a:buNone/>
              <a:defRPr sz="3740"/>
            </a:lvl5pPr>
            <a:lvl6pPr marL="5346065" indent="0" algn="ctr">
              <a:buNone/>
              <a:defRPr sz="3740"/>
            </a:lvl6pPr>
            <a:lvl7pPr marL="6414770" indent="0" algn="ctr">
              <a:buNone/>
              <a:defRPr sz="3740"/>
            </a:lvl7pPr>
            <a:lvl8pPr marL="7484110" indent="0" algn="ctr">
              <a:buNone/>
              <a:defRPr sz="3740"/>
            </a:lvl8pPr>
            <a:lvl9pPr marL="8553450" indent="0" algn="ctr">
              <a:buNone/>
              <a:defRPr sz="374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0">
                <a:solidFill>
                  <a:schemeClr val="tx1"/>
                </a:solidFill>
              </a:defRPr>
            </a:lvl1pPr>
            <a:lvl2pPr marL="1069340" indent="0">
              <a:buNone/>
              <a:defRPr sz="4675">
                <a:solidFill>
                  <a:schemeClr val="tx1">
                    <a:tint val="75000"/>
                  </a:schemeClr>
                </a:solidFill>
              </a:defRPr>
            </a:lvl2pPr>
            <a:lvl3pPr marL="2138045" indent="0">
              <a:buNone/>
              <a:defRPr sz="4210">
                <a:solidFill>
                  <a:schemeClr val="tx1">
                    <a:tint val="75000"/>
                  </a:schemeClr>
                </a:solidFill>
              </a:defRPr>
            </a:lvl3pPr>
            <a:lvl4pPr marL="3207385" indent="0">
              <a:buNone/>
              <a:defRPr sz="3740">
                <a:solidFill>
                  <a:schemeClr val="tx1">
                    <a:tint val="75000"/>
                  </a:schemeClr>
                </a:solidFill>
              </a:defRPr>
            </a:lvl4pPr>
            <a:lvl5pPr marL="4276725" indent="0">
              <a:buNone/>
              <a:defRPr sz="3740">
                <a:solidFill>
                  <a:schemeClr val="tx1">
                    <a:tint val="75000"/>
                  </a:schemeClr>
                </a:solidFill>
              </a:defRPr>
            </a:lvl5pPr>
            <a:lvl6pPr marL="5346065" indent="0">
              <a:buNone/>
              <a:defRPr sz="3740">
                <a:solidFill>
                  <a:schemeClr val="tx1">
                    <a:tint val="75000"/>
                  </a:schemeClr>
                </a:solidFill>
              </a:defRPr>
            </a:lvl6pPr>
            <a:lvl7pPr marL="6414770" indent="0">
              <a:buNone/>
              <a:defRPr sz="3740">
                <a:solidFill>
                  <a:schemeClr val="tx1">
                    <a:tint val="75000"/>
                  </a:schemeClr>
                </a:solidFill>
              </a:defRPr>
            </a:lvl7pPr>
            <a:lvl8pPr marL="7484110" indent="0">
              <a:buNone/>
              <a:defRPr sz="3740">
                <a:solidFill>
                  <a:schemeClr val="tx1">
                    <a:tint val="75000"/>
                  </a:schemeClr>
                </a:solidFill>
              </a:defRPr>
            </a:lvl8pPr>
            <a:lvl9pPr marL="8553450" indent="0">
              <a:buNone/>
              <a:defRPr sz="37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0" b="1"/>
            </a:lvl1pPr>
            <a:lvl2pPr marL="1069340" indent="0">
              <a:buNone/>
              <a:defRPr sz="4675" b="1"/>
            </a:lvl2pPr>
            <a:lvl3pPr marL="2138045" indent="0">
              <a:buNone/>
              <a:defRPr sz="4210" b="1"/>
            </a:lvl3pPr>
            <a:lvl4pPr marL="3207385" indent="0">
              <a:buNone/>
              <a:defRPr sz="3740" b="1"/>
            </a:lvl4pPr>
            <a:lvl5pPr marL="4276725" indent="0">
              <a:buNone/>
              <a:defRPr sz="3740" b="1"/>
            </a:lvl5pPr>
            <a:lvl6pPr marL="5346065" indent="0">
              <a:buNone/>
              <a:defRPr sz="3740" b="1"/>
            </a:lvl6pPr>
            <a:lvl7pPr marL="6414770" indent="0">
              <a:buNone/>
              <a:defRPr sz="3740" b="1"/>
            </a:lvl7pPr>
            <a:lvl8pPr marL="7484110" indent="0">
              <a:buNone/>
              <a:defRPr sz="3740" b="1"/>
            </a:lvl8pPr>
            <a:lvl9pPr marL="8553450" indent="0">
              <a:buNone/>
              <a:defRPr sz="3740" b="1"/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0" b="1"/>
            </a:lvl1pPr>
            <a:lvl2pPr marL="1069340" indent="0">
              <a:buNone/>
              <a:defRPr sz="4675" b="1"/>
            </a:lvl2pPr>
            <a:lvl3pPr marL="2138045" indent="0">
              <a:buNone/>
              <a:defRPr sz="4210" b="1"/>
            </a:lvl3pPr>
            <a:lvl4pPr marL="3207385" indent="0">
              <a:buNone/>
              <a:defRPr sz="3740" b="1"/>
            </a:lvl4pPr>
            <a:lvl5pPr marL="4276725" indent="0">
              <a:buNone/>
              <a:defRPr sz="3740" b="1"/>
            </a:lvl5pPr>
            <a:lvl6pPr marL="5346065" indent="0">
              <a:buNone/>
              <a:defRPr sz="3740" b="1"/>
            </a:lvl6pPr>
            <a:lvl7pPr marL="6414770" indent="0">
              <a:buNone/>
              <a:defRPr sz="3740" b="1"/>
            </a:lvl7pPr>
            <a:lvl8pPr marL="7484110" indent="0">
              <a:buNone/>
              <a:defRPr sz="3740" b="1"/>
            </a:lvl8pPr>
            <a:lvl9pPr marL="8553450" indent="0">
              <a:buNone/>
              <a:defRPr sz="3740" b="1"/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5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5"/>
            </a:lvl1pPr>
            <a:lvl2pPr>
              <a:defRPr sz="6550"/>
            </a:lvl2pPr>
            <a:lvl3pPr>
              <a:defRPr sz="5610"/>
            </a:lvl3pPr>
            <a:lvl4pPr>
              <a:defRPr sz="4675"/>
            </a:lvl4pPr>
            <a:lvl5pPr>
              <a:defRPr sz="4675"/>
            </a:lvl5pPr>
            <a:lvl6pPr>
              <a:defRPr sz="4675"/>
            </a:lvl6pPr>
            <a:lvl7pPr>
              <a:defRPr sz="4675"/>
            </a:lvl7pPr>
            <a:lvl8pPr>
              <a:defRPr sz="4675"/>
            </a:lvl8pPr>
            <a:lvl9pPr>
              <a:defRPr sz="4675"/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0"/>
            </a:lvl1pPr>
            <a:lvl2pPr marL="1069340" indent="0">
              <a:buNone/>
              <a:defRPr sz="3275"/>
            </a:lvl2pPr>
            <a:lvl3pPr marL="2138045" indent="0">
              <a:buNone/>
              <a:defRPr sz="2805"/>
            </a:lvl3pPr>
            <a:lvl4pPr marL="3207385" indent="0">
              <a:buNone/>
              <a:defRPr sz="2340"/>
            </a:lvl4pPr>
            <a:lvl5pPr marL="4276725" indent="0">
              <a:buNone/>
              <a:defRPr sz="2340"/>
            </a:lvl5pPr>
            <a:lvl6pPr marL="5346065" indent="0">
              <a:buNone/>
              <a:defRPr sz="2340"/>
            </a:lvl6pPr>
            <a:lvl7pPr marL="6414770" indent="0">
              <a:buNone/>
              <a:defRPr sz="2340"/>
            </a:lvl7pPr>
            <a:lvl8pPr marL="7484110" indent="0">
              <a:buNone/>
              <a:defRPr sz="2340"/>
            </a:lvl8pPr>
            <a:lvl9pPr marL="8553450" indent="0">
              <a:buNone/>
              <a:defRPr sz="2340"/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5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5"/>
            </a:lvl1pPr>
            <a:lvl2pPr marL="1069340" indent="0">
              <a:buNone/>
              <a:defRPr sz="6550"/>
            </a:lvl2pPr>
            <a:lvl3pPr marL="2138045" indent="0">
              <a:buNone/>
              <a:defRPr sz="5610"/>
            </a:lvl3pPr>
            <a:lvl4pPr marL="3207385" indent="0">
              <a:buNone/>
              <a:defRPr sz="4675"/>
            </a:lvl4pPr>
            <a:lvl5pPr marL="4276725" indent="0">
              <a:buNone/>
              <a:defRPr sz="4675"/>
            </a:lvl5pPr>
            <a:lvl6pPr marL="5346065" indent="0">
              <a:buNone/>
              <a:defRPr sz="4675"/>
            </a:lvl6pPr>
            <a:lvl7pPr marL="6414770" indent="0">
              <a:buNone/>
              <a:defRPr sz="4675"/>
            </a:lvl7pPr>
            <a:lvl8pPr marL="7484110" indent="0">
              <a:buNone/>
              <a:defRPr sz="4675"/>
            </a:lvl8pPr>
            <a:lvl9pPr marL="8553450" indent="0">
              <a:buNone/>
              <a:defRPr sz="4675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0"/>
            </a:lvl1pPr>
            <a:lvl2pPr marL="1069340" indent="0">
              <a:buNone/>
              <a:defRPr sz="3275"/>
            </a:lvl2pPr>
            <a:lvl3pPr marL="2138045" indent="0">
              <a:buNone/>
              <a:defRPr sz="2805"/>
            </a:lvl3pPr>
            <a:lvl4pPr marL="3207385" indent="0">
              <a:buNone/>
              <a:defRPr sz="2340"/>
            </a:lvl4pPr>
            <a:lvl5pPr marL="4276725" indent="0">
              <a:buNone/>
              <a:defRPr sz="2340"/>
            </a:lvl5pPr>
            <a:lvl6pPr marL="5346065" indent="0">
              <a:buNone/>
              <a:defRPr sz="2340"/>
            </a:lvl6pPr>
            <a:lvl7pPr marL="6414770" indent="0">
              <a:buNone/>
              <a:defRPr sz="2340"/>
            </a:lvl7pPr>
            <a:lvl8pPr marL="7484110" indent="0">
              <a:buNone/>
              <a:defRPr sz="2340"/>
            </a:lvl8pPr>
            <a:lvl9pPr marL="8553450" indent="0">
              <a:buNone/>
              <a:defRPr sz="2340"/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138045" rtl="0" eaLnBrk="1" latinLnBrk="0" hangingPunct="1">
        <a:lnSpc>
          <a:spcPct val="90000"/>
        </a:lnSpc>
        <a:spcBef>
          <a:spcPct val="0"/>
        </a:spcBef>
        <a:buNone/>
        <a:defRPr kumimoji="1" sz="102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670" indent="-534670" algn="l" defTabSz="2138045" rtl="0" eaLnBrk="1" latinLnBrk="0" hangingPunct="1">
        <a:lnSpc>
          <a:spcPct val="90000"/>
        </a:lnSpc>
        <a:spcBef>
          <a:spcPts val="2340"/>
        </a:spcBef>
        <a:buFont typeface="Arial" panose="020B0604020202020204" pitchFamily="34" charset="0"/>
        <a:buChar char="•"/>
        <a:defRPr kumimoji="1" sz="6550" kern="1200">
          <a:solidFill>
            <a:schemeClr val="tx1"/>
          </a:solidFill>
          <a:latin typeface="+mn-lt"/>
          <a:ea typeface="+mn-ea"/>
          <a:cs typeface="+mn-cs"/>
        </a:defRPr>
      </a:lvl1pPr>
      <a:lvl2pPr marL="1604010" indent="-534670" algn="l" defTabSz="213804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kumimoji="1" sz="5610" kern="1200">
          <a:solidFill>
            <a:schemeClr val="tx1"/>
          </a:solidFill>
          <a:latin typeface="+mn-lt"/>
          <a:ea typeface="+mn-ea"/>
          <a:cs typeface="+mn-cs"/>
        </a:defRPr>
      </a:lvl2pPr>
      <a:lvl3pPr marL="2672715" indent="-534670" algn="l" defTabSz="213804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kumimoji="1" sz="4675" kern="1200">
          <a:solidFill>
            <a:schemeClr val="tx1"/>
          </a:solidFill>
          <a:latin typeface="+mn-lt"/>
          <a:ea typeface="+mn-ea"/>
          <a:cs typeface="+mn-cs"/>
        </a:defRPr>
      </a:lvl3pPr>
      <a:lvl4pPr marL="3742055" indent="-534670" algn="l" defTabSz="213804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4pPr>
      <a:lvl5pPr marL="4811395" indent="-534670" algn="l" defTabSz="213804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5pPr>
      <a:lvl6pPr marL="5880100" indent="-534670" algn="l" defTabSz="213804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6pPr>
      <a:lvl7pPr marL="6949440" indent="-534670" algn="l" defTabSz="213804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7pPr>
      <a:lvl8pPr marL="8018780" indent="-534670" algn="l" defTabSz="213804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8pPr>
      <a:lvl9pPr marL="9088120" indent="-534670" algn="l" defTabSz="213804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045" rtl="0" eaLnBrk="1" latinLnBrk="0" hangingPunct="1"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1pPr>
      <a:lvl2pPr marL="1069340" algn="l" defTabSz="2138045" rtl="0" eaLnBrk="1" latinLnBrk="0" hangingPunct="1"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2pPr>
      <a:lvl3pPr marL="2138045" algn="l" defTabSz="2138045" rtl="0" eaLnBrk="1" latinLnBrk="0" hangingPunct="1"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3pPr>
      <a:lvl4pPr marL="3207385" algn="l" defTabSz="2138045" rtl="0" eaLnBrk="1" latinLnBrk="0" hangingPunct="1"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4pPr>
      <a:lvl5pPr marL="4276725" algn="l" defTabSz="2138045" rtl="0" eaLnBrk="1" latinLnBrk="0" hangingPunct="1"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5pPr>
      <a:lvl6pPr marL="5346065" algn="l" defTabSz="2138045" rtl="0" eaLnBrk="1" latinLnBrk="0" hangingPunct="1"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6pPr>
      <a:lvl7pPr marL="6414770" algn="l" defTabSz="2138045" rtl="0" eaLnBrk="1" latinLnBrk="0" hangingPunct="1"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7pPr>
      <a:lvl8pPr marL="7484110" algn="l" defTabSz="2138045" rtl="0" eaLnBrk="1" latinLnBrk="0" hangingPunct="1"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8pPr>
      <a:lvl9pPr marL="8553450" algn="l" defTabSz="2138045" rtl="0" eaLnBrk="1" latinLnBrk="0" hangingPunct="1"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10045700" y="23115905"/>
            <a:ext cx="11337290" cy="6317615"/>
            <a:chOff x="15820" y="35625"/>
            <a:chExt cx="17854" cy="9949"/>
          </a:xfrm>
        </p:grpSpPr>
        <p:grpSp>
          <p:nvGrpSpPr>
            <p:cNvPr id="12" name="组合 11"/>
            <p:cNvGrpSpPr/>
            <p:nvPr/>
          </p:nvGrpSpPr>
          <p:grpSpPr>
            <a:xfrm>
              <a:off x="15820" y="35625"/>
              <a:ext cx="17657" cy="8836"/>
              <a:chOff x="15820" y="36813"/>
              <a:chExt cx="17657" cy="8836"/>
            </a:xfrm>
          </p:grpSpPr>
          <p:pic>
            <p:nvPicPr>
              <p:cNvPr id="11" name="图片 10" descr="surface_3d_medium_trial1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5820" y="36814"/>
                <a:ext cx="10339" cy="8835"/>
              </a:xfrm>
              <a:prstGeom prst="rect">
                <a:avLst/>
              </a:prstGeom>
            </p:spPr>
          </p:pic>
          <p:pic>
            <p:nvPicPr>
              <p:cNvPr id="8" name="图片 7" descr="velocity_detrend_medium_trial1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263" y="36813"/>
                <a:ext cx="8214" cy="8837"/>
              </a:xfrm>
              <a:prstGeom prst="rect">
                <a:avLst/>
              </a:prstGeom>
            </p:spPr>
          </p:pic>
        </p:grpSp>
        <p:sp>
          <p:nvSpPr>
            <p:cNvPr id="23" name="文本框 22"/>
            <p:cNvSpPr txBox="1"/>
            <p:nvPr/>
          </p:nvSpPr>
          <p:spPr>
            <a:xfrm>
              <a:off x="16351" y="44461"/>
              <a:ext cx="8000" cy="1113"/>
            </a:xfrm>
            <a:prstGeom prst="rect">
              <a:avLst/>
            </a:prstGeom>
          </p:spPr>
          <p:txBody>
            <a:bodyPr>
              <a:spAutoFit/>
            </a:bodyPr>
            <a:p>
              <a:pPr algn="ctr"/>
              <a:r>
                <a:rPr lang="en-US" altLang="zh-CN" sz="4000"/>
                <a:t>3D Surface Plot</a:t>
              </a:r>
              <a:endParaRPr lang="en-US" altLang="zh-CN" sz="400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26158" y="44462"/>
              <a:ext cx="7517" cy="1113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4000"/>
                <a:t>Data Line Chart </a:t>
              </a:r>
              <a:endParaRPr lang="en-US" altLang="zh-CN" sz="4000"/>
            </a:p>
          </p:txBody>
        </p:sp>
      </p:grpSp>
      <p:sp>
        <p:nvSpPr>
          <p:cNvPr id="22" name="正方形/長方形 21"/>
          <p:cNvSpPr/>
          <p:nvPr/>
        </p:nvSpPr>
        <p:spPr>
          <a:xfrm>
            <a:off x="0" y="-6627"/>
            <a:ext cx="21383625" cy="324512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/>
              <a:t>3</a:t>
            </a:r>
            <a:endParaRPr kumimoji="1" lang="ja-JP" altLang="en-US" sz="1400" dirty="0"/>
          </a:p>
        </p:txBody>
      </p:sp>
      <p:sp>
        <p:nvSpPr>
          <p:cNvPr id="4" name="正方形/長方形 3"/>
          <p:cNvSpPr/>
          <p:nvPr/>
        </p:nvSpPr>
        <p:spPr>
          <a:xfrm>
            <a:off x="2743199" y="-275713"/>
            <a:ext cx="18514478" cy="38682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7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Multimodal Fusion-Based Prosthetic Hand Control System via Natural Grasping</a:t>
            </a:r>
            <a:endParaRPr kumimoji="1" lang="en-US" altLang="zh-CN" sz="72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0" y="1"/>
            <a:ext cx="2743199" cy="32385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4">
                  <a:lumMod val="75000"/>
                </a:schemeClr>
              </a:solidFill>
              <a:highlight>
                <a:srgbClr val="0000FF"/>
              </a:highlight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515600" y="3592497"/>
            <a:ext cx="20318125" cy="43786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972000" y="3708000"/>
            <a:ext cx="19431000" cy="3784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zh-CN" sz="5200"/>
              <a:t>Most current prosthetic hands rely on preset pattern recognition — once a grasp category is identified, no further adjustment is made. This study records data from natural human grasping to analyze the relationship between target size, velocity, and finger width, providing a predictive basis for the prosthetic hand to mimic human grasping behavior.</a:t>
            </a:r>
            <a:endParaRPr lang="en-US" altLang="zh-CN" sz="5200"/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5943297" y="1074976"/>
            <a:ext cx="8194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/>
              <a:t>タスク</a:t>
            </a:r>
            <a:endParaRPr kumimoji="1" lang="ja-JP" altLang="en-US" sz="2000"/>
          </a:p>
        </p:txBody>
      </p:sp>
      <p:grpSp>
        <p:nvGrpSpPr>
          <p:cNvPr id="31" name="グループ化 30"/>
          <p:cNvGrpSpPr/>
          <p:nvPr/>
        </p:nvGrpSpPr>
        <p:grpSpPr>
          <a:xfrm>
            <a:off x="806449" y="8398905"/>
            <a:ext cx="9733280" cy="6711950"/>
            <a:chOff x="806449" y="8398905"/>
            <a:chExt cx="9733280" cy="6711950"/>
          </a:xfrm>
        </p:grpSpPr>
        <p:sp>
          <p:nvSpPr>
            <p:cNvPr id="17" name="正方形/長方形 16"/>
            <p:cNvSpPr/>
            <p:nvPr/>
          </p:nvSpPr>
          <p:spPr>
            <a:xfrm>
              <a:off x="847724" y="9480310"/>
              <a:ext cx="9692005" cy="56305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zh-CN" sz="5400" dirty="0">
                  <a:solidFill>
                    <a:schemeClr val="tx1"/>
                  </a:solidFill>
                </a:rPr>
                <a:t>Record data from natural human grasping and build a dynamic model of human grasping to learn this process, with the goal of predicting finger width during grasping.</a:t>
              </a:r>
              <a:endParaRPr kumimoji="1" lang="en-US" altLang="zh-CN" sz="5400" dirty="0">
                <a:solidFill>
                  <a:schemeClr val="tx1"/>
                </a:solidFill>
              </a:endParaRPr>
            </a:p>
          </p:txBody>
        </p:sp>
        <p:sp>
          <p:nvSpPr>
            <p:cNvPr id="7" name="テキスト ボックス 6"/>
            <p:cNvSpPr txBox="1"/>
            <p:nvPr/>
          </p:nvSpPr>
          <p:spPr>
            <a:xfrm>
              <a:off x="806449" y="8398905"/>
              <a:ext cx="3441700" cy="1106805"/>
            </a:xfrm>
            <a:prstGeom prst="rect">
              <a:avLst/>
            </a:prstGeom>
            <a:solidFill>
              <a:srgbClr val="0070C0"/>
            </a:solidFill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6600">
                  <a:solidFill>
                    <a:schemeClr val="bg1"/>
                  </a:solidFill>
                </a:rPr>
                <a:t>Objective</a:t>
              </a:r>
              <a:endParaRPr kumimoji="1" lang="en-US" altLang="zh-CN" sz="6600">
                <a:solidFill>
                  <a:schemeClr val="bg1"/>
                </a:solidFill>
              </a:endParaRPr>
            </a:p>
          </p:txBody>
        </p:sp>
      </p:grpSp>
      <p:grpSp>
        <p:nvGrpSpPr>
          <p:cNvPr id="32" name="グループ化 31"/>
          <p:cNvGrpSpPr/>
          <p:nvPr/>
        </p:nvGrpSpPr>
        <p:grpSpPr>
          <a:xfrm>
            <a:off x="806450" y="15965170"/>
            <a:ext cx="9575800" cy="5752465"/>
            <a:chOff x="806448" y="16406592"/>
            <a:chExt cx="9575800" cy="5520690"/>
          </a:xfrm>
        </p:grpSpPr>
        <p:sp>
          <p:nvSpPr>
            <p:cNvPr id="16" name="正方形/長方形 15"/>
            <p:cNvSpPr/>
            <p:nvPr/>
          </p:nvSpPr>
          <p:spPr>
            <a:xfrm>
              <a:off x="806448" y="17692467"/>
              <a:ext cx="9575800" cy="423481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en-US" altLang="zh-CN" sz="5400"/>
                <a:t>The data collection system uses a camera and IMU to </a:t>
              </a:r>
              <a:r>
                <a:rPr lang="en-US" altLang="zh-CN" sz="5400">
                  <a:sym typeface="+mn-ea"/>
                </a:rPr>
                <a:t>synchronous-ly </a:t>
              </a:r>
              <a:r>
                <a:rPr lang="en-US" altLang="zh-CN" sz="5400"/>
                <a:t>record grasping velocity,</a:t>
              </a:r>
              <a:endParaRPr lang="en-US" altLang="zh-CN" sz="5400"/>
            </a:p>
            <a:p>
              <a:pPr algn="just"/>
              <a:r>
                <a:rPr lang="en-US" altLang="zh-CN" sz="5400"/>
                <a:t>target object area, and </a:t>
              </a:r>
              <a:endParaRPr lang="en-US" altLang="zh-CN" sz="5400"/>
            </a:p>
            <a:p>
              <a:pPr algn="just"/>
              <a:r>
                <a:rPr lang="en-US" altLang="zh-CN" sz="5400"/>
                <a:t>finger width.</a:t>
              </a:r>
              <a:endParaRPr lang="en-US" altLang="zh-CN" sz="5400"/>
            </a:p>
          </p:txBody>
        </p:sp>
        <p:sp>
          <p:nvSpPr>
            <p:cNvPr id="30" name="テキスト ボックス 29"/>
            <p:cNvSpPr txBox="1"/>
            <p:nvPr/>
          </p:nvSpPr>
          <p:spPr>
            <a:xfrm>
              <a:off x="806448" y="16406592"/>
              <a:ext cx="2651760" cy="1062210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r>
                <a:rPr kumimoji="1" lang="en-US" altLang="ja-JP" sz="6600">
                  <a:solidFill>
                    <a:schemeClr val="bg1"/>
                  </a:solidFill>
                </a:rPr>
                <a:t>System</a:t>
              </a:r>
              <a:endParaRPr kumimoji="1" lang="en-US" altLang="ja-JP" sz="6600">
                <a:solidFill>
                  <a:schemeClr val="bg1"/>
                </a:solidFill>
              </a:endParaRPr>
            </a:p>
          </p:txBody>
        </p:sp>
      </p:grpSp>
      <p:grpSp>
        <p:nvGrpSpPr>
          <p:cNvPr id="5" name="グループ化 4"/>
          <p:cNvGrpSpPr/>
          <p:nvPr/>
        </p:nvGrpSpPr>
        <p:grpSpPr>
          <a:xfrm>
            <a:off x="806450" y="22516294"/>
            <a:ext cx="9239250" cy="6423025"/>
            <a:chOff x="847819" y="21510380"/>
            <a:chExt cx="9239250" cy="6423025"/>
          </a:xfrm>
        </p:grpSpPr>
        <p:sp>
          <p:nvSpPr>
            <p:cNvPr id="19" name="正方形/長方形 18"/>
            <p:cNvSpPr/>
            <p:nvPr/>
          </p:nvSpPr>
          <p:spPr>
            <a:xfrm>
              <a:off x="847819" y="22618455"/>
              <a:ext cx="9239250" cy="53149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kumimoji="1" lang="en-US" altLang="zh-CN" sz="5400" dirty="0">
                  <a:solidFill>
                    <a:schemeClr val="tx1"/>
                  </a:solidFill>
                </a:rPr>
                <a:t>Finger width consistently shows a rise–peak–close pattern and changes with target area and velocity. The same pattern appears across different object sizes.</a:t>
              </a:r>
              <a:endParaRPr kumimoji="1" lang="en-US" altLang="zh-CN" sz="5400" dirty="0">
                <a:solidFill>
                  <a:schemeClr val="tx1"/>
                </a:solidFill>
              </a:endParaRPr>
            </a:p>
          </p:txBody>
        </p:sp>
        <p:sp>
          <p:nvSpPr>
            <p:cNvPr id="34" name="テキスト ボックス 33"/>
            <p:cNvSpPr txBox="1"/>
            <p:nvPr/>
          </p:nvSpPr>
          <p:spPr>
            <a:xfrm>
              <a:off x="847819" y="21510380"/>
              <a:ext cx="2325370" cy="1106805"/>
            </a:xfrm>
            <a:prstGeom prst="rect">
              <a:avLst/>
            </a:prstGeom>
            <a:solidFill>
              <a:srgbClr val="0070C0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ja-JP" sz="6600" dirty="0">
                  <a:solidFill>
                    <a:schemeClr val="bg1"/>
                  </a:solidFill>
                </a:rPr>
                <a:t>Result</a:t>
              </a:r>
              <a:endParaRPr kumimoji="1" lang="en-US" altLang="ja-JP" sz="66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6" name="图片 5" descr="8月23日 (1)(2)_副本_副本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1495" y="8399145"/>
            <a:ext cx="10244455" cy="635254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0691495" y="14751685"/>
            <a:ext cx="10245725" cy="759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4000"/>
              <a:t>Record Grasping Process</a:t>
            </a:r>
            <a:endParaRPr lang="en-US" altLang="zh-CN" sz="4000"/>
          </a:p>
        </p:txBody>
      </p:sp>
      <p:pic>
        <p:nvPicPr>
          <p:cNvPr id="15" name="图片 14" descr="8de470062a386e6ed57d61e88851b22b_7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1495" y="16219170"/>
            <a:ext cx="10245725" cy="4600575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10691495" y="20819745"/>
            <a:ext cx="10245725" cy="759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4000"/>
              <a:t>Recording Device</a:t>
            </a:r>
            <a:endParaRPr lang="en-US" altLang="zh-CN"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ゼミ用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a3c59a-3bb1-4ac4-8580-9b2ba74cfe5b">
      <Terms xmlns="http://schemas.microsoft.com/office/infopath/2007/PartnerControls"/>
    </lcf76f155ced4ddcb4097134ff3c332f>
    <TaxCatchAll xmlns="56bf2a1e-b0f5-401e-a825-4d0cd333482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EEEA4EB4B1C87045B2C7B9E34AE6DFF4" ma:contentTypeVersion="19" ma:contentTypeDescription="新しいドキュメントを作成します。" ma:contentTypeScope="" ma:versionID="4f038ffa0c726833972f2af68c46cc30">
  <xsd:schema xmlns:xsd="http://www.w3.org/2001/XMLSchema" xmlns:xs="http://www.w3.org/2001/XMLSchema" xmlns:p="http://schemas.microsoft.com/office/2006/metadata/properties" xmlns:ns2="c8a3c59a-3bb1-4ac4-8580-9b2ba74cfe5b" xmlns:ns3="56bf2a1e-b0f5-401e-a825-4d0cd333482d" targetNamespace="http://schemas.microsoft.com/office/2006/metadata/properties" ma:root="true" ma:fieldsID="187025544e01ff297cbf3bf0307fb9a6" ns2:_="" ns3:_="">
    <xsd:import namespace="c8a3c59a-3bb1-4ac4-8580-9b2ba74cfe5b"/>
    <xsd:import namespace="56bf2a1e-b0f5-401e-a825-4d0cd33348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a3c59a-3bb1-4ac4-8580-9b2ba74cfe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画像タグ" ma:readOnly="false" ma:fieldId="{5cf76f15-5ced-4ddc-b409-7134ff3c332f}" ma:taxonomyMulti="true" ma:sspId="60da577d-8c11-42e1-9807-59d1f71190c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bf2a1e-b0f5-401e-a825-4d0cd333482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afb7adad-3fb7-4e7a-8b83-8b41f07d25c8}" ma:internalName="TaxCatchAll" ma:showField="CatchAllData" ma:web="56bf2a1e-b0f5-401e-a825-4d0cd33348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FF5254-6677-40D1-9AC5-708BD99A5F2F}">
  <ds:schemaRefs/>
</ds:datastoreItem>
</file>

<file path=customXml/itemProps2.xml><?xml version="1.0" encoding="utf-8"?>
<ds:datastoreItem xmlns:ds="http://schemas.openxmlformats.org/officeDocument/2006/customXml" ds:itemID="{421482C2-62AA-49D5-A8C6-3B11DBF976A6}">
  <ds:schemaRefs/>
</ds:datastoreItem>
</file>

<file path=customXml/itemProps3.xml><?xml version="1.0" encoding="utf-8"?>
<ds:datastoreItem xmlns:ds="http://schemas.openxmlformats.org/officeDocument/2006/customXml" ds:itemID="{EA20DB92-DE40-4CC4-943F-262A99D6EC7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971</Words>
  <Application>WPS 演示</Application>
  <PresentationFormat>ユーザー設定</PresentationFormat>
  <Paragraphs>30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SimSun</vt:lpstr>
      <vt:lpstr>Wingdings</vt:lpstr>
      <vt:lpstr>Times New Roman</vt:lpstr>
      <vt:lpstr>MS PGothic</vt:lpstr>
      <vt:lpstr>Microsoft YaHei</vt:lpstr>
      <vt:lpstr>Arial Unicode MS</vt:lpstr>
      <vt:lpstr>Yu Gothic</vt:lpstr>
      <vt:lpstr>DengXian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19704021</dc:creator>
  <cp:lastModifiedBy>down down down down down</cp:lastModifiedBy>
  <cp:revision>5</cp:revision>
  <dcterms:created xsi:type="dcterms:W3CDTF">2020-05-28T10:29:00Z</dcterms:created>
  <dcterms:modified xsi:type="dcterms:W3CDTF">2026-08-25T16:19:22Z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0x010100EEEA4EB4B1C87045B2C7B9E34AE6DFF4</vt:lpwstr>
  </property>
  <property fmtid="{D5CDD505-2E9C-101B-9397-08002B2CF9AE}" pid="3" name="MediaServiceImageTags">
    <vt:lpwstr/>
  </property>
  <property fmtid="{D5CDD505-2E9C-101B-9397-08002B2CF9AE}" pid="4" name="KSOProductBuildVer">
    <vt:lpwstr>2052-12.1.0.28043</vt:lpwstr>
  </property>
  <property fmtid="{D5CDD505-2E9C-101B-9397-08002B2CF9AE}" pid="5" name="ICV">
    <vt:lpwstr>D5846C5C13A94B38A80437D250824E60_12</vt:lpwstr>
  </property>
</Properties>
</file>