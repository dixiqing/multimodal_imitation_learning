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9"/>
  </p:notesMasterIdLst>
  <p:sldIdLst>
    <p:sldId id="256" r:id="rId3"/>
    <p:sldId id="257" r:id="rId4"/>
    <p:sldId id="258" r:id="rId5"/>
    <p:sldId id="261" r:id="rId6"/>
    <p:sldId id="262" r:id="rId7"/>
    <p:sldId id="259" r:id="rId8"/>
    <p:sldId id="260" r:id="rId10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E2841"/>
    <a:srgbClr val="09CDA6"/>
    <a:srgbClr val="07977D"/>
    <a:srgbClr val="340000"/>
    <a:srgbClr val="4E95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66"/>
    <p:restoredTop sz="94628"/>
  </p:normalViewPr>
  <p:slideViewPr>
    <p:cSldViewPr snapToGrid="0">
      <p:cViewPr varScale="1">
        <p:scale>
          <a:sx n="110" d="100"/>
          <a:sy n="110" d="100"/>
        </p:scale>
        <p:origin x="56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notesMaster" Target="notesMasters/notesMaster1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3" Type="http://schemas.openxmlformats.org/officeDocument/2006/relationships/tableStyles" Target="tableStyles.xml"/><Relationship Id="rId12" Type="http://schemas.openxmlformats.org/officeDocument/2006/relationships/viewProps" Target="viewProps.xml"/><Relationship Id="rId11" Type="http://schemas.openxmlformats.org/officeDocument/2006/relationships/presProps" Target="presProps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twitter.com/srvmshr" TargetMode="External"/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4854" name="Shape 48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5" name="Google Shape;4855;g878bb028e8_885_5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56" name="Google Shape;4856;g878bb028e8_885_5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Created by @srvmshr</a:t>
            </a:r>
            <a:endParaRPr lang="en-GB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Sourav @ yahoo.com</a:t>
            </a:r>
            <a:endParaRPr lang="en-GB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5186" name="Shape 5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7" name="Google Shape;5187;g78327f1586_217_0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88" name="Google Shape;5188;g78327f1586_217_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By </a:t>
            </a:r>
            <a:r>
              <a:rPr lang="en-GB" u="sng">
                <a:solidFill>
                  <a:schemeClr val="hlink"/>
                </a:solidFill>
                <a:hlinkClick r:id="rId3"/>
              </a:rPr>
              <a:t>@srvmshr</a:t>
            </a:r>
            <a:endParaRPr lang="en-GB" u="sng">
              <a:solidFill>
                <a:schemeClr val="hlink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sourav@yahoo.com</a:t>
            </a:r>
            <a:endParaRPr lang="en-GB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字幕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D291E6-B9C3-104C-94A4-940744509B47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E2CB28-B11E-CC49-97DC-E780A2D429ED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D291E6-B9C3-104C-94A4-940744509B47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E2CB28-B11E-CC49-97DC-E780A2D429ED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D291E6-B9C3-104C-94A4-940744509B47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E2CB28-B11E-CC49-97DC-E780A2D429ED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D291E6-B9C3-104C-94A4-940744509B47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E2CB28-B11E-CC49-97DC-E780A2D429ED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D291E6-B9C3-104C-94A4-940744509B47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8" name="フッター プレースホルダー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E2CB28-B11E-CC49-97DC-E780A2D429ED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D291E6-B9C3-104C-94A4-940744509B47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E2CB28-B11E-CC49-97DC-E780A2D429ED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D291E6-B9C3-104C-94A4-940744509B47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E2CB28-B11E-CC49-97DC-E780A2D429ED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D291E6-B9C3-104C-94A4-940744509B47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E2CB28-B11E-CC49-97DC-E780A2D429ED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D291E6-B9C3-104C-94A4-940744509B47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E2CB28-B11E-CC49-97DC-E780A2D429ED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D291E6-B9C3-104C-94A4-940744509B47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E2CB28-B11E-CC49-97DC-E780A2D429ED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D291E6-B9C3-104C-94A4-940744509B47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E2CB28-B11E-CC49-97DC-E780A2D429ED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matchingName="Title and body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600" lvl="0" indent="-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200" lvl="1" indent="-423545">
              <a:spcBef>
                <a:spcPct val="427000"/>
              </a:spcBef>
              <a:spcAft>
                <a:spcPts val="0"/>
              </a:spcAft>
              <a:buSzPts val="1400"/>
              <a:buChar char="○"/>
              <a:defRPr/>
            </a:lvl2pPr>
            <a:lvl3pPr marL="1828800" lvl="2" indent="-423545">
              <a:spcBef>
                <a:spcPct val="427000"/>
              </a:spcBef>
              <a:spcAft>
                <a:spcPts val="0"/>
              </a:spcAft>
              <a:buSzPts val="1400"/>
              <a:buChar char="■"/>
              <a:defRPr/>
            </a:lvl3pPr>
            <a:lvl4pPr marL="2438400" lvl="3" indent="-423545">
              <a:spcBef>
                <a:spcPct val="427000"/>
              </a:spcBef>
              <a:spcAft>
                <a:spcPts val="0"/>
              </a:spcAft>
              <a:buSzPts val="1400"/>
              <a:buChar char="●"/>
              <a:defRPr/>
            </a:lvl4pPr>
            <a:lvl5pPr marL="3048000" lvl="4" indent="-423545">
              <a:spcBef>
                <a:spcPct val="427000"/>
              </a:spcBef>
              <a:spcAft>
                <a:spcPts val="0"/>
              </a:spcAft>
              <a:buSzPts val="1400"/>
              <a:buChar char="○"/>
              <a:defRPr/>
            </a:lvl5pPr>
            <a:lvl6pPr marL="3657600" lvl="5" indent="-423545">
              <a:spcBef>
                <a:spcPct val="427000"/>
              </a:spcBef>
              <a:spcAft>
                <a:spcPts val="0"/>
              </a:spcAft>
              <a:buSzPts val="1400"/>
              <a:buChar char="■"/>
              <a:defRPr/>
            </a:lvl6pPr>
            <a:lvl7pPr marL="4267200" lvl="6" indent="-423545">
              <a:spcBef>
                <a:spcPct val="427000"/>
              </a:spcBef>
              <a:spcAft>
                <a:spcPts val="0"/>
              </a:spcAft>
              <a:buSzPts val="1400"/>
              <a:buChar char="●"/>
              <a:defRPr/>
            </a:lvl7pPr>
            <a:lvl8pPr marL="4876800" lvl="7" indent="-423545">
              <a:spcBef>
                <a:spcPct val="427000"/>
              </a:spcBef>
              <a:spcAft>
                <a:spcPts val="0"/>
              </a:spcAft>
              <a:buSzPts val="1400"/>
              <a:buChar char="○"/>
              <a:defRPr/>
            </a:lvl8pPr>
            <a:lvl9pPr marL="5486400" lvl="8" indent="-423545">
              <a:spcBef>
                <a:spcPct val="4270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4D291E6-B9C3-104C-94A4-940744509B47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AE2CB28-B11E-CC49-97DC-E780A2D429ED}" type="slidenum">
              <a:rPr kumimoji="1" lang="ja-JP" altLang="en-US" smtClean="0"/>
            </a:fld>
            <a:endParaRPr kumimoji="1" lang="ja-JP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3.jpeg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5.jpeg"/><Relationship Id="rId1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image" Target="../media/image7.png"/><Relationship Id="rId1" Type="http://schemas.openxmlformats.org/officeDocument/2006/relationships/image" Target="../media/image6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8.jpe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9114" y="835161"/>
            <a:ext cx="4493772" cy="560720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7591" y="670925"/>
            <a:ext cx="7772400" cy="5829300"/>
          </a:xfrm>
          <a:prstGeom prst="rect">
            <a:avLst/>
          </a:prstGeom>
        </p:spPr>
      </p:pic>
      <p:pic>
        <p:nvPicPr>
          <p:cNvPr id="3" name="図 2" descr="velocity_detrend_medium_trial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8674" y="2221783"/>
            <a:ext cx="3761956" cy="307570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7905" y="916759"/>
            <a:ext cx="6163733" cy="4622800"/>
          </a:xfrm>
          <a:prstGeom prst="rect">
            <a:avLst/>
          </a:prstGeom>
        </p:spPr>
      </p:pic>
      <p:pic>
        <p:nvPicPr>
          <p:cNvPr id="5" name="図 4" descr="surface_3d_medium_trial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9956" y="1245334"/>
            <a:ext cx="4958773" cy="396701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14" name="组合 13"/>
          <p:cNvGrpSpPr/>
          <p:nvPr/>
        </p:nvGrpSpPr>
        <p:grpSpPr>
          <a:xfrm>
            <a:off x="1155065" y="1918335"/>
            <a:ext cx="1868170" cy="1159510"/>
            <a:chOff x="4230" y="2456"/>
            <a:chExt cx="2942" cy="1826"/>
          </a:xfrm>
        </p:grpSpPr>
        <p:sp>
          <p:nvSpPr>
            <p:cNvPr id="7" name="Google Shape;4859;p44"/>
            <p:cNvSpPr/>
            <p:nvPr/>
          </p:nvSpPr>
          <p:spPr>
            <a:xfrm>
              <a:off x="4230" y="2456"/>
              <a:ext cx="2107" cy="1826"/>
            </a:xfrm>
            <a:prstGeom prst="cube">
              <a:avLst>
                <a:gd name="adj" fmla="val 8683"/>
              </a:avLst>
            </a:prstGeom>
            <a:solidFill>
              <a:schemeClr val="accent6">
                <a:lumMod val="60000"/>
                <a:lumOff val="40000"/>
              </a:schemeClr>
            </a:solidFill>
            <a:ln w="9525" cap="flat" cmpd="sng">
              <a:noFill/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cxnSp>
          <p:nvCxnSpPr>
            <p:cNvPr id="11" name="直接箭头连接符 10"/>
            <p:cNvCxnSpPr>
              <a:stCxn id="7" idx="4"/>
            </p:cNvCxnSpPr>
            <p:nvPr/>
          </p:nvCxnSpPr>
          <p:spPr>
            <a:xfrm flipV="1">
              <a:off x="6265" y="3436"/>
              <a:ext cx="907" cy="12"/>
            </a:xfrm>
            <a:prstGeom prst="straightConnector1">
              <a:avLst/>
            </a:prstGeom>
            <a:ln>
              <a:solidFill>
                <a:srgbClr val="0E284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/>
        </p:nvGrpSpPr>
        <p:grpSpPr>
          <a:xfrm>
            <a:off x="998855" y="2769235"/>
            <a:ext cx="1906905" cy="1159510"/>
            <a:chOff x="3630" y="4675"/>
            <a:chExt cx="3003" cy="1826"/>
          </a:xfrm>
        </p:grpSpPr>
        <p:sp>
          <p:nvSpPr>
            <p:cNvPr id="10" name="Google Shape;4859;p44"/>
            <p:cNvSpPr/>
            <p:nvPr/>
          </p:nvSpPr>
          <p:spPr>
            <a:xfrm>
              <a:off x="3630" y="4675"/>
              <a:ext cx="2107" cy="1826"/>
            </a:xfrm>
            <a:prstGeom prst="cube">
              <a:avLst>
                <a:gd name="adj" fmla="val 8683"/>
              </a:avLst>
            </a:prstGeom>
            <a:solidFill>
              <a:schemeClr val="accent6">
                <a:lumMod val="60000"/>
                <a:lumOff val="40000"/>
              </a:schemeClr>
            </a:solidFill>
            <a:ln w="9525" cap="flat" cmpd="sng">
              <a:noFill/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cxnSp>
          <p:nvCxnSpPr>
            <p:cNvPr id="12" name="直接箭头连接符 11"/>
            <p:cNvCxnSpPr/>
            <p:nvPr/>
          </p:nvCxnSpPr>
          <p:spPr>
            <a:xfrm flipV="1">
              <a:off x="5669" y="5734"/>
              <a:ext cx="964" cy="12"/>
            </a:xfrm>
            <a:prstGeom prst="straightConnector1">
              <a:avLst/>
            </a:prstGeom>
            <a:ln>
              <a:solidFill>
                <a:srgbClr val="0E284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组合 20"/>
          <p:cNvGrpSpPr/>
          <p:nvPr/>
        </p:nvGrpSpPr>
        <p:grpSpPr>
          <a:xfrm>
            <a:off x="3140710" y="2180590"/>
            <a:ext cx="2215515" cy="1678940"/>
            <a:chOff x="4753" y="3707"/>
            <a:chExt cx="2440" cy="1961"/>
          </a:xfrm>
        </p:grpSpPr>
        <p:sp>
          <p:nvSpPr>
            <p:cNvPr id="5342" name="Google Shape;5342;p51"/>
            <p:cNvSpPr/>
            <p:nvPr/>
          </p:nvSpPr>
          <p:spPr>
            <a:xfrm>
              <a:off x="4761" y="3707"/>
              <a:ext cx="712" cy="705"/>
            </a:xfrm>
            <a:prstGeom prst="cube">
              <a:avLst>
                <a:gd name="adj" fmla="val 66940"/>
              </a:avLst>
            </a:prstGeom>
            <a:solidFill>
              <a:srgbClr val="FF0E0E"/>
            </a:solidFill>
            <a:ln w="9525" cap="flat" cmpd="sng">
              <a:noFill/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343" name="Google Shape;5343;p51"/>
            <p:cNvSpPr/>
            <p:nvPr/>
          </p:nvSpPr>
          <p:spPr>
            <a:xfrm>
              <a:off x="4753" y="4964"/>
              <a:ext cx="712" cy="705"/>
            </a:xfrm>
            <a:prstGeom prst="cube">
              <a:avLst>
                <a:gd name="adj" fmla="val 66940"/>
              </a:avLst>
            </a:prstGeom>
            <a:solidFill>
              <a:schemeClr val="tx2">
                <a:lumMod val="50000"/>
                <a:lumOff val="50000"/>
              </a:schemeClr>
            </a:solidFill>
            <a:ln w="9525" cap="flat" cmpd="sng">
              <a:noFill/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344" name="Google Shape;5344;p51"/>
            <p:cNvSpPr/>
            <p:nvPr/>
          </p:nvSpPr>
          <p:spPr>
            <a:xfrm>
              <a:off x="6481" y="4135"/>
              <a:ext cx="712" cy="705"/>
            </a:xfrm>
            <a:prstGeom prst="cube">
              <a:avLst>
                <a:gd name="adj" fmla="val 66940"/>
              </a:avLst>
            </a:prstGeom>
            <a:solidFill>
              <a:srgbClr val="4E95D9"/>
            </a:solidFill>
            <a:ln w="9525" cap="flat" cmpd="sng">
              <a:noFill/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345" name="Google Shape;5345;p51"/>
            <p:cNvSpPr/>
            <p:nvPr/>
          </p:nvSpPr>
          <p:spPr>
            <a:xfrm>
              <a:off x="5984" y="4637"/>
              <a:ext cx="712" cy="705"/>
            </a:xfrm>
            <a:prstGeom prst="cube">
              <a:avLst>
                <a:gd name="adj" fmla="val 66940"/>
              </a:avLst>
            </a:prstGeom>
            <a:solidFill>
              <a:srgbClr val="FF0E0E"/>
            </a:solidFill>
            <a:ln w="9525" cap="flat" cmpd="sng">
              <a:noFill/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cxnSp>
          <p:nvCxnSpPr>
            <p:cNvPr id="5358" name="Google Shape;5358;p51"/>
            <p:cNvCxnSpPr>
              <a:stCxn id="5342" idx="5"/>
              <a:endCxn id="5344" idx="0"/>
            </p:cNvCxnSpPr>
            <p:nvPr/>
          </p:nvCxnSpPr>
          <p:spPr>
            <a:xfrm>
              <a:off x="5473" y="3824"/>
              <a:ext cx="1600" cy="311"/>
            </a:xfrm>
            <a:prstGeom prst="curvedConnector2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359" name="Google Shape;5359;p51"/>
            <p:cNvCxnSpPr>
              <a:stCxn id="5343" idx="4"/>
              <a:endCxn id="5345" idx="3"/>
            </p:cNvCxnSpPr>
            <p:nvPr/>
          </p:nvCxnSpPr>
          <p:spPr>
            <a:xfrm rot="10800000" flipH="1">
              <a:off x="4994" y="5342"/>
              <a:ext cx="1111" cy="210"/>
            </a:xfrm>
            <a:prstGeom prst="curvedConnector2">
              <a:avLst/>
            </a:prstGeom>
            <a:noFill/>
            <a:ln w="9525" cap="flat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3" name="文本框 22"/>
          <p:cNvSpPr txBox="1"/>
          <p:nvPr/>
        </p:nvSpPr>
        <p:spPr>
          <a:xfrm>
            <a:off x="2740660" y="1715770"/>
            <a:ext cx="307594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b="1">
                <a:latin typeface="Times New Roman" panose="02020603050405020304" charset="0"/>
                <a:cs typeface="Times New Roman" panose="02020603050405020304" charset="0"/>
              </a:rPr>
              <a:t>Regression Model</a:t>
            </a:r>
            <a:endParaRPr lang="en-US" altLang="zh-CN" b="1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24" name="直接箭头连接符 23"/>
          <p:cNvCxnSpPr/>
          <p:nvPr/>
        </p:nvCxnSpPr>
        <p:spPr>
          <a:xfrm flipV="1">
            <a:off x="4976495" y="3193415"/>
            <a:ext cx="684000" cy="7620"/>
          </a:xfrm>
          <a:prstGeom prst="straightConnector1">
            <a:avLst/>
          </a:prstGeom>
          <a:ln>
            <a:solidFill>
              <a:srgbClr val="0E284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文本框 24"/>
          <p:cNvSpPr txBox="1"/>
          <p:nvPr/>
        </p:nvSpPr>
        <p:spPr>
          <a:xfrm>
            <a:off x="955040" y="3522980"/>
            <a:ext cx="133858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600" b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Acceleration</a:t>
            </a:r>
            <a:endParaRPr lang="en-US" altLang="zh-CN" sz="1600" b="1"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27" name="文本框 26"/>
          <p:cNvSpPr txBox="1"/>
          <p:nvPr/>
        </p:nvSpPr>
        <p:spPr>
          <a:xfrm>
            <a:off x="1108710" y="2084070"/>
            <a:ext cx="133858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600" b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Object Size</a:t>
            </a:r>
            <a:endParaRPr lang="en-US" altLang="zh-CN" sz="1600" b="1"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grpSp>
        <p:nvGrpSpPr>
          <p:cNvPr id="29" name="组合 28"/>
          <p:cNvGrpSpPr/>
          <p:nvPr/>
        </p:nvGrpSpPr>
        <p:grpSpPr>
          <a:xfrm>
            <a:off x="5731510" y="2669540"/>
            <a:ext cx="1423670" cy="853440"/>
            <a:chOff x="9310" y="4361"/>
            <a:chExt cx="2242" cy="1344"/>
          </a:xfrm>
        </p:grpSpPr>
        <p:sp>
          <p:nvSpPr>
            <p:cNvPr id="4861" name="Google Shape;4861;p44"/>
            <p:cNvSpPr/>
            <p:nvPr/>
          </p:nvSpPr>
          <p:spPr>
            <a:xfrm>
              <a:off x="9310" y="4361"/>
              <a:ext cx="2192" cy="1344"/>
            </a:xfrm>
            <a:prstGeom prst="cube">
              <a:avLst>
                <a:gd name="adj" fmla="val 21848"/>
              </a:avLst>
            </a:prstGeom>
            <a:solidFill>
              <a:srgbClr val="09CDA6"/>
            </a:solidFill>
            <a:ln w="9525" cap="flat" cmpd="sng">
              <a:noFill/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9310" y="4688"/>
              <a:ext cx="2242" cy="1016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r>
                <a:rPr lang="en-US" altLang="zh-CN" sz="1800" b="1">
                  <a:latin typeface="Times New Roman" panose="02020603050405020304" charset="0"/>
                  <a:cs typeface="Times New Roman" panose="02020603050405020304" charset="0"/>
                </a:rPr>
                <a:t>Fingertip </a:t>
              </a:r>
              <a:endParaRPr lang="en-US" altLang="zh-CN" sz="1800" b="1">
                <a:latin typeface="Times New Roman" panose="02020603050405020304" charset="0"/>
                <a:cs typeface="Times New Roman" panose="02020603050405020304" charset="0"/>
              </a:endParaRPr>
            </a:p>
            <a:p>
              <a:r>
                <a:rPr lang="en-US" altLang="zh-CN" sz="1800" b="1">
                  <a:latin typeface="Times New Roman" panose="02020603050405020304" charset="0"/>
                  <a:cs typeface="Times New Roman" panose="02020603050405020304" charset="0"/>
                </a:rPr>
                <a:t>Aperture</a:t>
              </a:r>
              <a:endParaRPr lang="en-US" altLang="ja-JP" sz="1600"/>
            </a:p>
          </p:txBody>
        </p:sp>
      </p:grpSp>
      <p:sp>
        <p:nvSpPr>
          <p:cNvPr id="30" name="文本框 29"/>
          <p:cNvSpPr txBox="1"/>
          <p:nvPr/>
        </p:nvSpPr>
        <p:spPr>
          <a:xfrm>
            <a:off x="2726690" y="251396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endParaRPr lang="zh-CN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4" name="图片 3" descr="516bf0ee-1a1a-49d2-9415-d861b53d52ba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01445" y="3665220"/>
            <a:ext cx="6924675" cy="3192780"/>
          </a:xfrm>
          <a:prstGeom prst="rect">
            <a:avLst/>
          </a:prstGeom>
        </p:spPr>
      </p:pic>
      <p:pic>
        <p:nvPicPr>
          <p:cNvPr id="5" name="图片 4" descr="mg8cv-0yrwd-00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325" y="645160"/>
            <a:ext cx="7616190" cy="2783840"/>
          </a:xfrm>
          <a:prstGeom prst="rect">
            <a:avLst/>
          </a:prstGeom>
        </p:spPr>
      </p:pic>
      <p:sp>
        <p:nvSpPr>
          <p:cNvPr id="6" name="上箭头 5"/>
          <p:cNvSpPr/>
          <p:nvPr/>
        </p:nvSpPr>
        <p:spPr>
          <a:xfrm rot="10800000">
            <a:off x="4453890" y="3317875"/>
            <a:ext cx="283210" cy="708025"/>
          </a:xfrm>
          <a:prstGeom prst="upArrow">
            <a:avLst>
              <a:gd name="adj1" fmla="val 35483"/>
              <a:gd name="adj2" fmla="val 58243"/>
            </a:avLst>
          </a:prstGeom>
          <a:solidFill>
            <a:srgbClr val="0E284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857" name="Shape 4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9" name="Google Shape;4859;p44"/>
          <p:cNvSpPr/>
          <p:nvPr/>
        </p:nvSpPr>
        <p:spPr>
          <a:xfrm>
            <a:off x="1454150" y="632460"/>
            <a:ext cx="1337945" cy="1159510"/>
          </a:xfrm>
          <a:prstGeom prst="cube">
            <a:avLst>
              <a:gd name="adj" fmla="val 8683"/>
            </a:avLst>
          </a:prstGeom>
          <a:solidFill>
            <a:srgbClr val="C9DAF8">
              <a:alpha val="39660"/>
            </a:srgbClr>
          </a:solidFill>
          <a:ln w="9525" cap="flat" cmpd="sng">
            <a:solidFill>
              <a:srgbClr val="0000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4860" name="Google Shape;4860;p44"/>
          <p:cNvSpPr/>
          <p:nvPr/>
        </p:nvSpPr>
        <p:spPr>
          <a:xfrm>
            <a:off x="9461500" y="6061075"/>
            <a:ext cx="607695" cy="1407160"/>
          </a:xfrm>
          <a:prstGeom prst="cube">
            <a:avLst>
              <a:gd name="adj" fmla="val 43894"/>
            </a:avLst>
          </a:prstGeom>
          <a:solidFill>
            <a:schemeClr val="accent6"/>
          </a:solidFill>
          <a:ln w="9525" cap="flat" cmpd="sng">
            <a:solidFill>
              <a:srgbClr val="0000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4861" name="Google Shape;4861;p44"/>
          <p:cNvSpPr/>
          <p:nvPr/>
        </p:nvSpPr>
        <p:spPr>
          <a:xfrm>
            <a:off x="11421745" y="4822825"/>
            <a:ext cx="767715" cy="647700"/>
          </a:xfrm>
          <a:prstGeom prst="cube">
            <a:avLst>
              <a:gd name="adj" fmla="val 42152"/>
            </a:avLst>
          </a:prstGeom>
          <a:solidFill>
            <a:srgbClr val="0097A7"/>
          </a:solidFill>
          <a:ln w="9525" cap="flat" cmpd="sng">
            <a:solidFill>
              <a:srgbClr val="0000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4862" name="Google Shape;4862;p44"/>
          <p:cNvSpPr/>
          <p:nvPr/>
        </p:nvSpPr>
        <p:spPr>
          <a:xfrm>
            <a:off x="7355840" y="4148455"/>
            <a:ext cx="2313940" cy="1884680"/>
          </a:xfrm>
          <a:prstGeom prst="cube">
            <a:avLst>
              <a:gd name="adj" fmla="val 18252"/>
            </a:avLst>
          </a:prstGeom>
          <a:solidFill>
            <a:srgbClr val="FF0000"/>
          </a:solidFill>
          <a:ln w="9525" cap="flat" cmpd="sng">
            <a:solidFill>
              <a:srgbClr val="0000FF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FFFF">
                <a:alpha val="50000"/>
              </a:srgbClr>
            </a:outerShdw>
          </a:effectLst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4863" name="Google Shape;4863;p44"/>
          <p:cNvSpPr/>
          <p:nvPr/>
        </p:nvSpPr>
        <p:spPr>
          <a:xfrm>
            <a:off x="8006080" y="3201035"/>
            <a:ext cx="1338580" cy="1807210"/>
          </a:xfrm>
          <a:prstGeom prst="cube">
            <a:avLst>
              <a:gd name="adj" fmla="val 18252"/>
            </a:avLst>
          </a:prstGeom>
          <a:solidFill>
            <a:srgbClr val="C9DAF8">
              <a:alpha val="39660"/>
            </a:srgbClr>
          </a:solidFill>
          <a:ln w="9525" cap="flat" cmpd="sng">
            <a:solidFill>
              <a:srgbClr val="0000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4864" name="Google Shape;4864;p44"/>
          <p:cNvSpPr txBox="1"/>
          <p:nvPr/>
        </p:nvSpPr>
        <p:spPr>
          <a:xfrm>
            <a:off x="5345430" y="5247640"/>
            <a:ext cx="1083310" cy="3117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35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NxNx192</a:t>
            </a:r>
            <a:endParaRPr sz="1335"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</p:txBody>
      </p:sp>
      <p:sp>
        <p:nvSpPr>
          <p:cNvPr id="4865" name="Google Shape;4865;p44"/>
          <p:cNvSpPr txBox="1"/>
          <p:nvPr/>
        </p:nvSpPr>
        <p:spPr>
          <a:xfrm>
            <a:off x="10183495" y="6263640"/>
            <a:ext cx="767715" cy="3117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35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NxNx64</a:t>
            </a:r>
            <a:endParaRPr sz="1335"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</p:txBody>
      </p:sp>
      <p:sp>
        <p:nvSpPr>
          <p:cNvPr id="4866" name="Google Shape;4866;p44"/>
          <p:cNvSpPr txBox="1"/>
          <p:nvPr/>
        </p:nvSpPr>
        <p:spPr>
          <a:xfrm>
            <a:off x="10636250" y="5852160"/>
            <a:ext cx="767715" cy="3117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35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NxNx32</a:t>
            </a:r>
            <a:endParaRPr sz="1335"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</p:txBody>
      </p:sp>
      <p:sp>
        <p:nvSpPr>
          <p:cNvPr id="4867" name="Google Shape;4867;p44"/>
          <p:cNvSpPr txBox="1"/>
          <p:nvPr/>
        </p:nvSpPr>
        <p:spPr>
          <a:xfrm>
            <a:off x="11151870" y="5158740"/>
            <a:ext cx="833755" cy="3117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35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NxNx128</a:t>
            </a:r>
            <a:endParaRPr sz="1335"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</p:txBody>
      </p:sp>
      <p:sp>
        <p:nvSpPr>
          <p:cNvPr id="4868" name="Google Shape;4868;p44"/>
          <p:cNvSpPr txBox="1"/>
          <p:nvPr/>
        </p:nvSpPr>
        <p:spPr>
          <a:xfrm>
            <a:off x="11985625" y="4081145"/>
            <a:ext cx="833755" cy="3117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35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NxNx192</a:t>
            </a:r>
            <a:endParaRPr sz="1335"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</p:txBody>
      </p:sp>
      <p:cxnSp>
        <p:nvCxnSpPr>
          <p:cNvPr id="4869" name="Google Shape;4869;p44"/>
          <p:cNvCxnSpPr>
            <a:endCxn id="4863" idx="2"/>
          </p:cNvCxnSpPr>
          <p:nvPr/>
        </p:nvCxnSpPr>
        <p:spPr>
          <a:xfrm>
            <a:off x="5843905" y="2551430"/>
            <a:ext cx="2162175" cy="167513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dashDot"/>
            <a:round/>
            <a:headEnd type="none" w="med" len="med"/>
            <a:tailEnd type="none" w="med" len="med"/>
          </a:ln>
        </p:spPr>
      </p:cxnSp>
      <p:cxnSp>
        <p:nvCxnSpPr>
          <p:cNvPr id="4870" name="Google Shape;4870;p44"/>
          <p:cNvCxnSpPr/>
          <p:nvPr/>
        </p:nvCxnSpPr>
        <p:spPr>
          <a:xfrm>
            <a:off x="6907530" y="3953510"/>
            <a:ext cx="2521585" cy="423545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dashDot"/>
            <a:round/>
            <a:headEnd type="none" w="med" len="med"/>
            <a:tailEnd type="none" w="med" len="med"/>
          </a:ln>
        </p:spPr>
      </p:cxnSp>
      <p:cxnSp>
        <p:nvCxnSpPr>
          <p:cNvPr id="4871" name="Google Shape;4871;p44"/>
          <p:cNvCxnSpPr/>
          <p:nvPr/>
        </p:nvCxnSpPr>
        <p:spPr>
          <a:xfrm rot="10800000" flipH="1">
            <a:off x="6907530" y="3689350"/>
            <a:ext cx="3103880" cy="24765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dashDot"/>
            <a:round/>
            <a:headEnd type="none" w="med" len="med"/>
            <a:tailEnd type="none" w="med" len="med"/>
          </a:ln>
        </p:spPr>
      </p:cxnSp>
      <p:cxnSp>
        <p:nvCxnSpPr>
          <p:cNvPr id="4872" name="Google Shape;4872;p44"/>
          <p:cNvCxnSpPr/>
          <p:nvPr/>
        </p:nvCxnSpPr>
        <p:spPr>
          <a:xfrm rot="10800000" flipH="1">
            <a:off x="6913880" y="2721610"/>
            <a:ext cx="3904615" cy="12319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dashDot"/>
            <a:round/>
            <a:headEnd type="none" w="med" len="med"/>
            <a:tailEnd type="none" w="med" len="med"/>
          </a:ln>
        </p:spPr>
      </p:cxnSp>
      <p:sp>
        <p:nvSpPr>
          <p:cNvPr id="4873" name="Google Shape;4873;p44"/>
          <p:cNvSpPr txBox="1"/>
          <p:nvPr/>
        </p:nvSpPr>
        <p:spPr>
          <a:xfrm>
            <a:off x="7238365" y="4777105"/>
            <a:ext cx="767715" cy="3117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i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1x1 Same</a:t>
            </a:r>
            <a:endParaRPr sz="1200" i="1"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</p:txBody>
      </p:sp>
      <p:sp>
        <p:nvSpPr>
          <p:cNvPr id="4874" name="Google Shape;4874;p44"/>
          <p:cNvSpPr txBox="1"/>
          <p:nvPr/>
        </p:nvSpPr>
        <p:spPr>
          <a:xfrm>
            <a:off x="7783830" y="4209415"/>
            <a:ext cx="767715" cy="3117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i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3x3 Same</a:t>
            </a:r>
            <a:endParaRPr sz="1200" i="1"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</p:txBody>
      </p:sp>
      <p:sp>
        <p:nvSpPr>
          <p:cNvPr id="4875" name="Google Shape;4875;p44"/>
          <p:cNvSpPr txBox="1"/>
          <p:nvPr/>
        </p:nvSpPr>
        <p:spPr>
          <a:xfrm>
            <a:off x="8660765" y="3809365"/>
            <a:ext cx="767715" cy="3117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i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5x5 Same</a:t>
            </a:r>
            <a:endParaRPr sz="1200" i="1"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</p:txBody>
      </p:sp>
      <p:sp>
        <p:nvSpPr>
          <p:cNvPr id="4876" name="Google Shape;4876;p44"/>
          <p:cNvSpPr txBox="1"/>
          <p:nvPr/>
        </p:nvSpPr>
        <p:spPr>
          <a:xfrm>
            <a:off x="8693785" y="2753995"/>
            <a:ext cx="767715" cy="3117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i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MaxPool Same s=1</a:t>
            </a:r>
            <a:endParaRPr sz="1200" i="1"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</p:txBody>
      </p:sp>
      <p:sp>
        <p:nvSpPr>
          <p:cNvPr id="4877" name="Google Shape;4877;p44"/>
          <p:cNvSpPr txBox="1"/>
          <p:nvPr/>
        </p:nvSpPr>
        <p:spPr>
          <a:xfrm>
            <a:off x="5345220" y="2636680"/>
            <a:ext cx="1039200" cy="42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35" b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Inception Module</a:t>
            </a:r>
            <a:endParaRPr sz="1335" b="1"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</p:txBody>
      </p:sp>
      <p:sp>
        <p:nvSpPr>
          <p:cNvPr id="4878" name="Google Shape;4878;p44"/>
          <p:cNvSpPr/>
          <p:nvPr/>
        </p:nvSpPr>
        <p:spPr>
          <a:xfrm>
            <a:off x="3653790" y="1057275"/>
            <a:ext cx="2314575" cy="1941195"/>
          </a:xfrm>
          <a:prstGeom prst="cube">
            <a:avLst>
              <a:gd name="adj" fmla="val 29604"/>
            </a:avLst>
          </a:prstGeom>
          <a:solidFill>
            <a:schemeClr val="accent6"/>
          </a:solidFill>
          <a:ln w="9525" cap="flat" cmpd="sng">
            <a:solidFill>
              <a:srgbClr val="0000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pic>
        <p:nvPicPr>
          <p:cNvPr id="1" name="图片 0" descr="有了这个模板，我的神经网络图不得直接起飞_5_得所愿_来自小红书网页版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28090" y="128270"/>
            <a:ext cx="10577830" cy="6628765"/>
          </a:xfrm>
          <a:prstGeom prst="rect">
            <a:avLst/>
          </a:prstGeom>
        </p:spPr>
      </p:pic>
      <p:sp>
        <p:nvSpPr>
          <p:cNvPr id="2" name="Google Shape;4859;p44"/>
          <p:cNvSpPr/>
          <p:nvPr/>
        </p:nvSpPr>
        <p:spPr>
          <a:xfrm>
            <a:off x="1073150" y="2041525"/>
            <a:ext cx="1337945" cy="1159510"/>
          </a:xfrm>
          <a:prstGeom prst="cube">
            <a:avLst>
              <a:gd name="adj" fmla="val 8683"/>
            </a:avLst>
          </a:prstGeom>
          <a:solidFill>
            <a:srgbClr val="C9DAF8">
              <a:alpha val="39660"/>
            </a:srgbClr>
          </a:solidFill>
          <a:ln w="9525" cap="flat" cmpd="sng">
            <a:solidFill>
              <a:srgbClr val="0000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cxnSp>
        <p:nvCxnSpPr>
          <p:cNvPr id="3" name="直接箭头连接符 2"/>
          <p:cNvCxnSpPr>
            <a:stCxn id="4859" idx="4"/>
          </p:cNvCxnSpPr>
          <p:nvPr/>
        </p:nvCxnSpPr>
        <p:spPr>
          <a:xfrm flipV="1">
            <a:off x="2691130" y="1254760"/>
            <a:ext cx="1161415" cy="762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直接箭头连接符 3"/>
          <p:cNvCxnSpPr/>
          <p:nvPr/>
        </p:nvCxnSpPr>
        <p:spPr>
          <a:xfrm flipV="1">
            <a:off x="2314575" y="2713990"/>
            <a:ext cx="1161415" cy="762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189" name="Shape 5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0" name="Google Shape;5190;p49"/>
          <p:cNvSpPr/>
          <p:nvPr/>
        </p:nvSpPr>
        <p:spPr>
          <a:xfrm>
            <a:off x="2714633" y="432267"/>
            <a:ext cx="673600" cy="698000"/>
          </a:xfrm>
          <a:prstGeom prst="ellipse">
            <a:avLst/>
          </a:prstGeom>
          <a:solidFill>
            <a:srgbClr val="C27BA0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5191" name="Google Shape;5191;p49"/>
          <p:cNvSpPr/>
          <p:nvPr/>
        </p:nvSpPr>
        <p:spPr>
          <a:xfrm>
            <a:off x="2714633" y="1946367"/>
            <a:ext cx="673600" cy="698000"/>
          </a:xfrm>
          <a:prstGeom prst="ellipse">
            <a:avLst/>
          </a:prstGeom>
          <a:solidFill>
            <a:srgbClr val="C27BA0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5192" name="Google Shape;5192;p49"/>
          <p:cNvSpPr/>
          <p:nvPr/>
        </p:nvSpPr>
        <p:spPr>
          <a:xfrm>
            <a:off x="2714633" y="3131600"/>
            <a:ext cx="673600" cy="698000"/>
          </a:xfrm>
          <a:prstGeom prst="ellipse">
            <a:avLst/>
          </a:prstGeom>
          <a:solidFill>
            <a:srgbClr val="C27BA0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5193" name="Google Shape;5193;p49"/>
          <p:cNvSpPr/>
          <p:nvPr/>
        </p:nvSpPr>
        <p:spPr>
          <a:xfrm>
            <a:off x="4866867" y="1576933"/>
            <a:ext cx="673600" cy="698000"/>
          </a:xfrm>
          <a:prstGeom prst="ellipse">
            <a:avLst/>
          </a:prstGeom>
          <a:solidFill>
            <a:srgbClr val="76A5A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cxnSp>
        <p:nvCxnSpPr>
          <p:cNvPr id="5194" name="Google Shape;5194;p49"/>
          <p:cNvCxnSpPr>
            <a:stCxn id="5190" idx="6"/>
            <a:endCxn id="5193" idx="2"/>
          </p:cNvCxnSpPr>
          <p:nvPr/>
        </p:nvCxnSpPr>
        <p:spPr>
          <a:xfrm>
            <a:off x="3388233" y="781267"/>
            <a:ext cx="1478800" cy="1144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195" name="Google Shape;5195;p49"/>
          <p:cNvCxnSpPr>
            <a:stCxn id="5191" idx="6"/>
            <a:endCxn id="5193" idx="2"/>
          </p:cNvCxnSpPr>
          <p:nvPr/>
        </p:nvCxnSpPr>
        <p:spPr>
          <a:xfrm rot="10800000" flipH="1">
            <a:off x="3388233" y="1925767"/>
            <a:ext cx="1478800" cy="369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196" name="Google Shape;5196;p49"/>
          <p:cNvCxnSpPr>
            <a:stCxn id="5192" idx="6"/>
            <a:endCxn id="5193" idx="2"/>
          </p:cNvCxnSpPr>
          <p:nvPr/>
        </p:nvCxnSpPr>
        <p:spPr>
          <a:xfrm rot="10800000" flipH="1">
            <a:off x="3388233" y="1925800"/>
            <a:ext cx="1478800" cy="1554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197" name="Google Shape;5197;p49"/>
          <p:cNvSpPr txBox="1"/>
          <p:nvPr/>
        </p:nvSpPr>
        <p:spPr>
          <a:xfrm>
            <a:off x="557300" y="444267"/>
            <a:ext cx="1022800" cy="470800"/>
          </a:xfrm>
          <a:prstGeom prst="rect">
            <a:avLst/>
          </a:prstGeom>
          <a:solidFill>
            <a:srgbClr val="EFEFEF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Size</a:t>
            </a:r>
            <a:endParaRPr sz="1600"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</p:txBody>
      </p:sp>
      <p:sp>
        <p:nvSpPr>
          <p:cNvPr id="5198" name="Google Shape;5198;p49"/>
          <p:cNvSpPr txBox="1"/>
          <p:nvPr/>
        </p:nvSpPr>
        <p:spPr>
          <a:xfrm>
            <a:off x="557300" y="1150667"/>
            <a:ext cx="1022800" cy="470800"/>
          </a:xfrm>
          <a:prstGeom prst="rect">
            <a:avLst/>
          </a:prstGeom>
          <a:solidFill>
            <a:srgbClr val="EFEFEF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#bed</a:t>
            </a:r>
            <a:endParaRPr sz="1600"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</p:txBody>
      </p:sp>
      <p:sp>
        <p:nvSpPr>
          <p:cNvPr id="5199" name="Google Shape;5199;p49"/>
          <p:cNvSpPr txBox="1"/>
          <p:nvPr/>
        </p:nvSpPr>
        <p:spPr>
          <a:xfrm>
            <a:off x="557300" y="2197933"/>
            <a:ext cx="1022800" cy="470800"/>
          </a:xfrm>
          <a:prstGeom prst="rect">
            <a:avLst/>
          </a:prstGeom>
          <a:solidFill>
            <a:srgbClr val="EFEFEF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ZIP</a:t>
            </a:r>
            <a:endParaRPr sz="1600"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</p:txBody>
      </p:sp>
      <p:sp>
        <p:nvSpPr>
          <p:cNvPr id="5200" name="Google Shape;5200;p49"/>
          <p:cNvSpPr txBox="1"/>
          <p:nvPr/>
        </p:nvSpPr>
        <p:spPr>
          <a:xfrm>
            <a:off x="557300" y="3245200"/>
            <a:ext cx="1022800" cy="470800"/>
          </a:xfrm>
          <a:prstGeom prst="rect">
            <a:avLst/>
          </a:prstGeom>
          <a:solidFill>
            <a:srgbClr val="EFEFEF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Wealth</a:t>
            </a:r>
            <a:endParaRPr sz="1600"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</p:txBody>
      </p:sp>
      <p:cxnSp>
        <p:nvCxnSpPr>
          <p:cNvPr id="5201" name="Google Shape;5201;p49"/>
          <p:cNvCxnSpPr>
            <a:stCxn id="5197" idx="3"/>
            <a:endCxn id="5190" idx="2"/>
          </p:cNvCxnSpPr>
          <p:nvPr/>
        </p:nvCxnSpPr>
        <p:spPr>
          <a:xfrm>
            <a:off x="1580100" y="679667"/>
            <a:ext cx="1134400" cy="101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202" name="Google Shape;5202;p49"/>
          <p:cNvCxnSpPr>
            <a:stCxn id="5198" idx="3"/>
            <a:endCxn id="5190" idx="2"/>
          </p:cNvCxnSpPr>
          <p:nvPr/>
        </p:nvCxnSpPr>
        <p:spPr>
          <a:xfrm rot="10800000" flipH="1">
            <a:off x="1580100" y="781267"/>
            <a:ext cx="1134400" cy="604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203" name="Google Shape;5203;p49"/>
          <p:cNvCxnSpPr>
            <a:stCxn id="5199" idx="3"/>
            <a:endCxn id="5191" idx="2"/>
          </p:cNvCxnSpPr>
          <p:nvPr/>
        </p:nvCxnSpPr>
        <p:spPr>
          <a:xfrm rot="10800000" flipH="1">
            <a:off x="1580100" y="2295333"/>
            <a:ext cx="1134400" cy="138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204" name="Google Shape;5204;p49"/>
          <p:cNvCxnSpPr>
            <a:stCxn id="5200" idx="3"/>
            <a:endCxn id="5192" idx="2"/>
          </p:cNvCxnSpPr>
          <p:nvPr/>
        </p:nvCxnSpPr>
        <p:spPr>
          <a:xfrm>
            <a:off x="1580100" y="3480600"/>
            <a:ext cx="1134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205" name="Google Shape;5205;p49"/>
          <p:cNvCxnSpPr>
            <a:stCxn id="5199" idx="3"/>
            <a:endCxn id="5192" idx="2"/>
          </p:cNvCxnSpPr>
          <p:nvPr/>
        </p:nvCxnSpPr>
        <p:spPr>
          <a:xfrm>
            <a:off x="1580100" y="2433333"/>
            <a:ext cx="1134400" cy="1047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206" name="Google Shape;5206;p49"/>
          <p:cNvSpPr txBox="1"/>
          <p:nvPr/>
        </p:nvSpPr>
        <p:spPr>
          <a:xfrm>
            <a:off x="4002033" y="740567"/>
            <a:ext cx="1022800" cy="4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65" i="1">
                <a:solidFill>
                  <a:srgbClr val="FF0000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Family?</a:t>
            </a:r>
            <a:endParaRPr sz="1465" i="1">
              <a:solidFill>
                <a:srgbClr val="FF0000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</p:txBody>
      </p:sp>
      <p:sp>
        <p:nvSpPr>
          <p:cNvPr id="5207" name="Google Shape;5207;p49"/>
          <p:cNvSpPr txBox="1"/>
          <p:nvPr/>
        </p:nvSpPr>
        <p:spPr>
          <a:xfrm>
            <a:off x="3504800" y="1678533"/>
            <a:ext cx="762400" cy="4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65" i="1">
                <a:solidFill>
                  <a:srgbClr val="FF0000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Walk?</a:t>
            </a:r>
            <a:endParaRPr sz="1465" i="1">
              <a:solidFill>
                <a:srgbClr val="FF0000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</p:txBody>
      </p:sp>
      <p:sp>
        <p:nvSpPr>
          <p:cNvPr id="5208" name="Google Shape;5208;p49"/>
          <p:cNvSpPr txBox="1"/>
          <p:nvPr/>
        </p:nvSpPr>
        <p:spPr>
          <a:xfrm>
            <a:off x="3813200" y="2904267"/>
            <a:ext cx="908000" cy="4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65" i="1">
                <a:solidFill>
                  <a:srgbClr val="FF0000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School</a:t>
            </a:r>
            <a:endParaRPr sz="1465" i="1">
              <a:solidFill>
                <a:srgbClr val="FF0000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</p:txBody>
      </p:sp>
      <p:cxnSp>
        <p:nvCxnSpPr>
          <p:cNvPr id="5209" name="Google Shape;5209;p49"/>
          <p:cNvCxnSpPr/>
          <p:nvPr/>
        </p:nvCxnSpPr>
        <p:spPr>
          <a:xfrm>
            <a:off x="5540467" y="1908133"/>
            <a:ext cx="535600" cy="11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210" name="Google Shape;5210;p49"/>
          <p:cNvSpPr txBox="1"/>
          <p:nvPr/>
        </p:nvSpPr>
        <p:spPr>
          <a:xfrm>
            <a:off x="6075533" y="1690533"/>
            <a:ext cx="1022800" cy="4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65">
                <a:solidFill>
                  <a:srgbClr val="FF0000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PRICE ŷ</a:t>
            </a:r>
            <a:endParaRPr sz="1465">
              <a:solidFill>
                <a:srgbClr val="FF0000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</p:txBody>
      </p:sp>
      <p:sp>
        <p:nvSpPr>
          <p:cNvPr id="5211" name="Google Shape;5211;p49"/>
          <p:cNvSpPr/>
          <p:nvPr/>
        </p:nvSpPr>
        <p:spPr>
          <a:xfrm>
            <a:off x="9382467" y="734667"/>
            <a:ext cx="673600" cy="698000"/>
          </a:xfrm>
          <a:prstGeom prst="ellipse">
            <a:avLst/>
          </a:prstGeom>
          <a:solidFill>
            <a:srgbClr val="C27BA0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5212" name="Google Shape;5212;p49"/>
          <p:cNvSpPr txBox="1"/>
          <p:nvPr/>
        </p:nvSpPr>
        <p:spPr>
          <a:xfrm>
            <a:off x="7985667" y="848267"/>
            <a:ext cx="762400" cy="470800"/>
          </a:xfrm>
          <a:prstGeom prst="rect">
            <a:avLst/>
          </a:prstGeom>
          <a:solidFill>
            <a:srgbClr val="EFEFEF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X</a:t>
            </a:r>
            <a:endParaRPr sz="1600"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</p:txBody>
      </p:sp>
      <p:sp>
        <p:nvSpPr>
          <p:cNvPr id="5213" name="Google Shape;5213;p49"/>
          <p:cNvSpPr txBox="1"/>
          <p:nvPr/>
        </p:nvSpPr>
        <p:spPr>
          <a:xfrm>
            <a:off x="10546067" y="848267"/>
            <a:ext cx="762400" cy="470800"/>
          </a:xfrm>
          <a:prstGeom prst="rect">
            <a:avLst/>
          </a:prstGeom>
          <a:solidFill>
            <a:srgbClr val="EFEFEF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Y</a:t>
            </a:r>
            <a:endParaRPr sz="1600"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</p:txBody>
      </p:sp>
      <p:cxnSp>
        <p:nvCxnSpPr>
          <p:cNvPr id="5214" name="Google Shape;5214;p49"/>
          <p:cNvCxnSpPr>
            <a:stCxn id="5212" idx="3"/>
            <a:endCxn id="5211" idx="2"/>
          </p:cNvCxnSpPr>
          <p:nvPr/>
        </p:nvCxnSpPr>
        <p:spPr>
          <a:xfrm>
            <a:off x="8748067" y="1083667"/>
            <a:ext cx="634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215" name="Google Shape;5215;p49"/>
          <p:cNvCxnSpPr>
            <a:stCxn id="5211" idx="6"/>
            <a:endCxn id="5213" idx="1"/>
          </p:cNvCxnSpPr>
          <p:nvPr/>
        </p:nvCxnSpPr>
        <p:spPr>
          <a:xfrm>
            <a:off x="10056067" y="1083667"/>
            <a:ext cx="490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216" name="Google Shape;5216;p49"/>
          <p:cNvSpPr/>
          <p:nvPr/>
        </p:nvSpPr>
        <p:spPr>
          <a:xfrm>
            <a:off x="2028367" y="5066533"/>
            <a:ext cx="673600" cy="698000"/>
          </a:xfrm>
          <a:prstGeom prst="ellipse">
            <a:avLst/>
          </a:prstGeom>
          <a:solidFill>
            <a:srgbClr val="C27BA0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5217" name="Google Shape;5217;p49"/>
          <p:cNvSpPr txBox="1"/>
          <p:nvPr/>
        </p:nvSpPr>
        <p:spPr>
          <a:xfrm>
            <a:off x="631567" y="5180133"/>
            <a:ext cx="762400" cy="470800"/>
          </a:xfrm>
          <a:prstGeom prst="rect">
            <a:avLst/>
          </a:prstGeom>
          <a:solidFill>
            <a:srgbClr val="EFEFEF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X</a:t>
            </a:r>
            <a:endParaRPr sz="1600"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</p:txBody>
      </p:sp>
      <p:sp>
        <p:nvSpPr>
          <p:cNvPr id="5218" name="Google Shape;5218;p49"/>
          <p:cNvSpPr txBox="1"/>
          <p:nvPr/>
        </p:nvSpPr>
        <p:spPr>
          <a:xfrm>
            <a:off x="3395167" y="4570533"/>
            <a:ext cx="985200" cy="470800"/>
          </a:xfrm>
          <a:prstGeom prst="rect">
            <a:avLst/>
          </a:prstGeom>
          <a:solidFill>
            <a:srgbClr val="EFEFEF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65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Ŷ</a:t>
            </a:r>
            <a:r>
              <a:rPr lang="en-GB" sz="1600"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= 0</a:t>
            </a:r>
            <a:endParaRPr sz="1600"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</p:txBody>
      </p:sp>
      <p:cxnSp>
        <p:nvCxnSpPr>
          <p:cNvPr id="5219" name="Google Shape;5219;p49"/>
          <p:cNvCxnSpPr>
            <a:stCxn id="5217" idx="3"/>
            <a:endCxn id="5216" idx="2"/>
          </p:cNvCxnSpPr>
          <p:nvPr/>
        </p:nvCxnSpPr>
        <p:spPr>
          <a:xfrm>
            <a:off x="1393967" y="5415533"/>
            <a:ext cx="634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220" name="Google Shape;5220;p49"/>
          <p:cNvCxnSpPr>
            <a:stCxn id="5216" idx="6"/>
            <a:endCxn id="5218" idx="1"/>
          </p:cNvCxnSpPr>
          <p:nvPr/>
        </p:nvCxnSpPr>
        <p:spPr>
          <a:xfrm rot="10800000" flipH="1">
            <a:off x="2701967" y="4805933"/>
            <a:ext cx="693200" cy="609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221" name="Google Shape;5221;p49"/>
          <p:cNvCxnSpPr>
            <a:stCxn id="5216" idx="6"/>
          </p:cNvCxnSpPr>
          <p:nvPr/>
        </p:nvCxnSpPr>
        <p:spPr>
          <a:xfrm>
            <a:off x="2701967" y="5415533"/>
            <a:ext cx="693200" cy="543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222" name="Google Shape;5222;p49"/>
          <p:cNvSpPr txBox="1"/>
          <p:nvPr/>
        </p:nvSpPr>
        <p:spPr>
          <a:xfrm>
            <a:off x="3395167" y="5723733"/>
            <a:ext cx="985200" cy="470800"/>
          </a:xfrm>
          <a:prstGeom prst="rect">
            <a:avLst/>
          </a:prstGeom>
          <a:solidFill>
            <a:srgbClr val="EFEFEF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65"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Ŷ</a:t>
            </a:r>
            <a:r>
              <a:rPr lang="en-GB" sz="1600"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= 1</a:t>
            </a:r>
            <a:endParaRPr sz="1600"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</p:txBody>
      </p:sp>
      <p:sp>
        <p:nvSpPr>
          <p:cNvPr id="5223" name="Google Shape;5223;p49"/>
          <p:cNvSpPr txBox="1"/>
          <p:nvPr/>
        </p:nvSpPr>
        <p:spPr>
          <a:xfrm>
            <a:off x="7235973" y="4739027"/>
            <a:ext cx="1949200" cy="6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/>
              <a:t>How does NN work (Insprired from Coursera)</a:t>
            </a:r>
            <a:endParaRPr lang="en-GB" sz="2400"/>
          </a:p>
        </p:txBody>
      </p:sp>
      <p:sp>
        <p:nvSpPr>
          <p:cNvPr id="5224" name="Google Shape;5224;p49"/>
          <p:cNvSpPr txBox="1"/>
          <p:nvPr/>
        </p:nvSpPr>
        <p:spPr>
          <a:xfrm>
            <a:off x="4536167" y="5585600"/>
            <a:ext cx="1949200" cy="6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/>
              <a:t>Logistic Regression</a:t>
            </a:r>
            <a:endParaRPr lang="en-GB" sz="2400"/>
          </a:p>
        </p:txBody>
      </p:sp>
      <p:sp>
        <p:nvSpPr>
          <p:cNvPr id="5225" name="Google Shape;5225;p49"/>
          <p:cNvSpPr txBox="1"/>
          <p:nvPr/>
        </p:nvSpPr>
        <p:spPr>
          <a:xfrm>
            <a:off x="8678433" y="1772167"/>
            <a:ext cx="1949200" cy="6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/>
              <a:t>Basic Neuron Model</a:t>
            </a:r>
            <a:endParaRPr lang="en-GB" sz="24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>
          <a:solidFill>
            <a:srgbClr val="0E2841"/>
          </a:solidFill>
          <a:tailEnd type="arrow"/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280</Words>
  <Application>WPS 演示</Application>
  <PresentationFormat>Widescreen</PresentationFormat>
  <Paragraphs>61</Paragraphs>
  <Slides>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20" baseType="lpstr">
      <vt:lpstr>Arial</vt:lpstr>
      <vt:lpstr>宋体</vt:lpstr>
      <vt:lpstr>Wingdings</vt:lpstr>
      <vt:lpstr>微软雅黑</vt:lpstr>
      <vt:lpstr>Arial Unicode MS</vt:lpstr>
      <vt:lpstr>Yu Gothic Light</vt:lpstr>
      <vt:lpstr>Yu Gothic</vt:lpstr>
      <vt:lpstr>等线</vt:lpstr>
      <vt:lpstr>Calibri</vt:lpstr>
      <vt:lpstr>Consolas</vt:lpstr>
      <vt:lpstr>等线 Light</vt:lpstr>
      <vt:lpstr>Times New Roman</vt:lpstr>
      <vt:lpstr>Office テーマ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福田　修</dc:creator>
  <cp:lastModifiedBy>down down down down down</cp:lastModifiedBy>
  <cp:revision>11</cp:revision>
  <dcterms:created xsi:type="dcterms:W3CDTF">2026-09-03T12:20:00Z</dcterms:created>
  <dcterms:modified xsi:type="dcterms:W3CDTF">2026-09-07T17:01:32Z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2052-12.1.0.28505</vt:lpwstr>
  </property>
  <property fmtid="{D5CDD505-2E9C-101B-9397-08002B2CF9AE}" pid="3" name="ICV">
    <vt:lpwstr>A3C808721F1147F5800B15E736F11D51_12</vt:lpwstr>
  </property>
</Properties>
</file>