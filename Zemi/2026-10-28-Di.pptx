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mp4" ContentType="video/mp4"/>
  <Default Extension="rels" ContentType="application/vnd.openxmlformats-package.relationship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379" r:id="rId5"/>
    <p:sldId id="380" r:id="rId6"/>
    <p:sldId id="353" r:id="rId7"/>
    <p:sldId id="369" r:id="rId8"/>
    <p:sldId id="370" r:id="rId9"/>
    <p:sldId id="371" r:id="rId10"/>
    <p:sldId id="354" r:id="rId11"/>
    <p:sldId id="355" r:id="rId12"/>
    <p:sldId id="372" r:id="rId13"/>
    <p:sldId id="373" r:id="rId14"/>
    <p:sldId id="374" r:id="rId15"/>
    <p:sldId id="376" r:id="rId16"/>
    <p:sldId id="377" r:id="rId17"/>
    <p:sldId id="359" r:id="rId18"/>
    <p:sldId id="381" r:id="rId19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4FB"/>
    <a:srgbClr val="2C2C2C"/>
    <a:srgbClr val="6A6A6A"/>
    <a:srgbClr val="848484"/>
    <a:srgbClr val="5D5D5D"/>
    <a:srgbClr val="424242"/>
    <a:srgbClr val="F4E8CF"/>
    <a:srgbClr val="C31111"/>
    <a:srgbClr val="8B1010"/>
    <a:srgbClr val="F9E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Hello everyone im d, my research is ...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Approximately 57.7 million people </a:t>
            </a:r>
            <a:r>
              <a:rPr lang="en-US" altLang="ja-JP">
                <a:sym typeface="+mn-ea"/>
              </a:rPr>
              <a:t>lost an</a:t>
            </a:r>
            <a:r>
              <a:rPr lang="en-US" altLang="zh-CN">
                <a:sym typeface="+mn-ea"/>
              </a:rPr>
              <a:t> upper limb.</a:t>
            </a:r>
            <a:endParaRPr lang="en-US" altLang="zh-CN"/>
          </a:p>
          <a:p>
            <a:r>
              <a:rPr lang="en-US" altLang="zh-CN">
                <a:sym typeface="+mn-ea"/>
              </a:rPr>
              <a:t>This significantly impacts their daily lives, so the prosthetic hand research aim to help them.</a:t>
            </a:r>
            <a:endParaRPr lang="en-US" altLang="zh-CN"/>
          </a:p>
          <a:p>
            <a:r>
              <a:rPr lang="en-US" altLang="ja-JP">
                <a:sym typeface="+mn-ea"/>
              </a:rPr>
              <a:t>With computational power and algorithms continue to advance, the prosthetic hand are able to recognize an increasing number of movements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en-US" altLang="zh-CN">
                <a:sym typeface="+mn-ea"/>
              </a:rPr>
              <a:t>V</a:t>
            </a:r>
            <a:r>
              <a:rPr lang="en-US" altLang="en-US">
                <a:sym typeface="+mn-ea"/>
              </a:rPr>
              <a:t>á</a:t>
            </a:r>
            <a:r>
              <a:rPr lang="en-US" altLang="zh-CN">
                <a:sym typeface="+mn-ea"/>
              </a:rPr>
              <a:t>sconez</a:t>
            </a:r>
            <a:r>
              <a:rPr lang="en-US" altLang="zh-CN">
                <a:latin typeface="+mj-lt"/>
                <a:cs typeface="+mj-lt"/>
                <a:sym typeface="+mn-ea"/>
              </a:rPr>
              <a:t> et al. proposed a system, that combine EMG with IMU, adopts a deep reinforcement learning model. Classifies 11 types of grasping movements. The results achieved 97% accuracy.</a:t>
            </a:r>
            <a:br>
              <a:rPr lang="en-US" altLang="zh-CN">
                <a:latin typeface="+mj-lt"/>
                <a:cs typeface="+mj-lt"/>
                <a:sym typeface="+mn-ea"/>
              </a:rPr>
            </a:br>
            <a:r>
              <a:rPr lang="en-US" altLang="zh-CN"/>
              <a:t>2.Zandigohar et al.</a:t>
            </a:r>
            <a:br>
              <a:rPr lang="zh-CN" altLang="en-US"/>
            </a:br>
            <a:r>
              <a:rPr lang="en-US" altLang="zh-CN"/>
              <a:t>..</a:t>
            </a:r>
            <a:br>
              <a:rPr lang="en-US" altLang="zh-CN"/>
            </a:br>
            <a:r>
              <a:rPr lang="en-US" altLang="zh-CN"/>
              <a:t>This is </a:t>
            </a:r>
            <a:r>
              <a:rPr lang="en-US" altLang="zh-CN">
                <a:sym typeface="+mn-ea"/>
              </a:rPr>
              <a:t>currently</a:t>
            </a:r>
            <a:r>
              <a:rPr lang="en-US" altLang="zh-CN"/>
              <a:t> one reason for the high </a:t>
            </a:r>
            <a:r>
              <a:rPr lang="en-US" altLang="zh-CN" dirty="0">
                <a:sym typeface="+mn-ea"/>
              </a:rPr>
              <a:t>rejection</a:t>
            </a:r>
            <a:r>
              <a:rPr lang="en-US" altLang="zh-CN"/>
              <a:t> rate of prosthetic hand.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objective is to Replace classification models to Regression Models.</a:t>
            </a:r>
            <a:br>
              <a:rPr lang="en-US" altLang="zh-CN"/>
            </a:br>
            <a:r>
              <a:rPr lang="en-US" altLang="zh-CN"/>
              <a:t>From modular approach to end to end approach to reduce </a:t>
            </a:r>
            <a:r>
              <a:rPr lang="en-US" altLang="zh-CN">
                <a:sym typeface="+mn-ea"/>
              </a:rPr>
              <a:t>system complexity and loss of important information</a:t>
            </a:r>
            <a:endParaRPr lang="en-US" altLang="zh-CN"/>
          </a:p>
          <a:p>
            <a:r>
              <a:rPr lang="en-US" altLang="zh-CN"/>
              <a:t>RQ is to verify that can the system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build </a:t>
            </a:r>
            <a:r>
              <a:rPr lang="en-US" altLang="zh-CN"/>
              <a:t>on an end-to-end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approach combined with regression be successfully applied, 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tags" Target="../tags/tag16.xml"/><Relationship Id="rId3" Type="http://schemas.openxmlformats.org/officeDocument/2006/relationships/image" Target="../media/image7.png"/><Relationship Id="rId2" Type="http://schemas.openxmlformats.org/officeDocument/2006/relationships/tags" Target="../tags/tag15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media" Target="../media/media2.mp4"/><Relationship Id="rId3" Type="http://schemas.openxmlformats.org/officeDocument/2006/relationships/video" Target="../media/media2.mp4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1.png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4530" y="1016635"/>
            <a:ext cx="7775575" cy="1522730"/>
          </a:xfrm>
        </p:spPr>
        <p:txBody>
          <a:bodyPr vert="horz" anchor="ctr" anchorCtr="1">
            <a:noAutofit/>
          </a:bodyPr>
          <a:lstStyle/>
          <a:p>
            <a:pPr algn="ctr"/>
            <a:r>
              <a:rPr lang="en-US" altLang="zh-CN" sz="3600"/>
              <a:t>A Vision Regression Model for Fingertip Aperture Prediction</a:t>
            </a:r>
            <a:endParaRPr lang="en-US" altLang="zh-CN" sz="360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4530" y="4070350"/>
            <a:ext cx="777557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Saga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University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Graduate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School of Science and Engineering​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altLang="zh-CN" sz="2000" dirty="0">
                <a:solidFill>
                  <a:srgbClr val="000000"/>
                </a:solidFill>
                <a:latin typeface="+mj-lt"/>
                <a:cs typeface="+mj-lt"/>
                <a:sym typeface="+mn-ea"/>
              </a:rPr>
              <a:t>Computer Science &amp; Information Techology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Course​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Fukuda</a:t>
            </a:r>
            <a:r>
              <a:rPr lang="en-US" sz="20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Laboratory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　</a:t>
            </a:r>
            <a:r>
              <a:rPr lang="en-US" altLang="ja-JP" sz="2000" dirty="0">
                <a:solidFill>
                  <a:srgbClr val="000000"/>
                </a:solidFill>
                <a:effectLst/>
                <a:latin typeface="+mj-lt"/>
                <a:cs typeface="+mj-lt"/>
                <a:sym typeface="+mn-ea"/>
              </a:rPr>
              <a:t>25742102 DI XIQING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Supervisor: </a:t>
            </a:r>
            <a:r>
              <a:rPr lang="en-US" alt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Professor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Osamu Fukuda</a:t>
            </a:r>
            <a:endParaRPr lang="ja-JP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ja-JP" sz="200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5275" y="987425"/>
            <a:ext cx="817753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Many hand gesture recognition methods focus on classification.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However, classification alone does not directly describe the continuous changes in finger movements during grasping.</a:t>
            </a:r>
            <a:endParaRPr lang="en-US" altLang="zh-CN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0980" y="5796000"/>
            <a:ext cx="8717915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200">
                <a:sym typeface="+mn-ea"/>
              </a:rPr>
              <a:t>[1] </a:t>
            </a:r>
            <a:r>
              <a:rPr lang="en-US" altLang="zh-CN" sz="1200">
                <a:sym typeface="+mn-ea"/>
              </a:rPr>
              <a:t>V</a:t>
            </a:r>
            <a:r>
              <a:rPr lang="en-US" altLang="en-US" sz="1200">
                <a:sym typeface="+mn-ea"/>
              </a:rPr>
              <a:t>á</a:t>
            </a:r>
            <a:r>
              <a:rPr lang="en-US" altLang="zh-CN" sz="1200">
                <a:sym typeface="+mn-ea"/>
              </a:rPr>
              <a:t>sconez, J. P., Barona L</a:t>
            </a:r>
            <a:r>
              <a:rPr lang="en-US" altLang="en-US" sz="1200">
                <a:sym typeface="+mn-ea"/>
              </a:rPr>
              <a:t>ó</a:t>
            </a:r>
            <a:r>
              <a:rPr lang="en-US" altLang="zh-CN" sz="1200">
                <a:sym typeface="+mn-ea"/>
              </a:rPr>
              <a:t>pez, L. I., Valdivieso Caraguay, </a:t>
            </a:r>
            <a:r>
              <a:rPr lang="en-US" altLang="en-US" sz="1200">
                <a:sym typeface="+mn-ea"/>
              </a:rPr>
              <a:t>Á. </a:t>
            </a:r>
            <a:r>
              <a:rPr lang="en-US" altLang="zh-CN" sz="1200">
                <a:sym typeface="+mn-ea"/>
              </a:rPr>
              <a:t>L., &amp; Benalc</a:t>
            </a:r>
            <a:r>
              <a:rPr lang="en-US" altLang="en-US" sz="1200">
                <a:sym typeface="+mn-ea"/>
              </a:rPr>
              <a:t>á</a:t>
            </a:r>
            <a:r>
              <a:rPr lang="en-US" altLang="zh-CN" sz="1200">
                <a:sym typeface="+mn-ea"/>
              </a:rPr>
              <a:t>zar, M. E. (2022). Hand gesture recognition using EMG-IMU signals and deep q-networks. Sensors, 22(24), 9613.</a:t>
            </a:r>
            <a:endParaRPr lang="en-US" altLang="zh-CN" sz="1200"/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ym typeface="+mn-ea"/>
              </a:rPr>
              <a:t>[2] </a:t>
            </a:r>
            <a:r>
              <a:rPr lang="en-US" altLang="zh-CN" sz="1200">
                <a:sym typeface="+mn-ea"/>
              </a:rPr>
              <a:t>Zandigohar, M., Han, M., Sharif, M., G</a:t>
            </a:r>
            <a:r>
              <a:rPr lang="en-US" altLang="en-US" sz="1200">
                <a:sym typeface="+mn-ea"/>
              </a:rPr>
              <a:t>ü</a:t>
            </a:r>
            <a:r>
              <a:rPr lang="en-US" altLang="zh-CN" sz="1200">
                <a:sym typeface="+mn-ea"/>
              </a:rPr>
              <a:t>nay, S. Y., Furmanek, M. P., Yarossi, M., ... &amp; Schirner, G. (2024). Multimodal fusion of EMG and vision for human grasp intent inference in prosthetic hand control. Frontiers in Robotics and AI, 11, 1312554.</a:t>
            </a:r>
            <a:endParaRPr lang="en-US" altLang="zh-CN" sz="1200"/>
          </a:p>
        </p:txBody>
      </p:sp>
      <p:pic>
        <p:nvPicPr>
          <p:cNvPr id="4" name="图片 3" descr="蓝色机械手开放与握拳图标(1)"/>
          <p:cNvPicPr>
            <a:picLocks noChangeAspect="1"/>
          </p:cNvPicPr>
          <p:nvPr/>
        </p:nvPicPr>
        <p:blipFill>
          <a:blip r:embed="rId1">
            <a:alphaModFix amt="41000"/>
          </a:blip>
          <a:stretch>
            <a:fillRect/>
          </a:stretch>
        </p:blipFill>
        <p:spPr>
          <a:xfrm rot="18480000">
            <a:off x="3543300" y="3535045"/>
            <a:ext cx="1851660" cy="1269365"/>
          </a:xfrm>
          <a:prstGeom prst="rect">
            <a:avLst/>
          </a:prstGeom>
        </p:spPr>
      </p:pic>
      <p:pic>
        <p:nvPicPr>
          <p:cNvPr id="5" name="图片 4" descr="蓝色机械手开放与握拳图标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60000">
            <a:off x="324485" y="3644900"/>
            <a:ext cx="1788795" cy="975995"/>
          </a:xfrm>
          <a:prstGeom prst="rect">
            <a:avLst/>
          </a:prstGeom>
        </p:spPr>
      </p:pic>
      <p:pic>
        <p:nvPicPr>
          <p:cNvPr id="12" name="图片 11" descr="蓝色机械手夹握姿态矢量插画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3375025"/>
            <a:ext cx="1123315" cy="1714500"/>
          </a:xfrm>
          <a:prstGeom prst="rect">
            <a:avLst/>
          </a:prstGeom>
        </p:spPr>
      </p:pic>
      <p:sp>
        <p:nvSpPr>
          <p:cNvPr id="13" name="上箭头 12"/>
          <p:cNvSpPr/>
          <p:nvPr/>
        </p:nvSpPr>
        <p:spPr>
          <a:xfrm rot="5400000">
            <a:off x="2626995" y="3922395"/>
            <a:ext cx="628650" cy="726440"/>
          </a:xfrm>
          <a:prstGeom prst="up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 rot="5400000">
            <a:off x="5843270" y="3922395"/>
            <a:ext cx="628650" cy="726440"/>
          </a:xfrm>
          <a:prstGeom prst="up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上箭头 16"/>
          <p:cNvSpPr/>
          <p:nvPr/>
        </p:nvSpPr>
        <p:spPr>
          <a:xfrm rot="10800000">
            <a:off x="4154805" y="2071370"/>
            <a:ext cx="628650" cy="760730"/>
          </a:xfrm>
          <a:prstGeom prst="upArrow">
            <a:avLst/>
          </a:prstGeom>
          <a:solidFill>
            <a:srgbClr val="C31111"/>
          </a:solidFill>
          <a:ln>
            <a:noFill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254250" y="3121025"/>
            <a:ext cx="4443095" cy="2169160"/>
          </a:xfrm>
          <a:prstGeom prst="rect">
            <a:avLst/>
          </a:prstGeom>
          <a:noFill/>
          <a:ln w="25400" cmpd="sng">
            <a:solidFill>
              <a:srgbClr val="F59E0B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20980" y="2713990"/>
            <a:ext cx="2139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sym typeface="+mn-ea"/>
              </a:rPr>
              <a:t>classification 1</a:t>
            </a:r>
            <a:endParaRPr lang="en-US" altLang="zh-CN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98945" y="2713990"/>
            <a:ext cx="2139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sym typeface="+mn-ea"/>
              </a:rPr>
              <a:t>classification 2</a:t>
            </a:r>
            <a:endParaRPr lang="en-US" altLang="zh-CN"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032000" y="5293125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lang="en-US" altLang="ja-JP" sz="1400"/>
              <a:t>The Process of Natural Human Grasping</a:t>
            </a:r>
            <a:endParaRPr lang="en-US" altLang="ja-JP" sz="1400"/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15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Related</a:t>
            </a:r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 Work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02260" y="1036085"/>
          <a:ext cx="8509000" cy="3747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250"/>
                <a:gridCol w="2127250"/>
                <a:gridCol w="2127250"/>
                <a:gridCol w="2127250"/>
              </a:tblGrid>
              <a:tr h="8070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Author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Title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Objective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Method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10902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Mangalam et al.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Control of aperture closure during reach-to-grasp movements in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immersive haptic-free virtual reality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Investigate factors determine when humans transition from finger opening to closing during object grasping?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Analyze how aperture, hand velocity, and acceleration at the key event - closure onset relate to hand–object distance.</a:t>
                      </a:r>
                      <a:endParaRPr lang="en-US" altLang="zh-CN"/>
                    </a:p>
                  </a:txBody>
                  <a:tcPr/>
                </a:tc>
              </a:tr>
              <a:tr h="807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Coats et al.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Predicting the Duration of Reach-to-Grasp Movements to Objects with Asymmetric Contact Surfaces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Investigate how grasping conditions affect movement duration.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Manipulate target distance and fingertip contact surface sizes, and analyze movement time and maximum grip aperture.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303530" y="4349115"/>
            <a:ext cx="8507730" cy="777875"/>
          </a:xfrm>
          <a:prstGeom prst="roundRect">
            <a:avLst>
              <a:gd name="adj" fmla="val 3484"/>
            </a:avLst>
          </a:prstGeom>
          <a:solidFill>
            <a:srgbClr val="F4E8CF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ea typeface="SimSun" panose="02010600030101010101" pitchFamily="2" charset="-122"/>
              </a:rPr>
              <a:t>These studies demonstrate that reach-to-grasp movements involve multiple interacting variables.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0980" y="5796000"/>
            <a:ext cx="8717915" cy="975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200">
                <a:sym typeface="+mn-ea"/>
              </a:rPr>
              <a:t>[3] </a:t>
            </a:r>
            <a:r>
              <a:rPr lang="en-US" altLang="zh-CN" sz="1200">
                <a:sym typeface="+mn-ea"/>
              </a:rPr>
              <a:t>Mangalam, M., Yarossi, M., Furmanek, M. P., &amp; Tunik, E. (2021). Control of aperture closure during reach-to-grasp movements in immersive haptic-free virtual reality. Experimental Brain Research, 239(5), 1651-1665</a:t>
            </a:r>
            <a:endParaRPr lang="en-US" altLang="zh-CN" sz="12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>
                <a:sym typeface="+mn-ea"/>
              </a:rPr>
              <a:t>[4] </a:t>
            </a:r>
            <a:r>
              <a:rPr lang="en-US" altLang="zh-CN" sz="1200">
                <a:sym typeface="+mn-ea"/>
              </a:rPr>
              <a:t>Coats, R. O., Holt, R. J., Bingham, G. P., &amp; Mon-Williams, M. A. (2018). Predicting the duration of reach-to-grasp movements to objects with asymmetric contact surfaces. Plos one, 13(2), e0193185.</a:t>
            </a:r>
            <a:endParaRPr lang="en-US" altLang="zh-CN" sz="1200">
              <a:sym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710" y="2963545"/>
            <a:ext cx="8630920" cy="1564005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between hand–object distance and fingertip aperture during reach-to-grasp movements</a:t>
              </a:r>
              <a:r>
                <a:rPr lang="en-US" altLang="zh-CN">
                  <a:ea typeface="SimSun" panose="02010600030101010101" pitchFamily="2" charset="-122"/>
                </a:rPr>
                <a:t>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9710" y="4939030"/>
            <a:ext cx="8630920" cy="1564005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ea typeface="SimSun" panose="02010600030101010101" pitchFamily="2" charset="-122"/>
                </a:rPr>
                <a:t>How accurately can a regression model </a:t>
              </a:r>
              <a:r>
                <a:rPr lang="en-US" altLang="zh-CN">
                  <a:ea typeface="SimSun" panose="02010600030101010101" pitchFamily="2" charset="-122"/>
                  <a:sym typeface="+mn-ea"/>
                </a:rPr>
                <a:t>predict </a:t>
              </a:r>
              <a:r>
                <a:rPr lang="en-US" altLang="zh-CN">
                  <a:ea typeface="SimSun" panose="02010600030101010101" pitchFamily="2" charset="-122"/>
                </a:rPr>
                <a:t>fingertip aperture </a:t>
              </a:r>
              <a:r>
                <a:rPr lang="en-US" altLang="zh-CN">
                  <a:sym typeface="+mn-ea"/>
                </a:rPr>
                <a:t>from hand–object distance</a:t>
              </a:r>
              <a:r>
                <a:rPr lang="en-US" altLang="zh-CN">
                  <a:ea typeface="SimSun" panose="02010600030101010101" pitchFamily="2" charset="-122"/>
                </a:rPr>
                <a:t> during reach-to-grasp movements?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5590" y="909320"/>
            <a:ext cx="85731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During reach-to-grasp movements, finger opening and closing are coordinated with the hand’s approach to an object.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This study aims to investigate the relationship between hand–object distance and fingertip aperture, and further examine whether a regression model can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predict </a:t>
            </a:r>
            <a:r>
              <a:rPr lang="en-US" altLang="zh-CN"/>
              <a:t>fingertip aperture from hand–object distance in real time.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Experimental Setup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0855" y="998855"/>
            <a:ext cx="9027795" cy="5362575"/>
            <a:chOff x="182" y="1685"/>
            <a:chExt cx="14217" cy="844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l="2579" t="15949" b="21628"/>
            <a:stretch>
              <a:fillRect/>
            </a:stretch>
          </p:blipFill>
          <p:spPr>
            <a:xfrm>
              <a:off x="2759" y="2616"/>
              <a:ext cx="6597" cy="7514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31" y="9014"/>
              <a:ext cx="1644" cy="17"/>
            </a:xfrm>
            <a:custGeom>
              <a:avLst/>
              <a:gdLst>
                <a:gd name="connisteX0" fmla="*/ 2532380 w 2532380"/>
                <a:gd name="connsiteY0" fmla="*/ 0 h 10795"/>
                <a:gd name="connisteX1" fmla="*/ 0 w 2532380"/>
                <a:gd name="connsiteY1" fmla="*/ 10795 h 10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32380" h="10795">
                  <a:moveTo>
                    <a:pt x="2532380" y="0"/>
                  </a:moveTo>
                  <a:lnTo>
                    <a:pt x="0" y="10795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1531" y="2891"/>
              <a:ext cx="1644" cy="17"/>
            </a:xfrm>
            <a:custGeom>
              <a:avLst/>
              <a:gdLst>
                <a:gd name="connisteX0" fmla="*/ 2532380 w 2532380"/>
                <a:gd name="connsiteY0" fmla="*/ 0 h 10795"/>
                <a:gd name="connisteX1" fmla="*/ 0 w 2532380"/>
                <a:gd name="connsiteY1" fmla="*/ 10795 h 10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32380" h="10795">
                  <a:moveTo>
                    <a:pt x="2532380" y="0"/>
                  </a:moveTo>
                  <a:lnTo>
                    <a:pt x="0" y="10795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494" y="2908"/>
              <a:ext cx="35" cy="6066"/>
            </a:xfrm>
            <a:custGeom>
              <a:avLst/>
              <a:gdLst>
                <a:gd name="connisteX0" fmla="*/ 0 w 22225"/>
                <a:gd name="connsiteY0" fmla="*/ 0 h 2347595"/>
                <a:gd name="connisteX1" fmla="*/ 22225 w 22225"/>
                <a:gd name="connsiteY1" fmla="*/ 2347595 h 23475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2225" h="2347595">
                  <a:moveTo>
                    <a:pt x="0" y="0"/>
                  </a:moveTo>
                  <a:lnTo>
                    <a:pt x="22225" y="2347595"/>
                  </a:lnTo>
                </a:path>
              </a:pathLst>
            </a:custGeom>
            <a:noFill/>
            <a:ln w="12700" cmpd="sng">
              <a:solidFill>
                <a:schemeClr val="accent1">
                  <a:shade val="50000"/>
                </a:schemeClr>
              </a:solidFill>
              <a:prstDash val="lgDash"/>
              <a:tailEnd type="non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2" y="5470"/>
              <a:ext cx="2113" cy="6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750mm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580" y="1685"/>
              <a:ext cx="1006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An overhead web camera</a:t>
              </a:r>
              <a:r>
                <a:rPr lang="en-US" altLang="zh-CN"/>
                <a:t> captures visual data.</a:t>
              </a:r>
              <a:endParaRPr lang="en-US" altLang="zh-CN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5641" y="9395"/>
              <a:ext cx="3798" cy="34"/>
            </a:xfrm>
            <a:custGeom>
              <a:avLst/>
              <a:gdLst>
                <a:gd name="connisteX0" fmla="*/ 0 w 3412490"/>
                <a:gd name="connsiteY0" fmla="*/ 0 h 21590"/>
                <a:gd name="connisteX1" fmla="*/ 3412490 w 3412490"/>
                <a:gd name="connsiteY1" fmla="*/ 21590 h 215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412490" h="21590">
                  <a:moveTo>
                    <a:pt x="0" y="0"/>
                  </a:moveTo>
                  <a:lnTo>
                    <a:pt x="3412490" y="2159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553" y="8974"/>
              <a:ext cx="484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ea typeface="SimSun" panose="02010600030101010101" pitchFamily="2" charset="-122"/>
                </a:rPr>
                <a:t>Initial hand position.</a:t>
              </a:r>
              <a:br>
                <a:rPr lang="en-US" altLang="zh-CN">
                  <a:ea typeface="SimSun" panose="02010600030101010101" pitchFamily="2" charset="-122"/>
                </a:rPr>
              </a:br>
              <a:r>
                <a:rPr lang="en-US" altLang="zh-CN">
                  <a:ea typeface="SimSun" panose="02010600030101010101" pitchFamily="2" charset="-122"/>
                </a:rPr>
                <a:t>30 mm from the object.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212" y="8659"/>
              <a:ext cx="4703" cy="6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30mm</a:t>
              </a:r>
              <a:endParaRPr lang="en-US" altLang="zh-CN"/>
            </a:p>
          </p:txBody>
        </p:sp>
        <p:cxnSp>
          <p:nvCxnSpPr>
            <p:cNvPr id="2" name="直接箭头连接符 1"/>
            <p:cNvCxnSpPr/>
            <p:nvPr/>
          </p:nvCxnSpPr>
          <p:spPr>
            <a:xfrm flipV="1">
              <a:off x="5076" y="8659"/>
              <a:ext cx="228" cy="542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prstDash val="dash"/>
              <a:headEnd type="arrow"/>
              <a:tailEnd type="arrow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" name="任意多边形 2"/>
            <p:cNvSpPr/>
            <p:nvPr/>
          </p:nvSpPr>
          <p:spPr>
            <a:xfrm>
              <a:off x="3435" y="1900"/>
              <a:ext cx="18" cy="907"/>
            </a:xfrm>
            <a:custGeom>
              <a:avLst/>
              <a:gdLst>
                <a:gd name="connisteX0" fmla="*/ 11430 w 11430"/>
                <a:gd name="connsiteY0" fmla="*/ 427355 h 427355"/>
                <a:gd name="connisteX1" fmla="*/ 0 w 11430"/>
                <a:gd name="connsiteY1" fmla="*/ 0 h 42735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1430" h="427355">
                  <a:moveTo>
                    <a:pt x="11430" y="42735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Example Trial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742950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ja-JP" sz="1600">
                <a:solidFill>
                  <a:srgbClr val="2C2C2C"/>
                </a:solidFill>
              </a:rPr>
              <a:t>Camera View:</a:t>
            </a:r>
            <a:endParaRPr lang="en-US" altLang="ja-JP" sz="1600">
              <a:solidFill>
                <a:srgbClr val="2C2C2C"/>
              </a:solidFill>
            </a:endParaRPr>
          </a:p>
        </p:txBody>
      </p:sp>
      <p:pic>
        <p:nvPicPr>
          <p:cNvPr id="8" name="10月20日(1)">
            <a:hlinkClick r:id="" action="ppaction://media"/>
            <a:hlinkHover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18235" y="1344295"/>
            <a:ext cx="6907530" cy="5180965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Visual Processing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pic>
        <p:nvPicPr>
          <p:cNvPr id="14" name="图片 13" descr="10月20日(1)"/>
          <p:cNvPicPr>
            <a:picLocks noChangeAspect="1"/>
          </p:cNvPicPr>
          <p:nvPr/>
        </p:nvPicPr>
        <p:blipFill>
          <a:blip r:embed="rId1"/>
          <a:srcRect l="10347" r="10146" b="7276"/>
          <a:stretch>
            <a:fillRect/>
          </a:stretch>
        </p:blipFill>
        <p:spPr>
          <a:xfrm>
            <a:off x="3799840" y="1682115"/>
            <a:ext cx="5107305" cy="446722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75590" y="873760"/>
            <a:ext cx="85223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600">
                <a:solidFill>
                  <a:srgbClr val="2C2C2C"/>
                </a:solidFill>
              </a:rPr>
              <a:t>MediaPipe and </a:t>
            </a:r>
            <a:r>
              <a:rPr lang="en-US" altLang="zh-CN" sz="1600">
                <a:solidFill>
                  <a:srgbClr val="2C2C2C"/>
                </a:solidFill>
              </a:rPr>
              <a:t>OpenCV</a:t>
            </a:r>
            <a:r>
              <a:rPr lang="en-US" altLang="ja-JP" sz="1600">
                <a:solidFill>
                  <a:srgbClr val="2C2C2C"/>
                </a:solidFill>
              </a:rPr>
              <a:t> is used to detect hand landmarks and cube</a:t>
            </a:r>
            <a:endParaRPr lang="en-US" altLang="ja-JP" sz="1600">
              <a:solidFill>
                <a:srgbClr val="2C2C2C"/>
              </a:solidFill>
            </a:endParaRPr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682115"/>
            <a:ext cx="3422015" cy="1365885"/>
          </a:xfrm>
          <a:prstGeom prst="roundRect">
            <a:avLst>
              <a:gd name="adj" fmla="val 3484"/>
            </a:avLst>
          </a:prstGeom>
          <a:solidFill>
            <a:srgbClr val="EDF4FB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ea typeface="SimSun" panose="02010600030101010101" pitchFamily="2" charset="-122"/>
              </a:rPr>
              <a:t>      Hand–Object Distance</a:t>
            </a: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400">
                <a:solidFill>
                  <a:srgbClr val="424242"/>
                </a:solidFill>
                <a:ea typeface="SimSun" panose="02010600030101010101" pitchFamily="2" charset="-122"/>
              </a:rPr>
              <a:t>Distance from the fingertip midpoint to the object center.</a:t>
            </a:r>
            <a:endParaRPr lang="en-US" altLang="zh-CN" sz="1400">
              <a:solidFill>
                <a:srgbClr val="424242"/>
              </a:solidFill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1400">
                <a:solidFill>
                  <a:srgbClr val="6A6A6A"/>
                </a:solidFill>
                <a:ea typeface="SimSun" panose="02010600030101010101" pitchFamily="2" charset="-122"/>
              </a:rPr>
              <a:t>Pixels (px)</a:t>
            </a:r>
            <a:endParaRPr lang="en-US" altLang="zh-CN" sz="1400">
              <a:solidFill>
                <a:srgbClr val="6A6A6A"/>
              </a:solidFill>
              <a:ea typeface="SimSun" panose="02010600030101010101" pitchFamily="2" charset="-122"/>
            </a:endParaRPr>
          </a:p>
        </p:txBody>
      </p:sp>
      <p:pic>
        <p:nvPicPr>
          <p:cNvPr id="2" name="图片 1" descr="icons8-数字-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5" y="1760855"/>
            <a:ext cx="275590" cy="275590"/>
          </a:xfrm>
          <a:prstGeom prst="rect">
            <a:avLst/>
          </a:prstGeom>
        </p:spPr>
      </p:pic>
      <p:sp>
        <p:nvSpPr>
          <p:cNvPr id="3" name="Shape 26"/>
          <p:cNvSpPr/>
          <p:nvPr>
            <p:custDataLst>
              <p:tags r:id="rId4"/>
            </p:custDataLst>
          </p:nvPr>
        </p:nvSpPr>
        <p:spPr>
          <a:xfrm>
            <a:off x="275590" y="3312795"/>
            <a:ext cx="3422015" cy="1365885"/>
          </a:xfrm>
          <a:prstGeom prst="roundRect">
            <a:avLst>
              <a:gd name="adj" fmla="val 3484"/>
            </a:avLst>
          </a:prstGeom>
          <a:solidFill>
            <a:srgbClr val="EDF4FB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ea typeface="SimSun" panose="02010600030101010101" pitchFamily="2" charset="-122"/>
              </a:rPr>
              <a:t>      Hand–Object Distance</a:t>
            </a: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400">
                <a:solidFill>
                  <a:srgbClr val="424242"/>
                </a:solidFill>
                <a:ea typeface="SimSun" panose="02010600030101010101" pitchFamily="2" charset="-122"/>
              </a:rPr>
              <a:t>Distance from the fingertip midpoint to the object center.</a:t>
            </a:r>
            <a:endParaRPr lang="en-US" altLang="zh-CN" sz="1400">
              <a:solidFill>
                <a:srgbClr val="424242"/>
              </a:solidFill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1400">
                <a:solidFill>
                  <a:srgbClr val="6A6A6A"/>
                </a:solidFill>
                <a:ea typeface="SimSun" panose="02010600030101010101" pitchFamily="2" charset="-122"/>
              </a:rPr>
              <a:t>Pixels (px)</a:t>
            </a:r>
            <a:endParaRPr lang="en-US" altLang="zh-CN" sz="1400">
              <a:solidFill>
                <a:srgbClr val="6A6A6A"/>
              </a:solidFill>
              <a:ea typeface="SimSun" panose="02010600030101010101" pitchFamily="2" charset="-122"/>
            </a:endParaRPr>
          </a:p>
        </p:txBody>
      </p:sp>
      <p:pic>
        <p:nvPicPr>
          <p:cNvPr id="4" name="图片 3" descr="C:/Users/Di/Desktop/icons8-实心圈2-96.pngicons8-实心圈2-96"/>
          <p:cNvPicPr>
            <a:picLocks noChangeAspect="1"/>
          </p:cNvPicPr>
          <p:nvPr/>
        </p:nvPicPr>
        <p:blipFill>
          <a:blip r:embed="rId5"/>
          <a:srcRect t="115" b="115"/>
          <a:stretch>
            <a:fillRect/>
          </a:stretch>
        </p:blipFill>
        <p:spPr>
          <a:xfrm>
            <a:off x="400685" y="3391535"/>
            <a:ext cx="275590" cy="27559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Data Collection</a:t>
            </a:r>
            <a:endParaRPr lang="zh-CN" altLang="en-US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2094230"/>
            <a:ext cx="5217160" cy="21945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Task: Natural reach-to-grasp movement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Initial hand position: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position: 30 mm from the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Target size: 20, 30, </a:t>
            </a:r>
            <a:r>
              <a:rPr lang="en-US" altLang="zh-CN">
                <a:sym typeface="+mn-ea"/>
              </a:rPr>
              <a:t>and </a:t>
            </a:r>
            <a:r>
              <a:rPr lang="en-US" altLang="zh-CN"/>
              <a:t>40 mm cubes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1"/>
            </p:custDataLst>
          </p:nvPr>
        </p:nvSpPr>
        <p:spPr>
          <a:xfrm>
            <a:off x="275590" y="963930"/>
            <a:ext cx="8522970" cy="3886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Collect grasping movement data from participants using cubes of different sizes.</a:t>
            </a:r>
            <a:endParaRPr lang="en-US" altLang="zh-CN">
              <a:sym typeface="+mn-ea"/>
            </a:endParaRPr>
          </a:p>
          <a:p>
            <a:pPr algn="ctr"/>
            <a:endParaRPr lang="en-US" altLang="zh-CN"/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724025"/>
            <a:ext cx="324739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r>
              <a:rPr lang="en-US" altLang="zh-CN" sz="2400">
                <a:sym typeface="+mn-ea"/>
              </a:rPr>
              <a:t>Experimental Conditions</a:t>
            </a:r>
            <a:endParaRPr lang="zh-CN" altLang="en-US" sz="2400"/>
          </a:p>
        </p:txBody>
      </p:sp>
      <p:pic>
        <p:nvPicPr>
          <p:cNvPr id="4" name="10月20日 (1)(1)">
            <a:hlinkClick r:id="" action="ppaction://media"/>
            <a:hlinkHover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01945" y="1589405"/>
            <a:ext cx="3467735" cy="5138420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/Users/Di/Desktop/crop45_normalized_overlay_horizontal.pngcrop45_normalized_overlay_horizontal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5590" y="1975485"/>
            <a:ext cx="8522970" cy="284099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712470"/>
            <a:ext cx="845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C7051C"/>
                </a:solidFill>
              </a:rPr>
              <a:t>30</a:t>
            </a:r>
            <a:r>
              <a:rPr lang="en-US" altLang="zh-CN" sz="2000" b="1">
                <a:solidFill>
                  <a:srgbClr val="C7051C"/>
                </a:solidFill>
              </a:rPr>
              <a:t> trial with a 20 mm cube</a:t>
            </a:r>
            <a:endParaRPr lang="en-US" altLang="zh-CN" sz="2000" b="1">
              <a:solidFill>
                <a:srgbClr val="C7051C"/>
              </a:solidFill>
            </a:endParaRPr>
          </a:p>
        </p:txBody>
      </p:sp>
      <p:sp>
        <p:nvSpPr>
          <p:cNvPr id="28" name="Shape 25"/>
          <p:cNvSpPr/>
          <p:nvPr>
            <p:custDataLst>
              <p:tags r:id="rId2"/>
            </p:custDataLst>
          </p:nvPr>
        </p:nvSpPr>
        <p:spPr>
          <a:xfrm>
            <a:off x="104140" y="5684520"/>
            <a:ext cx="8870950" cy="76390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>
              <a:lnSpc>
                <a:spcPct val="110000"/>
              </a:lnSpc>
            </a:pPr>
            <a:r>
              <a:rPr lang="en-US" altLang="zh-CN">
                <a:sym typeface="+mn-ea"/>
              </a:rPr>
              <a:t>The data showed high consistency across experiments, suggesting a consistent relationship </a:t>
            </a:r>
            <a:r>
              <a:rPr lang="en-US" altLang="zh-CN">
                <a:sym typeface="+mn-ea"/>
              </a:rPr>
              <a:t>between hand–object distance and fingertip aperture</a:t>
            </a:r>
            <a:r>
              <a:rPr lang="en-US" altLang="zh-CN">
                <a:sym typeface="+mn-ea"/>
              </a:rPr>
              <a:t> during reach-to-grasp movements.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5590" y="1430020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Maximum Aperture Timing</a:t>
            </a:r>
            <a:endParaRPr lang="zh-CN" altLang="en-US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44.32 ± 2.37%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79315" y="1430020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>
                <a:sym typeface="+mn-ea"/>
              </a:rPr>
              <a:t>Distance at Maximum Aperture (%)</a:t>
            </a:r>
            <a:endParaRPr lang="en-US" altLang="ja-JP">
              <a:sym typeface="+mn-ea"/>
            </a:endParaRPr>
          </a:p>
          <a:p>
            <a:pPr algn="ctr"/>
            <a:r>
              <a:rPr lang="en-US" altLang="zh-CN">
                <a:solidFill>
                  <a:srgbClr val="9E4802"/>
                </a:solidFill>
                <a:sym typeface="+mn-ea"/>
              </a:rPr>
              <a:t>52.15 ± 6.70%</a:t>
            </a:r>
            <a:endParaRPr lang="en-US" altLang="zh-CN">
              <a:solidFill>
                <a:srgbClr val="9E4802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3540" y="4728845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Fingertip Aperture Nomalized RMSE</a:t>
            </a:r>
            <a:endParaRPr lang="en-US" altLang="zh-CN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0.0530 ± 0.0186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9315" y="4728845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Hand–Object Distance Nomalized RMSE</a:t>
            </a:r>
            <a:endParaRPr lang="en-US" altLang="zh-CN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0.0226 ± 0.0112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23433" y="1696085"/>
            <a:ext cx="7472842" cy="3125470"/>
            <a:chOff x="1815" y="1531"/>
            <a:chExt cx="10193" cy="4017"/>
          </a:xfrm>
        </p:grpSpPr>
        <p:grpSp>
          <p:nvGrpSpPr>
            <p:cNvPr id="4" name="组合 3"/>
            <p:cNvGrpSpPr/>
            <p:nvPr/>
          </p:nvGrpSpPr>
          <p:grpSpPr>
            <a:xfrm>
              <a:off x="1888" y="2819"/>
              <a:ext cx="2908" cy="1158"/>
              <a:chOff x="4196" y="2860"/>
              <a:chExt cx="2908" cy="1158"/>
            </a:xfrm>
          </p:grpSpPr>
          <p:sp>
            <p:nvSpPr>
              <p:cNvPr id="5" name="Google Shape;4859;p44"/>
              <p:cNvSpPr/>
              <p:nvPr/>
            </p:nvSpPr>
            <p:spPr>
              <a:xfrm>
                <a:off x="4196" y="2860"/>
                <a:ext cx="2107" cy="1158"/>
              </a:xfrm>
              <a:prstGeom prst="cube">
                <a:avLst>
                  <a:gd name="adj" fmla="val 8683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8" name="直接箭头连接符 7"/>
              <p:cNvCxnSpPr>
                <a:stCxn id="5" idx="4"/>
              </p:cNvCxnSpPr>
              <p:nvPr/>
            </p:nvCxnSpPr>
            <p:spPr>
              <a:xfrm flipV="1">
                <a:off x="6197" y="3478"/>
                <a:ext cx="907" cy="12"/>
              </a:xfrm>
              <a:prstGeom prst="straightConnector1">
                <a:avLst/>
              </a:prstGeom>
              <a:ln>
                <a:solidFill>
                  <a:srgbClr val="0E284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直接箭头连接符 23"/>
            <p:cNvCxnSpPr/>
            <p:nvPr/>
          </p:nvCxnSpPr>
          <p:spPr>
            <a:xfrm flipV="1">
              <a:off x="8577" y="3385"/>
              <a:ext cx="1077" cy="12"/>
            </a:xfrm>
            <a:prstGeom prst="straightConnector1">
              <a:avLst/>
            </a:prstGeom>
            <a:ln>
              <a:solidFill>
                <a:srgbClr val="0E284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1815" y="2936"/>
              <a:ext cx="2108" cy="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Hand–Object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Distance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9766" y="2560"/>
              <a:ext cx="2242" cy="1344"/>
              <a:chOff x="9310" y="4361"/>
              <a:chExt cx="2242" cy="1344"/>
            </a:xfrm>
          </p:grpSpPr>
          <p:sp>
            <p:nvSpPr>
              <p:cNvPr id="4861" name="Google Shape;4861;p44"/>
              <p:cNvSpPr/>
              <p:nvPr/>
            </p:nvSpPr>
            <p:spPr>
              <a:xfrm>
                <a:off x="9310" y="4361"/>
                <a:ext cx="2192" cy="1344"/>
              </a:xfrm>
              <a:prstGeom prst="cube">
                <a:avLst>
                  <a:gd name="adj" fmla="val 21848"/>
                </a:avLst>
              </a:prstGeom>
              <a:solidFill>
                <a:srgbClr val="09CDA6"/>
              </a:solidFill>
              <a:ln w="9525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9310" y="4688"/>
                <a:ext cx="2242" cy="8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en-US" altLang="zh-CN" sz="1800" b="1">
                    <a:latin typeface="Times New Roman" panose="02020603050405020304" charset="0"/>
                    <a:cs typeface="Times New Roman" panose="02020603050405020304" charset="0"/>
                  </a:rPr>
                  <a:t>Fingertip </a:t>
                </a:r>
                <a:endParaRPr lang="en-US" altLang="zh-CN" sz="18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en-US" altLang="zh-CN" sz="1800" b="1">
                    <a:latin typeface="Times New Roman" panose="02020603050405020304" charset="0"/>
                    <a:cs typeface="Times New Roman" panose="02020603050405020304" charset="0"/>
                  </a:rPr>
                  <a:t>Aperture</a:t>
                </a:r>
                <a:endParaRPr lang="en-US" altLang="ja-JP" sz="1600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5098" y="2147"/>
              <a:ext cx="3378" cy="2967"/>
              <a:chOff x="2243" y="1465"/>
              <a:chExt cx="8060" cy="5346"/>
            </a:xfrm>
          </p:grpSpPr>
          <p:sp>
            <p:nvSpPr>
              <p:cNvPr id="114" name="Google Shape;500;p25"/>
              <p:cNvSpPr/>
              <p:nvPr/>
            </p:nvSpPr>
            <p:spPr>
              <a:xfrm>
                <a:off x="2243" y="2689"/>
                <a:ext cx="125" cy="108"/>
              </a:xfrm>
              <a:prstGeom prst="flowChartConnector">
                <a:avLst/>
              </a:prstGeom>
              <a:solidFill>
                <a:srgbClr val="B7B7B7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5" name="Google Shape;503;p25"/>
              <p:cNvSpPr/>
              <p:nvPr/>
            </p:nvSpPr>
            <p:spPr>
              <a:xfrm>
                <a:off x="9455" y="3359"/>
                <a:ext cx="849" cy="878"/>
              </a:xfrm>
              <a:prstGeom prst="ellipse">
                <a:avLst/>
              </a:prstGeom>
              <a:solidFill>
                <a:srgbClr val="F4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16" name="Google Shape;510;p25"/>
              <p:cNvCxnSpPr>
                <a:endCxn id="115" idx="2"/>
              </p:cNvCxnSpPr>
              <p:nvPr/>
            </p:nvCxnSpPr>
            <p:spPr>
              <a:xfrm rot="10800000" flipH="1">
                <a:off x="7887" y="3798"/>
                <a:ext cx="1568" cy="250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7" name="Google Shape;512;p25"/>
              <p:cNvCxnSpPr>
                <a:endCxn id="115" idx="2"/>
              </p:cNvCxnSpPr>
              <p:nvPr/>
            </p:nvCxnSpPr>
            <p:spPr>
              <a:xfrm>
                <a:off x="7887" y="3166"/>
                <a:ext cx="1568" cy="632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8" name="Google Shape;514;p25"/>
              <p:cNvCxnSpPr>
                <a:endCxn id="115" idx="2"/>
              </p:cNvCxnSpPr>
              <p:nvPr/>
            </p:nvCxnSpPr>
            <p:spPr>
              <a:xfrm>
                <a:off x="7887" y="1947"/>
                <a:ext cx="1568" cy="1851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9" name="Google Shape;516;p25"/>
              <p:cNvCxnSpPr>
                <a:stCxn id="120" idx="6"/>
                <a:endCxn id="124" idx="2"/>
              </p:cNvCxnSpPr>
              <p:nvPr/>
            </p:nvCxnSpPr>
            <p:spPr>
              <a:xfrm>
                <a:off x="5658" y="1947"/>
                <a:ext cx="1182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20" name="Google Shape;517;p25"/>
              <p:cNvSpPr/>
              <p:nvPr/>
            </p:nvSpPr>
            <p:spPr>
              <a:xfrm>
                <a:off x="4724" y="1465"/>
                <a:ext cx="934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r>
                  <a:rPr lang="en-GB" sz="1100"/>
                  <a:t> </a:t>
                </a:r>
                <a:endParaRPr sz="1200" baseline="-25000"/>
              </a:p>
            </p:txBody>
          </p:sp>
          <p:sp>
            <p:nvSpPr>
              <p:cNvPr id="121" name="Google Shape;519;p25"/>
              <p:cNvSpPr/>
              <p:nvPr/>
            </p:nvSpPr>
            <p:spPr>
              <a:xfrm>
                <a:off x="4714" y="2684"/>
                <a:ext cx="934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r>
                  <a:rPr lang="en-GB" sz="1100"/>
                  <a:t> </a:t>
                </a:r>
                <a:endParaRPr sz="16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2" name="Google Shape;520;p25"/>
              <p:cNvSpPr/>
              <p:nvPr/>
            </p:nvSpPr>
            <p:spPr>
              <a:xfrm>
                <a:off x="4724" y="3903"/>
                <a:ext cx="934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r>
                  <a:rPr lang="en-GB" sz="1100"/>
                  <a:t> </a:t>
                </a:r>
                <a:endParaRPr sz="16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3" name="Google Shape;521;p25"/>
              <p:cNvSpPr/>
              <p:nvPr/>
            </p:nvSpPr>
            <p:spPr>
              <a:xfrm>
                <a:off x="4724" y="5849"/>
                <a:ext cx="925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endParaRPr sz="11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Google Shape;518;p25"/>
              <p:cNvSpPr/>
              <p:nvPr/>
            </p:nvSpPr>
            <p:spPr>
              <a:xfrm>
                <a:off x="6840" y="1465"/>
                <a:ext cx="934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endParaRPr sz="1200" baseline="-25000"/>
              </a:p>
            </p:txBody>
          </p:sp>
          <p:sp>
            <p:nvSpPr>
              <p:cNvPr id="125" name="Google Shape;522;p25"/>
              <p:cNvSpPr/>
              <p:nvPr/>
            </p:nvSpPr>
            <p:spPr>
              <a:xfrm>
                <a:off x="6840" y="2743"/>
                <a:ext cx="934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6" name="Google Shape;523;p25"/>
              <p:cNvSpPr/>
              <p:nvPr/>
            </p:nvSpPr>
            <p:spPr>
              <a:xfrm>
                <a:off x="6840" y="3946"/>
                <a:ext cx="934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  <p:sp>
            <p:nvSpPr>
              <p:cNvPr id="127" name="Google Shape;524;p25"/>
              <p:cNvSpPr/>
              <p:nvPr/>
            </p:nvSpPr>
            <p:spPr>
              <a:xfrm>
                <a:off x="6840" y="5849"/>
                <a:ext cx="934" cy="963"/>
              </a:xfrm>
              <a:prstGeom prst="ellipse">
                <a:avLst/>
              </a:prstGeom>
              <a:gradFill>
                <a:gsLst>
                  <a:gs pos="0">
                    <a:srgbClr val="E0EDBA">
                      <a:alpha val="79216"/>
                    </a:srgbClr>
                  </a:gs>
                  <a:gs pos="100000">
                    <a:srgbClr val="DE87F1">
                      <a:alpha val="48235"/>
                    </a:srgbClr>
                  </a:gs>
                </a:gsLst>
                <a:lin ang="13500032" scaled="0"/>
              </a:gra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 panose="020B0604020202020204"/>
                  <a:buNone/>
                </a:pPr>
                <a:endParaRPr sz="160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28" name="Google Shape;526;p25"/>
              <p:cNvCxnSpPr/>
              <p:nvPr/>
            </p:nvCxnSpPr>
            <p:spPr>
              <a:xfrm flipH="1">
                <a:off x="5186" y="5064"/>
                <a:ext cx="9" cy="70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95959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9" name="Google Shape;530;p25"/>
              <p:cNvSpPr/>
              <p:nvPr/>
            </p:nvSpPr>
            <p:spPr>
              <a:xfrm>
                <a:off x="2243" y="5113"/>
                <a:ext cx="125" cy="108"/>
              </a:xfrm>
              <a:prstGeom prst="flowChartConnector">
                <a:avLst/>
              </a:prstGeom>
              <a:solidFill>
                <a:srgbClr val="B7B7B7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130" name="Google Shape;531;p25"/>
              <p:cNvCxnSpPr>
                <a:endCxn id="120" idx="2"/>
              </p:cNvCxnSpPr>
              <p:nvPr/>
            </p:nvCxnSpPr>
            <p:spPr>
              <a:xfrm rot="10800000" flipH="1">
                <a:off x="2378" y="1947"/>
                <a:ext cx="2346" cy="803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1" name="Google Shape;532;p25"/>
              <p:cNvCxnSpPr>
                <a:stCxn id="114" idx="5"/>
                <a:endCxn id="121" idx="2"/>
              </p:cNvCxnSpPr>
              <p:nvPr/>
            </p:nvCxnSpPr>
            <p:spPr>
              <a:xfrm>
                <a:off x="2350" y="2781"/>
                <a:ext cx="2365" cy="38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2" name="Google Shape;533;p25"/>
              <p:cNvCxnSpPr>
                <a:stCxn id="114" idx="5"/>
                <a:endCxn id="122" idx="2"/>
              </p:cNvCxnSpPr>
              <p:nvPr/>
            </p:nvCxnSpPr>
            <p:spPr>
              <a:xfrm>
                <a:off x="2350" y="2781"/>
                <a:ext cx="2374" cy="1604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3" name="Google Shape;534;p25"/>
              <p:cNvCxnSpPr>
                <a:stCxn id="114" idx="5"/>
                <a:endCxn id="123" idx="2"/>
              </p:cNvCxnSpPr>
              <p:nvPr/>
            </p:nvCxnSpPr>
            <p:spPr>
              <a:xfrm>
                <a:off x="2350" y="2781"/>
                <a:ext cx="2374" cy="355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4" name="Google Shape;555;p25"/>
              <p:cNvCxnSpPr>
                <a:stCxn id="129" idx="5"/>
                <a:endCxn id="120" idx="2"/>
              </p:cNvCxnSpPr>
              <p:nvPr/>
            </p:nvCxnSpPr>
            <p:spPr>
              <a:xfrm rot="10800000" flipH="1">
                <a:off x="2350" y="1947"/>
                <a:ext cx="2374" cy="3258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5" name="Google Shape;556;p25"/>
              <p:cNvCxnSpPr>
                <a:stCxn id="129" idx="5"/>
                <a:endCxn id="121" idx="2"/>
              </p:cNvCxnSpPr>
              <p:nvPr/>
            </p:nvCxnSpPr>
            <p:spPr>
              <a:xfrm rot="10800000" flipH="1">
                <a:off x="2350" y="3166"/>
                <a:ext cx="2365" cy="2039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6" name="Google Shape;557;p25"/>
              <p:cNvCxnSpPr>
                <a:stCxn id="129" idx="5"/>
                <a:endCxn id="122" idx="2"/>
              </p:cNvCxnSpPr>
              <p:nvPr/>
            </p:nvCxnSpPr>
            <p:spPr>
              <a:xfrm rot="10800000" flipH="1">
                <a:off x="2350" y="4385"/>
                <a:ext cx="2374" cy="82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7" name="Google Shape;558;p25"/>
              <p:cNvCxnSpPr>
                <a:stCxn id="129" idx="5"/>
                <a:endCxn id="123" idx="2"/>
              </p:cNvCxnSpPr>
              <p:nvPr/>
            </p:nvCxnSpPr>
            <p:spPr>
              <a:xfrm>
                <a:off x="2350" y="5205"/>
                <a:ext cx="2374" cy="1126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8" name="Google Shape;559;p25"/>
              <p:cNvCxnSpPr>
                <a:stCxn id="120" idx="6"/>
                <a:endCxn id="125" idx="2"/>
              </p:cNvCxnSpPr>
              <p:nvPr/>
            </p:nvCxnSpPr>
            <p:spPr>
              <a:xfrm>
                <a:off x="5658" y="1947"/>
                <a:ext cx="1182" cy="1277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9" name="Google Shape;560;p25"/>
              <p:cNvCxnSpPr>
                <a:stCxn id="120" idx="6"/>
                <a:endCxn id="126" idx="2"/>
              </p:cNvCxnSpPr>
              <p:nvPr/>
            </p:nvCxnSpPr>
            <p:spPr>
              <a:xfrm>
                <a:off x="5658" y="1947"/>
                <a:ext cx="1182" cy="2481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0" name="Google Shape;561;p25"/>
              <p:cNvCxnSpPr>
                <a:stCxn id="120" idx="6"/>
                <a:endCxn id="127" idx="2"/>
              </p:cNvCxnSpPr>
              <p:nvPr/>
            </p:nvCxnSpPr>
            <p:spPr>
              <a:xfrm>
                <a:off x="5658" y="1947"/>
                <a:ext cx="1182" cy="4384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1" name="Google Shape;562;p25"/>
              <p:cNvCxnSpPr>
                <a:stCxn id="121" idx="6"/>
                <a:endCxn id="124" idx="2"/>
              </p:cNvCxnSpPr>
              <p:nvPr/>
            </p:nvCxnSpPr>
            <p:spPr>
              <a:xfrm rot="10800000" flipH="1">
                <a:off x="5648" y="1946"/>
                <a:ext cx="1191" cy="1219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2" name="Google Shape;563;p25"/>
              <p:cNvCxnSpPr>
                <a:stCxn id="121" idx="6"/>
                <a:endCxn id="125" idx="2"/>
              </p:cNvCxnSpPr>
              <p:nvPr/>
            </p:nvCxnSpPr>
            <p:spPr>
              <a:xfrm>
                <a:off x="5648" y="3166"/>
                <a:ext cx="1191" cy="59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3" name="Google Shape;564;p25"/>
              <p:cNvCxnSpPr>
                <a:stCxn id="121" idx="6"/>
                <a:endCxn id="126" idx="2"/>
              </p:cNvCxnSpPr>
              <p:nvPr/>
            </p:nvCxnSpPr>
            <p:spPr>
              <a:xfrm>
                <a:off x="5648" y="3166"/>
                <a:ext cx="1191" cy="1262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4" name="Google Shape;565;p25"/>
              <p:cNvCxnSpPr>
                <a:stCxn id="121" idx="6"/>
                <a:endCxn id="127" idx="2"/>
              </p:cNvCxnSpPr>
              <p:nvPr/>
            </p:nvCxnSpPr>
            <p:spPr>
              <a:xfrm>
                <a:off x="5648" y="3166"/>
                <a:ext cx="1191" cy="3165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5" name="Google Shape;566;p25"/>
              <p:cNvCxnSpPr>
                <a:stCxn id="122" idx="6"/>
                <a:endCxn id="124" idx="2"/>
              </p:cNvCxnSpPr>
              <p:nvPr/>
            </p:nvCxnSpPr>
            <p:spPr>
              <a:xfrm rot="10800000" flipH="1">
                <a:off x="5658" y="1947"/>
                <a:ext cx="1182" cy="2438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6" name="Google Shape;567;p25"/>
              <p:cNvCxnSpPr>
                <a:stCxn id="122" idx="6"/>
                <a:endCxn id="125" idx="2"/>
              </p:cNvCxnSpPr>
              <p:nvPr/>
            </p:nvCxnSpPr>
            <p:spPr>
              <a:xfrm rot="10800000" flipH="1">
                <a:off x="5658" y="3224"/>
                <a:ext cx="1182" cy="1161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7" name="Google Shape;568;p25"/>
              <p:cNvCxnSpPr>
                <a:stCxn id="122" idx="6"/>
                <a:endCxn id="126" idx="2"/>
              </p:cNvCxnSpPr>
              <p:nvPr/>
            </p:nvCxnSpPr>
            <p:spPr>
              <a:xfrm>
                <a:off x="5658" y="4385"/>
                <a:ext cx="1182" cy="43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8" name="Google Shape;569;p25"/>
              <p:cNvCxnSpPr>
                <a:stCxn id="122" idx="6"/>
                <a:endCxn id="127" idx="2"/>
              </p:cNvCxnSpPr>
              <p:nvPr/>
            </p:nvCxnSpPr>
            <p:spPr>
              <a:xfrm>
                <a:off x="5658" y="4385"/>
                <a:ext cx="1182" cy="1946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9" name="Google Shape;570;p25"/>
              <p:cNvCxnSpPr>
                <a:endCxn id="124" idx="2"/>
              </p:cNvCxnSpPr>
              <p:nvPr/>
            </p:nvCxnSpPr>
            <p:spPr>
              <a:xfrm rot="10800000" flipH="1">
                <a:off x="5658" y="1947"/>
                <a:ext cx="1182" cy="444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0" name="Google Shape;571;p25"/>
              <p:cNvCxnSpPr>
                <a:stCxn id="123" idx="6"/>
                <a:endCxn id="125" idx="2"/>
              </p:cNvCxnSpPr>
              <p:nvPr/>
            </p:nvCxnSpPr>
            <p:spPr>
              <a:xfrm rot="10800000" flipH="1">
                <a:off x="5649" y="3224"/>
                <a:ext cx="1191" cy="3107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1" name="Google Shape;572;p25"/>
              <p:cNvCxnSpPr>
                <a:stCxn id="123" idx="6"/>
                <a:endCxn id="126" idx="2"/>
              </p:cNvCxnSpPr>
              <p:nvPr/>
            </p:nvCxnSpPr>
            <p:spPr>
              <a:xfrm rot="10800000" flipH="1">
                <a:off x="5649" y="4428"/>
                <a:ext cx="1191" cy="1903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2" name="Google Shape;573;p25"/>
              <p:cNvCxnSpPr>
                <a:stCxn id="123" idx="6"/>
                <a:endCxn id="127" idx="2"/>
              </p:cNvCxnSpPr>
              <p:nvPr/>
            </p:nvCxnSpPr>
            <p:spPr>
              <a:xfrm>
                <a:off x="5649" y="6331"/>
                <a:ext cx="1191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3" name="Google Shape;591;p25"/>
              <p:cNvCxnSpPr>
                <a:endCxn id="115" idx="2"/>
              </p:cNvCxnSpPr>
              <p:nvPr/>
            </p:nvCxnSpPr>
            <p:spPr>
              <a:xfrm rot="10800000" flipH="1">
                <a:off x="7887" y="3798"/>
                <a:ext cx="1568" cy="587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54" name="Google Shape;593;p25"/>
              <p:cNvCxnSpPr/>
              <p:nvPr/>
            </p:nvCxnSpPr>
            <p:spPr>
              <a:xfrm flipH="1">
                <a:off x="7302" y="5064"/>
                <a:ext cx="9" cy="709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95959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6" name="文本框 155"/>
            <p:cNvSpPr txBox="1"/>
            <p:nvPr/>
          </p:nvSpPr>
          <p:spPr>
            <a:xfrm>
              <a:off x="4864" y="1531"/>
              <a:ext cx="3800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/>
                <a:t>5-frame window MLP</a:t>
              </a:r>
              <a:endParaRPr lang="en-US" altLang="zh-CN" sz="1600" b="1">
                <a:sym typeface="+mn-ea"/>
              </a:endParaRPr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3776" y="5115"/>
              <a:ext cx="6411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/>
                <a:t>2 hidden layer, each with 32 neurons.</a:t>
              </a:r>
              <a:endParaRPr lang="en-US" altLang="zh-CN" sz="1600" b="1"/>
            </a:p>
          </p:txBody>
        </p:sp>
      </p:grpSp>
      <p:sp>
        <p:nvSpPr>
          <p:cNvPr id="20" name="Shape 25"/>
          <p:cNvSpPr/>
          <p:nvPr>
            <p:custDataLst>
              <p:tags r:id="rId1"/>
            </p:custDataLst>
          </p:nvPr>
        </p:nvSpPr>
        <p:spPr>
          <a:xfrm>
            <a:off x="276225" y="936000"/>
            <a:ext cx="8522970" cy="39751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ea typeface="SimSun" panose="02010600030101010101" pitchFamily="2" charset="-122"/>
                <a:sym typeface="+mn-ea"/>
              </a:rPr>
              <a:t>Can fingertip aperture during reach-to-grasp be predicted from </a:t>
            </a:r>
            <a:r>
              <a:rPr lang="en-US" altLang="zh-CN">
                <a:sym typeface="+mn-ea"/>
              </a:rPr>
              <a:t>hand–object distance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?</a:t>
            </a:r>
            <a:endParaRPr lang="en-US" altLang="zh-CN">
              <a:ea typeface="SimSun" panose="02010600030101010101" pitchFamily="2" charset="-122"/>
            </a:endParaRPr>
          </a:p>
          <a:p>
            <a:pPr algn="ctr"/>
            <a:endParaRPr lang="en-US" altLang="zh-CN"/>
          </a:p>
        </p:txBody>
      </p:sp>
      <p:grpSp>
        <p:nvGrpSpPr>
          <p:cNvPr id="13" name="组合 12"/>
          <p:cNvGrpSpPr/>
          <p:nvPr/>
        </p:nvGrpSpPr>
        <p:grpSpPr>
          <a:xfrm>
            <a:off x="1018540" y="5260340"/>
            <a:ext cx="1847215" cy="905510"/>
            <a:chOff x="1296" y="8244"/>
            <a:chExt cx="2909" cy="1426"/>
          </a:xfrm>
        </p:grpSpPr>
        <p:sp>
          <p:nvSpPr>
            <p:cNvPr id="7" name="圆角矩形 6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Loss Function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MAE</a:t>
              </a:r>
              <a:endParaRPr lang="en-US" altLang="zh-CN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535680" y="5287010"/>
            <a:ext cx="1847215" cy="906145"/>
            <a:chOff x="1296" y="8244"/>
            <a:chExt cx="2909" cy="1427"/>
          </a:xfrm>
        </p:grpSpPr>
        <p:sp>
          <p:nvSpPr>
            <p:cNvPr id="15" name="圆角矩形 14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Preprocessing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Normalization</a:t>
              </a:r>
              <a:endParaRPr lang="en-US" altLang="zh-CN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76315" y="5287010"/>
            <a:ext cx="1847215" cy="906145"/>
            <a:chOff x="1296" y="8244"/>
            <a:chExt cx="2909" cy="1427"/>
          </a:xfrm>
        </p:grpSpPr>
        <p:sp>
          <p:nvSpPr>
            <p:cNvPr id="19" name="圆角矩形 18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Training Data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30 trials</a:t>
              </a:r>
              <a:endParaRPr lang="en-US" altLang="zh-CN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Overall Performance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0515" y="737870"/>
            <a:ext cx="8523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6A6A6A"/>
                </a:solidFill>
              </a:rPr>
              <a:t>27 validation trials across three cube sizes (9 trials per size)</a:t>
            </a:r>
            <a:endParaRPr lang="en-US" altLang="zh-CN" sz="1600">
              <a:solidFill>
                <a:srgbClr val="6A6A6A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01625" y="1187450"/>
            <a:ext cx="2421890" cy="1184910"/>
            <a:chOff x="475" y="1870"/>
            <a:chExt cx="3814" cy="1866"/>
          </a:xfrm>
        </p:grpSpPr>
        <p:grpSp>
          <p:nvGrpSpPr>
            <p:cNvPr id="13" name="组合 12"/>
            <p:cNvGrpSpPr/>
            <p:nvPr>
              <p:custDataLst>
                <p:tags r:id="rId1"/>
              </p:custDataLst>
            </p:nvPr>
          </p:nvGrpSpPr>
          <p:grpSpPr>
            <a:xfrm>
              <a:off x="475" y="1870"/>
              <a:ext cx="3814" cy="1867"/>
              <a:chOff x="1286" y="8225"/>
              <a:chExt cx="2919" cy="1446"/>
            </a:xfrm>
          </p:grpSpPr>
          <p:sp>
            <p:nvSpPr>
              <p:cNvPr id="7" name="圆角矩形 6"/>
              <p:cNvSpPr/>
              <p:nvPr>
                <p:custDataLst>
                  <p:tags r:id="rId2"/>
                </p:custDataLst>
              </p:nvPr>
            </p:nvSpPr>
            <p:spPr>
              <a:xfrm>
                <a:off x="1296" y="8244"/>
                <a:ext cx="2909" cy="1427"/>
              </a:xfrm>
              <a:prstGeom prst="roundRect">
                <a:avLst>
                  <a:gd name="adj" fmla="val 2873"/>
                </a:avLst>
              </a:prstGeom>
              <a:solidFill>
                <a:srgbClr val="EEF3F8"/>
              </a:solidFill>
              <a:ln>
                <a:noFill/>
                <a:tailEnd type="triangl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86" y="8225"/>
                <a:ext cx="2907" cy="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MAE</a:t>
                </a:r>
                <a:endParaRPr lang="en-US" altLang="zh-CN"/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07" y="8676"/>
                <a:ext cx="2886" cy="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800"/>
                  <a:t>3.87</a:t>
                </a:r>
                <a:endParaRPr lang="en-US" altLang="zh-CN" sz="2800"/>
              </a:p>
            </p:txBody>
          </p:sp>
        </p:grp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475" y="3175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384000" y="1193165"/>
            <a:ext cx="2421255" cy="1185545"/>
            <a:chOff x="5443" y="1879"/>
            <a:chExt cx="3813" cy="1867"/>
          </a:xfrm>
        </p:grpSpPr>
        <p:sp>
          <p:nvSpPr>
            <p:cNvPr id="28" name="圆角矩形 27"/>
            <p:cNvSpPr/>
            <p:nvPr>
              <p:custDataLst>
                <p:tags r:id="rId6"/>
              </p:custDataLst>
            </p:nvPr>
          </p:nvSpPr>
          <p:spPr>
            <a:xfrm>
              <a:off x="5456" y="1904"/>
              <a:ext cx="3801" cy="1842"/>
            </a:xfrm>
            <a:prstGeom prst="roundRect">
              <a:avLst>
                <a:gd name="adj" fmla="val 2873"/>
              </a:avLst>
            </a:prstGeom>
            <a:solidFill>
              <a:srgbClr val="EEF9F5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7"/>
              </p:custDataLst>
            </p:nvPr>
          </p:nvSpPr>
          <p:spPr>
            <a:xfrm>
              <a:off x="5443" y="1879"/>
              <a:ext cx="379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RMSE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>
              <p:custDataLst>
                <p:tags r:id="rId8"/>
              </p:custDataLst>
            </p:nvPr>
          </p:nvSpPr>
          <p:spPr>
            <a:xfrm>
              <a:off x="5470" y="2461"/>
              <a:ext cx="3771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5.91</a:t>
              </a:r>
              <a:endParaRPr lang="en-US" altLang="zh-CN" sz="2800"/>
            </a:p>
          </p:txBody>
        </p:sp>
        <p:sp>
          <p:nvSpPr>
            <p:cNvPr id="31" name="文本框 30"/>
            <p:cNvSpPr txBox="1"/>
            <p:nvPr>
              <p:custDataLst>
                <p:tags r:id="rId9"/>
              </p:custDataLst>
            </p:nvPr>
          </p:nvSpPr>
          <p:spPr>
            <a:xfrm>
              <a:off x="5443" y="3184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 rot="0">
            <a:off x="6443980" y="1188085"/>
            <a:ext cx="2421890" cy="1185545"/>
            <a:chOff x="1286" y="8225"/>
            <a:chExt cx="2919" cy="1446"/>
          </a:xfrm>
        </p:grpSpPr>
        <p:sp>
          <p:nvSpPr>
            <p:cNvPr id="34" name="圆角矩形 33"/>
            <p:cNvSpPr/>
            <p:nvPr>
              <p:custDataLst>
                <p:tags r:id="rId11"/>
              </p:custDataLst>
            </p:nvPr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F9EEF9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1286" y="8225"/>
              <a:ext cx="2907" cy="4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R²</a:t>
              </a:r>
              <a:endParaRPr lang="en-US" altLang="zh-CN"/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1307" y="8676"/>
              <a:ext cx="2886" cy="6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0.958</a:t>
              </a:r>
              <a:endParaRPr lang="en-US" altLang="zh-CN" sz="2800"/>
            </a:p>
          </p:txBody>
        </p:sp>
      </p:grpSp>
      <p:pic>
        <p:nvPicPr>
          <p:cNvPr id="39" name="图片 38" descr="05_window5_metrics_mean_s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65" y="3068320"/>
            <a:ext cx="8896985" cy="355981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Phase-Wise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5590" y="931545"/>
            <a:ext cx="7620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The grasping phase is the most challenging to predict.</a:t>
            </a:r>
            <a:br>
              <a:rPr lang="en-US" altLang="zh-CN"/>
            </a:br>
            <a:r>
              <a:rPr lang="en-US" altLang="zh-CN"/>
              <a:t>However, the current model can reduce prediction errors during this phase.</a:t>
            </a:r>
            <a:endParaRPr lang="en-US" altLang="zh-CN"/>
          </a:p>
        </p:txBody>
      </p:sp>
      <p:pic>
        <p:nvPicPr>
          <p:cNvPr id="3" name="图片 2" descr="06_overall_phase_errors_window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030" y="1843405"/>
            <a:ext cx="7070090" cy="4860925"/>
          </a:xfrm>
          <a:prstGeom prst="rect">
            <a:avLst/>
          </a:prstGeom>
        </p:spPr>
      </p:pic>
      <p:sp>
        <p:nvSpPr>
          <p:cNvPr id="5" name="上箭头 4"/>
          <p:cNvSpPr/>
          <p:nvPr/>
        </p:nvSpPr>
        <p:spPr>
          <a:xfrm rot="8460000">
            <a:off x="3138170" y="2391410"/>
            <a:ext cx="799465" cy="1100455"/>
          </a:xfrm>
          <a:prstGeom prst="up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Effect of Temporal Window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40665" y="5895340"/>
            <a:ext cx="8556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Comparison between predicted and ground-truth curves, In the red-highlighted region, the model without a temporal window shows poor prediction performance.</a:t>
            </a:r>
            <a:endParaRPr lang="en-US" altLang="zh-CN" sz="1400"/>
          </a:p>
        </p:txBody>
      </p:sp>
      <p:sp>
        <p:nvSpPr>
          <p:cNvPr id="33" name="文本框 32"/>
          <p:cNvSpPr txBox="1"/>
          <p:nvPr/>
        </p:nvSpPr>
        <p:spPr>
          <a:xfrm>
            <a:off x="275590" y="792000"/>
            <a:ext cx="852297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Without a temporal window : The model learns only the mapping between distance and fingertip aperture, resulting in larger errors during rapid changes.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With a temporal window:The model can utilize short-term motion context to learn temporal trends, improving prediction accuracy.</a:t>
            </a:r>
            <a:endParaRPr lang="en-US" altLang="zh-CN"/>
          </a:p>
        </p:txBody>
      </p:sp>
      <p:pic>
        <p:nvPicPr>
          <p:cNvPr id="34" name="图片 33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" y="2753995"/>
            <a:ext cx="2640965" cy="3215640"/>
          </a:xfrm>
          <a:prstGeom prst="rect">
            <a:avLst/>
          </a:prstGeom>
        </p:spPr>
      </p:pic>
      <p:pic>
        <p:nvPicPr>
          <p:cNvPr id="36" name="图片 35" descr="C:/Users/Di/Downloads/download (1).pngdownload (1)"/>
          <p:cNvPicPr>
            <a:picLocks noChangeAspect="1"/>
          </p:cNvPicPr>
          <p:nvPr/>
        </p:nvPicPr>
        <p:blipFill>
          <a:blip r:embed="rId2"/>
          <a:srcRect r="20"/>
          <a:stretch>
            <a:fillRect/>
          </a:stretch>
        </p:blipFill>
        <p:spPr>
          <a:xfrm>
            <a:off x="3216275" y="2753995"/>
            <a:ext cx="2640965" cy="3215640"/>
          </a:xfrm>
          <a:prstGeom prst="rect">
            <a:avLst/>
          </a:prstGeom>
        </p:spPr>
      </p:pic>
      <p:pic>
        <p:nvPicPr>
          <p:cNvPr id="37" name="图片 36" descr="C:/Users/Di/Downloads/download (2).pngdownload (2)"/>
          <p:cNvPicPr>
            <a:picLocks noChangeAspect="1"/>
          </p:cNvPicPr>
          <p:nvPr/>
        </p:nvPicPr>
        <p:blipFill>
          <a:blip r:embed="rId3"/>
          <a:srcRect r="20"/>
          <a:stretch>
            <a:fillRect/>
          </a:stretch>
        </p:blipFill>
        <p:spPr>
          <a:xfrm>
            <a:off x="6156960" y="2753995"/>
            <a:ext cx="2640965" cy="321564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Real-Time Experiment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图片 4" descr="02_trial_metric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2916000"/>
            <a:ext cx="8792210" cy="29305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5895" y="5847715"/>
            <a:ext cx="87928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The model achieved an R² above 0.89 in 8 out of 9 real-time trials, demonstrating promising prediction performance.</a:t>
            </a:r>
            <a:endParaRPr lang="en-US" altLang="zh-CN" sz="1600"/>
          </a:p>
        </p:txBody>
      </p:sp>
      <p:sp>
        <p:nvSpPr>
          <p:cNvPr id="3" name="文本框 2"/>
          <p:cNvSpPr txBox="1"/>
          <p:nvPr/>
        </p:nvSpPr>
        <p:spPr>
          <a:xfrm>
            <a:off x="320675" y="810260"/>
            <a:ext cx="8522970" cy="17532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/>
              <a:t>Procedure:</a:t>
            </a:r>
            <a:endParaRPr lang="en-US" altLang="ja-JP"/>
          </a:p>
          <a:p>
            <a:r>
              <a:rPr lang="en-US" altLang="zh-CN"/>
              <a:t>Three cubes of different colors and sizes were presented in random order, with three trials per cube.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system identified the target cube and automatically selected the corresponding trained model for real-time prediction.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Summary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5"/>
          <p:cNvSpPr>
            <a:spLocks noGrp="1"/>
          </p:cNvSpPr>
          <p:nvPr/>
        </p:nvSpPr>
        <p:spPr>
          <a:xfrm>
            <a:off x="275590" y="381424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Future Work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5590" y="876300"/>
            <a:ext cx="766254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Demonstrated a consistent relationship between hand–object distance and fingertip aperture during reach-to-grasp movements.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Developed a regression model that accurately predicts continuous fingertip aperture from hand–object distance.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Developed a real-time system that automatically selects the appropriate trained model and predicts fingertip aperture in real time.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75590" y="4605020"/>
            <a:ext cx="76625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Conduct grasping experiments with a wider variety of objects.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Recruit additional participants to evaluate the model's generalization ability.</a:t>
            </a:r>
            <a:endParaRPr lang="en-US" altLang="ja-JP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902970"/>
            <a:ext cx="8529955" cy="3925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[1] </a:t>
            </a:r>
            <a:r>
              <a:rPr lang="en-US" altLang="zh-CN" sz="1600">
                <a:sym typeface="+mn-ea"/>
              </a:rPr>
              <a:t>V</a:t>
            </a:r>
            <a:r>
              <a:rPr lang="en-US" altLang="en-US" sz="1600">
                <a:sym typeface="+mn-ea"/>
              </a:rPr>
              <a:t>á</a:t>
            </a:r>
            <a:r>
              <a:rPr lang="en-US" altLang="zh-CN" sz="1600">
                <a:sym typeface="+mn-ea"/>
              </a:rPr>
              <a:t>sconez, J. P., Barona L</a:t>
            </a:r>
            <a:r>
              <a:rPr lang="en-US" altLang="en-US" sz="1600">
                <a:sym typeface="+mn-ea"/>
              </a:rPr>
              <a:t>ó</a:t>
            </a:r>
            <a:r>
              <a:rPr lang="en-US" altLang="zh-CN" sz="1600">
                <a:sym typeface="+mn-ea"/>
              </a:rPr>
              <a:t>pez, L. I., Valdivieso Caraguay, </a:t>
            </a:r>
            <a:r>
              <a:rPr lang="en-US" altLang="en-US" sz="1600">
                <a:sym typeface="+mn-ea"/>
              </a:rPr>
              <a:t>Á. </a:t>
            </a:r>
            <a:r>
              <a:rPr lang="en-US" altLang="zh-CN" sz="1600">
                <a:sym typeface="+mn-ea"/>
              </a:rPr>
              <a:t>L., &amp; Benalc</a:t>
            </a:r>
            <a:r>
              <a:rPr lang="en-US" altLang="en-US" sz="1600">
                <a:sym typeface="+mn-ea"/>
              </a:rPr>
              <a:t>á</a:t>
            </a:r>
            <a:r>
              <a:rPr lang="en-US" altLang="zh-CN" sz="1600">
                <a:sym typeface="+mn-ea"/>
              </a:rPr>
              <a:t>zar, M. E. (2022). Hand gesture recognition using EMG-IMU signals and deep q-networks. Sensors, 22(24), 9613.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[2] </a:t>
            </a:r>
            <a:r>
              <a:rPr lang="en-US" altLang="zh-CN" sz="1600">
                <a:sym typeface="+mn-ea"/>
              </a:rPr>
              <a:t>Zandigohar, M., Han, M., Sharif, M., G</a:t>
            </a:r>
            <a:r>
              <a:rPr lang="en-US" altLang="en-US" sz="1600">
                <a:sym typeface="+mn-ea"/>
              </a:rPr>
              <a:t>ü</a:t>
            </a:r>
            <a:r>
              <a:rPr lang="en-US" altLang="zh-CN" sz="1600">
                <a:sym typeface="+mn-ea"/>
              </a:rPr>
              <a:t>nay, S. Y., Furmanek, M. P., Yarossi, M., ... &amp; Schirner, G. (2024). Multimodal fusion of EMG and vision for human grasp intent inference in prosthetic hand control. Frontiers in Robotics and AI, 11, 1312554.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[3] </a:t>
            </a:r>
            <a:r>
              <a:rPr lang="en-US" altLang="zh-CN" sz="1600">
                <a:sym typeface="+mn-ea"/>
              </a:rPr>
              <a:t>Mangalam, M., Yarossi, M., Furmanek, M. P., &amp; Tunik, E. (2021). Control of aperture closure during reach-to-grasp movements in immersive haptic-free virtual reality. Experimental Brain Research, 239(5), 1651-1665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[4] </a:t>
            </a:r>
            <a:r>
              <a:rPr lang="en-US" altLang="zh-CN" sz="1600">
                <a:sym typeface="+mn-ea"/>
              </a:rPr>
              <a:t>Coats, R. O., Holt, R. J., Bingham, G. P., &amp; Mon-Williams, M. A. (2018). Predicting the duration of reach-to-grasp movements to objects with asymmetric contact surfaces. Plos one, 13(2), e0193185.</a:t>
            </a:r>
            <a:endParaRPr lang="en-US" altLang="zh-CN" sz="160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9*295"/>
  <p:tag name="TABLE_ENDDRAG_RECT" val="23*91*669*295"/>
</p:tagLst>
</file>

<file path=ppt/tags/tag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4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7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8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9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0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1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4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8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19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20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2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2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3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4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5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6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7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8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29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30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3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32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33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4B8A6"/>
          </a:solidFill>
          <a:tailEnd type="triangle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noFill/>
        <a:ln w="12700" cmpd="sng">
          <a:solidFill>
            <a:srgbClr val="F20000"/>
          </a:solidFill>
          <a:prstDash val="solid"/>
          <a:tailEnd type="arrow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4.xml><?xml version="1.0" encoding="utf-8"?>
<ds:datastoreItem xmlns:ds="http://schemas.openxmlformats.org/officeDocument/2006/customXml" ds:itemID="{D3FA7E84-7FC5-4C41-A4F9-8872414BB2F4}">
  <ds:schemaRefs/>
</ds:datastoreItem>
</file>

<file path=customXml/itemProps35.xml><?xml version="1.0" encoding="utf-8"?>
<ds:datastoreItem xmlns:ds="http://schemas.openxmlformats.org/officeDocument/2006/customXml" ds:itemID="{0E5148B6-4531-42C7-8EF9-49C77F467C6E}">
  <ds:schemaRefs/>
</ds:datastoreItem>
</file>

<file path=customXml/itemProps36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6571</Words>
  <Application>WPS 演示</Application>
  <PresentationFormat>画面に合わせる (4:3)</PresentationFormat>
  <Paragraphs>259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Source Han Sans JP Bold</vt:lpstr>
      <vt:lpstr>Source Han Sans JP</vt:lpstr>
      <vt:lpstr>Avenir Heavy</vt:lpstr>
      <vt:lpstr>Segoe Print</vt:lpstr>
      <vt:lpstr>Times New Roman</vt:lpstr>
      <vt:lpstr>Arial</vt:lpstr>
      <vt:lpstr>Wingdings</vt:lpstr>
      <vt:lpstr>Microsoft YaHei</vt:lpstr>
      <vt:lpstr>Arial Unicode MS</vt:lpstr>
      <vt:lpstr>MS PGothic</vt:lpstr>
      <vt:lpstr>Calibri</vt:lpstr>
      <vt:lpstr>Calibri Light</vt:lpstr>
      <vt:lpstr>Office テーマ</vt:lpstr>
      <vt:lpstr>A Vision Regression Model for Fingertip Aperture Prediction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down down down down down</cp:lastModifiedBy>
  <cp:revision>332</cp:revision>
  <dcterms:created xsi:type="dcterms:W3CDTF">2025-10-02T04:01:00Z</dcterms:created>
  <dcterms:modified xsi:type="dcterms:W3CDTF">2026-10-21T05:47:21Z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2052-12.1.0.29161</vt:lpwstr>
  </property>
</Properties>
</file>