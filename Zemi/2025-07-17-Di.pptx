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74" r:id="rId3"/>
    <p:sldId id="595" r:id="rId5"/>
    <p:sldId id="587" r:id="rId6"/>
    <p:sldId id="596" r:id="rId7"/>
    <p:sldId id="59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90F"/>
    <a:srgbClr val="E40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CCE7-0FC9-4530-99D9-387BB353FE33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5247-BA80-4874-A379-0474C37CDF2C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image" Target="../media/image4.png"/><Relationship Id="rId3" Type="http://schemas.microsoft.com/office/2007/relationships/media" Target="../media/media3.mp4"/><Relationship Id="rId2" Type="http://schemas.openxmlformats.org/officeDocument/2006/relationships/video" Target="NULL" TargetMode="Externa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764144" y="1089890"/>
            <a:ext cx="8663709" cy="1572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Development of vision-based myoelectric hand with object tracking function</a:t>
            </a:r>
            <a:endParaRPr kumimoji="1"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489199" y="3786370"/>
            <a:ext cx="7213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Saga University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</a:rPr>
              <a:t>Computer Science &amp; Information Techology</a:t>
            </a:r>
            <a:endParaRPr lang="en-US" altLang="zh-CN" sz="2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25742102 DI XIQING</a:t>
            </a:r>
            <a:endParaRPr lang="en-US" altLang="ja-JP" sz="2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Professor Osamu Fukuda</a:t>
            </a:r>
            <a:r>
              <a:rPr lang="ja-JP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Yeoh Wen Liang</a:t>
            </a:r>
            <a:endParaRPr lang="en-US" altLang="ja-JP" sz="2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</a:t>
            </a:r>
            <a:r>
              <a:rPr lang="en-US" altLang="zh-CN" dirty="0">
                <a:latin typeface="ＭＳ Ｐ明朝" panose="02020600040205080304" charset="-128"/>
                <a:ea typeface="ＭＳ Ｐ明朝" panose="02020600040205080304" charset="-128"/>
                <a:sym typeface="+mn-ea"/>
              </a:rPr>
              <a:t>Reproduce</a:t>
            </a:r>
            <a:endParaRPr lang="en-US" altLang="zh-CN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pic>
        <p:nvPicPr>
          <p:cNvPr id="3" name="7月14日">
            <a:hlinkClick r:id="" action="ppaction://media"/>
          </p:cNvPr>
          <p:cNvPicPr>
            <a:picLocks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9487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5590" y="3429000"/>
            <a:ext cx="4808855" cy="2705100"/>
          </a:xfrm>
          <a:prstGeom prst="rect">
            <a:avLst/>
          </a:prstGeom>
        </p:spPr>
      </p:pic>
      <p:pic>
        <p:nvPicPr>
          <p:cNvPr id="9" name="7月14日 (1)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18605" y="3429000"/>
            <a:ext cx="4799330" cy="27000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98920" y="859790"/>
            <a:ext cx="4809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2000" b="1" dirty="0">
                <a:latin typeface="ＭＳ Ｐ明朝" panose="02020600040205080304" charset="-128"/>
                <a:ea typeface="ＭＳ Ｐ明朝" panose="02020600040205080304" charset="-128"/>
              </a:rPr>
              <a:t>Vision based myoelectric hand</a:t>
            </a:r>
            <a:endParaRPr lang="en-US" altLang="ja-JP" sz="2000" b="1" dirty="0">
              <a:latin typeface="ＭＳ Ｐ明朝" panose="02020600040205080304" charset="-128"/>
              <a:ea typeface="ＭＳ Ｐ明朝" panose="02020600040205080304" charset="-128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5590" y="859790"/>
            <a:ext cx="4809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ja-JP" sz="2000" b="1" dirty="0">
                <a:latin typeface="ＭＳ Ｐ明朝" panose="02020600040205080304" charset="-128"/>
                <a:ea typeface="ＭＳ Ｐ明朝" panose="02020600040205080304" charset="-128"/>
              </a:rPr>
              <a:t>Myoelectric hand</a:t>
            </a:r>
            <a:endParaRPr lang="en-US" altLang="ja-JP" sz="2000" b="1" dirty="0">
              <a:latin typeface="ＭＳ Ｐ明朝" panose="02020600040205080304" charset="-128"/>
              <a:ea typeface="ＭＳ Ｐ明朝" panose="02020600040205080304" charset="-128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7685" y="1347470"/>
            <a:ext cx="47021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Recognition module recognize all motor intent (</a:t>
            </a: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left</a:t>
            </a:r>
            <a:r>
              <a:rPr lang="zh-CN" altLang="en-US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、</a:t>
            </a: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right</a:t>
            </a:r>
            <a:r>
              <a:rPr lang="zh-CN" altLang="en-US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、</a:t>
            </a: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open</a:t>
            </a:r>
            <a:r>
              <a:rPr lang="zh-CN" altLang="en-US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、</a:t>
            </a: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close</a:t>
            </a: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), to control hand</a:t>
            </a:r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  <a:p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76415" y="1310640"/>
            <a:ext cx="47021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Recognition module recognize open and close motor intent, myoelectric hand rotate left and right due to vision sensor to track object</a:t>
            </a:r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  <a:p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  <a:p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  <a:p>
            <a:endParaRPr lang="en-US" altLang="zh-CN" sz="1600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  <a:p>
            <a:r>
              <a:rPr lang="en-US" altLang="zh-CN" sz="1200">
                <a:solidFill>
                  <a:srgbClr val="FF0000"/>
                </a:solidFill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# BUG:currently rotate is not stable</a:t>
            </a:r>
            <a:endParaRPr lang="en-US" altLang="zh-CN" sz="1200">
              <a:solidFill>
                <a:srgbClr val="FF0000"/>
              </a:solidFill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 mute="1"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0">
              <p:cMediaNode mute="1">
                <p:cTn id="8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EMG Signal Recogn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  <a:sym typeface="+mn-ea"/>
              </a:rPr>
              <a:t>ition Module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11638280" cy="1906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ＭＳ Ｐ明朝" panose="02020600040205080304" charset="-128"/>
                <a:ea typeface="SimSun" panose="02010600030101010101" pitchFamily="2" charset="-122"/>
              </a:rPr>
              <a:t>Experiment</a:t>
            </a:r>
            <a:r>
              <a:rPr lang="zh-CN" altLang="en-US" sz="2000" b="1" dirty="0">
                <a:solidFill>
                  <a:schemeClr val="tx1"/>
                </a:solidFill>
                <a:latin typeface="ＭＳ Ｐ明朝" panose="02020600040205080304" charset="-128"/>
                <a:ea typeface="SimSun" panose="02010600030101010101" pitchFamily="2" charset="-122"/>
              </a:rPr>
              <a:t>：</a:t>
            </a:r>
            <a:endParaRPr lang="en-US" altLang="ja-JP" sz="2000" b="1" dirty="0">
              <a:solidFill>
                <a:schemeClr val="tx1"/>
              </a:solidFill>
              <a:latin typeface="ＭＳ Ｐ明朝" panose="02020600040205080304" charset="-128"/>
              <a:ea typeface="ＭＳ Ｐ明朝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ＭＳ Ｐ明朝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>
                <a:latin typeface="ＭＳ Ｐ明朝" panose="02020600040205080304" charset="-128"/>
                <a:ea typeface="SimSun" panose="02010600030101010101" pitchFamily="2" charset="-122"/>
              </a:rPr>
              <a:t>Campare the impact of having vision sensor or not on efficiency.</a:t>
            </a:r>
            <a:endParaRPr lang="en-US" altLang="zh-CN" sz="1600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</a:rPr>
              <a:t>Four diffrent block angle, the hand need rotate to grab</a:t>
            </a: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ＭＳ Ｐ明朝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3" name="图片 7" descr="屏幕截图 2025-07-09 1710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73" y="3144520"/>
            <a:ext cx="5273675" cy="3167380"/>
          </a:xfrm>
          <a:prstGeom prst="rect">
            <a:avLst/>
          </a:prstGeom>
        </p:spPr>
      </p:pic>
      <p:pic>
        <p:nvPicPr>
          <p:cNvPr id="5" name="SIImovie_2 ‐ Clipchampで作成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43820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40195" y="3385185"/>
            <a:ext cx="4953000" cy="278638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H="1">
            <a:off x="2315845" y="2752090"/>
            <a:ext cx="1415415" cy="2379980"/>
          </a:xfrm>
          <a:prstGeom prst="straightConnector1">
            <a:avLst/>
          </a:prstGeom>
          <a:ln w="31750">
            <a:solidFill>
              <a:srgbClr val="E40D0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EMG Signal Recogn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  <a:sym typeface="+mn-ea"/>
              </a:rPr>
              <a:t>ition Module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859790"/>
            <a:ext cx="6009640" cy="2150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ＭＳ Ｐ明朝" panose="02020600040205080304" charset="-128"/>
                <a:ea typeface="SimSun" panose="02010600030101010101" pitchFamily="2" charset="-122"/>
              </a:rPr>
              <a:t>Experiment Result</a:t>
            </a:r>
            <a:r>
              <a:rPr lang="zh-CN" altLang="en-US" sz="2000" b="1" dirty="0">
                <a:solidFill>
                  <a:schemeClr val="tx1"/>
                </a:solidFill>
                <a:latin typeface="ＭＳ Ｐ明朝" panose="02020600040205080304" charset="-128"/>
                <a:ea typeface="SimSun" panose="02010600030101010101" pitchFamily="2" charset="-122"/>
              </a:rPr>
              <a:t>：</a:t>
            </a:r>
            <a:endParaRPr lang="en-US" altLang="ja-JP" sz="2000" b="1" dirty="0">
              <a:solidFill>
                <a:schemeClr val="tx1"/>
              </a:solidFill>
              <a:latin typeface="ＭＳ Ｐ明朝" panose="02020600040205080304" charset="-128"/>
              <a:ea typeface="ＭＳ Ｐ明朝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>
                <a:latin typeface="ＭＳ Ｐ明朝" panose="02020600040205080304" charset="-128"/>
                <a:ea typeface="SimSun" panose="02010600030101010101" pitchFamily="2" charset="-122"/>
              </a:rPr>
              <a:t>①</a:t>
            </a:r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</a:rPr>
              <a:t>:</a:t>
            </a:r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not </a:t>
            </a:r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</a:rPr>
              <a:t>having vision sensor average time taken:56.5s</a:t>
            </a: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②</a:t>
            </a:r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:having vision sensor average time taken:45.2s</a:t>
            </a: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>
              <a:latin typeface="ＭＳ Ｐ明朝" panose="02020600040205080304" charset="-128"/>
              <a:ea typeface="ＭＳ Ｐ明朝" panose="02020600040205080304" charset="-128"/>
            </a:endParaRPr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  <a:p>
            <a:pPr algn="l" defTabSz="457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/>
          </a:p>
        </p:txBody>
      </p:sp>
      <p:pic>
        <p:nvPicPr>
          <p:cNvPr id="4" name="图片 3" descr="屏幕截图_14-7-2025_182040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3144520"/>
            <a:ext cx="5278755" cy="3307715"/>
          </a:xfrm>
          <a:prstGeom prst="rect">
            <a:avLst/>
          </a:prstGeom>
        </p:spPr>
      </p:pic>
      <p:pic>
        <p:nvPicPr>
          <p:cNvPr id="9" name="图片 8" descr="屏幕截图_14-7-2025_183020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495" y="3493135"/>
            <a:ext cx="4537075" cy="2959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12000" y="284829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no different in </a:t>
            </a:r>
            <a:r>
              <a:rPr lang="en-US" altLang="zh-CN" sz="1800" b="0" i="0">
                <a:solidFill>
                  <a:schemeClr val="tx2">
                    <a:lumMod val="75000"/>
                    <a:lumOff val="25000"/>
                  </a:schemeClr>
                </a:solidFill>
                <a:latin typeface="ＭＳ Ｐ明朝" panose="02020600040205080304" charset="-128"/>
                <a:ea typeface="SimSun" panose="02010600030101010101" pitchFamily="2" charset="-122"/>
              </a:rPr>
              <a:t>‘grab holidng’</a:t>
            </a:r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 time,</a:t>
            </a:r>
            <a:endParaRPr lang="en-US" altLang="zh-CN" sz="1800" b="0" i="0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marL="0" indent="0"/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significant different in </a:t>
            </a:r>
            <a:r>
              <a:rPr lang="en-US" altLang="zh-CN" sz="1800" b="0" i="0">
                <a:solidFill>
                  <a:schemeClr val="tx2">
                    <a:lumMod val="75000"/>
                    <a:lumOff val="25000"/>
                  </a:schemeClr>
                </a:solidFill>
                <a:latin typeface="ＭＳ Ｐ明朝" panose="02020600040205080304" charset="-128"/>
                <a:ea typeface="SimSun" panose="02010600030101010101" pitchFamily="2" charset="-122"/>
              </a:rPr>
              <a:t>‘try to grab’</a:t>
            </a:r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 time</a:t>
            </a:r>
            <a:endParaRPr lang="en-US" altLang="zh-CN" sz="1800" b="0" i="0">
              <a:latin typeface="ＭＳ Ｐ明朝" panose="02020600040205080304" charset="-128"/>
              <a:ea typeface="SimSun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  <a:sym typeface="+mn-ea"/>
              </a:rPr>
              <a:t>In later</a:t>
            </a:r>
            <a:r>
              <a:rPr lang="en-US" altLang="ja-JP" dirty="0">
                <a:latin typeface="ＭＳ Ｐ明朝" panose="02020600040205080304" charset="-128"/>
                <a:ea typeface="ＭＳ Ｐ明朝" panose="02020600040205080304" charset="-128"/>
              </a:rPr>
              <a:t> </a:t>
            </a:r>
            <a:endParaRPr lang="ja-JP" altLang="en-US" dirty="0">
              <a:latin typeface="ＭＳ Ｐ明朝" panose="02020600040205080304" charset="-128"/>
              <a:ea typeface="ＭＳ Ｐ明朝" panose="02020600040205080304" charset="-128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5490" y="948690"/>
            <a:ext cx="707199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roughly outlined this paper structure</a:t>
            </a:r>
            <a:endParaRPr lang="en-US" altLang="zh-CN" sz="1800" b="0" i="0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marL="0" indent="0"/>
            <a:endParaRPr lang="en-US" altLang="zh-CN" sz="1800" b="0" i="0">
              <a:latin typeface="ＭＳ Ｐ明朝" panose="02020600040205080304" charset="-128"/>
              <a:ea typeface="SimSun" panose="02010600030101010101" pitchFamily="2" charset="-122"/>
            </a:endParaRPr>
          </a:p>
          <a:p>
            <a:pPr marL="0" indent="0"/>
            <a:r>
              <a:rPr lang="en-US" altLang="zh-CN" sz="1800" b="0" i="0">
                <a:latin typeface="ＭＳ Ｐ明朝" panose="02020600040205080304" charset="-128"/>
                <a:ea typeface="SimSun" panose="02010600030101010101" pitchFamily="2" charset="-122"/>
              </a:rPr>
              <a:t>organizing the signal processing formulas</a:t>
            </a:r>
            <a:endParaRPr lang="en-US" altLang="zh-CN" sz="1800" b="0" i="0">
              <a:latin typeface="ＭＳ Ｐ明朝" panose="02020600040205080304" charset="-128"/>
              <a:ea typeface="SimSun" panose="02010600030101010101" pitchFamily="2" charset="-122"/>
            </a:endParaRPr>
          </a:p>
        </p:txBody>
      </p:sp>
      <p:pic>
        <p:nvPicPr>
          <p:cNvPr id="3" name="图片 2" descr="c78464eccd2f1c0dc1f8946d8a9d85e5_18794_800_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948690"/>
            <a:ext cx="584835" cy="390525"/>
          </a:xfrm>
          <a:prstGeom prst="rect">
            <a:avLst/>
          </a:prstGeom>
        </p:spPr>
      </p:pic>
      <p:pic>
        <p:nvPicPr>
          <p:cNvPr id="4" name="图片 3" descr="c78464eccd2f1c0dc1f8946d8a9d85e5_18794_800_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480185"/>
            <a:ext cx="584835" cy="390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45490" y="20085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found and read some of the references</a:t>
            </a:r>
            <a:endParaRPr lang="en-US" altLang="zh-CN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</p:txBody>
      </p:sp>
      <p:pic>
        <p:nvPicPr>
          <p:cNvPr id="8" name="图片 7" descr="c78464eccd2f1c0dc1f8946d8a9d85e5_18794_800_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960880"/>
            <a:ext cx="584835" cy="390525"/>
          </a:xfrm>
          <a:prstGeom prst="rect">
            <a:avLst/>
          </a:prstGeom>
        </p:spPr>
      </p:pic>
      <p:pic>
        <p:nvPicPr>
          <p:cNvPr id="9" name="图片 8" descr="QQ20250716-12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3429000"/>
            <a:ext cx="6353175" cy="3324225"/>
          </a:xfrm>
          <a:prstGeom prst="rect">
            <a:avLst/>
          </a:prstGeom>
        </p:spPr>
      </p:pic>
      <p:pic>
        <p:nvPicPr>
          <p:cNvPr id="11" name="图片 10" descr="3uvB7jWlK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" y="2934970"/>
            <a:ext cx="561340" cy="5613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58850" y="30460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ＭＳ Ｐ明朝" panose="02020600040205080304" charset="-128"/>
                <a:ea typeface="SimSun" panose="02010600030101010101" pitchFamily="2" charset="-122"/>
                <a:sym typeface="+mn-ea"/>
              </a:rPr>
              <a:t>learn the another vision based myoelectric hand</a:t>
            </a:r>
            <a:endParaRPr lang="en-US" altLang="zh-CN">
              <a:latin typeface="ＭＳ Ｐ明朝" panose="02020600040205080304" charset="-128"/>
              <a:ea typeface="SimSun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WPS 演示</Application>
  <PresentationFormat>ワイド画面</PresentationFormat>
  <Paragraphs>66</Paragraphs>
  <Slides>5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ＭＳ Ｐ明朝</vt:lpstr>
      <vt:lpstr>Arial</vt:lpstr>
      <vt:lpstr>游ゴシック</vt:lpstr>
      <vt:lpstr>Microsoft YaHei</vt:lpstr>
      <vt:lpstr>Arial Unicode MS</vt:lpstr>
      <vt:lpstr>游ゴシック Light</vt:lpstr>
      <vt:lpstr>DengXian</vt:lpstr>
      <vt:lpstr>DengXian Light</vt:lpstr>
      <vt:lpstr>1_Office テーマ</vt:lpstr>
      <vt:lpstr>Development of vision-based myoelectric hand with object tracking function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 ディシチン</dc:creator>
  <cp:lastModifiedBy>WPS_1744009845</cp:lastModifiedBy>
  <cp:revision>67</cp:revision>
  <dcterms:created xsi:type="dcterms:W3CDTF">2025-05-10T07:41:00Z</dcterms:created>
  <dcterms:modified xsi:type="dcterms:W3CDTF">2025-07-16T05:27:08Z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0E634CF534D7483DB84EA17BA8B34D0D_12</vt:lpwstr>
  </property>
  <property fmtid="{D5CDD505-2E9C-101B-9397-08002B2CF9AE}" pid="3" name="KSOProductBuildVer">
    <vt:lpwstr>2052-12.1.0.21915</vt:lpwstr>
  </property>
</Properties>
</file>