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574" r:id="rId3"/>
    <p:sldId id="585" r:id="rId5"/>
    <p:sldId id="597" r:id="rId6"/>
    <p:sldId id="587" r:id="rId7"/>
    <p:sldId id="596" r:id="rId8"/>
    <p:sldId id="591" r:id="rId9"/>
    <p:sldId id="592" r:id="rId10"/>
    <p:sldId id="598" r:id="rId11"/>
    <p:sldId id="599" r:id="rId12"/>
    <p:sldId id="600" r:id="rId1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8090F"/>
    <a:srgbClr val="E40D0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B4CCE7-0FC9-4530-99D9-387BB353FE33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E25247-BA80-4874-A379-0474C37CDF2C}" type="slidenum">
              <a:rPr kumimoji="1" lang="ja-JP" altLang="en-US" smtClean="0"/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字幕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E46F7-A3F6-4AF6-B63A-2D7F1ABB9B99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6F205-CF13-4B12-A0D7-1A77B98EE96A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E46F7-A3F6-4AF6-B63A-2D7F1ABB9B99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6F205-CF13-4B12-A0D7-1A77B98EE96A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E46F7-A3F6-4AF6-B63A-2D7F1ABB9B99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6F205-CF13-4B12-A0D7-1A77B98EE96A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E46F7-A3F6-4AF6-B63A-2D7F1ABB9B99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6F205-CF13-4B12-A0D7-1A77B98EE96A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E46F7-A3F6-4AF6-B63A-2D7F1ABB9B99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6F205-CF13-4B12-A0D7-1A77B98EE96A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E46F7-A3F6-4AF6-B63A-2D7F1ABB9B99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6F205-CF13-4B12-A0D7-1A77B98EE96A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E46F7-A3F6-4AF6-B63A-2D7F1ABB9B99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6F205-CF13-4B12-A0D7-1A77B98EE96A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E46F7-A3F6-4AF6-B63A-2D7F1ABB9B99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6F205-CF13-4B12-A0D7-1A77B98EE96A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E46F7-A3F6-4AF6-B63A-2D7F1ABB9B99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6F205-CF13-4B12-A0D7-1A77B98EE96A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E46F7-A3F6-4AF6-B63A-2D7F1ABB9B99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6F205-CF13-4B12-A0D7-1A77B98EE96A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E46F7-A3F6-4AF6-B63A-2D7F1ABB9B99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6F205-CF13-4B12-A0D7-1A77B98EE96A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DE46F7-A3F6-4AF6-B63A-2D7F1ABB9B99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C6F205-CF13-4B12-A0D7-1A77B98EE96A}" type="slidenum">
              <a:rPr kumimoji="1" lang="ja-JP" altLang="en-US" smtClean="0"/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1.xml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2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3.xml"/><Relationship Id="rId4" Type="http://schemas.openxmlformats.org/officeDocument/2006/relationships/image" Target="../media/image9.png"/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4.xml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5.xml"/><Relationship Id="rId1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6.xml"/><Relationship Id="rId1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8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7.xml"/><Relationship Id="rId4" Type="http://schemas.openxmlformats.org/officeDocument/2006/relationships/image" Target="../media/image17.png"/><Relationship Id="rId3" Type="http://schemas.microsoft.com/office/2007/relationships/media" Target="../media/media1.mp4"/><Relationship Id="rId2" Type="http://schemas.openxmlformats.org/officeDocument/2006/relationships/video" Target="NULL" TargetMode="External"/><Relationship Id="rId1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8.xml"/><Relationship Id="rId2" Type="http://schemas.openxmlformats.org/officeDocument/2006/relationships/image" Target="../media/image19.jpeg"/><Relationship Id="rId1" Type="http://schemas.openxmlformats.org/officeDocument/2006/relationships/image" Target="../media/image18.jpe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9.xml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764144" y="1089890"/>
            <a:ext cx="8663709" cy="1572563"/>
          </a:xfrm>
        </p:spPr>
        <p:txBody>
          <a:bodyPr>
            <a:normAutofit/>
          </a:bodyPr>
          <a:lstStyle/>
          <a:p>
            <a:r>
              <a:rPr kumimoji="1" lang="en-US" altLang="zh-CN" sz="3600" dirty="0">
                <a:latin typeface="Calibri" panose="020F0502020204030204" pitchFamily="34" charset="0"/>
                <a:cs typeface="Calibri" panose="020F0502020204030204" pitchFamily="34" charset="0"/>
              </a:rPr>
              <a:t>Development of vision-based myoelectric hand with object tracking function</a:t>
            </a:r>
            <a:endParaRPr kumimoji="1" lang="en-US" altLang="zh-CN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2489199" y="3786370"/>
            <a:ext cx="7213600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26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Saga University</a:t>
            </a:r>
            <a:endParaRPr lang="en-US" altLang="ja-JP" sz="2600" b="0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pPr algn="ctr"/>
            <a:r>
              <a:rPr lang="en-US" altLang="zh-CN" sz="2600" dirty="0">
                <a:solidFill>
                  <a:srgbClr val="000000"/>
                </a:solidFill>
                <a:latin typeface="Calibri" panose="020F0502020204030204" pitchFamily="34" charset="0"/>
              </a:rPr>
              <a:t>Computer Science &amp; Information Techology</a:t>
            </a:r>
            <a:endParaRPr lang="en-US" altLang="zh-CN" sz="26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algn="ctr"/>
            <a:r>
              <a:rPr lang="en-US" altLang="ja-JP" sz="26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25742102 DI XIQING</a:t>
            </a:r>
            <a:endParaRPr lang="en-US" altLang="ja-JP" sz="2600" b="0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pPr algn="ctr"/>
            <a:r>
              <a:rPr lang="en-US" altLang="ja-JP" sz="2600" dirty="0">
                <a:solidFill>
                  <a:srgbClr val="000000"/>
                </a:solidFill>
                <a:latin typeface="Calibri" panose="020F0502020204030204" pitchFamily="34" charset="0"/>
              </a:rPr>
              <a:t>Professor Osamu Fukuda</a:t>
            </a:r>
            <a:r>
              <a:rPr lang="ja-JP" altLang="ja-JP" sz="2600" dirty="0">
                <a:solidFill>
                  <a:srgbClr val="000000"/>
                </a:solidFill>
                <a:latin typeface="Calibri" panose="020F0502020204030204" pitchFamily="34" charset="0"/>
              </a:rPr>
              <a:t>，</a:t>
            </a:r>
            <a:r>
              <a:rPr lang="en-US" altLang="ja-JP" sz="2600" dirty="0">
                <a:solidFill>
                  <a:srgbClr val="000000"/>
                </a:solidFill>
                <a:latin typeface="Calibri" panose="020F0502020204030204" pitchFamily="34" charset="0"/>
              </a:rPr>
              <a:t>Yeoh Wen Liang</a:t>
            </a:r>
            <a:endParaRPr lang="en-US" altLang="ja-JP" sz="26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 rot="10800000" flipH="1">
            <a:off x="275809" y="327218"/>
            <a:ext cx="355381" cy="88900"/>
            <a:chOff x="4381719" y="-1168400"/>
            <a:chExt cx="355381" cy="88900"/>
          </a:xfrm>
        </p:grpSpPr>
        <p:cxnSp>
          <p:nvCxnSpPr>
            <p:cNvPr id="32" name="直接连接符 31"/>
            <p:cNvCxnSpPr/>
            <p:nvPr/>
          </p:nvCxnSpPr>
          <p:spPr>
            <a:xfrm>
              <a:off x="4483100" y="-1168400"/>
              <a:ext cx="254000" cy="0"/>
            </a:xfrm>
            <a:prstGeom prst="line">
              <a:avLst/>
            </a:prstGeom>
            <a:ln w="28575" cap="rnd">
              <a:solidFill>
                <a:srgbClr val="3FA4DE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/>
          </p:nvCxnSpPr>
          <p:spPr>
            <a:xfrm>
              <a:off x="4381719" y="-1079500"/>
              <a:ext cx="355381" cy="0"/>
            </a:xfrm>
            <a:prstGeom prst="line">
              <a:avLst/>
            </a:prstGeom>
            <a:ln w="28575" cap="rnd">
              <a:solidFill>
                <a:srgbClr val="3FA4DE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" name="直接连接符 6"/>
          <p:cNvCxnSpPr/>
          <p:nvPr/>
        </p:nvCxnSpPr>
        <p:spPr>
          <a:xfrm flipV="1">
            <a:off x="275590" y="636270"/>
            <a:ext cx="11638915" cy="31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文本框 152" descr="e7d195523061f1c09e9d68d7cf438b91ef959ecb14fc25d26BBA7F7DBC18E55DFF4014AF651F0BF2569D4B6C1DA7F1A4683A481403BD872FC687266AD13265C1DE7C373772FD8728ABDD69ADD03BFF5BE2862BC891DBB79EC0B81FB75486405D5064442904236646CF49102BEE5E1B895458B641CA0D6C7889FDD78D23C2B1BC47745F4B67C4FF437063ECD1606ECED6"/>
          <p:cNvSpPr txBox="1"/>
          <p:nvPr/>
        </p:nvSpPr>
        <p:spPr>
          <a:xfrm>
            <a:off x="631189" y="167233"/>
            <a:ext cx="86790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accent1"/>
                </a:solidFill>
                <a:latin typeface="+mj-lt"/>
                <a:ea typeface="+mj-ea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ja-JP" dirty="0">
                <a:latin typeface="MS PMincho" panose="02020600040205080304" charset="-128"/>
                <a:ea typeface="MS PMincho" panose="02020600040205080304" charset="-128"/>
              </a:rPr>
              <a:t> </a:t>
            </a:r>
            <a:r>
              <a:rPr lang="en-US" altLang="ja-JP" dirty="0">
                <a:latin typeface="MS PMincho" panose="02020600040205080304" charset="-128"/>
                <a:ea typeface="MS PMincho" panose="02020600040205080304" charset="-128"/>
                <a:sym typeface="+mn-ea"/>
              </a:rPr>
              <a:t>Introduce</a:t>
            </a:r>
            <a:r>
              <a:rPr lang="en-US" altLang="ja-JP" dirty="0">
                <a:latin typeface="MS PMincho" panose="02020600040205080304" charset="-128"/>
                <a:ea typeface="MS PMincho" panose="02020600040205080304" charset="-128"/>
              </a:rPr>
              <a:t> </a:t>
            </a:r>
            <a:endParaRPr lang="en-US" altLang="ja-JP" dirty="0">
              <a:latin typeface="MS PMincho" panose="02020600040205080304" charset="-128"/>
              <a:ea typeface="MS PMincho" panose="02020600040205080304" charset="-128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75590" y="778510"/>
            <a:ext cx="890714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ja-JP" sz="2000" dirty="0">
                <a:latin typeface="MS PMincho" panose="02020600040205080304" charset="-128"/>
                <a:ea typeface="MS PMincho" panose="02020600040205080304" charset="-128"/>
              </a:rPr>
              <a:t>Key Word: Electromyography, Prosthetic hand, Computer vision, Object tracking</a:t>
            </a:r>
            <a:endParaRPr lang="en-US" altLang="ja-JP" sz="2000" dirty="0">
              <a:latin typeface="MS PMincho" panose="02020600040205080304" charset="-128"/>
              <a:ea typeface="MS PMincho" panose="02020600040205080304" charset="-128"/>
            </a:endParaRPr>
          </a:p>
        </p:txBody>
      </p:sp>
      <p:pic>
        <p:nvPicPr>
          <p:cNvPr id="14" name="图片 13" descr="1_mjyzc8D6TcAV1VyAmiboDA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69835" y="1628775"/>
            <a:ext cx="3812540" cy="286004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75590" y="1509395"/>
            <a:ext cx="7014210" cy="10814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l" defTabSz="45720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ja-JP" sz="2800" b="1" dirty="0">
                <a:solidFill>
                  <a:schemeClr val="tx1"/>
                </a:solidFill>
                <a:latin typeface="MS PMincho" panose="02020600040205080304" charset="-128"/>
                <a:ea typeface="MS PMincho" panose="02020600040205080304" charset="-128"/>
                <a:cs typeface="MS PMincho" panose="02020600040205080304" charset="-128"/>
              </a:rPr>
              <a:t>Introduce</a:t>
            </a:r>
            <a:r>
              <a:rPr lang="zh-CN" altLang="en-US" sz="2800" b="1" dirty="0">
                <a:solidFill>
                  <a:schemeClr val="tx1"/>
                </a:solidFill>
                <a:latin typeface="MS PMincho" panose="02020600040205080304" charset="-128"/>
                <a:ea typeface="MS PMincho" panose="02020600040205080304" charset="-128"/>
                <a:cs typeface="MS PMincho" panose="02020600040205080304" charset="-128"/>
              </a:rPr>
              <a:t>：</a:t>
            </a:r>
            <a:endParaRPr lang="en-US" altLang="zh-CN">
              <a:latin typeface="MS PMincho" panose="02020600040205080304" charset="-128"/>
              <a:ea typeface="MS PMincho" panose="02020600040205080304" charset="-128"/>
              <a:cs typeface="MS PMincho" panose="02020600040205080304" charset="-128"/>
            </a:endParaRPr>
          </a:p>
          <a:p>
            <a:pPr algn="l" defTabSz="45720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>
                <a:latin typeface="MS PMincho" panose="02020600040205080304" charset="-128"/>
                <a:ea typeface="MS PMincho" panose="02020600040205080304" charset="-128"/>
                <a:cs typeface="MS PMincho" panose="02020600040205080304" charset="-128"/>
              </a:rPr>
              <a:t>Prosthetic hand - Replace real hand</a:t>
            </a:r>
            <a:r>
              <a:rPr lang="zh-CN" altLang="en-US">
                <a:latin typeface="MS PMincho" panose="02020600040205080304" charset="-128"/>
                <a:ea typeface="MS PMincho" panose="02020600040205080304" charset="-128"/>
                <a:cs typeface="MS PMincho" panose="02020600040205080304" charset="-128"/>
              </a:rPr>
              <a:t>，</a:t>
            </a:r>
            <a:r>
              <a:rPr lang="en-US" altLang="zh-CN">
                <a:latin typeface="MS PMincho" panose="02020600040205080304" charset="-128"/>
                <a:ea typeface="MS PMincho" panose="02020600040205080304" charset="-128"/>
                <a:cs typeface="MS PMincho" panose="02020600040205080304" charset="-128"/>
              </a:rPr>
              <a:t>mimic all real hand movements,</a:t>
            </a:r>
            <a:r>
              <a:rPr lang="en-US" altLang="zh-CN">
                <a:latin typeface="MS PMincho" panose="02020600040205080304" charset="-128"/>
                <a:ea typeface="宋体" panose="02010600030101010101" pitchFamily="2" charset="-122"/>
                <a:cs typeface="MS PMincho" panose="02020600040205080304" charset="-128"/>
              </a:rPr>
              <a:t>for who have lost hand.</a:t>
            </a:r>
            <a:endParaRPr lang="zh-CN" altLang="en-US">
              <a:latin typeface="MS PMincho" panose="02020600040205080304" charset="-128"/>
              <a:ea typeface="宋体" panose="02010600030101010101" pitchFamily="2" charset="-122"/>
              <a:cs typeface="MS PMincho" panose="02020600040205080304" charset="-128"/>
            </a:endParaRPr>
          </a:p>
          <a:p>
            <a:pPr algn="l" defTabSz="45720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>
              <a:latin typeface="MS PMincho" panose="02020600040205080304" charset="-128"/>
              <a:ea typeface="宋体" panose="02010600030101010101" pitchFamily="2" charset="-122"/>
              <a:cs typeface="MS PMincho" panose="02020600040205080304" charset="-128"/>
            </a:endParaRPr>
          </a:p>
        </p:txBody>
      </p:sp>
      <p:pic>
        <p:nvPicPr>
          <p:cNvPr id="4" name="图片 3" descr="ar363-yloqb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190" y="4008755"/>
            <a:ext cx="3974465" cy="263588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627880" y="4620260"/>
            <a:ext cx="6912610" cy="1799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en-US" altLang="zh-CN" sz="2000" b="1">
                <a:latin typeface="MS PMincho" panose="02020600040205080304" charset="-128"/>
                <a:ea typeface="MS PMincho" panose="02020600040205080304" charset="-128"/>
                <a:cs typeface="MS PMincho" panose="02020600040205080304" charset="-128"/>
              </a:rPr>
              <a:t>Electromyographic (EMG) signal</a:t>
            </a:r>
            <a:r>
              <a:rPr lang="zh-CN" altLang="en-US" sz="2000" b="1">
                <a:latin typeface="MS PMincho" panose="02020600040205080304" charset="-128"/>
                <a:ea typeface="MS PMincho" panose="02020600040205080304" charset="-128"/>
                <a:cs typeface="MS PMincho" panose="02020600040205080304" charset="-128"/>
              </a:rPr>
              <a:t>：</a:t>
            </a:r>
            <a:endParaRPr lang="zh-CN" altLang="en-US" sz="2000" b="1">
              <a:latin typeface="MS PMincho" panose="02020600040205080304" charset="-128"/>
              <a:ea typeface="MS PMincho" panose="02020600040205080304" charset="-128"/>
              <a:cs typeface="MS PMincho" panose="02020600040205080304" charset="-128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zh-CN">
                <a:latin typeface="MS PMincho" panose="02020600040205080304" charset="-128"/>
                <a:ea typeface="MS PMincho" panose="02020600040205080304" charset="-128"/>
                <a:cs typeface="MS PMincho" panose="02020600040205080304" charset="-128"/>
              </a:rPr>
              <a:t>Generated during muscle contraction</a:t>
            </a:r>
            <a:endParaRPr lang="zh-CN" altLang="en-US">
              <a:latin typeface="MS PMincho" panose="02020600040205080304" charset="-128"/>
              <a:ea typeface="MS PMincho" panose="02020600040205080304" charset="-128"/>
              <a:cs typeface="MS PMincho" panose="02020600040205080304" charset="-128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zh-CN">
                <a:latin typeface="MS PMincho" panose="02020600040205080304" charset="-128"/>
                <a:ea typeface="MS PMincho" panose="02020600040205080304" charset="-128"/>
                <a:cs typeface="MS PMincho" panose="02020600040205080304" charset="-128"/>
              </a:rPr>
              <a:t>Can be acquire from surface of skin</a:t>
            </a:r>
            <a:endParaRPr lang="zh-CN" altLang="en-US">
              <a:latin typeface="MS PMincho" panose="02020600040205080304" charset="-128"/>
              <a:ea typeface="MS PMincho" panose="02020600040205080304" charset="-128"/>
              <a:cs typeface="MS PMincho" panose="02020600040205080304" charset="-128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zh-CN">
                <a:latin typeface="MS PMincho" panose="02020600040205080304" charset="-128"/>
                <a:ea typeface="MS PMincho" panose="02020600040205080304" charset="-128"/>
                <a:cs typeface="MS PMincho" panose="02020600040205080304" charset="-128"/>
              </a:rPr>
              <a:t>Include motor intent information</a:t>
            </a:r>
            <a:endParaRPr lang="en-US" altLang="zh-CN">
              <a:latin typeface="MS PMincho" panose="02020600040205080304" charset="-128"/>
              <a:ea typeface="MS PMincho" panose="02020600040205080304" charset="-128"/>
              <a:cs typeface="MS PMincho" panose="02020600040205080304" charset="-128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75590" y="2839085"/>
            <a:ext cx="6894195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 defTabSz="45720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1000">
                <a:latin typeface="MS PMincho" panose="02020600040205080304" charset="-128"/>
                <a:ea typeface="宋体" panose="02010600030101010101" pitchFamily="2" charset="-122"/>
                <a:cs typeface="MS PMincho" panose="02020600040205080304" charset="-128"/>
                <a:sym typeface="+mn-ea"/>
              </a:rPr>
              <a:t>Fukuda O, Sakaguchi D, He Y, et al. Bimodal control of a vision-based myoelectric hand[J]. IEEE Access, 2021, 9: 98369-98380.</a:t>
            </a:r>
            <a:endParaRPr lang="en-US" altLang="zh-CN" sz="1000">
              <a:latin typeface="MS PMincho" panose="02020600040205080304" charset="-128"/>
              <a:ea typeface="宋体" panose="02010600030101010101" pitchFamily="2" charset="-122"/>
              <a:cs typeface="MS PMincho" panose="02020600040205080304" charset="-128"/>
              <a:sym typeface="+mn-ea"/>
            </a:endParaRPr>
          </a:p>
          <a:p>
            <a:pPr algn="l" defTabSz="45720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1000">
                <a:latin typeface="MS PMincho" panose="02020600040205080304" charset="-128"/>
                <a:ea typeface="宋体" panose="02010600030101010101" pitchFamily="2" charset="-122"/>
                <a:cs typeface="MS PMincho" panose="02020600040205080304" charset="-128"/>
                <a:sym typeface="+mn-ea"/>
              </a:rPr>
              <a:t>Mendez V, Iberite F, Shokur S, et al. Current solutions and future trends for robotic prosthetic hands[J]. Annual Review of Control, Robotics, and Autonomous Systems, 2021, 4(1): 595-627.</a:t>
            </a:r>
            <a:endParaRPr lang="en-US" altLang="zh-CN" sz="1000">
              <a:latin typeface="MS PMincho" panose="02020600040205080304" charset="-128"/>
              <a:ea typeface="宋体" panose="02010600030101010101" pitchFamily="2" charset="-122"/>
              <a:cs typeface="MS PMincho" panose="02020600040205080304" charset="-128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 rot="10800000" flipH="1">
            <a:off x="275809" y="327218"/>
            <a:ext cx="355381" cy="88900"/>
            <a:chOff x="4381719" y="-1168400"/>
            <a:chExt cx="355381" cy="88900"/>
          </a:xfrm>
        </p:grpSpPr>
        <p:cxnSp>
          <p:nvCxnSpPr>
            <p:cNvPr id="32" name="直接连接符 31"/>
            <p:cNvCxnSpPr/>
            <p:nvPr/>
          </p:nvCxnSpPr>
          <p:spPr>
            <a:xfrm>
              <a:off x="4483100" y="-1168400"/>
              <a:ext cx="254000" cy="0"/>
            </a:xfrm>
            <a:prstGeom prst="line">
              <a:avLst/>
            </a:prstGeom>
            <a:ln w="28575" cap="rnd">
              <a:solidFill>
                <a:srgbClr val="3FA4DE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/>
          </p:nvCxnSpPr>
          <p:spPr>
            <a:xfrm>
              <a:off x="4381719" y="-1079500"/>
              <a:ext cx="355381" cy="0"/>
            </a:xfrm>
            <a:prstGeom prst="line">
              <a:avLst/>
            </a:prstGeom>
            <a:ln w="28575" cap="rnd">
              <a:solidFill>
                <a:srgbClr val="3FA4DE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" name="直接连接符 6"/>
          <p:cNvCxnSpPr/>
          <p:nvPr/>
        </p:nvCxnSpPr>
        <p:spPr>
          <a:xfrm flipV="1">
            <a:off x="275590" y="636270"/>
            <a:ext cx="11638915" cy="31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文本框 152" descr="e7d195523061f1c09e9d68d7cf438b91ef959ecb14fc25d26BBA7F7DBC18E55DFF4014AF651F0BF2569D4B6C1DA7F1A4683A481403BD872FC687266AD13265C1DE7C373772FD8728ABDD69ADD03BFF5BE2862BC891DBB79EC0B81FB75486405D5064442904236646CF49102BEE5E1B895458B641CA0D6C7889FDD78D23C2B1BC47745F4B67C4FF437063ECD1606ECED6"/>
          <p:cNvSpPr txBox="1"/>
          <p:nvPr/>
        </p:nvSpPr>
        <p:spPr>
          <a:xfrm>
            <a:off x="631189" y="167233"/>
            <a:ext cx="86790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accent1"/>
                </a:solidFill>
                <a:latin typeface="+mj-lt"/>
                <a:ea typeface="+mj-ea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ja-JP" dirty="0">
                <a:latin typeface="MS PMincho" panose="02020600040205080304" charset="-128"/>
                <a:ea typeface="MS PMincho" panose="02020600040205080304" charset="-128"/>
              </a:rPr>
              <a:t> </a:t>
            </a:r>
            <a:r>
              <a:rPr lang="en-US" altLang="ja-JP" dirty="0">
                <a:latin typeface="MS PMincho" panose="02020600040205080304" charset="-128"/>
                <a:ea typeface="MS PMincho" panose="02020600040205080304" charset="-128"/>
                <a:sym typeface="+mn-ea"/>
              </a:rPr>
              <a:t>Two Type of Vision Based Myoelectric Hand</a:t>
            </a:r>
            <a:r>
              <a:rPr lang="en-US" altLang="ja-JP" dirty="0">
                <a:latin typeface="MS PMincho" panose="02020600040205080304" charset="-128"/>
                <a:ea typeface="MS PMincho" panose="02020600040205080304" charset="-128"/>
              </a:rPr>
              <a:t> </a:t>
            </a:r>
            <a:endParaRPr lang="en-US" altLang="ja-JP" dirty="0">
              <a:latin typeface="MS PMincho" panose="02020600040205080304" charset="-128"/>
              <a:ea typeface="MS PMincho" panose="02020600040205080304" charset="-128"/>
              <a:sym typeface="+mn-ea"/>
            </a:endParaRPr>
          </a:p>
        </p:txBody>
      </p:sp>
      <p:pic>
        <p:nvPicPr>
          <p:cNvPr id="4" name="图片 3" descr="Hand-nameV2-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23460" y="1329055"/>
            <a:ext cx="5139690" cy="2286000"/>
          </a:xfrm>
          <a:prstGeom prst="rect">
            <a:avLst/>
          </a:prstGeom>
        </p:spPr>
      </p:pic>
      <p:pic>
        <p:nvPicPr>
          <p:cNvPr id="5" name="图片 4" descr="新建项目 (1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190" y="1329055"/>
            <a:ext cx="3522345" cy="2476500"/>
          </a:xfrm>
          <a:prstGeom prst="rect">
            <a:avLst/>
          </a:prstGeom>
        </p:spPr>
      </p:pic>
      <p:pic>
        <p:nvPicPr>
          <p:cNvPr id="8" name="图片 7" descr="QQ20250624-15024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190" y="3990340"/>
            <a:ext cx="5260340" cy="255968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75590" y="807085"/>
            <a:ext cx="109645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>
                <a:latin typeface="MS PMincho" panose="02020600040205080304" charset="-128"/>
                <a:ea typeface="MS PMincho" panose="02020600040205080304" charset="-128"/>
              </a:rPr>
              <a:t>Two type of vision based myoelectric hand</a:t>
            </a:r>
            <a:r>
              <a:rPr lang="zh-CN" altLang="en-US" sz="2400" b="1">
                <a:latin typeface="MS PMincho" panose="02020600040205080304" charset="-128"/>
                <a:ea typeface="宋体" panose="02010600030101010101" pitchFamily="2" charset="-122"/>
              </a:rPr>
              <a:t>：</a:t>
            </a:r>
            <a:endParaRPr lang="zh-CN" altLang="en-US" sz="2400" b="1">
              <a:latin typeface="MS PMincho" panose="02020600040205080304" charset="-128"/>
              <a:ea typeface="宋体" panose="02010600030101010101" pitchFamily="2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818505" y="3839845"/>
            <a:ext cx="609600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auto">
              <a:lnSpc>
                <a:spcPct val="150000"/>
              </a:lnSpc>
            </a:pPr>
            <a:r>
              <a:rPr lang="en-US" altLang="zh-CN" sz="2000" b="1">
                <a:latin typeface="MS PMincho" panose="02020600040205080304" charset="-128"/>
                <a:ea typeface="MS PMincho" panose="02020600040205080304" charset="-128"/>
              </a:rPr>
              <a:t>System flow</a:t>
            </a:r>
            <a:endParaRPr lang="en-US" altLang="zh-CN" sz="2000" b="1">
              <a:latin typeface="MS PMincho" panose="02020600040205080304" charset="-128"/>
              <a:ea typeface="MS PMincho" panose="02020600040205080304" charset="-128"/>
            </a:endParaRPr>
          </a:p>
          <a:p>
            <a:pPr marL="800100" lvl="1" indent="-342900" fontAlgn="auto">
              <a:lnSpc>
                <a:spcPct val="150000"/>
              </a:lnSpc>
              <a:buFont typeface="+mj-lt"/>
              <a:buAutoNum type="arabicPeriod"/>
            </a:pPr>
            <a:r>
              <a:rPr lang="en-US" altLang="zh-CN">
                <a:latin typeface="MS PMincho" panose="02020600040205080304" charset="-128"/>
                <a:ea typeface="MS PMincho" panose="02020600040205080304" charset="-128"/>
              </a:rPr>
              <a:t>Vision module</a:t>
            </a:r>
            <a:endParaRPr lang="en-US" altLang="zh-CN">
              <a:latin typeface="MS PMincho" panose="02020600040205080304" charset="-128"/>
              <a:ea typeface="MS PMincho" panose="02020600040205080304" charset="-128"/>
            </a:endParaRPr>
          </a:p>
          <a:p>
            <a:pPr lvl="2" indent="0" fontAlgn="auto">
              <a:lnSpc>
                <a:spcPct val="150000"/>
              </a:lnSpc>
              <a:buFont typeface="+mj-lt"/>
              <a:buNone/>
            </a:pPr>
            <a:r>
              <a:rPr lang="en-US" altLang="zh-CN" sz="1600">
                <a:latin typeface="MS PMincho" panose="02020600040205080304" charset="-128"/>
                <a:ea typeface="MS PMincho" panose="02020600040205080304" charset="-128"/>
              </a:rPr>
              <a:t>capture object information,and drive the robotic hand to tracking object</a:t>
            </a:r>
            <a:endParaRPr lang="en-US" altLang="zh-CN" sz="1600">
              <a:latin typeface="MS PMincho" panose="02020600040205080304" charset="-128"/>
              <a:ea typeface="MS PMincho" panose="02020600040205080304" charset="-128"/>
            </a:endParaRPr>
          </a:p>
          <a:p>
            <a:pPr marL="800100" lvl="1" indent="-342900" fontAlgn="auto">
              <a:lnSpc>
                <a:spcPct val="150000"/>
              </a:lnSpc>
              <a:buFont typeface="+mj-lt"/>
              <a:buAutoNum type="arabicPeriod"/>
            </a:pPr>
            <a:r>
              <a:rPr lang="en-US">
                <a:latin typeface="MS PMincho" panose="02020600040205080304" charset="-128"/>
                <a:ea typeface="MS PMincho" panose="02020600040205080304" charset="-128"/>
              </a:rPr>
              <a:t>EMG signal recognition module</a:t>
            </a:r>
            <a:endParaRPr lang="en-US">
              <a:latin typeface="MS PMincho" panose="02020600040205080304" charset="-128"/>
              <a:ea typeface="MS PMincho" panose="02020600040205080304" charset="-128"/>
            </a:endParaRPr>
          </a:p>
          <a:p>
            <a:pPr lvl="2" indent="0" fontAlgn="auto">
              <a:lnSpc>
                <a:spcPct val="150000"/>
              </a:lnSpc>
              <a:buFont typeface="+mj-lt"/>
              <a:buNone/>
            </a:pPr>
            <a:r>
              <a:rPr lang="en-US" altLang="zh-CN" sz="1600">
                <a:latin typeface="MS PMincho" panose="02020600040205080304" charset="-128"/>
                <a:ea typeface="MS PMincho" panose="02020600040205080304" charset="-128"/>
              </a:rPr>
              <a:t>acquire and process emg signal</a:t>
            </a:r>
            <a:r>
              <a:rPr lang="zh-CN" altLang="en-US" sz="1600">
                <a:latin typeface="MS PMincho" panose="02020600040205080304" charset="-128"/>
                <a:ea typeface="MS PMincho" panose="02020600040205080304" charset="-128"/>
              </a:rPr>
              <a:t>，</a:t>
            </a:r>
            <a:r>
              <a:rPr lang="en-US" altLang="zh-CN" sz="1600">
                <a:latin typeface="MS PMincho" panose="02020600040205080304" charset="-128"/>
                <a:ea typeface="MS PMincho" panose="02020600040205080304" charset="-128"/>
              </a:rPr>
              <a:t>recognize operator‘s motor intent</a:t>
            </a:r>
            <a:endParaRPr lang="en-US" altLang="zh-CN" sz="1600">
              <a:latin typeface="MS PMincho" panose="02020600040205080304" charset="-128"/>
              <a:ea typeface="MS PMincho" panose="02020600040205080304" charset="-128"/>
            </a:endParaRPr>
          </a:p>
        </p:txBody>
      </p:sp>
    </p:spTree>
    <p:custDataLst>
      <p:tags r:id="rId4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 rot="10800000" flipH="1">
            <a:off x="275809" y="327218"/>
            <a:ext cx="355381" cy="88900"/>
            <a:chOff x="4381719" y="-1168400"/>
            <a:chExt cx="355381" cy="88900"/>
          </a:xfrm>
        </p:grpSpPr>
        <p:cxnSp>
          <p:nvCxnSpPr>
            <p:cNvPr id="32" name="直接连接符 31"/>
            <p:cNvCxnSpPr/>
            <p:nvPr/>
          </p:nvCxnSpPr>
          <p:spPr>
            <a:xfrm>
              <a:off x="4483100" y="-1168400"/>
              <a:ext cx="254000" cy="0"/>
            </a:xfrm>
            <a:prstGeom prst="line">
              <a:avLst/>
            </a:prstGeom>
            <a:ln w="28575" cap="rnd">
              <a:solidFill>
                <a:srgbClr val="3FA4DE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/>
          </p:nvCxnSpPr>
          <p:spPr>
            <a:xfrm>
              <a:off x="4381719" y="-1079500"/>
              <a:ext cx="355381" cy="0"/>
            </a:xfrm>
            <a:prstGeom prst="line">
              <a:avLst/>
            </a:prstGeom>
            <a:ln w="28575" cap="rnd">
              <a:solidFill>
                <a:srgbClr val="3FA4DE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" name="直接连接符 6"/>
          <p:cNvCxnSpPr/>
          <p:nvPr/>
        </p:nvCxnSpPr>
        <p:spPr>
          <a:xfrm flipV="1">
            <a:off x="275590" y="636270"/>
            <a:ext cx="11638915" cy="31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文本框 152" descr="e7d195523061f1c09e9d68d7cf438b91ef959ecb14fc25d26BBA7F7DBC18E55DFF4014AF651F0BF2569D4B6C1DA7F1A4683A481403BD872FC687266AD13265C1DE7C373772FD8728ABDD69ADD03BFF5BE2862BC891DBB79EC0B81FB75486405D5064442904236646CF49102BEE5E1B895458B641CA0D6C7889FDD78D23C2B1BC47745F4B67C4FF437063ECD1606ECED6"/>
          <p:cNvSpPr txBox="1"/>
          <p:nvPr/>
        </p:nvSpPr>
        <p:spPr>
          <a:xfrm>
            <a:off x="631189" y="167233"/>
            <a:ext cx="86790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accent1"/>
                </a:solidFill>
                <a:latin typeface="+mj-lt"/>
                <a:ea typeface="+mj-ea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ja-JP" dirty="0">
                <a:latin typeface="MS PMincho" panose="02020600040205080304" charset="-128"/>
                <a:ea typeface="MS PMincho" panose="02020600040205080304" charset="-128"/>
              </a:rPr>
              <a:t> EMG Signal Recogn</a:t>
            </a:r>
            <a:r>
              <a:rPr lang="en-US" altLang="ja-JP" dirty="0">
                <a:latin typeface="MS PMincho" panose="02020600040205080304" charset="-128"/>
                <a:ea typeface="MS PMincho" panose="02020600040205080304" charset="-128"/>
                <a:sym typeface="+mn-ea"/>
              </a:rPr>
              <a:t>ition Module</a:t>
            </a:r>
            <a:r>
              <a:rPr lang="en-US" altLang="ja-JP" dirty="0">
                <a:latin typeface="MS PMincho" panose="02020600040205080304" charset="-128"/>
                <a:ea typeface="MS PMincho" panose="02020600040205080304" charset="-128"/>
              </a:rPr>
              <a:t> </a:t>
            </a:r>
            <a:endParaRPr lang="ja-JP" altLang="en-US" dirty="0">
              <a:latin typeface="MS PMincho" panose="02020600040205080304" charset="-128"/>
              <a:ea typeface="MS PMincho" panose="02020600040205080304" charset="-128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74955" y="859790"/>
            <a:ext cx="11638915" cy="16738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l" defTabSz="45720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2800" b="1" dirty="0">
                <a:solidFill>
                  <a:schemeClr val="tx1"/>
                </a:solidFill>
                <a:latin typeface="MS PMincho" panose="02020600040205080304" charset="-128"/>
                <a:ea typeface="宋体" panose="02010600030101010101" pitchFamily="2" charset="-122"/>
              </a:rPr>
              <a:t>EMG Signal Recognition Module</a:t>
            </a:r>
            <a:r>
              <a:rPr lang="zh-CN" altLang="en-US" sz="2800" b="1" dirty="0">
                <a:solidFill>
                  <a:schemeClr val="tx1"/>
                </a:solidFill>
                <a:latin typeface="MS PMincho" panose="02020600040205080304" charset="-128"/>
                <a:ea typeface="宋体" panose="02010600030101010101" pitchFamily="2" charset="-122"/>
              </a:rPr>
              <a:t>：</a:t>
            </a:r>
            <a:endParaRPr lang="en-US" altLang="ja-JP" sz="2800" b="1" dirty="0">
              <a:solidFill>
                <a:schemeClr val="tx1"/>
              </a:solidFill>
              <a:latin typeface="MS PMincho" panose="02020600040205080304" charset="-128"/>
              <a:ea typeface="MS PMincho" panose="02020600040205080304" charset="-128"/>
            </a:endParaRPr>
          </a:p>
          <a:p>
            <a:pPr algn="l" defTabSz="45720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en-US" altLang="zh-CN">
              <a:latin typeface="MS PMincho" panose="02020600040205080304" charset="-128"/>
              <a:ea typeface="MS PMincho" panose="02020600040205080304" charset="-128"/>
            </a:endParaRPr>
          </a:p>
          <a:p>
            <a:pPr algn="l" defTabSz="45720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>
                <a:latin typeface="MS PMincho" panose="02020600040205080304" charset="-128"/>
                <a:ea typeface="MS PMincho" panose="02020600040205080304" charset="-128"/>
              </a:rPr>
              <a:t>1)Signal Acquisition</a:t>
            </a:r>
            <a:r>
              <a:rPr lang="zh-CN" altLang="en-US">
                <a:latin typeface="MS PMincho" panose="02020600040205080304" charset="-128"/>
                <a:ea typeface="宋体" panose="02010600030101010101" pitchFamily="2" charset="-122"/>
              </a:rPr>
              <a:t>：</a:t>
            </a:r>
            <a:endParaRPr lang="zh-CN" altLang="en-US">
              <a:latin typeface="MS PMincho" panose="02020600040205080304" charset="-128"/>
              <a:ea typeface="宋体" panose="02010600030101010101" pitchFamily="2" charset="-122"/>
            </a:endParaRPr>
          </a:p>
          <a:p>
            <a:pPr algn="l" defTabSz="45720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>
                <a:latin typeface="MS PMincho" panose="02020600040205080304" charset="-128"/>
                <a:ea typeface="宋体" panose="02010600030101010101" pitchFamily="2" charset="-122"/>
              </a:rPr>
              <a:t>Four pairs of electrodes were used as four channel, attached to the forearm muscles</a:t>
            </a:r>
            <a:r>
              <a:rPr lang="zh-CN" altLang="en-US">
                <a:latin typeface="MS PMincho" panose="02020600040205080304" charset="-128"/>
                <a:ea typeface="宋体" panose="02010600030101010101" pitchFamily="2" charset="-122"/>
              </a:rPr>
              <a:t>。</a:t>
            </a:r>
            <a:r>
              <a:rPr lang="en-US" altLang="zh-CN">
                <a:latin typeface="MS PMincho" panose="02020600040205080304" charset="-128"/>
                <a:ea typeface="宋体" panose="02010600030101010101" pitchFamily="2" charset="-122"/>
              </a:rPr>
              <a:t>These muscles are highly involved in the movements of experiment.</a:t>
            </a:r>
            <a:endParaRPr lang="en-US" altLang="zh-CN">
              <a:latin typeface="MS PMincho" panose="02020600040205080304" charset="-128"/>
              <a:ea typeface="宋体" panose="02010600030101010101" pitchFamily="2" charset="-122"/>
            </a:endParaRPr>
          </a:p>
          <a:p>
            <a:pPr algn="l" defTabSz="45720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en-US" altLang="zh-CN">
              <a:latin typeface="MS PMincho" panose="02020600040205080304" charset="-128"/>
              <a:ea typeface="宋体" panose="02010600030101010101" pitchFamily="2" charset="-122"/>
            </a:endParaRPr>
          </a:p>
          <a:p>
            <a:pPr algn="l" defTabSz="45720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en-US" altLang="zh-CN">
              <a:latin typeface="MS PMincho" panose="02020600040205080304" charset="-128"/>
              <a:ea typeface="宋体" panose="02010600030101010101" pitchFamily="2" charset="-122"/>
            </a:endParaRPr>
          </a:p>
          <a:p>
            <a:pPr algn="l" defTabSz="45720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en-US" altLang="zh-CN">
              <a:latin typeface="MS PMincho" panose="02020600040205080304" charset="-128"/>
              <a:ea typeface="宋体" panose="02010600030101010101" pitchFamily="2" charset="-122"/>
            </a:endParaRPr>
          </a:p>
          <a:p>
            <a:pPr algn="l" defTabSz="45720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en-US" altLang="zh-CN">
              <a:latin typeface="MS PMincho" panose="02020600040205080304" charset="-128"/>
              <a:ea typeface="宋体" panose="02010600030101010101" pitchFamily="2" charset="-122"/>
            </a:endParaRPr>
          </a:p>
          <a:p>
            <a:pPr algn="l" defTabSz="45720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en-US" altLang="zh-CN">
              <a:latin typeface="MS PMincho" panose="02020600040205080304" charset="-128"/>
              <a:ea typeface="宋体" panose="02010600030101010101" pitchFamily="2" charset="-122"/>
            </a:endParaRPr>
          </a:p>
          <a:p>
            <a:pPr algn="l" defTabSz="45720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en-US" altLang="zh-CN">
              <a:latin typeface="MS PMincho" panose="02020600040205080304" charset="-128"/>
              <a:ea typeface="宋体" panose="02010600030101010101" pitchFamily="2" charset="-122"/>
            </a:endParaRPr>
          </a:p>
          <a:p>
            <a:pPr algn="l" defTabSz="45720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en-US" altLang="zh-CN">
              <a:latin typeface="MS PMincho" panose="02020600040205080304" charset="-128"/>
              <a:ea typeface="宋体" panose="02010600030101010101" pitchFamily="2" charset="-122"/>
            </a:endParaRPr>
          </a:p>
          <a:p>
            <a:pPr algn="l" defTabSz="45720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en-US" altLang="zh-CN">
              <a:latin typeface="MS PMincho" panose="02020600040205080304" charset="-128"/>
              <a:ea typeface="宋体" panose="02010600030101010101" pitchFamily="2" charset="-122"/>
            </a:endParaRPr>
          </a:p>
          <a:p>
            <a:pPr algn="l" defTabSz="45720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en-US" altLang="zh-CN">
              <a:latin typeface="MS PMincho" panose="02020600040205080304" charset="-128"/>
              <a:ea typeface="宋体" panose="02010600030101010101" pitchFamily="2" charset="-122"/>
            </a:endParaRPr>
          </a:p>
          <a:p>
            <a:pPr algn="l" defTabSz="45720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en-US" altLang="zh-CN">
              <a:latin typeface="MS PMincho" panose="02020600040205080304" charset="-128"/>
              <a:ea typeface="宋体" panose="02010600030101010101" pitchFamily="2" charset="-122"/>
            </a:endParaRPr>
          </a:p>
          <a:p>
            <a:pPr algn="l" defTabSz="45720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en-US" altLang="zh-CN">
              <a:latin typeface="MS PMincho" panose="02020600040205080304" charset="-128"/>
              <a:ea typeface="宋体" panose="02010600030101010101" pitchFamily="2" charset="-122"/>
            </a:endParaRPr>
          </a:p>
          <a:p>
            <a:pPr algn="l" defTabSz="45720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en-US" altLang="zh-CN">
              <a:latin typeface="MS PMincho" panose="02020600040205080304" charset="-128"/>
              <a:ea typeface="宋体" panose="02010600030101010101" pitchFamily="2" charset="-122"/>
            </a:endParaRPr>
          </a:p>
          <a:p>
            <a:pPr algn="l" defTabSz="45720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en-US" altLang="zh-CN">
              <a:latin typeface="MS PMincho" panose="02020600040205080304" charset="-128"/>
              <a:ea typeface="宋体" panose="02010600030101010101" pitchFamily="2" charset="-122"/>
            </a:endParaRPr>
          </a:p>
          <a:p>
            <a:pPr algn="l" defTabSz="45720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en-US" altLang="zh-CN">
              <a:latin typeface="MS PMincho" panose="02020600040205080304" charset="-128"/>
              <a:ea typeface="宋体" panose="02010600030101010101" pitchFamily="2" charset="-122"/>
            </a:endParaRPr>
          </a:p>
          <a:p>
            <a:pPr algn="l" defTabSz="45720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en-US" altLang="zh-CN">
              <a:latin typeface="MS PMincho" panose="02020600040205080304" charset="-128"/>
              <a:ea typeface="宋体" panose="02010600030101010101" pitchFamily="2" charset="-122"/>
            </a:endParaRPr>
          </a:p>
          <a:p>
            <a:pPr algn="l" defTabSz="45720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en-US" altLang="zh-CN">
              <a:latin typeface="MS PMincho" panose="02020600040205080304" charset="-128"/>
              <a:ea typeface="宋体" panose="02010600030101010101" pitchFamily="2" charset="-122"/>
            </a:endParaRPr>
          </a:p>
          <a:p>
            <a:pPr algn="l" defTabSz="45720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en-US" altLang="zh-CN">
              <a:latin typeface="MS PMincho" panose="02020600040205080304" charset="-128"/>
              <a:ea typeface="MS PMincho" panose="02020600040205080304" charset="-128"/>
            </a:endParaRPr>
          </a:p>
          <a:p>
            <a:pPr algn="l" defTabSz="45720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en-US" altLang="zh-CN"/>
          </a:p>
          <a:p>
            <a:pPr algn="l" defTabSz="45720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en-US" altLang="zh-CN"/>
          </a:p>
        </p:txBody>
      </p:sp>
      <p:sp>
        <p:nvSpPr>
          <p:cNvPr id="10" name="文本框 15"/>
          <p:cNvSpPr txBox="1"/>
          <p:nvPr/>
        </p:nvSpPr>
        <p:spPr>
          <a:xfrm>
            <a:off x="4256405" y="2609215"/>
            <a:ext cx="48190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 dirty="0">
                <a:latin typeface="MS PMincho" panose="02020600040205080304" charset="-128"/>
                <a:ea typeface="MS PMincho" panose="02020600040205080304" charset="-128"/>
                <a:cs typeface="MS PMincho" panose="02020600040205080304" charset="-128"/>
                <a:sym typeface="+mn-ea"/>
              </a:rPr>
              <a:t>4 channel (</a:t>
            </a:r>
            <a:r>
              <a:rPr lang="en-US" altLang="zh-CN" b="1">
                <a:latin typeface="MS PMincho" panose="02020600040205080304" charset="-128"/>
                <a:ea typeface="宋体" panose="02010600030101010101" pitchFamily="2" charset="-122"/>
                <a:sym typeface="+mn-ea"/>
              </a:rPr>
              <a:t>4</a:t>
            </a:r>
            <a:r>
              <a:rPr lang="en-US" altLang="zh-CN" b="1">
                <a:latin typeface="MS PMincho" panose="02020600040205080304" charset="-128"/>
                <a:ea typeface="宋体" panose="02010600030101010101" pitchFamily="2" charset="-122"/>
                <a:sym typeface="+mn-ea"/>
              </a:rPr>
              <a:t> pairs of electrodes</a:t>
            </a:r>
            <a:r>
              <a:rPr lang="en-US" altLang="zh-CN" b="1" dirty="0">
                <a:latin typeface="MS PMincho" panose="02020600040205080304" charset="-128"/>
                <a:ea typeface="MS PMincho" panose="02020600040205080304" charset="-128"/>
                <a:cs typeface="MS PMincho" panose="02020600040205080304" charset="-128"/>
                <a:sym typeface="+mn-ea"/>
              </a:rPr>
              <a:t>)</a:t>
            </a:r>
            <a:endParaRPr lang="en-US" altLang="zh-CN" b="1" dirty="0">
              <a:latin typeface="MS PMincho" panose="02020600040205080304" charset="-128"/>
              <a:ea typeface="MS PMincho" panose="02020600040205080304" charset="-128"/>
              <a:cs typeface="MS PMincho" panose="02020600040205080304" charset="-128"/>
              <a:sym typeface="+mn-ea"/>
            </a:endParaRPr>
          </a:p>
        </p:txBody>
      </p:sp>
      <p:pic>
        <p:nvPicPr>
          <p:cNvPr id="11" name="图片 10" descr="BAA72AC97D7B72F9AE9CFE1A905D00F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58005" y="3072765"/>
            <a:ext cx="2439670" cy="3254375"/>
          </a:xfrm>
          <a:prstGeom prst="rect">
            <a:avLst/>
          </a:prstGeom>
        </p:spPr>
      </p:pic>
      <p:pic>
        <p:nvPicPr>
          <p:cNvPr id="12" name="图片 11" descr="217EBA3B85B2774593CD302FCD514C6B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9920" y="3077210"/>
            <a:ext cx="2433955" cy="3246755"/>
          </a:xfrm>
          <a:prstGeom prst="rect">
            <a:avLst/>
          </a:prstGeom>
        </p:spPr>
      </p:pic>
      <p:pic>
        <p:nvPicPr>
          <p:cNvPr id="13" name="图片 12" descr="902A0B49DA32FF2F2F70813C419BA3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6120" y="3072765"/>
            <a:ext cx="2439670" cy="3255010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274955" y="6512560"/>
            <a:ext cx="11536680" cy="3454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000">
                <a:latin typeface="MS PMincho" panose="02020600040205080304" charset="-128"/>
                <a:ea typeface="宋体" panose="02010600030101010101" pitchFamily="2" charset="-122"/>
                <a:sym typeface="+mn-ea"/>
              </a:rPr>
              <a:t> Gomez-Correa, M., Ballesteros, M., Salgado, I., &amp; Cruz-Ortiz, D. (2023). Forearm sEMG data from young healthy humans during the execution of hand movements. Scientific data, 10(1), 310.</a:t>
            </a:r>
            <a:endParaRPr lang="zh-CN" altLang="en-US" sz="1000"/>
          </a:p>
        </p:txBody>
      </p:sp>
      <p:grpSp>
        <p:nvGrpSpPr>
          <p:cNvPr id="15" name="组合 14"/>
          <p:cNvGrpSpPr/>
          <p:nvPr/>
        </p:nvGrpSpPr>
        <p:grpSpPr>
          <a:xfrm>
            <a:off x="275590" y="2753995"/>
            <a:ext cx="3900170" cy="3590925"/>
            <a:chOff x="594" y="4337"/>
            <a:chExt cx="6142" cy="5655"/>
          </a:xfrm>
        </p:grpSpPr>
        <p:pic>
          <p:nvPicPr>
            <p:cNvPr id="3" name="图片 2" descr="FB9A199272426DB97A9FE504BDB10F1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11" y="5826"/>
              <a:ext cx="4243" cy="4167"/>
            </a:xfrm>
            <a:prstGeom prst="rect">
              <a:avLst/>
            </a:prstGeom>
          </p:spPr>
        </p:pic>
        <p:sp>
          <p:nvSpPr>
            <p:cNvPr id="4" name="文本框 15"/>
            <p:cNvSpPr txBox="1"/>
            <p:nvPr/>
          </p:nvSpPr>
          <p:spPr>
            <a:xfrm>
              <a:off x="594" y="4337"/>
              <a:ext cx="5573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b="1" dirty="0">
                  <a:latin typeface="MS PMincho" panose="02020600040205080304" charset="-128"/>
                  <a:ea typeface="MS PMincho" panose="02020600040205080304" charset="-128"/>
                  <a:cs typeface="MS PMincho" panose="02020600040205080304" charset="-128"/>
                  <a:sym typeface="+mn-ea"/>
                </a:rPr>
                <a:t>Device</a:t>
              </a:r>
              <a:r>
                <a:rPr lang="zh-CN" altLang="en-US" b="1" dirty="0">
                  <a:latin typeface="MS PMincho" panose="02020600040205080304" charset="-128"/>
                  <a:ea typeface="宋体" panose="02010600030101010101" pitchFamily="2" charset="-122"/>
                  <a:cs typeface="MS PMincho" panose="02020600040205080304" charset="-128"/>
                  <a:sym typeface="+mn-ea"/>
                </a:rPr>
                <a:t>：</a:t>
              </a:r>
              <a:r>
                <a:rPr lang="en-US" altLang="zh-CN" b="1">
                  <a:latin typeface="MS PMincho" panose="02020600040205080304" charset="-128"/>
                  <a:ea typeface="MS PMincho" panose="02020600040205080304" charset="-128"/>
                  <a:sym typeface="+mn-ea"/>
                </a:rPr>
                <a:t>Bitalino musclebit</a:t>
              </a:r>
              <a:endParaRPr lang="zh-CN" altLang="en-US" b="1" dirty="0">
                <a:latin typeface="MS PMincho" panose="02020600040205080304" charset="-128"/>
                <a:ea typeface="宋体" panose="02010600030101010101" pitchFamily="2" charset="-122"/>
                <a:cs typeface="MS PMincho" panose="02020600040205080304" charset="-128"/>
                <a:sym typeface="+mn-ea"/>
              </a:endParaRP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594" y="4793"/>
              <a:ext cx="6143" cy="1016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r>
                <a:rPr lang="en-US" altLang="zh-CN">
                  <a:latin typeface="MS PMincho" panose="02020600040205080304" charset="-128"/>
                  <a:ea typeface="MS PMincho" panose="02020600040205080304" charset="-128"/>
                  <a:sym typeface="+mn-ea"/>
                </a:rPr>
                <a:t>Bluetooth for signal transmission</a:t>
              </a:r>
              <a:endParaRPr lang="en-US" altLang="zh-CN">
                <a:latin typeface="MS PMincho" panose="02020600040205080304" charset="-128"/>
                <a:ea typeface="MS PMincho" panose="02020600040205080304" charset="-128"/>
                <a:sym typeface="+mn-ea"/>
              </a:endParaRPr>
            </a:p>
            <a:p>
              <a:r>
                <a:rPr lang="en-US" altLang="zh-CN">
                  <a:latin typeface="MS PMincho" panose="02020600040205080304" charset="-128"/>
                  <a:ea typeface="MS PMincho" panose="02020600040205080304" charset="-128"/>
                  <a:sym typeface="+mn-ea"/>
                </a:rPr>
                <a:t>1000hz </a:t>
              </a:r>
              <a:r>
                <a:rPr lang="en-US" altLang="zh-CN">
                  <a:latin typeface="MS PMincho" panose="02020600040205080304" charset="-128"/>
                  <a:ea typeface="MS PMincho" panose="02020600040205080304" charset="-128"/>
                  <a:sym typeface="+mn-ea"/>
                </a:rPr>
                <a:t>frequency</a:t>
              </a:r>
              <a:endParaRPr lang="en-US" altLang="zh-CN">
                <a:latin typeface="MS PMincho" panose="02020600040205080304" charset="-128"/>
                <a:ea typeface="MS PMincho" panose="02020600040205080304" charset="-128"/>
                <a:sym typeface="+mn-ea"/>
              </a:endParaRPr>
            </a:p>
          </p:txBody>
        </p:sp>
      </p:grpSp>
    </p:spTree>
    <p:custDataLst>
      <p:tags r:id="rId5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 rot="10800000" flipH="1">
            <a:off x="275809" y="327218"/>
            <a:ext cx="355381" cy="88900"/>
            <a:chOff x="4381719" y="-1168400"/>
            <a:chExt cx="355381" cy="88900"/>
          </a:xfrm>
        </p:grpSpPr>
        <p:cxnSp>
          <p:nvCxnSpPr>
            <p:cNvPr id="32" name="直接连接符 31"/>
            <p:cNvCxnSpPr/>
            <p:nvPr/>
          </p:nvCxnSpPr>
          <p:spPr>
            <a:xfrm>
              <a:off x="4483100" y="-1168400"/>
              <a:ext cx="254000" cy="0"/>
            </a:xfrm>
            <a:prstGeom prst="line">
              <a:avLst/>
            </a:prstGeom>
            <a:ln w="28575" cap="rnd">
              <a:solidFill>
                <a:srgbClr val="3FA4DE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/>
          </p:nvCxnSpPr>
          <p:spPr>
            <a:xfrm>
              <a:off x="4381719" y="-1079500"/>
              <a:ext cx="355381" cy="0"/>
            </a:xfrm>
            <a:prstGeom prst="line">
              <a:avLst/>
            </a:prstGeom>
            <a:ln w="28575" cap="rnd">
              <a:solidFill>
                <a:srgbClr val="3FA4DE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" name="直接连接符 6"/>
          <p:cNvCxnSpPr/>
          <p:nvPr/>
        </p:nvCxnSpPr>
        <p:spPr>
          <a:xfrm flipV="1">
            <a:off x="275590" y="636270"/>
            <a:ext cx="11638915" cy="31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文本框 152" descr="e7d195523061f1c09e9d68d7cf438b91ef959ecb14fc25d26BBA7F7DBC18E55DFF4014AF651F0BF2569D4B6C1DA7F1A4683A481403BD872FC687266AD13265C1DE7C373772FD8728ABDD69ADD03BFF5BE2862BC891DBB79EC0B81FB75486405D5064442904236646CF49102BEE5E1B895458B641CA0D6C7889FDD78D23C2B1BC47745F4B67C4FF437063ECD1606ECED6"/>
          <p:cNvSpPr txBox="1"/>
          <p:nvPr/>
        </p:nvSpPr>
        <p:spPr>
          <a:xfrm>
            <a:off x="631189" y="167233"/>
            <a:ext cx="86790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accent1"/>
                </a:solidFill>
                <a:latin typeface="+mj-lt"/>
                <a:ea typeface="+mj-ea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ja-JP" dirty="0">
                <a:latin typeface="MS PMincho" panose="02020600040205080304" charset="-128"/>
                <a:ea typeface="MS PMincho" panose="02020600040205080304" charset="-128"/>
              </a:rPr>
              <a:t> EMG Signal Recogn</a:t>
            </a:r>
            <a:r>
              <a:rPr lang="en-US" altLang="ja-JP" dirty="0">
                <a:latin typeface="MS PMincho" panose="02020600040205080304" charset="-128"/>
                <a:ea typeface="MS PMincho" panose="02020600040205080304" charset="-128"/>
                <a:sym typeface="+mn-ea"/>
              </a:rPr>
              <a:t>ition Module</a:t>
            </a:r>
            <a:r>
              <a:rPr lang="en-US" altLang="ja-JP" dirty="0">
                <a:latin typeface="MS PMincho" panose="02020600040205080304" charset="-128"/>
                <a:ea typeface="MS PMincho" panose="02020600040205080304" charset="-128"/>
              </a:rPr>
              <a:t> </a:t>
            </a:r>
            <a:endParaRPr lang="ja-JP" altLang="en-US" dirty="0">
              <a:latin typeface="MS PMincho" panose="02020600040205080304" charset="-128"/>
              <a:ea typeface="MS PMincho" panose="02020600040205080304" charset="-128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75590" y="859790"/>
            <a:ext cx="5466715" cy="14217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l" defTabSz="45720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2800" b="1" dirty="0">
                <a:solidFill>
                  <a:schemeClr val="tx1"/>
                </a:solidFill>
                <a:latin typeface="MS PMincho" panose="02020600040205080304" charset="-128"/>
                <a:ea typeface="宋体" panose="02010600030101010101" pitchFamily="2" charset="-122"/>
              </a:rPr>
              <a:t>EMG Signal Recognition Module</a:t>
            </a:r>
            <a:r>
              <a:rPr lang="zh-CN" altLang="en-US" sz="2800" b="1" dirty="0">
                <a:solidFill>
                  <a:schemeClr val="tx1"/>
                </a:solidFill>
                <a:latin typeface="MS PMincho" panose="02020600040205080304" charset="-128"/>
                <a:ea typeface="宋体" panose="02010600030101010101" pitchFamily="2" charset="-122"/>
              </a:rPr>
              <a:t>：</a:t>
            </a:r>
            <a:endParaRPr lang="en-US" altLang="ja-JP" sz="2800" b="1" dirty="0">
              <a:solidFill>
                <a:schemeClr val="tx1"/>
              </a:solidFill>
              <a:latin typeface="MS PMincho" panose="02020600040205080304" charset="-128"/>
              <a:ea typeface="MS PMincho" panose="02020600040205080304" charset="-128"/>
            </a:endParaRPr>
          </a:p>
          <a:p>
            <a:pPr algn="l" defTabSz="45720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en-US" altLang="zh-CN">
              <a:latin typeface="MS PMincho" panose="02020600040205080304" charset="-128"/>
              <a:ea typeface="MS PMincho" panose="02020600040205080304" charset="-128"/>
            </a:endParaRPr>
          </a:p>
          <a:p>
            <a:pPr algn="l" defTabSz="45720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>
                <a:latin typeface="MS PMincho" panose="02020600040205080304" charset="-128"/>
                <a:ea typeface="MS PMincho" panose="02020600040205080304" charset="-128"/>
                <a:sym typeface="+mn-ea"/>
              </a:rPr>
              <a:t>2)</a:t>
            </a:r>
            <a:r>
              <a:rPr lang="en-US" altLang="zh-CN">
                <a:latin typeface="MS PMincho" panose="02020600040205080304" charset="-128"/>
                <a:ea typeface="宋体" panose="02010600030101010101" pitchFamily="2" charset="-122"/>
                <a:sym typeface="+mn-ea"/>
              </a:rPr>
              <a:t>Signal Processing</a:t>
            </a:r>
            <a:r>
              <a:rPr lang="zh-CN" altLang="en-US">
                <a:latin typeface="MS PMincho" panose="02020600040205080304" charset="-128"/>
                <a:ea typeface="宋体" panose="02010600030101010101" pitchFamily="2" charset="-122"/>
                <a:sym typeface="+mn-ea"/>
              </a:rPr>
              <a:t>：</a:t>
            </a:r>
            <a:endParaRPr lang="en-US" altLang="zh-CN">
              <a:latin typeface="MS PMincho" panose="02020600040205080304" charset="-128"/>
              <a:ea typeface="宋体" panose="02010600030101010101" pitchFamily="2" charset="-122"/>
            </a:endParaRPr>
          </a:p>
          <a:p>
            <a:pPr indent="457200" algn="l" defTabSz="45720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>
                <a:latin typeface="MS PMincho" panose="02020600040205080304" charset="-128"/>
                <a:ea typeface="宋体" panose="02010600030101010101" pitchFamily="2" charset="-122"/>
              </a:rPr>
              <a:t>△</a:t>
            </a:r>
            <a:r>
              <a:rPr lang="en-US" altLang="zh-CN">
                <a:latin typeface="MS PMincho" panose="02020600040205080304" charset="-128"/>
                <a:ea typeface="宋体" panose="02010600030101010101" pitchFamily="2" charset="-122"/>
              </a:rPr>
              <a:t> full-wave rectification</a:t>
            </a:r>
            <a:r>
              <a:rPr lang="zh-CN" altLang="en-US">
                <a:latin typeface="MS PMincho" panose="02020600040205080304" charset="-128"/>
                <a:ea typeface="宋体" panose="02010600030101010101" pitchFamily="2" charset="-122"/>
              </a:rPr>
              <a:t>、</a:t>
            </a:r>
            <a:r>
              <a:rPr lang="en-US" altLang="zh-CN">
                <a:latin typeface="MS PMincho" panose="02020600040205080304" charset="-128"/>
                <a:ea typeface="宋体" panose="02010600030101010101" pitchFamily="2" charset="-122"/>
              </a:rPr>
              <a:t>envelope filtering</a:t>
            </a:r>
            <a:endParaRPr lang="en-US" altLang="zh-CN">
              <a:latin typeface="MS PMincho" panose="02020600040205080304" charset="-128"/>
              <a:ea typeface="宋体" panose="02010600030101010101" pitchFamily="2" charset="-122"/>
            </a:endParaRPr>
          </a:p>
          <a:p>
            <a:pPr algn="l" defTabSz="45720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en-US" altLang="zh-CN">
              <a:latin typeface="MS PMincho" panose="02020600040205080304" charset="-128"/>
              <a:ea typeface="宋体" panose="02010600030101010101" pitchFamily="2" charset="-122"/>
            </a:endParaRPr>
          </a:p>
          <a:p>
            <a:pPr algn="l" defTabSz="45720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en-US" altLang="zh-CN">
              <a:latin typeface="MS PMincho" panose="02020600040205080304" charset="-128"/>
              <a:ea typeface="宋体" panose="02010600030101010101" pitchFamily="2" charset="-122"/>
            </a:endParaRPr>
          </a:p>
          <a:p>
            <a:pPr algn="l" defTabSz="45720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en-US" altLang="zh-CN">
              <a:latin typeface="MS PMincho" panose="02020600040205080304" charset="-128"/>
              <a:ea typeface="宋体" panose="02010600030101010101" pitchFamily="2" charset="-122"/>
            </a:endParaRPr>
          </a:p>
          <a:p>
            <a:pPr algn="l" defTabSz="45720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en-US" altLang="zh-CN">
              <a:latin typeface="MS PMincho" panose="02020600040205080304" charset="-128"/>
              <a:ea typeface="宋体" panose="02010600030101010101" pitchFamily="2" charset="-122"/>
            </a:endParaRPr>
          </a:p>
          <a:p>
            <a:pPr algn="l" defTabSz="45720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en-US" altLang="zh-CN">
              <a:latin typeface="MS PMincho" panose="02020600040205080304" charset="-128"/>
              <a:ea typeface="宋体" panose="02010600030101010101" pitchFamily="2" charset="-122"/>
            </a:endParaRPr>
          </a:p>
          <a:p>
            <a:pPr algn="l" defTabSz="45720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en-US" altLang="zh-CN">
              <a:latin typeface="MS PMincho" panose="02020600040205080304" charset="-128"/>
              <a:ea typeface="宋体" panose="02010600030101010101" pitchFamily="2" charset="-122"/>
            </a:endParaRPr>
          </a:p>
          <a:p>
            <a:pPr algn="l" defTabSz="45720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en-US" altLang="zh-CN">
              <a:latin typeface="MS PMincho" panose="02020600040205080304" charset="-128"/>
              <a:ea typeface="宋体" panose="02010600030101010101" pitchFamily="2" charset="-122"/>
            </a:endParaRPr>
          </a:p>
          <a:p>
            <a:pPr algn="l" defTabSz="45720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en-US" altLang="zh-CN">
              <a:latin typeface="MS PMincho" panose="02020600040205080304" charset="-128"/>
              <a:ea typeface="宋体" panose="02010600030101010101" pitchFamily="2" charset="-122"/>
            </a:endParaRPr>
          </a:p>
          <a:p>
            <a:pPr algn="l" defTabSz="45720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en-US" altLang="zh-CN">
              <a:latin typeface="MS PMincho" panose="02020600040205080304" charset="-128"/>
              <a:ea typeface="宋体" panose="02010600030101010101" pitchFamily="2" charset="-122"/>
            </a:endParaRPr>
          </a:p>
          <a:p>
            <a:pPr algn="l" defTabSz="45720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en-US" altLang="zh-CN">
              <a:latin typeface="MS PMincho" panose="02020600040205080304" charset="-128"/>
              <a:ea typeface="宋体" panose="02010600030101010101" pitchFamily="2" charset="-122"/>
            </a:endParaRPr>
          </a:p>
          <a:p>
            <a:pPr algn="l" defTabSz="45720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en-US" altLang="zh-CN">
              <a:latin typeface="MS PMincho" panose="02020600040205080304" charset="-128"/>
              <a:ea typeface="宋体" panose="02010600030101010101" pitchFamily="2" charset="-122"/>
            </a:endParaRPr>
          </a:p>
          <a:p>
            <a:pPr algn="l" defTabSz="45720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en-US" altLang="zh-CN">
              <a:latin typeface="MS PMincho" panose="02020600040205080304" charset="-128"/>
              <a:ea typeface="宋体" panose="02010600030101010101" pitchFamily="2" charset="-122"/>
            </a:endParaRPr>
          </a:p>
          <a:p>
            <a:pPr algn="l" defTabSz="45720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en-US" altLang="zh-CN">
              <a:latin typeface="MS PMincho" panose="02020600040205080304" charset="-128"/>
              <a:ea typeface="宋体" panose="02010600030101010101" pitchFamily="2" charset="-122"/>
            </a:endParaRPr>
          </a:p>
          <a:p>
            <a:pPr algn="l" defTabSz="45720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en-US" altLang="zh-CN">
              <a:latin typeface="MS PMincho" panose="02020600040205080304" charset="-128"/>
              <a:ea typeface="MS PMincho" panose="02020600040205080304" charset="-128"/>
            </a:endParaRPr>
          </a:p>
          <a:p>
            <a:pPr algn="l" defTabSz="45720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en-US" altLang="zh-CN"/>
          </a:p>
          <a:p>
            <a:pPr algn="l" defTabSz="45720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en-US" altLang="zh-CN"/>
          </a:p>
        </p:txBody>
      </p:sp>
      <p:pic>
        <p:nvPicPr>
          <p:cNvPr id="14" name="图片 13" descr="QQ20250706-16160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5290" y="3045778"/>
            <a:ext cx="1543050" cy="657225"/>
          </a:xfrm>
          <a:prstGeom prst="rect">
            <a:avLst/>
          </a:prstGeom>
        </p:spPr>
      </p:pic>
      <p:pic>
        <p:nvPicPr>
          <p:cNvPr id="9" name="图片 1" descr="QQ20250713-13263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5290" y="5074920"/>
            <a:ext cx="1543050" cy="815975"/>
          </a:xfrm>
          <a:prstGeom prst="rect">
            <a:avLst/>
          </a:prstGeom>
        </p:spPr>
      </p:pic>
      <p:grpSp>
        <p:nvGrpSpPr>
          <p:cNvPr id="13" name="组合 12"/>
          <p:cNvGrpSpPr/>
          <p:nvPr/>
        </p:nvGrpSpPr>
        <p:grpSpPr>
          <a:xfrm>
            <a:off x="762635" y="2374900"/>
            <a:ext cx="3533140" cy="3515360"/>
            <a:chOff x="207" y="1424"/>
            <a:chExt cx="5564" cy="5536"/>
          </a:xfrm>
        </p:grpSpPr>
        <p:pic>
          <p:nvPicPr>
            <p:cNvPr id="4" name="图片 3" descr="QQ20250727-13022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07" y="4816"/>
              <a:ext cx="5460" cy="2145"/>
            </a:xfrm>
            <a:prstGeom prst="rect">
              <a:avLst/>
            </a:prstGeom>
          </p:spPr>
        </p:pic>
        <p:pic>
          <p:nvPicPr>
            <p:cNvPr id="5" name="图片 4" descr="QQ20250727-12494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07" y="1424"/>
              <a:ext cx="5565" cy="2226"/>
            </a:xfrm>
            <a:prstGeom prst="rect">
              <a:avLst/>
            </a:prstGeom>
          </p:spPr>
        </p:pic>
        <p:sp>
          <p:nvSpPr>
            <p:cNvPr id="12" name="下箭头 11"/>
            <p:cNvSpPr/>
            <p:nvPr/>
          </p:nvSpPr>
          <p:spPr>
            <a:xfrm>
              <a:off x="2739" y="3877"/>
              <a:ext cx="501" cy="876"/>
            </a:xfrm>
            <a:prstGeom prst="downArrow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6" name="文本框 15"/>
          <p:cNvSpPr txBox="1"/>
          <p:nvPr/>
        </p:nvSpPr>
        <p:spPr>
          <a:xfrm>
            <a:off x="6208395" y="1851660"/>
            <a:ext cx="369316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latin typeface="MS PMincho" panose="02020600040205080304" charset="-128"/>
                <a:ea typeface="宋体" panose="02010600030101010101" pitchFamily="2" charset="-122"/>
                <a:sym typeface="+mn-ea"/>
              </a:rPr>
              <a:t>△</a:t>
            </a:r>
            <a:r>
              <a:rPr lang="en-US" altLang="zh-CN">
                <a:latin typeface="MS PMincho" panose="02020600040205080304" charset="-128"/>
                <a:ea typeface="宋体" panose="02010600030101010101" pitchFamily="2" charset="-122"/>
                <a:sym typeface="+mn-ea"/>
              </a:rPr>
              <a:t> </a:t>
            </a:r>
            <a:r>
              <a:rPr lang="en-US" altLang="zh-CN">
                <a:latin typeface="MS PMincho" panose="02020600040205080304" charset="-128"/>
                <a:ea typeface="宋体" panose="02010600030101010101" pitchFamily="2" charset="-122"/>
                <a:sym typeface="+mn-ea"/>
              </a:rPr>
              <a:t>min-max normalization </a:t>
            </a:r>
            <a:endParaRPr lang="en-US" altLang="zh-CN">
              <a:latin typeface="MS PMincho" panose="02020600040205080304" charset="-128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208395" y="4160520"/>
            <a:ext cx="326898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latin typeface="MS PMincho" panose="02020600040205080304" charset="-128"/>
                <a:ea typeface="宋体" panose="02010600030101010101" pitchFamily="2" charset="-122"/>
                <a:sym typeface="+mn-ea"/>
              </a:rPr>
              <a:t>△</a:t>
            </a:r>
            <a:r>
              <a:rPr lang="en-US" altLang="zh-CN">
                <a:latin typeface="MS PMincho" panose="02020600040205080304" charset="-128"/>
                <a:ea typeface="宋体" panose="02010600030101010101" pitchFamily="2" charset="-122"/>
                <a:sym typeface="+mn-ea"/>
              </a:rPr>
              <a:t> </a:t>
            </a:r>
            <a:r>
              <a:rPr lang="en-US" altLang="zh-CN">
                <a:latin typeface="MS PMincho" panose="02020600040205080304" charset="-128"/>
                <a:ea typeface="宋体" panose="02010600030101010101" pitchFamily="2" charset="-122"/>
                <a:sym typeface="+mn-ea"/>
              </a:rPr>
              <a:t>channle normalization</a:t>
            </a:r>
            <a:endParaRPr lang="en-US" altLang="zh-CN">
              <a:latin typeface="MS PMincho" panose="02020600040205080304" charset="-128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275590" y="6393815"/>
            <a:ext cx="1009650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 defTabSz="45720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1000">
                <a:latin typeface="MS PMincho" panose="02020600040205080304" charset="-128"/>
                <a:ea typeface="宋体" panose="02010600030101010101" pitchFamily="2" charset="-122"/>
                <a:cs typeface="MS PMincho" panose="02020600040205080304" charset="-128"/>
                <a:sym typeface="+mn-ea"/>
              </a:rPr>
              <a:t>Fukuda O, Tsuji T, Kaneko M, et al. A human-assisting manipulator teleoperated by EMG signals and arm motions[J]. IEEE transactions on robotics and automation, 2003, 19(2): 210-222.</a:t>
            </a:r>
            <a:endParaRPr lang="en-US" altLang="zh-CN" sz="1000">
              <a:latin typeface="MS PMincho" panose="02020600040205080304" charset="-128"/>
              <a:ea typeface="宋体" panose="02010600030101010101" pitchFamily="2" charset="-122"/>
              <a:cs typeface="MS PMincho" panose="02020600040205080304" charset="-128"/>
              <a:sym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6765290" y="2261235"/>
            <a:ext cx="463423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latin typeface="MS PMincho" panose="02020600040205080304" charset="-128"/>
                <a:ea typeface="宋体" panose="02010600030101010101" pitchFamily="2" charset="-122"/>
                <a:sym typeface="+mn-ea"/>
              </a:rPr>
              <a:t>focus on the force change</a:t>
            </a:r>
            <a:r>
              <a:rPr lang="zh-CN" altLang="en-US">
                <a:latin typeface="MS PMincho" panose="02020600040205080304" charset="-128"/>
                <a:ea typeface="宋体" panose="02010600030101010101" pitchFamily="2" charset="-122"/>
                <a:sym typeface="+mn-ea"/>
              </a:rPr>
              <a:t>，</a:t>
            </a:r>
            <a:r>
              <a:rPr lang="en-US" altLang="zh-CN">
                <a:latin typeface="MS PMincho" panose="02020600040205080304" charset="-128"/>
                <a:ea typeface="宋体" panose="02010600030101010101" pitchFamily="2" charset="-122"/>
                <a:sym typeface="+mn-ea"/>
              </a:rPr>
              <a:t>and reduce the influence of force values</a:t>
            </a:r>
            <a:endParaRPr lang="en-US" altLang="zh-CN">
              <a:latin typeface="MS PMincho" panose="02020600040205080304" charset="-128"/>
              <a:ea typeface="宋体" panose="02010600030101010101" pitchFamily="2" charset="-122"/>
              <a:sym typeface="+mn-ea"/>
            </a:endParaRPr>
          </a:p>
          <a:p>
            <a:endParaRPr lang="en-US" altLang="zh-CN">
              <a:latin typeface="MS PMincho" panose="02020600040205080304" charset="-128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6765290" y="459549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latin typeface="MS PMincho" panose="02020600040205080304" charset="-128"/>
                <a:ea typeface="宋体" panose="02010600030101010101" pitchFamily="2" charset="-122"/>
                <a:sym typeface="+mn-ea"/>
              </a:rPr>
              <a:t>facilitate model training and inference</a:t>
            </a:r>
            <a:endParaRPr lang="en-US" altLang="zh-CN">
              <a:latin typeface="MS PMincho" panose="02020600040205080304" charset="-128"/>
              <a:ea typeface="宋体" panose="02010600030101010101" pitchFamily="2" charset="-122"/>
              <a:sym typeface="+mn-ea"/>
            </a:endParaRPr>
          </a:p>
        </p:txBody>
      </p:sp>
    </p:spTree>
    <p:custDataLst>
      <p:tags r:id="rId5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 rot="10800000" flipH="1">
            <a:off x="275809" y="327218"/>
            <a:ext cx="355381" cy="88900"/>
            <a:chOff x="4381719" y="-1168400"/>
            <a:chExt cx="355381" cy="88900"/>
          </a:xfrm>
        </p:grpSpPr>
        <p:cxnSp>
          <p:nvCxnSpPr>
            <p:cNvPr id="32" name="直接连接符 31"/>
            <p:cNvCxnSpPr/>
            <p:nvPr/>
          </p:nvCxnSpPr>
          <p:spPr>
            <a:xfrm>
              <a:off x="4483100" y="-1168400"/>
              <a:ext cx="254000" cy="0"/>
            </a:xfrm>
            <a:prstGeom prst="line">
              <a:avLst/>
            </a:prstGeom>
            <a:ln w="28575" cap="rnd">
              <a:solidFill>
                <a:srgbClr val="3FA4DE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/>
          </p:nvCxnSpPr>
          <p:spPr>
            <a:xfrm>
              <a:off x="4381719" y="-1079500"/>
              <a:ext cx="355381" cy="0"/>
            </a:xfrm>
            <a:prstGeom prst="line">
              <a:avLst/>
            </a:prstGeom>
            <a:ln w="28575" cap="rnd">
              <a:solidFill>
                <a:srgbClr val="3FA4DE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" name="直接连接符 6"/>
          <p:cNvCxnSpPr/>
          <p:nvPr/>
        </p:nvCxnSpPr>
        <p:spPr>
          <a:xfrm flipV="1">
            <a:off x="275590" y="636270"/>
            <a:ext cx="11638915" cy="31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文本框 152" descr="e7d195523061f1c09e9d68d7cf438b91ef959ecb14fc25d26BBA7F7DBC18E55DFF4014AF651F0BF2569D4B6C1DA7F1A4683A481403BD872FC687266AD13265C1DE7C373772FD8728ABDD69ADD03BFF5BE2862BC891DBB79EC0B81FB75486405D5064442904236646CF49102BEE5E1B895458B641CA0D6C7889FDD78D23C2B1BC47745F4B67C4FF437063ECD1606ECED6"/>
          <p:cNvSpPr txBox="1"/>
          <p:nvPr/>
        </p:nvSpPr>
        <p:spPr>
          <a:xfrm>
            <a:off x="631189" y="167233"/>
            <a:ext cx="86790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accent1"/>
                </a:solidFill>
                <a:latin typeface="+mj-lt"/>
                <a:ea typeface="+mj-ea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ja-JP" dirty="0">
                <a:latin typeface="MS PMincho" panose="02020600040205080304" charset="-128"/>
                <a:ea typeface="MS PMincho" panose="02020600040205080304" charset="-128"/>
              </a:rPr>
              <a:t> </a:t>
            </a:r>
            <a:r>
              <a:rPr lang="en-US" altLang="ja-JP" dirty="0">
                <a:latin typeface="MS PMincho" panose="02020600040205080304" charset="-128"/>
                <a:ea typeface="MS PMincho" panose="02020600040205080304" charset="-128"/>
                <a:sym typeface="+mn-ea"/>
              </a:rPr>
              <a:t>EMG Signal Recogn</a:t>
            </a:r>
            <a:r>
              <a:rPr lang="en-US" altLang="ja-JP" dirty="0">
                <a:latin typeface="MS PMincho" panose="02020600040205080304" charset="-128"/>
                <a:ea typeface="MS PMincho" panose="02020600040205080304" charset="-128"/>
                <a:sym typeface="+mn-ea"/>
              </a:rPr>
              <a:t>ition Module</a:t>
            </a:r>
            <a:endParaRPr lang="ja-JP" altLang="en-US" dirty="0">
              <a:latin typeface="MS PMincho" panose="02020600040205080304" charset="-128"/>
              <a:ea typeface="MS PMincho" panose="02020600040205080304" charset="-128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75590" y="1548765"/>
            <a:ext cx="6096000" cy="2584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latin typeface="MS PMincho" panose="02020600040205080304" charset="-128"/>
                <a:ea typeface="MS PMincho" panose="02020600040205080304" charset="-128"/>
                <a:sym typeface="+mn-ea"/>
              </a:rPr>
              <a:t>3)</a:t>
            </a:r>
            <a:r>
              <a:rPr lang="en-US" altLang="zh-CN">
                <a:latin typeface="MS PMincho" panose="02020600040205080304" charset="-128"/>
                <a:ea typeface="宋体" panose="02010600030101010101" pitchFamily="2" charset="-122"/>
                <a:sym typeface="+mn-ea"/>
              </a:rPr>
              <a:t>Signal Recognition</a:t>
            </a:r>
            <a:r>
              <a:rPr lang="zh-CN" altLang="en-US">
                <a:latin typeface="MS PMincho" panose="02020600040205080304" charset="-128"/>
                <a:ea typeface="宋体" panose="02010600030101010101" pitchFamily="2" charset="-122"/>
                <a:sym typeface="+mn-ea"/>
              </a:rPr>
              <a:t>：</a:t>
            </a:r>
            <a:endParaRPr lang="zh-CN" altLang="en-US">
              <a:latin typeface="MS PMincho" panose="02020600040205080304" charset="-128"/>
              <a:ea typeface="宋体" panose="02010600030101010101" pitchFamily="2" charset="-122"/>
              <a:sym typeface="+mn-ea"/>
            </a:endParaRPr>
          </a:p>
          <a:p>
            <a:r>
              <a:rPr lang="en-US" altLang="zh-CN">
                <a:latin typeface="MS PMincho" panose="02020600040205080304" charset="-128"/>
                <a:ea typeface="宋体" panose="02010600030101010101" pitchFamily="2" charset="-122"/>
                <a:sym typeface="+mn-ea"/>
              </a:rPr>
              <a:t>Recognition algorithm model : Log-Linearized Gaussian Mixture Network (LLGMN).</a:t>
            </a:r>
            <a:endParaRPr lang="en-US" altLang="zh-CN">
              <a:latin typeface="MS PMincho" panose="02020600040205080304" charset="-128"/>
              <a:ea typeface="宋体" panose="02010600030101010101" pitchFamily="2" charset="-122"/>
              <a:sym typeface="+mn-ea"/>
            </a:endParaRPr>
          </a:p>
          <a:p>
            <a:r>
              <a:rPr lang="en-US" altLang="zh-CN">
                <a:latin typeface="MS PMincho" panose="02020600040205080304" charset="-128"/>
                <a:ea typeface="宋体" panose="02010600030101010101" pitchFamily="2" charset="-122"/>
                <a:sym typeface="+mn-ea"/>
              </a:rPr>
              <a:t>LLGMN is a statistical model based on the Gaussian Mixture Model (GMM). It enables high-speed and high-accuracy recognition with a small amount of data.</a:t>
            </a:r>
            <a:endParaRPr lang="en-US" altLang="zh-CN">
              <a:latin typeface="MS PMincho" panose="02020600040205080304" charset="-128"/>
              <a:ea typeface="宋体" panose="02010600030101010101" pitchFamily="2" charset="-122"/>
              <a:sym typeface="+mn-ea"/>
            </a:endParaRPr>
          </a:p>
          <a:p>
            <a:r>
              <a:rPr lang="en-US" altLang="zh-CN">
                <a:latin typeface="MS PMincho" panose="02020600040205080304" charset="-128"/>
                <a:ea typeface="宋体" panose="02010600030101010101" pitchFamily="2" charset="-122"/>
                <a:sym typeface="+mn-ea"/>
              </a:rPr>
              <a:t>in this research,we defined four motion,hand open,close,left and right rotate</a:t>
            </a:r>
            <a:r>
              <a:rPr lang="en-US" altLang="zh-CN">
                <a:latin typeface="MS PMincho" panose="02020600040205080304" charset="-128"/>
                <a:ea typeface="宋体" panose="02010600030101010101" pitchFamily="2" charset="-122"/>
                <a:sym typeface="+mn-ea"/>
              </a:rPr>
              <a:t>,</a:t>
            </a:r>
            <a:r>
              <a:rPr lang="en-US" altLang="zh-CN">
                <a:latin typeface="MS PMincho" panose="02020600040205080304" charset="-128"/>
                <a:ea typeface="宋体" panose="02010600030101010101" pitchFamily="2" charset="-122"/>
                <a:sym typeface="+mn-ea"/>
              </a:rPr>
              <a:t>the model is trained with 700 data samples for each </a:t>
            </a:r>
            <a:r>
              <a:rPr lang="en-US" altLang="zh-CN">
                <a:latin typeface="MS PMincho" panose="02020600040205080304" charset="-128"/>
                <a:ea typeface="宋体" panose="02010600030101010101" pitchFamily="2" charset="-122"/>
                <a:sym typeface="+mn-ea"/>
              </a:rPr>
              <a:t>motion</a:t>
            </a:r>
            <a:r>
              <a:rPr lang="en-US" altLang="zh-CN">
                <a:latin typeface="MS PMincho" panose="02020600040205080304" charset="-128"/>
                <a:ea typeface="宋体" panose="02010600030101010101" pitchFamily="2" charset="-122"/>
                <a:sym typeface="+mn-ea"/>
              </a:rPr>
              <a:t>.</a:t>
            </a:r>
            <a:r>
              <a:rPr lang="en-US" altLang="zh-CN">
                <a:latin typeface="MS PMincho" panose="02020600040205080304" charset="-128"/>
                <a:ea typeface="宋体" panose="02010600030101010101" pitchFamily="2" charset="-122"/>
                <a:sym typeface="+mn-ea"/>
              </a:rPr>
              <a:t>tested with 300 data samples.</a:t>
            </a:r>
            <a:endParaRPr lang="en-US" altLang="zh-CN">
              <a:latin typeface="MS PMincho" panose="02020600040205080304" charset="-128"/>
              <a:ea typeface="宋体" panose="02010600030101010101" pitchFamily="2" charset="-122"/>
              <a:sym typeface="+mn-ea"/>
            </a:endParaRPr>
          </a:p>
        </p:txBody>
      </p:sp>
      <p:pic>
        <p:nvPicPr>
          <p:cNvPr id="4" name="图片 9" descr="ConfusionMatrix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20535" y="1151890"/>
            <a:ext cx="4625975" cy="385508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75590" y="6199505"/>
            <a:ext cx="11638280" cy="39878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/>
            <a:r>
              <a:rPr lang="en-US" altLang="zh-CN" sz="1000" b="0" i="0">
                <a:solidFill>
                  <a:srgbClr val="222222"/>
                </a:solidFill>
                <a:latin typeface="MS PMincho" panose="02020600040205080304" charset="-128"/>
                <a:ea typeface="MS PMincho" panose="02020600040205080304" charset="-128"/>
              </a:rPr>
              <a:t>Tsuji T, Fukuda O, Ichinobe H, et al. A log-linearized Gaussian mixture network and its application to EEG pattern classification[J]. IEEE Transactions on Systems, Man, and Cybernetics, Part C (Applications and Reviews), 2002, 29(1): 60-72.</a:t>
            </a:r>
            <a:endParaRPr lang="en-US" altLang="zh-CN" sz="1000" b="0" i="0">
              <a:solidFill>
                <a:srgbClr val="222222"/>
              </a:solidFill>
              <a:latin typeface="MS PMincho" panose="02020600040205080304" charset="-128"/>
              <a:ea typeface="MS PMincho" panose="02020600040205080304" charset="-128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75590" y="948690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800" b="1" dirty="0">
                <a:latin typeface="MS PMincho" panose="02020600040205080304" charset="-128"/>
                <a:ea typeface="宋体" panose="02010600030101010101" pitchFamily="2" charset="-122"/>
                <a:sym typeface="+mn-ea"/>
              </a:rPr>
              <a:t>EMG Signal Recognition Module</a:t>
            </a:r>
            <a:r>
              <a:rPr lang="zh-CN" altLang="en-US" sz="2800" b="1" dirty="0">
                <a:latin typeface="MS PMincho" panose="02020600040205080304" charset="-128"/>
                <a:ea typeface="宋体" panose="02010600030101010101" pitchFamily="2" charset="-122"/>
                <a:sym typeface="+mn-ea"/>
              </a:rPr>
              <a:t>：</a:t>
            </a:r>
            <a:endParaRPr lang="zh-CN" altLang="en-US" sz="2800" b="1" dirty="0">
              <a:latin typeface="MS PMincho" panose="02020600040205080304" charset="-128"/>
              <a:ea typeface="宋体" panose="02010600030101010101" pitchFamily="2" charset="-122"/>
              <a:sym typeface="+mn-ea"/>
            </a:endParaRPr>
          </a:p>
        </p:txBody>
      </p:sp>
    </p:spTree>
    <p:custDataLst>
      <p:tags r:id="rId2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 rot="10800000" flipH="1">
            <a:off x="275809" y="327218"/>
            <a:ext cx="355381" cy="88900"/>
            <a:chOff x="4381719" y="-1168400"/>
            <a:chExt cx="355381" cy="88900"/>
          </a:xfrm>
        </p:grpSpPr>
        <p:cxnSp>
          <p:nvCxnSpPr>
            <p:cNvPr id="32" name="直接连接符 31"/>
            <p:cNvCxnSpPr/>
            <p:nvPr/>
          </p:nvCxnSpPr>
          <p:spPr>
            <a:xfrm>
              <a:off x="4483100" y="-1168400"/>
              <a:ext cx="254000" cy="0"/>
            </a:xfrm>
            <a:prstGeom prst="line">
              <a:avLst/>
            </a:prstGeom>
            <a:ln w="28575" cap="rnd">
              <a:solidFill>
                <a:srgbClr val="3FA4DE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/>
          </p:nvCxnSpPr>
          <p:spPr>
            <a:xfrm>
              <a:off x="4381719" y="-1079500"/>
              <a:ext cx="355381" cy="0"/>
            </a:xfrm>
            <a:prstGeom prst="line">
              <a:avLst/>
            </a:prstGeom>
            <a:ln w="28575" cap="rnd">
              <a:solidFill>
                <a:srgbClr val="3FA4DE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" name="直接连接符 6"/>
          <p:cNvCxnSpPr/>
          <p:nvPr/>
        </p:nvCxnSpPr>
        <p:spPr>
          <a:xfrm flipV="1">
            <a:off x="275590" y="636270"/>
            <a:ext cx="11638915" cy="31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文本框 152" descr="e7d195523061f1c09e9d68d7cf438b91ef959ecb14fc25d26BBA7F7DBC18E55DFF4014AF651F0BF2569D4B6C1DA7F1A4683A481403BD872FC687266AD13265C1DE7C373772FD8728ABDD69ADD03BFF5BE2862BC891DBB79EC0B81FB75486405D5064442904236646CF49102BEE5E1B895458B641CA0D6C7889FDD78D23C2B1BC47745F4B67C4FF437063ECD1606ECED6"/>
          <p:cNvSpPr txBox="1"/>
          <p:nvPr/>
        </p:nvSpPr>
        <p:spPr>
          <a:xfrm>
            <a:off x="631189" y="167233"/>
            <a:ext cx="86790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accent1"/>
                </a:solidFill>
                <a:latin typeface="+mj-lt"/>
                <a:ea typeface="+mj-ea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ja-JP" dirty="0">
                <a:latin typeface="MS PMincho" panose="02020600040205080304" charset="-128"/>
                <a:ea typeface="MS PMincho" panose="02020600040205080304" charset="-128"/>
              </a:rPr>
              <a:t> </a:t>
            </a:r>
            <a:r>
              <a:rPr lang="en-US" altLang="ja-JP" dirty="0">
                <a:latin typeface="MS PMincho" panose="02020600040205080304" charset="-128"/>
                <a:ea typeface="MS PMincho" panose="02020600040205080304" charset="-128"/>
                <a:sym typeface="+mn-ea"/>
              </a:rPr>
              <a:t>Vision module</a:t>
            </a:r>
            <a:r>
              <a:rPr lang="en-US" altLang="ja-JP" dirty="0">
                <a:latin typeface="MS PMincho" panose="02020600040205080304" charset="-128"/>
                <a:ea typeface="MS PMincho" panose="02020600040205080304" charset="-128"/>
              </a:rPr>
              <a:t> </a:t>
            </a:r>
            <a:endParaRPr lang="en-US" altLang="ja-JP" dirty="0">
              <a:latin typeface="MS PMincho" panose="02020600040205080304" charset="-128"/>
              <a:ea typeface="MS PMincho" panose="02020600040205080304" charset="-128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75590" y="859790"/>
            <a:ext cx="11638915" cy="204914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l" defTabSz="45720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2800" b="1" dirty="0">
                <a:latin typeface="MS PMincho" panose="02020600040205080304" charset="-128"/>
                <a:ea typeface="MS PMincho" panose="02020600040205080304" charset="-128"/>
                <a:cs typeface="MS PMincho" panose="02020600040205080304" charset="-128"/>
                <a:sym typeface="+mn-ea"/>
              </a:rPr>
              <a:t>4.</a:t>
            </a:r>
            <a:r>
              <a:rPr lang="en-US" altLang="zh-CN" sz="2800" b="1" dirty="0">
                <a:solidFill>
                  <a:schemeClr val="tx1"/>
                </a:solidFill>
                <a:latin typeface="MS PMincho" panose="02020600040205080304" charset="-128"/>
                <a:ea typeface="宋体" panose="02010600030101010101" pitchFamily="2" charset="-122"/>
              </a:rPr>
              <a:t>Vision Module</a:t>
            </a:r>
            <a:r>
              <a:rPr lang="zh-CN" altLang="en-US" sz="2800" b="1" dirty="0">
                <a:solidFill>
                  <a:schemeClr val="tx1"/>
                </a:solidFill>
                <a:latin typeface="MS PMincho" panose="02020600040205080304" charset="-128"/>
                <a:ea typeface="宋体" panose="02010600030101010101" pitchFamily="2" charset="-122"/>
              </a:rPr>
              <a:t>：</a:t>
            </a:r>
            <a:endParaRPr lang="en-US" altLang="ja-JP" sz="2800" b="1" dirty="0">
              <a:solidFill>
                <a:schemeClr val="tx1"/>
              </a:solidFill>
              <a:latin typeface="MS PMincho" panose="02020600040205080304" charset="-128"/>
              <a:ea typeface="MS PMincho" panose="02020600040205080304" charset="-128"/>
            </a:endParaRPr>
          </a:p>
          <a:p>
            <a:pPr algn="l" defTabSz="45720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>
                <a:latin typeface="MS PMincho" panose="02020600040205080304" charset="-128"/>
                <a:ea typeface="宋体" panose="02010600030101010101" pitchFamily="2" charset="-122"/>
              </a:rPr>
              <a:t>vision sensor : pixy2 camera.</a:t>
            </a:r>
            <a:endParaRPr lang="en-US" altLang="zh-CN">
              <a:latin typeface="MS PMincho" panose="02020600040205080304" charset="-128"/>
              <a:ea typeface="宋体" panose="02010600030101010101" pitchFamily="2" charset="-122"/>
            </a:endParaRPr>
          </a:p>
          <a:p>
            <a:pPr indent="457200" algn="l" defTabSz="45720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>
                <a:latin typeface="MS PMincho" panose="02020600040205080304" charset="-128"/>
                <a:ea typeface="宋体" panose="02010600030101010101" pitchFamily="2" charset="-122"/>
              </a:rPr>
              <a:t>pixy2 has built-in algorithms for line tracking and object recognition.and pixy2 has built-in image processing chip</a:t>
            </a:r>
            <a:r>
              <a:rPr lang="zh-CN" altLang="en-US">
                <a:latin typeface="MS PMincho" panose="02020600040205080304" charset="-128"/>
                <a:ea typeface="宋体" panose="02010600030101010101" pitchFamily="2" charset="-122"/>
              </a:rPr>
              <a:t>，</a:t>
            </a:r>
            <a:r>
              <a:rPr lang="en-US" altLang="zh-CN">
                <a:latin typeface="MS PMincho" panose="02020600040205080304" charset="-128"/>
                <a:ea typeface="宋体" panose="02010600030101010101" pitchFamily="2" charset="-122"/>
              </a:rPr>
              <a:t>camera can independently processing images</a:t>
            </a:r>
            <a:r>
              <a:rPr lang="zh-CN" altLang="en-US">
                <a:latin typeface="MS PMincho" panose="02020600040205080304" charset="-128"/>
                <a:ea typeface="宋体" panose="02010600030101010101" pitchFamily="2" charset="-122"/>
              </a:rPr>
              <a:t>，</a:t>
            </a:r>
            <a:r>
              <a:rPr lang="en-US" altLang="zh-CN">
                <a:latin typeface="MS PMincho" panose="02020600040205080304" charset="-128"/>
                <a:ea typeface="宋体" panose="02010600030101010101" pitchFamily="2" charset="-122"/>
              </a:rPr>
              <a:t>without relying on external computer resources</a:t>
            </a:r>
            <a:r>
              <a:rPr lang="zh-CN" altLang="en-US">
                <a:latin typeface="MS PMincho" panose="02020600040205080304" charset="-128"/>
                <a:ea typeface="宋体" panose="02010600030101010101" pitchFamily="2" charset="-122"/>
              </a:rPr>
              <a:t>。</a:t>
            </a:r>
            <a:endParaRPr lang="zh-CN" altLang="en-US">
              <a:latin typeface="MS PMincho" panose="02020600040205080304" charset="-128"/>
              <a:ea typeface="宋体" panose="02010600030101010101" pitchFamily="2" charset="-122"/>
            </a:endParaRPr>
          </a:p>
          <a:p>
            <a:pPr indent="457200" algn="l" defTabSz="45720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>
                <a:latin typeface="MS PMincho" panose="02020600040205080304" charset="-128"/>
                <a:ea typeface="宋体" panose="02010600030101010101" pitchFamily="2" charset="-122"/>
              </a:rPr>
              <a:t>vision sensor to recognize red color block</a:t>
            </a:r>
            <a:r>
              <a:rPr lang="zh-CN" altLang="en-US">
                <a:latin typeface="MS PMincho" panose="02020600040205080304" charset="-128"/>
                <a:ea typeface="宋体" panose="02010600030101010101" pitchFamily="2" charset="-122"/>
              </a:rPr>
              <a:t>，</a:t>
            </a:r>
            <a:r>
              <a:rPr lang="en-US" altLang="zh-CN">
                <a:latin typeface="MS PMincho" panose="02020600040205080304" charset="-128"/>
                <a:ea typeface="宋体" panose="02010600030101010101" pitchFamily="2" charset="-122"/>
              </a:rPr>
              <a:t>calculate object’s center coordinate</a:t>
            </a:r>
            <a:r>
              <a:rPr lang="zh-CN" altLang="en-US">
                <a:latin typeface="MS PMincho" panose="02020600040205080304" charset="-128"/>
                <a:ea typeface="宋体" panose="02010600030101010101" pitchFamily="2" charset="-122"/>
              </a:rPr>
              <a:t>，</a:t>
            </a:r>
            <a:r>
              <a:rPr lang="en-US" altLang="zh-CN">
                <a:latin typeface="MS PMincho" panose="02020600040205080304" charset="-128"/>
                <a:ea typeface="宋体" panose="02010600030101010101" pitchFamily="2" charset="-122"/>
              </a:rPr>
              <a:t>and control the robotic hand to tracking the object</a:t>
            </a:r>
            <a:r>
              <a:rPr lang="zh-CN" altLang="en-US">
                <a:latin typeface="MS PMincho" panose="02020600040205080304" charset="-128"/>
                <a:ea typeface="宋体" panose="02010600030101010101" pitchFamily="2" charset="-122"/>
              </a:rPr>
              <a:t>。</a:t>
            </a:r>
            <a:r>
              <a:rPr lang="en-US" altLang="zh-CN">
                <a:latin typeface="MS PMincho" panose="02020600040205080304" charset="-128"/>
                <a:ea typeface="宋体" panose="02010600030101010101" pitchFamily="2" charset="-122"/>
              </a:rPr>
              <a:t> </a:t>
            </a:r>
            <a:endParaRPr lang="en-US" altLang="zh-CN">
              <a:latin typeface="MS PMincho" panose="02020600040205080304" charset="-128"/>
              <a:ea typeface="宋体" panose="02010600030101010101" pitchFamily="2" charset="-122"/>
            </a:endParaRPr>
          </a:p>
          <a:p>
            <a:pPr algn="l" defTabSz="45720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en-US" altLang="zh-CN">
              <a:latin typeface="MS PMincho" panose="02020600040205080304" charset="-128"/>
              <a:ea typeface="宋体" panose="02010600030101010101" pitchFamily="2" charset="-122"/>
            </a:endParaRPr>
          </a:p>
          <a:p>
            <a:pPr algn="l" defTabSz="45720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en-US" altLang="zh-CN">
              <a:latin typeface="MS PMincho" panose="02020600040205080304" charset="-128"/>
              <a:ea typeface="宋体" panose="02010600030101010101" pitchFamily="2" charset="-122"/>
            </a:endParaRPr>
          </a:p>
          <a:p>
            <a:pPr algn="l" defTabSz="45720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en-US" altLang="zh-CN">
              <a:latin typeface="MS PMincho" panose="02020600040205080304" charset="-128"/>
              <a:ea typeface="宋体" panose="02010600030101010101" pitchFamily="2" charset="-122"/>
            </a:endParaRPr>
          </a:p>
          <a:p>
            <a:pPr algn="l" defTabSz="45720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en-US" altLang="zh-CN">
              <a:latin typeface="MS PMincho" panose="02020600040205080304" charset="-128"/>
              <a:ea typeface="宋体" panose="02010600030101010101" pitchFamily="2" charset="-122"/>
            </a:endParaRPr>
          </a:p>
          <a:p>
            <a:pPr algn="l" defTabSz="45720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en-US" altLang="zh-CN">
              <a:latin typeface="MS PMincho" panose="02020600040205080304" charset="-128"/>
              <a:ea typeface="宋体" panose="02010600030101010101" pitchFamily="2" charset="-122"/>
            </a:endParaRPr>
          </a:p>
          <a:p>
            <a:pPr algn="l" defTabSz="45720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en-US" altLang="zh-CN">
              <a:latin typeface="MS PMincho" panose="02020600040205080304" charset="-128"/>
              <a:ea typeface="MS PMincho" panose="02020600040205080304" charset="-128"/>
            </a:endParaRPr>
          </a:p>
          <a:p>
            <a:pPr algn="l" defTabSz="45720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en-US" altLang="zh-CN"/>
          </a:p>
          <a:p>
            <a:pPr algn="l" defTabSz="45720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en-US" altLang="zh-CN"/>
          </a:p>
        </p:txBody>
      </p:sp>
      <p:pic>
        <p:nvPicPr>
          <p:cNvPr id="3" name="图片 2" descr="QQ20250713-13550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60370" y="2978150"/>
            <a:ext cx="6268720" cy="371983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 rot="10800000" flipH="1">
            <a:off x="275809" y="327218"/>
            <a:ext cx="355381" cy="88900"/>
            <a:chOff x="4381719" y="-1168400"/>
            <a:chExt cx="355381" cy="88900"/>
          </a:xfrm>
        </p:grpSpPr>
        <p:cxnSp>
          <p:nvCxnSpPr>
            <p:cNvPr id="32" name="直接连接符 31"/>
            <p:cNvCxnSpPr/>
            <p:nvPr/>
          </p:nvCxnSpPr>
          <p:spPr>
            <a:xfrm>
              <a:off x="4483100" y="-1168400"/>
              <a:ext cx="254000" cy="0"/>
            </a:xfrm>
            <a:prstGeom prst="line">
              <a:avLst/>
            </a:prstGeom>
            <a:ln w="28575" cap="rnd">
              <a:solidFill>
                <a:srgbClr val="3FA4DE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/>
          </p:nvCxnSpPr>
          <p:spPr>
            <a:xfrm>
              <a:off x="4381719" y="-1079500"/>
              <a:ext cx="355381" cy="0"/>
            </a:xfrm>
            <a:prstGeom prst="line">
              <a:avLst/>
            </a:prstGeom>
            <a:ln w="28575" cap="rnd">
              <a:solidFill>
                <a:srgbClr val="3FA4DE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" name="直接连接符 6"/>
          <p:cNvCxnSpPr/>
          <p:nvPr/>
        </p:nvCxnSpPr>
        <p:spPr>
          <a:xfrm flipV="1">
            <a:off x="275590" y="636270"/>
            <a:ext cx="11638915" cy="31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文本框 152" descr="e7d195523061f1c09e9d68d7cf438b91ef959ecb14fc25d26BBA7F7DBC18E55DFF4014AF651F0BF2569D4B6C1DA7F1A4683A481403BD872FC687266AD13265C1DE7C373772FD8728ABDD69ADD03BFF5BE2862BC891DBB79EC0B81FB75486405D5064442904236646CF49102BEE5E1B895458B641CA0D6C7889FDD78D23C2B1BC47745F4B67C4FF437063ECD1606ECED6"/>
          <p:cNvSpPr txBox="1"/>
          <p:nvPr/>
        </p:nvSpPr>
        <p:spPr>
          <a:xfrm>
            <a:off x="631189" y="167233"/>
            <a:ext cx="86790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accent1"/>
                </a:solidFill>
                <a:latin typeface="+mj-lt"/>
                <a:ea typeface="+mj-ea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ja-JP" dirty="0">
                <a:latin typeface="MS PMincho" panose="02020600040205080304" charset="-128"/>
                <a:ea typeface="MS PMincho" panose="02020600040205080304" charset="-128"/>
              </a:rPr>
              <a:t> </a:t>
            </a:r>
            <a:r>
              <a:rPr lang="en-US" altLang="ja-JP" dirty="0">
                <a:latin typeface="MS PMincho" panose="02020600040205080304" charset="-128"/>
                <a:ea typeface="MS PMincho" panose="02020600040205080304" charset="-128"/>
                <a:sym typeface="+mn-ea"/>
              </a:rPr>
              <a:t>Experiment</a:t>
            </a:r>
            <a:r>
              <a:rPr lang="en-US" altLang="ja-JP" dirty="0">
                <a:latin typeface="MS PMincho" panose="02020600040205080304" charset="-128"/>
                <a:ea typeface="MS PMincho" panose="02020600040205080304" charset="-128"/>
              </a:rPr>
              <a:t> </a:t>
            </a:r>
            <a:endParaRPr lang="en-US" altLang="ja-JP" dirty="0">
              <a:latin typeface="MS PMincho" panose="02020600040205080304" charset="-128"/>
              <a:ea typeface="MS PMincho" panose="02020600040205080304" charset="-128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75590" y="859790"/>
            <a:ext cx="5820410" cy="19069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l" defTabSz="45720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2800" b="1" dirty="0">
                <a:solidFill>
                  <a:schemeClr val="tx1"/>
                </a:solidFill>
                <a:latin typeface="MS PMincho" panose="02020600040205080304" charset="-128"/>
                <a:ea typeface="宋体" panose="02010600030101010101" pitchFamily="2" charset="-122"/>
              </a:rPr>
              <a:t>Experiment</a:t>
            </a:r>
            <a:r>
              <a:rPr lang="zh-CN" altLang="en-US" sz="2800" b="1" dirty="0">
                <a:solidFill>
                  <a:schemeClr val="tx1"/>
                </a:solidFill>
                <a:latin typeface="MS PMincho" panose="02020600040205080304" charset="-128"/>
                <a:ea typeface="宋体" panose="02010600030101010101" pitchFamily="2" charset="-122"/>
              </a:rPr>
              <a:t>：</a:t>
            </a:r>
            <a:endParaRPr lang="en-US" altLang="ja-JP" sz="2800" b="1" dirty="0">
              <a:solidFill>
                <a:schemeClr val="tx1"/>
              </a:solidFill>
              <a:latin typeface="MS PMincho" panose="02020600040205080304" charset="-128"/>
              <a:ea typeface="MS PMincho" panose="02020600040205080304" charset="-128"/>
            </a:endParaRPr>
          </a:p>
          <a:p>
            <a:pPr algn="l" defTabSz="45720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en-US" altLang="zh-CN">
              <a:latin typeface="MS PMincho" panose="02020600040205080304" charset="-128"/>
              <a:ea typeface="MS PMincho" panose="02020600040205080304" charset="-128"/>
            </a:endParaRPr>
          </a:p>
          <a:p>
            <a:pPr algn="l" defTabSz="45720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1600">
                <a:latin typeface="MS PMincho" panose="02020600040205080304" charset="-128"/>
                <a:ea typeface="宋体" panose="02010600030101010101" pitchFamily="2" charset="-122"/>
              </a:rPr>
              <a:t>Compare the influence of having vision sensor or not on efficiency.</a:t>
            </a:r>
            <a:endParaRPr lang="en-US" altLang="zh-CN" sz="1600">
              <a:latin typeface="MS PMincho" panose="02020600040205080304" charset="-128"/>
              <a:ea typeface="宋体" panose="02010600030101010101" pitchFamily="2" charset="-122"/>
            </a:endParaRPr>
          </a:p>
          <a:p>
            <a:pPr algn="l" defTabSz="45720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en-US" altLang="zh-CN">
              <a:latin typeface="MS PMincho" panose="02020600040205080304" charset="-128"/>
              <a:ea typeface="宋体" panose="02010600030101010101" pitchFamily="2" charset="-122"/>
            </a:endParaRPr>
          </a:p>
          <a:p>
            <a:pPr algn="l" defTabSz="45720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en-US" altLang="zh-CN">
              <a:latin typeface="MS PMincho" panose="02020600040205080304" charset="-128"/>
              <a:ea typeface="宋体" panose="02010600030101010101" pitchFamily="2" charset="-122"/>
            </a:endParaRPr>
          </a:p>
          <a:p>
            <a:pPr algn="l" defTabSz="45720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>
                <a:latin typeface="MS PMincho" panose="02020600040205080304" charset="-128"/>
                <a:ea typeface="宋体" panose="02010600030101010101" pitchFamily="2" charset="-122"/>
              </a:rPr>
              <a:t>Four diffrent block angle, the hand need rotate to grab</a:t>
            </a:r>
            <a:endParaRPr lang="en-US" altLang="zh-CN">
              <a:latin typeface="MS PMincho" panose="02020600040205080304" charset="-128"/>
              <a:ea typeface="宋体" panose="02010600030101010101" pitchFamily="2" charset="-122"/>
            </a:endParaRPr>
          </a:p>
          <a:p>
            <a:pPr algn="l" defTabSz="45720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en-US" altLang="zh-CN">
              <a:latin typeface="MS PMincho" panose="02020600040205080304" charset="-128"/>
              <a:ea typeface="宋体" panose="02010600030101010101" pitchFamily="2" charset="-122"/>
            </a:endParaRPr>
          </a:p>
          <a:p>
            <a:pPr algn="l" defTabSz="45720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en-US" altLang="zh-CN">
              <a:latin typeface="MS PMincho" panose="02020600040205080304" charset="-128"/>
              <a:ea typeface="宋体" panose="02010600030101010101" pitchFamily="2" charset="-122"/>
            </a:endParaRPr>
          </a:p>
          <a:p>
            <a:pPr algn="l" defTabSz="45720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en-US" altLang="zh-CN">
              <a:latin typeface="MS PMincho" panose="02020600040205080304" charset="-128"/>
              <a:ea typeface="MS PMincho" panose="02020600040205080304" charset="-128"/>
            </a:endParaRPr>
          </a:p>
          <a:p>
            <a:pPr algn="l" defTabSz="45720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en-US" altLang="zh-CN"/>
          </a:p>
          <a:p>
            <a:pPr algn="l" defTabSz="45720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en-US" altLang="zh-CN"/>
          </a:p>
        </p:txBody>
      </p:sp>
      <p:pic>
        <p:nvPicPr>
          <p:cNvPr id="3" name="图片 7" descr="屏幕截图 2025-07-09 17104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6873" y="3144520"/>
            <a:ext cx="5273675" cy="3167380"/>
          </a:xfrm>
          <a:prstGeom prst="rect">
            <a:avLst/>
          </a:prstGeom>
        </p:spPr>
      </p:pic>
      <p:cxnSp>
        <p:nvCxnSpPr>
          <p:cNvPr id="9" name="直接箭头连接符 8"/>
          <p:cNvCxnSpPr/>
          <p:nvPr/>
        </p:nvCxnSpPr>
        <p:spPr>
          <a:xfrm flipH="1">
            <a:off x="2315845" y="2752090"/>
            <a:ext cx="1415415" cy="2379980"/>
          </a:xfrm>
          <a:prstGeom prst="straightConnector1">
            <a:avLst/>
          </a:prstGeom>
          <a:ln w="31750">
            <a:solidFill>
              <a:srgbClr val="E40D08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SIImovie_2 ‐ Clipchampで作成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>
                  <p14:trim end="23841.000000"/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639560" y="3144520"/>
            <a:ext cx="4953635" cy="278638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036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 rot="10800000" flipH="1">
            <a:off x="275809" y="327218"/>
            <a:ext cx="355381" cy="88900"/>
            <a:chOff x="4381719" y="-1168400"/>
            <a:chExt cx="355381" cy="88900"/>
          </a:xfrm>
        </p:grpSpPr>
        <p:cxnSp>
          <p:nvCxnSpPr>
            <p:cNvPr id="32" name="直接连接符 31"/>
            <p:cNvCxnSpPr/>
            <p:nvPr/>
          </p:nvCxnSpPr>
          <p:spPr>
            <a:xfrm>
              <a:off x="4483100" y="-1168400"/>
              <a:ext cx="254000" cy="0"/>
            </a:xfrm>
            <a:prstGeom prst="line">
              <a:avLst/>
            </a:prstGeom>
            <a:ln w="28575" cap="rnd">
              <a:solidFill>
                <a:srgbClr val="3FA4DE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/>
          </p:nvCxnSpPr>
          <p:spPr>
            <a:xfrm>
              <a:off x="4381719" y="-1079500"/>
              <a:ext cx="355381" cy="0"/>
            </a:xfrm>
            <a:prstGeom prst="line">
              <a:avLst/>
            </a:prstGeom>
            <a:ln w="28575" cap="rnd">
              <a:solidFill>
                <a:srgbClr val="3FA4DE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" name="直接连接符 6"/>
          <p:cNvCxnSpPr/>
          <p:nvPr/>
        </p:nvCxnSpPr>
        <p:spPr>
          <a:xfrm flipV="1">
            <a:off x="275590" y="636270"/>
            <a:ext cx="11638915" cy="31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文本框 152" descr="e7d195523061f1c09e9d68d7cf438b91ef959ecb14fc25d26BBA7F7DBC18E55DFF4014AF651F0BF2569D4B6C1DA7F1A4683A481403BD872FC687266AD13265C1DE7C373772FD8728ABDD69ADD03BFF5BE2862BC891DBB79EC0B81FB75486405D5064442904236646CF49102BEE5E1B895458B641CA0D6C7889FDD78D23C2B1BC47745F4B67C4FF437063ECD1606ECED6"/>
          <p:cNvSpPr txBox="1"/>
          <p:nvPr/>
        </p:nvSpPr>
        <p:spPr>
          <a:xfrm>
            <a:off x="631189" y="167233"/>
            <a:ext cx="86790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accent1"/>
                </a:solidFill>
                <a:latin typeface="+mj-lt"/>
                <a:ea typeface="+mj-ea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ja-JP" dirty="0">
                <a:latin typeface="MS PMincho" panose="02020600040205080304" charset="-128"/>
                <a:ea typeface="MS PMincho" panose="02020600040205080304" charset="-128"/>
              </a:rPr>
              <a:t> </a:t>
            </a:r>
            <a:r>
              <a:rPr lang="en-US" altLang="ja-JP" dirty="0">
                <a:latin typeface="MS PMincho" panose="02020600040205080304" charset="-128"/>
                <a:ea typeface="MS PMincho" panose="02020600040205080304" charset="-128"/>
                <a:sym typeface="+mn-ea"/>
              </a:rPr>
              <a:t>Result</a:t>
            </a:r>
            <a:r>
              <a:rPr lang="en-US" altLang="ja-JP" dirty="0">
                <a:latin typeface="MS PMincho" panose="02020600040205080304" charset="-128"/>
                <a:ea typeface="MS PMincho" panose="02020600040205080304" charset="-128"/>
                <a:sym typeface="+mn-ea"/>
              </a:rPr>
              <a:t> </a:t>
            </a:r>
            <a:r>
              <a:rPr lang="en-US" altLang="ja-JP" dirty="0">
                <a:latin typeface="MS PMincho" panose="02020600040205080304" charset="-128"/>
                <a:ea typeface="MS PMincho" panose="02020600040205080304" charset="-128"/>
              </a:rPr>
              <a:t> </a:t>
            </a:r>
            <a:endParaRPr lang="ja-JP" altLang="en-US" dirty="0">
              <a:latin typeface="MS PMincho" panose="02020600040205080304" charset="-128"/>
              <a:ea typeface="MS PMincho" panose="02020600040205080304" charset="-128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75590" y="859790"/>
            <a:ext cx="6009640" cy="21501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l" defTabSz="45720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2800" b="1" dirty="0">
                <a:solidFill>
                  <a:schemeClr val="tx1"/>
                </a:solidFill>
                <a:latin typeface="MS PMincho" panose="02020600040205080304" charset="-128"/>
                <a:ea typeface="宋体" panose="02010600030101010101" pitchFamily="2" charset="-122"/>
              </a:rPr>
              <a:t>Experiment Result</a:t>
            </a:r>
            <a:r>
              <a:rPr lang="zh-CN" altLang="en-US" sz="2800" b="1" dirty="0">
                <a:solidFill>
                  <a:schemeClr val="tx1"/>
                </a:solidFill>
                <a:latin typeface="MS PMincho" panose="02020600040205080304" charset="-128"/>
                <a:ea typeface="宋体" panose="02010600030101010101" pitchFamily="2" charset="-122"/>
              </a:rPr>
              <a:t>：</a:t>
            </a:r>
            <a:endParaRPr lang="en-US" altLang="ja-JP" sz="2800" b="1" dirty="0">
              <a:solidFill>
                <a:schemeClr val="tx1"/>
              </a:solidFill>
              <a:latin typeface="MS PMincho" panose="02020600040205080304" charset="-128"/>
              <a:ea typeface="MS PMincho" panose="02020600040205080304" charset="-128"/>
            </a:endParaRPr>
          </a:p>
          <a:p>
            <a:pPr algn="l" defTabSz="45720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en-US" altLang="zh-CN">
              <a:latin typeface="MS PMincho" panose="02020600040205080304" charset="-128"/>
              <a:ea typeface="宋体" panose="02010600030101010101" pitchFamily="2" charset="-122"/>
            </a:endParaRPr>
          </a:p>
          <a:p>
            <a:pPr algn="l" defTabSz="45720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en-US" altLang="zh-CN">
              <a:latin typeface="MS PMincho" panose="02020600040205080304" charset="-128"/>
              <a:ea typeface="宋体" panose="02010600030101010101" pitchFamily="2" charset="-122"/>
            </a:endParaRPr>
          </a:p>
          <a:p>
            <a:pPr algn="l" defTabSz="45720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>
                <a:latin typeface="MS PMincho" panose="02020600040205080304" charset="-128"/>
                <a:ea typeface="宋体" panose="02010600030101010101" pitchFamily="2" charset="-122"/>
              </a:rPr>
              <a:t>①</a:t>
            </a:r>
            <a:r>
              <a:rPr lang="en-US" altLang="zh-CN">
                <a:latin typeface="MS PMincho" panose="02020600040205080304" charset="-128"/>
                <a:ea typeface="宋体" panose="02010600030101010101" pitchFamily="2" charset="-122"/>
              </a:rPr>
              <a:t>:</a:t>
            </a:r>
            <a:r>
              <a:rPr lang="en-US" altLang="zh-CN">
                <a:latin typeface="MS PMincho" panose="02020600040205080304" charset="-128"/>
                <a:ea typeface="宋体" panose="02010600030101010101" pitchFamily="2" charset="-122"/>
                <a:sym typeface="+mn-ea"/>
              </a:rPr>
              <a:t>not </a:t>
            </a:r>
            <a:r>
              <a:rPr lang="en-US" altLang="zh-CN">
                <a:latin typeface="MS PMincho" panose="02020600040205080304" charset="-128"/>
                <a:ea typeface="宋体" panose="02010600030101010101" pitchFamily="2" charset="-122"/>
              </a:rPr>
              <a:t>having vision sensor average time taken:56.5s</a:t>
            </a:r>
            <a:endParaRPr lang="en-US" altLang="zh-CN">
              <a:latin typeface="MS PMincho" panose="02020600040205080304" charset="-128"/>
              <a:ea typeface="宋体" panose="02010600030101010101" pitchFamily="2" charset="-122"/>
            </a:endParaRPr>
          </a:p>
          <a:p>
            <a:pPr algn="l" defTabSz="45720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en-US" altLang="zh-CN">
              <a:latin typeface="MS PMincho" panose="02020600040205080304" charset="-128"/>
              <a:ea typeface="宋体" panose="02010600030101010101" pitchFamily="2" charset="-122"/>
            </a:endParaRPr>
          </a:p>
          <a:p>
            <a:pPr algn="l" defTabSz="45720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en-US" altLang="zh-CN">
              <a:latin typeface="MS PMincho" panose="02020600040205080304" charset="-128"/>
              <a:ea typeface="宋体" panose="02010600030101010101" pitchFamily="2" charset="-122"/>
            </a:endParaRPr>
          </a:p>
          <a:p>
            <a:pPr algn="l" defTabSz="45720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>
                <a:latin typeface="MS PMincho" panose="02020600040205080304" charset="-128"/>
                <a:ea typeface="宋体" panose="02010600030101010101" pitchFamily="2" charset="-122"/>
                <a:sym typeface="+mn-ea"/>
              </a:rPr>
              <a:t>②</a:t>
            </a:r>
            <a:r>
              <a:rPr lang="en-US" altLang="zh-CN">
                <a:latin typeface="MS PMincho" panose="02020600040205080304" charset="-128"/>
                <a:ea typeface="宋体" panose="02010600030101010101" pitchFamily="2" charset="-122"/>
                <a:sym typeface="+mn-ea"/>
              </a:rPr>
              <a:t>:having vision sensor average time taken:45.2s</a:t>
            </a:r>
            <a:endParaRPr lang="en-US" altLang="zh-CN">
              <a:latin typeface="MS PMincho" panose="02020600040205080304" charset="-128"/>
              <a:ea typeface="宋体" panose="02010600030101010101" pitchFamily="2" charset="-122"/>
            </a:endParaRPr>
          </a:p>
          <a:p>
            <a:pPr algn="l" defTabSz="45720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en-US" altLang="zh-CN">
              <a:latin typeface="MS PMincho" panose="02020600040205080304" charset="-128"/>
              <a:ea typeface="宋体" panose="02010600030101010101" pitchFamily="2" charset="-122"/>
            </a:endParaRPr>
          </a:p>
          <a:p>
            <a:pPr algn="l" defTabSz="45720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en-US" altLang="zh-CN">
              <a:latin typeface="MS PMincho" panose="02020600040205080304" charset="-128"/>
              <a:ea typeface="宋体" panose="02010600030101010101" pitchFamily="2" charset="-122"/>
            </a:endParaRPr>
          </a:p>
          <a:p>
            <a:pPr algn="l" defTabSz="45720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en-US" altLang="zh-CN">
              <a:latin typeface="MS PMincho" panose="02020600040205080304" charset="-128"/>
              <a:ea typeface="宋体" panose="02010600030101010101" pitchFamily="2" charset="-122"/>
            </a:endParaRPr>
          </a:p>
          <a:p>
            <a:pPr algn="l" defTabSz="45720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en-US" altLang="zh-CN">
              <a:latin typeface="MS PMincho" panose="02020600040205080304" charset="-128"/>
              <a:ea typeface="宋体" panose="02010600030101010101" pitchFamily="2" charset="-122"/>
            </a:endParaRPr>
          </a:p>
          <a:p>
            <a:pPr algn="l" defTabSz="45720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en-US" altLang="zh-CN">
              <a:latin typeface="MS PMincho" panose="02020600040205080304" charset="-128"/>
              <a:ea typeface="MS PMincho" panose="02020600040205080304" charset="-128"/>
            </a:endParaRPr>
          </a:p>
          <a:p>
            <a:pPr algn="l" defTabSz="45720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en-US" altLang="zh-CN"/>
          </a:p>
          <a:p>
            <a:pPr algn="l" defTabSz="45720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en-US" altLang="zh-CN"/>
          </a:p>
        </p:txBody>
      </p:sp>
      <p:pic>
        <p:nvPicPr>
          <p:cNvPr id="4" name="图片 3" descr="屏幕截图_14-7-2025_182040_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7190" y="3144520"/>
            <a:ext cx="5278755" cy="3307715"/>
          </a:xfrm>
          <a:prstGeom prst="rect">
            <a:avLst/>
          </a:prstGeom>
        </p:spPr>
      </p:pic>
      <p:pic>
        <p:nvPicPr>
          <p:cNvPr id="9" name="图片 8" descr="屏幕截图_14-7-2025_183020_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4495" y="3493135"/>
            <a:ext cx="4537075" cy="29591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754495" y="2689860"/>
            <a:ext cx="4537075" cy="64516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en-US" altLang="zh-CN" sz="1800" b="0" i="0">
                <a:latin typeface="MS PMincho" panose="02020600040205080304" charset="-128"/>
                <a:ea typeface="宋体" panose="02010600030101010101" pitchFamily="2" charset="-122"/>
              </a:rPr>
              <a:t>no different in </a:t>
            </a:r>
            <a:r>
              <a:rPr lang="en-US" altLang="zh-CN" sz="1800" b="0" i="0">
                <a:solidFill>
                  <a:schemeClr val="tx2">
                    <a:lumMod val="75000"/>
                    <a:lumOff val="25000"/>
                  </a:schemeClr>
                </a:solidFill>
                <a:latin typeface="MS PMincho" panose="02020600040205080304" charset="-128"/>
                <a:ea typeface="宋体" panose="02010600030101010101" pitchFamily="2" charset="-122"/>
              </a:rPr>
              <a:t>‘grab holidng’</a:t>
            </a:r>
            <a:r>
              <a:rPr lang="en-US" altLang="zh-CN" sz="1800" b="0" i="0">
                <a:latin typeface="MS PMincho" panose="02020600040205080304" charset="-128"/>
                <a:ea typeface="宋体" panose="02010600030101010101" pitchFamily="2" charset="-122"/>
              </a:rPr>
              <a:t> time,</a:t>
            </a:r>
            <a:endParaRPr lang="en-US" altLang="zh-CN" sz="1800" b="0" i="0">
              <a:latin typeface="MS PMincho" panose="02020600040205080304" charset="-128"/>
              <a:ea typeface="宋体" panose="02010600030101010101" pitchFamily="2" charset="-122"/>
            </a:endParaRPr>
          </a:p>
          <a:p>
            <a:pPr marL="0" indent="0"/>
            <a:r>
              <a:rPr lang="en-US" altLang="zh-CN" sz="1800" b="0" i="0">
                <a:latin typeface="MS PMincho" panose="02020600040205080304" charset="-128"/>
                <a:ea typeface="宋体" panose="02010600030101010101" pitchFamily="2" charset="-122"/>
              </a:rPr>
              <a:t>significant different in </a:t>
            </a:r>
            <a:r>
              <a:rPr lang="en-US" altLang="zh-CN" sz="1800" b="0" i="0">
                <a:solidFill>
                  <a:schemeClr val="tx2">
                    <a:lumMod val="75000"/>
                    <a:lumOff val="25000"/>
                  </a:schemeClr>
                </a:solidFill>
                <a:latin typeface="MS PMincho" panose="02020600040205080304" charset="-128"/>
                <a:ea typeface="宋体" panose="02010600030101010101" pitchFamily="2" charset="-122"/>
              </a:rPr>
              <a:t>‘try to grab’</a:t>
            </a:r>
            <a:r>
              <a:rPr lang="en-US" altLang="zh-CN" sz="1800" b="0" i="0">
                <a:latin typeface="MS PMincho" panose="02020600040205080304" charset="-128"/>
                <a:ea typeface="宋体" panose="02010600030101010101" pitchFamily="2" charset="-122"/>
              </a:rPr>
              <a:t> time</a:t>
            </a:r>
            <a:endParaRPr lang="en-US" altLang="zh-CN" sz="1800" b="0" i="0">
              <a:latin typeface="MS PMincho" panose="02020600040205080304" charset="-128"/>
              <a:ea typeface="宋体" panose="02010600030101010101" pitchFamily="2" charset="-122"/>
            </a:endParaRPr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 rot="10800000" flipH="1">
            <a:off x="275809" y="327218"/>
            <a:ext cx="355381" cy="88900"/>
            <a:chOff x="4381719" y="-1168400"/>
            <a:chExt cx="355381" cy="88900"/>
          </a:xfrm>
        </p:grpSpPr>
        <p:cxnSp>
          <p:nvCxnSpPr>
            <p:cNvPr id="32" name="直接连接符 31"/>
            <p:cNvCxnSpPr/>
            <p:nvPr/>
          </p:nvCxnSpPr>
          <p:spPr>
            <a:xfrm>
              <a:off x="4483100" y="-1168400"/>
              <a:ext cx="254000" cy="0"/>
            </a:xfrm>
            <a:prstGeom prst="line">
              <a:avLst/>
            </a:prstGeom>
            <a:ln w="28575" cap="rnd">
              <a:solidFill>
                <a:srgbClr val="3FA4DE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/>
          </p:nvCxnSpPr>
          <p:spPr>
            <a:xfrm>
              <a:off x="4381719" y="-1079500"/>
              <a:ext cx="355381" cy="0"/>
            </a:xfrm>
            <a:prstGeom prst="line">
              <a:avLst/>
            </a:prstGeom>
            <a:ln w="28575" cap="rnd">
              <a:solidFill>
                <a:srgbClr val="3FA4DE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" name="直接连接符 6"/>
          <p:cNvCxnSpPr/>
          <p:nvPr/>
        </p:nvCxnSpPr>
        <p:spPr>
          <a:xfrm flipV="1">
            <a:off x="275590" y="636270"/>
            <a:ext cx="11638915" cy="31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文本框 152" descr="e7d195523061f1c09e9d68d7cf438b91ef959ecb14fc25d26BBA7F7DBC18E55DFF4014AF651F0BF2569D4B6C1DA7F1A4683A481403BD872FC687266AD13265C1DE7C373772FD8728ABDD69ADD03BFF5BE2862BC891DBB79EC0B81FB75486405D5064442904236646CF49102BEE5E1B895458B641CA0D6C7889FDD78D23C2B1BC47745F4B67C4FF437063ECD1606ECED6"/>
          <p:cNvSpPr txBox="1"/>
          <p:nvPr/>
        </p:nvSpPr>
        <p:spPr>
          <a:xfrm>
            <a:off x="631189" y="167233"/>
            <a:ext cx="86790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accent1"/>
                </a:solidFill>
                <a:latin typeface="+mj-lt"/>
                <a:ea typeface="+mj-ea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ja-JP" dirty="0">
                <a:latin typeface="MS PMincho" panose="02020600040205080304" charset="-128"/>
                <a:ea typeface="MS PMincho" panose="02020600040205080304" charset="-128"/>
              </a:rPr>
              <a:t> </a:t>
            </a:r>
            <a:r>
              <a:rPr lang="en-US" altLang="ja-JP" dirty="0">
                <a:latin typeface="MS PMincho" panose="02020600040205080304" charset="-128"/>
                <a:ea typeface="MS PMincho" panose="02020600040205080304" charset="-128"/>
                <a:sym typeface="+mn-ea"/>
              </a:rPr>
              <a:t>Summary And Future Plan</a:t>
            </a:r>
            <a:r>
              <a:rPr lang="en-US" altLang="ja-JP" dirty="0">
                <a:latin typeface="MS PMincho" panose="02020600040205080304" charset="-128"/>
                <a:ea typeface="MS PMincho" panose="02020600040205080304" charset="-128"/>
              </a:rPr>
              <a:t> </a:t>
            </a:r>
            <a:endParaRPr lang="ja-JP" altLang="en-US" dirty="0">
              <a:latin typeface="MS PMincho" panose="02020600040205080304" charset="-128"/>
              <a:ea typeface="MS PMincho" panose="02020600040205080304" charset="-128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75590" y="859790"/>
            <a:ext cx="9106535" cy="17418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l" defTabSz="45720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ja-JP" sz="2800" b="1" dirty="0">
                <a:latin typeface="MS PMincho" panose="02020600040205080304" charset="-128"/>
                <a:ea typeface="MS PMincho" panose="02020600040205080304" charset="-128"/>
                <a:sym typeface="+mn-ea"/>
              </a:rPr>
              <a:t>Summary</a:t>
            </a:r>
            <a:r>
              <a:rPr lang="zh-CN" altLang="en-US" sz="2800" b="1" dirty="0">
                <a:solidFill>
                  <a:schemeClr val="tx1"/>
                </a:solidFill>
                <a:latin typeface="MS PMincho" panose="02020600040205080304" charset="-128"/>
                <a:ea typeface="宋体" panose="02010600030101010101" pitchFamily="2" charset="-122"/>
              </a:rPr>
              <a:t>：</a:t>
            </a:r>
            <a:endParaRPr lang="en-US" altLang="zh-CN">
              <a:latin typeface="MS PMincho" panose="02020600040205080304" charset="-128"/>
              <a:ea typeface="宋体" panose="02010600030101010101" pitchFamily="2" charset="-122"/>
            </a:endParaRPr>
          </a:p>
          <a:p>
            <a:pPr algn="l" defTabSz="45720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en-US" altLang="zh-CN">
              <a:latin typeface="MS PMincho" panose="02020600040205080304" charset="-128"/>
              <a:ea typeface="宋体" panose="02010600030101010101" pitchFamily="2" charset="-122"/>
            </a:endParaRPr>
          </a:p>
          <a:p>
            <a:pPr algn="l" defTabSz="45720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>
                <a:latin typeface="MS PMincho" panose="02020600040205080304" charset="-128"/>
                <a:ea typeface="宋体" panose="02010600030101010101" pitchFamily="2" charset="-122"/>
              </a:rPr>
              <a:t>This research developed a </a:t>
            </a:r>
            <a:r>
              <a:rPr lang="en-US" altLang="zh-CN">
                <a:latin typeface="MS PMincho" panose="02020600040205080304" charset="-128"/>
                <a:ea typeface="宋体" panose="02010600030101010101" pitchFamily="2" charset="-122"/>
                <a:sym typeface="+mn-ea"/>
              </a:rPr>
              <a:t>myoelectric</a:t>
            </a:r>
            <a:r>
              <a:rPr lang="en-US" altLang="zh-CN">
                <a:latin typeface="MS PMincho" panose="02020600040205080304" charset="-128"/>
                <a:ea typeface="宋体" panose="02010600030101010101" pitchFamily="2" charset="-122"/>
              </a:rPr>
              <a:t> hand that combines a vision sensor and an EMG sensor, and design a experiment to validate </a:t>
            </a:r>
            <a:r>
              <a:rPr lang="en-US" altLang="zh-CN">
                <a:latin typeface="MS PMincho" panose="02020600040205080304" charset="-128"/>
                <a:ea typeface="宋体" panose="02010600030101010101" pitchFamily="2" charset="-122"/>
                <a:sym typeface="+mn-ea"/>
              </a:rPr>
              <a:t>feasibility of</a:t>
            </a:r>
            <a:r>
              <a:rPr lang="en-US" altLang="zh-CN">
                <a:latin typeface="MS PMincho" panose="02020600040205080304" charset="-128"/>
                <a:ea typeface="宋体" panose="02010600030101010101" pitchFamily="2" charset="-122"/>
              </a:rPr>
              <a:t> the </a:t>
            </a:r>
            <a:r>
              <a:rPr lang="en-US" altLang="zh-CN">
                <a:latin typeface="MS PMincho" panose="02020600040205080304" charset="-128"/>
                <a:ea typeface="宋体" panose="02010600030101010101" pitchFamily="2" charset="-122"/>
                <a:sym typeface="+mn-ea"/>
              </a:rPr>
              <a:t>vision based </a:t>
            </a:r>
            <a:r>
              <a:rPr lang="en-US" altLang="zh-CN">
                <a:latin typeface="MS PMincho" panose="02020600040205080304" charset="-128"/>
                <a:ea typeface="宋体" panose="02010600030101010101" pitchFamily="2" charset="-122"/>
                <a:sym typeface="+mn-ea"/>
              </a:rPr>
              <a:t>myoelectric</a:t>
            </a:r>
            <a:r>
              <a:rPr lang="en-US" altLang="zh-CN">
                <a:latin typeface="MS PMincho" panose="02020600040205080304" charset="-128"/>
                <a:ea typeface="宋体" panose="02010600030101010101" pitchFamily="2" charset="-122"/>
                <a:sym typeface="+mn-ea"/>
              </a:rPr>
              <a:t> hand</a:t>
            </a:r>
            <a:r>
              <a:rPr lang="en-US" altLang="zh-CN">
                <a:latin typeface="MS PMincho" panose="02020600040205080304" charset="-128"/>
                <a:ea typeface="宋体" panose="02010600030101010101" pitchFamily="2" charset="-122"/>
              </a:rPr>
              <a:t>.The result provide vision based myoelectric hand is more efficient</a:t>
            </a:r>
            <a:br>
              <a:rPr lang="en-US" altLang="zh-CN">
                <a:latin typeface="MS PMincho" panose="02020600040205080304" charset="-128"/>
                <a:ea typeface="宋体" panose="02010600030101010101" pitchFamily="2" charset="-122"/>
              </a:rPr>
            </a:br>
            <a:endParaRPr lang="en-US" altLang="zh-CN">
              <a:latin typeface="MS PMincho" panose="02020600040205080304" charset="-128"/>
              <a:ea typeface="宋体" panose="02010600030101010101" pitchFamily="2" charset="-122"/>
            </a:endParaRPr>
          </a:p>
          <a:p>
            <a:pPr algn="l" defTabSz="45720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en-US" altLang="zh-CN">
              <a:latin typeface="MS PMincho" panose="02020600040205080304" charset="-128"/>
              <a:ea typeface="宋体" panose="02010600030101010101" pitchFamily="2" charset="-122"/>
            </a:endParaRPr>
          </a:p>
          <a:p>
            <a:pPr algn="l" defTabSz="45720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en-US" altLang="zh-CN">
              <a:latin typeface="MS PMincho" panose="02020600040205080304" charset="-128"/>
              <a:ea typeface="宋体" panose="02010600030101010101" pitchFamily="2" charset="-122"/>
            </a:endParaRPr>
          </a:p>
          <a:p>
            <a:pPr algn="l" defTabSz="45720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en-US" altLang="zh-CN">
              <a:latin typeface="MS PMincho" panose="02020600040205080304" charset="-128"/>
              <a:ea typeface="宋体" panose="02010600030101010101" pitchFamily="2" charset="-122"/>
            </a:endParaRPr>
          </a:p>
          <a:p>
            <a:pPr algn="l" defTabSz="45720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en-US" altLang="zh-CN">
              <a:latin typeface="MS PMincho" panose="02020600040205080304" charset="-128"/>
              <a:ea typeface="宋体" panose="02010600030101010101" pitchFamily="2" charset="-122"/>
            </a:endParaRPr>
          </a:p>
          <a:p>
            <a:pPr algn="l" defTabSz="45720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en-US" altLang="zh-CN">
              <a:latin typeface="MS PMincho" panose="02020600040205080304" charset="-128"/>
              <a:ea typeface="MS PMincho" panose="02020600040205080304" charset="-128"/>
            </a:endParaRPr>
          </a:p>
          <a:p>
            <a:pPr algn="l" defTabSz="45720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en-US" altLang="zh-CN"/>
          </a:p>
          <a:p>
            <a:pPr algn="l" defTabSz="45720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en-US" altLang="zh-CN"/>
          </a:p>
        </p:txBody>
      </p:sp>
      <p:sp>
        <p:nvSpPr>
          <p:cNvPr id="3" name="文本框 2"/>
          <p:cNvSpPr txBox="1"/>
          <p:nvPr/>
        </p:nvSpPr>
        <p:spPr>
          <a:xfrm>
            <a:off x="275590" y="2821940"/>
            <a:ext cx="4763135" cy="307784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l" defTabSz="45720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ja-JP" sz="2800" b="1" dirty="0">
                <a:latin typeface="MS PMincho" panose="02020600040205080304" charset="-128"/>
                <a:ea typeface="MS PMincho" panose="02020600040205080304" charset="-128"/>
                <a:sym typeface="+mn-ea"/>
              </a:rPr>
              <a:t>Future Plan</a:t>
            </a:r>
            <a:r>
              <a:rPr lang="zh-CN" altLang="en-US" sz="2800" b="1" dirty="0">
                <a:solidFill>
                  <a:schemeClr val="tx1"/>
                </a:solidFill>
                <a:latin typeface="MS PMincho" panose="02020600040205080304" charset="-128"/>
                <a:ea typeface="宋体" panose="02010600030101010101" pitchFamily="2" charset="-122"/>
              </a:rPr>
              <a:t>：</a:t>
            </a:r>
            <a:endParaRPr lang="en-US" altLang="zh-CN">
              <a:latin typeface="MS PMincho" panose="02020600040205080304" charset="-128"/>
              <a:ea typeface="宋体" panose="02010600030101010101" pitchFamily="2" charset="-122"/>
            </a:endParaRPr>
          </a:p>
          <a:p>
            <a:pPr algn="l" defTabSz="45720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en-US" altLang="zh-CN">
              <a:latin typeface="MS PMincho" panose="02020600040205080304" charset="-128"/>
              <a:ea typeface="宋体" panose="02010600030101010101" pitchFamily="2" charset="-122"/>
            </a:endParaRPr>
          </a:p>
          <a:p>
            <a:pPr algn="l" defTabSz="45720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>
                <a:latin typeface="MS PMincho" panose="02020600040205080304" charset="-128"/>
                <a:ea typeface="宋体" panose="02010600030101010101" pitchFamily="2" charset="-122"/>
              </a:rPr>
              <a:t>I will continue to explore the application of depth cameras in  myoelectric hands </a:t>
            </a:r>
            <a:r>
              <a:rPr lang="en-US" altLang="zh-CN">
                <a:latin typeface="MS PMincho" panose="02020600040205080304" charset="-128"/>
                <a:ea typeface="宋体" panose="02010600030101010101" pitchFamily="2" charset="-122"/>
                <a:sym typeface="+mn-ea"/>
              </a:rPr>
              <a:t>basing on senpai’s experiment</a:t>
            </a:r>
            <a:r>
              <a:rPr lang="en-US" altLang="zh-CN">
                <a:latin typeface="MS PMincho" panose="02020600040205080304" charset="-128"/>
                <a:ea typeface="宋体" panose="02010600030101010101" pitchFamily="2" charset="-122"/>
              </a:rPr>
              <a:t>.</a:t>
            </a:r>
            <a:endParaRPr lang="en-US" altLang="zh-CN">
              <a:latin typeface="MS PMincho" panose="02020600040205080304" charset="-128"/>
              <a:ea typeface="宋体" panose="02010600030101010101" pitchFamily="2" charset="-122"/>
            </a:endParaRPr>
          </a:p>
          <a:p>
            <a:pPr algn="l" defTabSz="45720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>
                <a:latin typeface="MS PMincho" panose="02020600040205080304" charset="-128"/>
                <a:ea typeface="宋体" panose="02010600030101010101" pitchFamily="2" charset="-122"/>
              </a:rPr>
              <a:t>At the same time, I will also try to improve the performance of the </a:t>
            </a:r>
            <a:r>
              <a:rPr lang="en-US" altLang="zh-CN">
                <a:latin typeface="MS PMincho" panose="02020600040205080304" charset="-128"/>
                <a:ea typeface="宋体" panose="02010600030101010101" pitchFamily="2" charset="-122"/>
                <a:sym typeface="+mn-ea"/>
              </a:rPr>
              <a:t>myoelectric </a:t>
            </a:r>
            <a:r>
              <a:rPr lang="en-US" altLang="zh-CN">
                <a:latin typeface="MS PMincho" panose="02020600040205080304" charset="-128"/>
                <a:ea typeface="宋体" panose="02010600030101010101" pitchFamily="2" charset="-122"/>
              </a:rPr>
              <a:t>hand to handle a wider range of motion in daily life scene.</a:t>
            </a:r>
            <a:br>
              <a:rPr lang="en-US" altLang="zh-CN">
                <a:latin typeface="MS PMincho" panose="02020600040205080304" charset="-128"/>
                <a:ea typeface="宋体" panose="02010600030101010101" pitchFamily="2" charset="-122"/>
              </a:rPr>
            </a:br>
            <a:endParaRPr lang="en-US" altLang="zh-CN">
              <a:latin typeface="MS PMincho" panose="02020600040205080304" charset="-128"/>
              <a:ea typeface="宋体" panose="02010600030101010101" pitchFamily="2" charset="-122"/>
            </a:endParaRPr>
          </a:p>
          <a:p>
            <a:pPr algn="l" defTabSz="45720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en-US" altLang="zh-CN">
              <a:latin typeface="MS PMincho" panose="02020600040205080304" charset="-128"/>
              <a:ea typeface="宋体" panose="02010600030101010101" pitchFamily="2" charset="-122"/>
            </a:endParaRPr>
          </a:p>
          <a:p>
            <a:pPr algn="l" defTabSz="45720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en-US" altLang="zh-CN">
              <a:latin typeface="MS PMincho" panose="02020600040205080304" charset="-128"/>
              <a:ea typeface="宋体" panose="02010600030101010101" pitchFamily="2" charset="-122"/>
            </a:endParaRPr>
          </a:p>
          <a:p>
            <a:pPr algn="l" defTabSz="45720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en-US" altLang="zh-CN">
              <a:latin typeface="MS PMincho" panose="02020600040205080304" charset="-128"/>
              <a:ea typeface="宋体" panose="02010600030101010101" pitchFamily="2" charset="-122"/>
            </a:endParaRPr>
          </a:p>
          <a:p>
            <a:pPr algn="l" defTabSz="45720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en-US" altLang="zh-CN">
              <a:latin typeface="MS PMincho" panose="02020600040205080304" charset="-128"/>
              <a:ea typeface="宋体" panose="02010600030101010101" pitchFamily="2" charset="-122"/>
            </a:endParaRPr>
          </a:p>
          <a:p>
            <a:pPr algn="l" defTabSz="45720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en-US" altLang="zh-CN">
              <a:latin typeface="MS PMincho" panose="02020600040205080304" charset="-128"/>
              <a:ea typeface="MS PMincho" panose="02020600040205080304" charset="-128"/>
            </a:endParaRPr>
          </a:p>
          <a:p>
            <a:pPr algn="l" defTabSz="45720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en-US" altLang="zh-CN"/>
          </a:p>
          <a:p>
            <a:pPr algn="l" defTabSz="45720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en-US" altLang="zh-CN"/>
          </a:p>
        </p:txBody>
      </p:sp>
      <p:pic>
        <p:nvPicPr>
          <p:cNvPr id="4" name="图片 3" descr="Hand-nameV2-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5065" y="3234690"/>
            <a:ext cx="6188075" cy="275272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1_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4078</Words>
  <Application>WPS 演示</Application>
  <PresentationFormat>ワイド画面</PresentationFormat>
  <Paragraphs>187</Paragraphs>
  <Slides>10</Slides>
  <Notes>3</Notes>
  <HiddenSlides>0</HiddenSlides>
  <MMClips>2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Arial</vt:lpstr>
      <vt:lpstr>宋体</vt:lpstr>
      <vt:lpstr>Wingdings</vt:lpstr>
      <vt:lpstr>Calibri</vt:lpstr>
      <vt:lpstr>MS PMincho</vt:lpstr>
      <vt:lpstr>Wingdings</vt:lpstr>
      <vt:lpstr>Yu Gothic</vt:lpstr>
      <vt:lpstr>微软雅黑</vt:lpstr>
      <vt:lpstr>Arial Unicode MS</vt:lpstr>
      <vt:lpstr>Yu Gothic Light</vt:lpstr>
      <vt:lpstr>等线</vt:lpstr>
      <vt:lpstr>1_Office テーマ</vt:lpstr>
      <vt:lpstr>Development of vision-based myoelectric hand with object tracking function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25742102 ディシチン</dc:creator>
  <cp:lastModifiedBy>down down down down down</cp:lastModifiedBy>
  <cp:revision>88</cp:revision>
  <dcterms:created xsi:type="dcterms:W3CDTF">2025-05-10T07:41:00Z</dcterms:created>
  <dcterms:modified xsi:type="dcterms:W3CDTF">2025-07-30T11:52:39Z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0E634CF534D7483DB84EA17BA8B34D0D_12</vt:lpwstr>
  </property>
  <property fmtid="{D5CDD505-2E9C-101B-9397-08002B2CF9AE}" pid="3" name="KSOProductBuildVer">
    <vt:lpwstr>2052-12.1.0.21915</vt:lpwstr>
  </property>
</Properties>
</file>