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mp4" ContentType="video/mp4"/>
  <Default Extension="rels" ContentType="application/vnd.openxmlformats-package.relationship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0" r:id="rId3"/>
    <p:sldId id="338" r:id="rId5"/>
    <p:sldId id="330" r:id="rId6"/>
    <p:sldId id="341" r:id="rId7"/>
    <p:sldId id="332" r:id="rId8"/>
    <p:sldId id="350" r:id="rId9"/>
    <p:sldId id="340" r:id="rId10"/>
    <p:sldId id="352" r:id="rId11"/>
    <p:sldId id="333" r:id="rId12"/>
    <p:sldId id="334" r:id="rId13"/>
    <p:sldId id="335" r:id="rId14"/>
    <p:sldId id="317" r:id="rId15"/>
    <p:sldId id="351" r:id="rId16"/>
    <p:sldId id="343" r:id="rId17"/>
    <p:sldId id="345" r:id="rId1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0000"/>
    <a:srgbClr val="FADB32"/>
    <a:srgbClr val="FCCA73"/>
    <a:srgbClr val="F59E0B"/>
    <a:srgbClr val="14B8A6"/>
    <a:srgbClr val="FFD700"/>
    <a:srgbClr val="FFB66F"/>
    <a:srgbClr val="FFE1C3"/>
    <a:srgbClr val="FABA67"/>
    <a:srgbClr val="FCF3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customXml" Target="../customXml/item3.xml"/><Relationship Id="rId23" Type="http://schemas.openxmlformats.org/officeDocument/2006/relationships/customXml" Target="../customXml/item2.xml"/><Relationship Id="rId22" Type="http://schemas.openxmlformats.org/officeDocument/2006/relationships/customXml" Target="../customXml/item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Hello everyone im d, my research is ...</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Approximately 57.7 million people </a:t>
            </a:r>
            <a:r>
              <a:rPr lang="en-US" altLang="ja-JP">
                <a:sym typeface="+mn-ea"/>
              </a:rPr>
              <a:t>lost an</a:t>
            </a:r>
            <a:r>
              <a:rPr lang="en-US" altLang="zh-CN"/>
              <a:t> upper limb.</a:t>
            </a:r>
            <a:endParaRPr lang="en-US" altLang="zh-CN"/>
          </a:p>
          <a:p>
            <a:r>
              <a:rPr lang="en-US" altLang="zh-CN"/>
              <a:t>This significantly impacts their daily lives, so the prosthetic hand research aim to help them.</a:t>
            </a:r>
            <a:endParaRPr lang="en-US" altLang="zh-CN"/>
          </a:p>
          <a:p>
            <a:r>
              <a:rPr lang="en-US" altLang="ja-JP">
                <a:sym typeface="+mn-ea"/>
              </a:rPr>
              <a:t>With computational power and algorithms continue to advance, the prosthetic hand are able to recognize an increasing number of movements</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 the studies mentioned above, they all final movement decision is made using a classifier. This situation cause problems in real-world applications. When performed a mistaken movement, need to be corrected, currently the classifier cannot smooth transition between movements. For example, when need to grap diffrent object, they all using five finger, but the position of some finger have slight differences.</a:t>
            </a:r>
            <a:endParaRPr lang="en-US" altLang="zh-CN"/>
          </a:p>
          <a:p>
            <a:r>
              <a:rPr lang="en-US" altLang="zh-CN"/>
              <a:t>The adjustment is cant achieve by classifier. So In this study，i will use regression model to replace classifier model, the output will be continuous adjustment.</a:t>
            </a:r>
            <a:endParaRPr lang="en-US" altLang="zh-CN"/>
          </a:p>
          <a:p>
            <a:endParaRPr lang="en-US" altLang="zh-CN"/>
          </a:p>
          <a:p>
            <a:r>
              <a:rPr lang="en-US" altLang="zh-CN"/>
              <a:t>Secondly, In the above studies, as more accurate EMG signals are required, operaters need to pay attention more to generate accurate signals. in this study, will reduce the requirement of EMG. The operator only needs to perform two movement, opening hand, closing hand. more detailed control is handled by the system.</a:t>
            </a:r>
            <a:endParaRPr lang="en-US" altLang="zh-CN"/>
          </a:p>
          <a:p>
            <a:endParaRPr lang="en-US" altLang="zh-CN"/>
          </a:p>
          <a:p>
            <a:r>
              <a:rPr lang="en-US" altLang="zh-CN"/>
              <a:t>Furthermore, currently most prosthetic hand system use the modular approach. for example, in previous studies, system divided into a vision module and emg module. Each module being designed its own ability. This not only increases the complexity of the system, but also each module dont truly interact with another, this more like command passing.</a:t>
            </a:r>
            <a:endParaRPr lang="en-US" altLang="zh-CN"/>
          </a:p>
          <a:p>
            <a:r>
              <a:rPr lang="en-US" altLang="zh-CN"/>
              <a:t>so this study use end to end approach, the raw signal directly map the output, without manually intervening in the model's learning processing.</a:t>
            </a:r>
            <a:endParaRPr lang="en-US" altLang="zh-CN"/>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is the overall system architecture, system will use three type of sensor, currently i implement camera, they acquire its own data as input, after feature extaction and fusion, then map to the motor rotation angle that represent the opening angle of the gripper.</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Comparing with the previous vision module, can observe the feature of the end to end.</a:t>
            </a:r>
            <a:endParaRPr lang="en-US" altLang="zh-CN"/>
          </a:p>
          <a:p>
            <a:r>
              <a:rPr lang="en-US" altLang="zh-CN"/>
              <a:t>This is the process of previous vision module, after using yolo to object classification, need to manually defined rule, such as determining whether an object is target, and which grasping movement should be used. </a:t>
            </a:r>
            <a:endParaRPr lang="en-US" altLang="zh-CN"/>
          </a:p>
          <a:p>
            <a:r>
              <a:rPr lang="en-US" altLang="zh-CN"/>
              <a:t>and now, the end to end approach, can see the camera image directly map the output. other signals are same way.</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so in the system, collecting train data is important. this is collecting data video. when collecting, need operator manually control the gripper to grab object. in the gripper, there are 2 button to control open and close. and in the test will have 3 object of different size.</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so in the system, collecting train data is important. this is collecting data video. when collecting, need operator manually control the gripper to grab object. in the gripper, there are 2 button to control open and close. and in the test will have 3 object of different size.</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Comparing with the previous vision module, can observe the feature of the end to end.</a:t>
            </a:r>
            <a:endParaRPr lang="en-US" altLang="zh-CN"/>
          </a:p>
          <a:p>
            <a:r>
              <a:rPr lang="en-US" altLang="zh-CN"/>
              <a:t>This is the process of previous vision module, after using yolo to object classification, need to manually defined rule, such as determining whether an object is target, and which grasping movement should be used. </a:t>
            </a:r>
            <a:endParaRPr lang="en-US" altLang="zh-CN"/>
          </a:p>
          <a:p>
            <a:r>
              <a:rPr lang="en-US" altLang="zh-CN"/>
              <a:t>and now, the end to end approach, can see the camera image directly map the output. other signals are same way.</a:t>
            </a: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确认了同步时间</a:t>
            </a:r>
            <a:r>
              <a:rPr lang="en-US" altLang="zh-CN"/>
              <a:t>33ms</a:t>
            </a:r>
            <a:br>
              <a:rPr lang="en-US" altLang="zh-CN"/>
            </a:br>
            <a:r>
              <a:rPr lang="zh-CN" altLang="en-US"/>
              <a:t>尝试了几种融合策略，最终选择了这个</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Comparing with the previous vision module, can observe the feature of the end to end.</a:t>
            </a:r>
            <a:endParaRPr lang="en-US" altLang="zh-CN"/>
          </a:p>
          <a:p>
            <a:r>
              <a:rPr lang="en-US" altLang="zh-CN"/>
              <a:t>This is the process of previous vision module, after using yolo to object classification, need to manually defined rule, such as determining whether an object is target, and which grasping movement should be used. </a:t>
            </a:r>
            <a:endParaRPr lang="en-US" altLang="zh-CN"/>
          </a:p>
          <a:p>
            <a:r>
              <a:rPr lang="en-US" altLang="zh-CN"/>
              <a:t>and now, the end to end approach, can see the camera image directly map the output. other signals are same way.</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6286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46291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365126"/>
            <a:ext cx="78867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629842" y="2505075"/>
            <a:ext cx="3868340"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4629150" y="2505075"/>
            <a:ext cx="3887391"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205954" y="94797"/>
            <a:ext cx="7886700" cy="488889"/>
          </a:xfrm>
        </p:spPr>
        <p:txBody>
          <a:bodyPr>
            <a:normAutofit/>
          </a:bodyPr>
          <a:lstStyle>
            <a:lvl1pPr>
              <a:defRPr sz="2800"/>
            </a:lvl1p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cxnSp>
        <p:nvCxnSpPr>
          <p:cNvPr id="7" name="直線コネクタ 6"/>
          <p:cNvCxnSpPr/>
          <p:nvPr userDrawn="1"/>
        </p:nvCxnSpPr>
        <p:spPr>
          <a:xfrm>
            <a:off x="171450" y="94086"/>
            <a:ext cx="0" cy="489600"/>
          </a:xfrm>
          <a:prstGeom prst="line">
            <a:avLst/>
          </a:prstGeom>
          <a:ln w="5715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 name="スライド番号プレースホルダー 4"/>
          <p:cNvSpPr>
            <a:spLocks noGrp="1"/>
          </p:cNvSpPr>
          <p:nvPr>
            <p:ph type="sldNum" sz="quarter" idx="12"/>
          </p:nvPr>
        </p:nvSpPr>
        <p:spPr>
          <a:xfrm>
            <a:off x="7063954" y="6574305"/>
            <a:ext cx="2057400" cy="365125"/>
          </a:xfrm>
        </p:spPr>
        <p:txBody>
          <a:bodyPr/>
          <a:lstStyle>
            <a:lvl1pPr>
              <a:defRPr sz="1400">
                <a:solidFill>
                  <a:schemeClr val="accent1">
                    <a:lumMod val="75000"/>
                  </a:schemeClr>
                </a:solidFill>
              </a:defRPr>
            </a:lvl1pPr>
          </a:lstStyle>
          <a:p>
            <a:fld id="{6F00E456-75B8-4C92-99E8-A0CAB60115A8}" type="slidenum">
              <a:rPr lang="ja-JP" altLang="en-US" smtClean="0"/>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43675" y="365125"/>
            <a:ext cx="1971675"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F00E456-75B8-4C92-99E8-A0CAB60115A8}"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5" Type="http://schemas.openxmlformats.org/officeDocument/2006/relationships/notesSlide" Target="../notesSlides/notesSlide4.xml"/><Relationship Id="rId54" Type="http://schemas.openxmlformats.org/officeDocument/2006/relationships/slideLayout" Target="../slideLayouts/slideLayout2.xml"/><Relationship Id="rId53" Type="http://schemas.openxmlformats.org/officeDocument/2006/relationships/tags" Target="../tags/tag51.xml"/><Relationship Id="rId52" Type="http://schemas.openxmlformats.org/officeDocument/2006/relationships/tags" Target="../tags/tag50.xml"/><Relationship Id="rId51" Type="http://schemas.openxmlformats.org/officeDocument/2006/relationships/tags" Target="../tags/tag49.xml"/><Relationship Id="rId50" Type="http://schemas.openxmlformats.org/officeDocument/2006/relationships/tags" Target="../tags/tag48.xml"/><Relationship Id="rId5" Type="http://schemas.openxmlformats.org/officeDocument/2006/relationships/tags" Target="../tags/tag5.xml"/><Relationship Id="rId49" Type="http://schemas.openxmlformats.org/officeDocument/2006/relationships/tags" Target="../tags/tag47.xml"/><Relationship Id="rId48" Type="http://schemas.openxmlformats.org/officeDocument/2006/relationships/tags" Target="../tags/tag46.xml"/><Relationship Id="rId47" Type="http://schemas.openxmlformats.org/officeDocument/2006/relationships/tags" Target="../tags/tag45.xml"/><Relationship Id="rId46" Type="http://schemas.openxmlformats.org/officeDocument/2006/relationships/tags" Target="../tags/tag44.xml"/><Relationship Id="rId45" Type="http://schemas.openxmlformats.org/officeDocument/2006/relationships/tags" Target="../tags/tag43.xml"/><Relationship Id="rId44" Type="http://schemas.openxmlformats.org/officeDocument/2006/relationships/tags" Target="../tags/tag42.xml"/><Relationship Id="rId43" Type="http://schemas.openxmlformats.org/officeDocument/2006/relationships/tags" Target="../tags/tag41.xml"/><Relationship Id="rId42" Type="http://schemas.openxmlformats.org/officeDocument/2006/relationships/tags" Target="../tags/tag40.xml"/><Relationship Id="rId41" Type="http://schemas.openxmlformats.org/officeDocument/2006/relationships/tags" Target="../tags/tag39.xml"/><Relationship Id="rId40" Type="http://schemas.openxmlformats.org/officeDocument/2006/relationships/tags" Target="../tags/tag38.xml"/><Relationship Id="rId4" Type="http://schemas.openxmlformats.org/officeDocument/2006/relationships/tags" Target="../tags/tag4.xml"/><Relationship Id="rId39" Type="http://schemas.openxmlformats.org/officeDocument/2006/relationships/tags" Target="../tags/tag37.xml"/><Relationship Id="rId38" Type="http://schemas.openxmlformats.org/officeDocument/2006/relationships/tags" Target="../tags/tag36.xml"/><Relationship Id="rId37" Type="http://schemas.openxmlformats.org/officeDocument/2006/relationships/tags" Target="../tags/tag35.xml"/><Relationship Id="rId36" Type="http://schemas.openxmlformats.org/officeDocument/2006/relationships/tags" Target="../tags/tag34.xml"/><Relationship Id="rId35" Type="http://schemas.openxmlformats.org/officeDocument/2006/relationships/image" Target="../media/image10.png"/><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3.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9" Type="http://schemas.openxmlformats.org/officeDocument/2006/relationships/image" Target="../media/image12.jpeg"/><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image" Target="../media/image11.png"/><Relationship Id="rId3" Type="http://schemas.openxmlformats.org/officeDocument/2006/relationships/tags" Target="../tags/tag54.xml"/><Relationship Id="rId2" Type="http://schemas.openxmlformats.org/officeDocument/2006/relationships/tags" Target="../tags/tag53.xml"/><Relationship Id="rId19" Type="http://schemas.openxmlformats.org/officeDocument/2006/relationships/notesSlide" Target="../notesSlides/notesSlide5.xml"/><Relationship Id="rId18" Type="http://schemas.openxmlformats.org/officeDocument/2006/relationships/slideLayout" Target="../slideLayouts/slideLayout2.xml"/><Relationship Id="rId17" Type="http://schemas.openxmlformats.org/officeDocument/2006/relationships/image" Target="../media/image14.jpeg"/><Relationship Id="rId16" Type="http://schemas.openxmlformats.org/officeDocument/2006/relationships/tags" Target="../tags/tag64.xml"/><Relationship Id="rId15" Type="http://schemas.openxmlformats.org/officeDocument/2006/relationships/tags" Target="../tags/tag63.xml"/><Relationship Id="rId14" Type="http://schemas.openxmlformats.org/officeDocument/2006/relationships/tags" Target="../tags/tag62.xml"/><Relationship Id="rId13" Type="http://schemas.openxmlformats.org/officeDocument/2006/relationships/image" Target="../media/image13.jpeg"/><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2" Type="http://schemas.openxmlformats.org/officeDocument/2006/relationships/notesSlide" Target="../notesSlides/notesSlide6.xml"/><Relationship Id="rId11" Type="http://schemas.openxmlformats.org/officeDocument/2006/relationships/slideLayout" Target="../slideLayouts/slideLayout2.xml"/><Relationship Id="rId10" Type="http://schemas.openxmlformats.org/officeDocument/2006/relationships/tags" Target="../tags/tag74.xml"/><Relationship Id="rId1" Type="http://schemas.openxmlformats.org/officeDocument/2006/relationships/tags" Target="../tags/tag65.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6.png"/><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7.png"/><Relationship Id="rId2" Type="http://schemas.microsoft.com/office/2007/relationships/media" Target="../media/media2.mp4"/><Relationship Id="rId1" Type="http://schemas.openxmlformats.org/officeDocument/2006/relationships/video" Target="../media/media2.mp4"/></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3.png"/><Relationship Id="rId7" Type="http://schemas.openxmlformats.org/officeDocument/2006/relationships/tags" Target="../tags/tag76.xml"/><Relationship Id="rId6" Type="http://schemas.openxmlformats.org/officeDocument/2006/relationships/image" Target="../media/image22.png"/><Relationship Id="rId5" Type="http://schemas.openxmlformats.org/officeDocument/2006/relationships/tags" Target="../tags/tag75.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svg"/><Relationship Id="rId10" Type="http://schemas.openxmlformats.org/officeDocument/2006/relationships/notesSlide" Target="../notesSlides/notesSlide9.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4" Type="http://schemas.openxmlformats.org/officeDocument/2006/relationships/notesSlide" Target="../notesSlides/notesSlide12.xml"/><Relationship Id="rId13" Type="http://schemas.openxmlformats.org/officeDocument/2006/relationships/slideLayout" Target="../slideLayouts/slideLayout2.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tags" Target="../tags/tag77.xml"/></Relationships>
</file>

<file path=ppt/slides/_rels/slide14.xml.rels><?xml version="1.0" encoding="UTF-8" standalone="yes"?>
<Relationships xmlns="http://schemas.openxmlformats.org/package/2006/relationships"><Relationship Id="rId9" Type="http://schemas.openxmlformats.org/officeDocument/2006/relationships/image" Target="../media/image12.jpeg"/><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image" Target="../media/image11.png"/><Relationship Id="rId3" Type="http://schemas.openxmlformats.org/officeDocument/2006/relationships/tags" Target="../tags/tag91.xml"/><Relationship Id="rId2" Type="http://schemas.openxmlformats.org/officeDocument/2006/relationships/tags" Target="../tags/tag90.xml"/><Relationship Id="rId14" Type="http://schemas.openxmlformats.org/officeDocument/2006/relationships/notesSlide" Target="../notesSlides/notesSlide13.xml"/><Relationship Id="rId13" Type="http://schemas.openxmlformats.org/officeDocument/2006/relationships/slideLayout" Target="../slideLayouts/slideLayout2.xml"/><Relationship Id="rId12" Type="http://schemas.openxmlformats.org/officeDocument/2006/relationships/image" Target="../media/image14.jpeg"/><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tags" Target="../tags/tag89.xml"/></Relationships>
</file>

<file path=ppt/slides/_rels/slide15.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image" Target="../media/image29.jpeg"/><Relationship Id="rId7" Type="http://schemas.openxmlformats.org/officeDocument/2006/relationships/image" Target="../media/image28.jpeg"/><Relationship Id="rId6" Type="http://schemas.openxmlformats.org/officeDocument/2006/relationships/image" Target="../media/image27.png"/><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1" Type="http://schemas.openxmlformats.org/officeDocument/2006/relationships/notesSlide" Target="../notesSlides/notesSlide14.xml"/><Relationship Id="rId10" Type="http://schemas.openxmlformats.org/officeDocument/2006/relationships/slideLayout" Target="../slideLayouts/slideLayout2.xml"/><Relationship Id="rId1" Type="http://schemas.openxmlformats.org/officeDocument/2006/relationships/tags" Target="../tags/tag9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4530" y="1016635"/>
            <a:ext cx="7775575" cy="1522730"/>
          </a:xfrm>
        </p:spPr>
        <p:txBody>
          <a:bodyPr vert="horz" anchor="ctr" anchorCtr="1">
            <a:noAutofit/>
          </a:bodyPr>
          <a:lstStyle/>
          <a:p>
            <a:pPr algn="ctr"/>
            <a:r>
              <a:rPr kumimoji="1" lang="en-US" altLang="zh-CN" sz="3200" dirty="0">
                <a:cs typeface="+mj-lt"/>
              </a:rPr>
              <a:t>End-to-End Multimodal Learning for Continuous Prosthetic Hand Control</a:t>
            </a:r>
            <a:endParaRPr kumimoji="1" lang="en-US" altLang="zh-CN" sz="3200" dirty="0">
              <a:cs typeface="+mj-lt"/>
            </a:endParaRPr>
          </a:p>
        </p:txBody>
      </p:sp>
      <p:sp>
        <p:nvSpPr>
          <p:cNvPr id="5" name="テキスト ボックス 4"/>
          <p:cNvSpPr txBox="1"/>
          <p:nvPr/>
        </p:nvSpPr>
        <p:spPr>
          <a:xfrm>
            <a:off x="684530" y="4070350"/>
            <a:ext cx="7775575" cy="1550670"/>
          </a:xfrm>
          <a:prstGeom prst="rect">
            <a:avLst/>
          </a:prstGeom>
          <a:noFill/>
        </p:spPr>
        <p:txBody>
          <a:bodyPr wrap="square">
            <a:noAutofit/>
          </a:bodyPr>
          <a:lstStyle/>
          <a:p>
            <a:pPr algn="ctr"/>
            <a:r>
              <a:rPr lang="en-US" sz="2000">
                <a:solidFill>
                  <a:srgbClr val="000000"/>
                </a:solidFill>
                <a:effectLst/>
                <a:latin typeface="Times New Roman" panose="02020603050405020304" charset="0"/>
                <a:cs typeface="Times New Roman" panose="02020603050405020304" charset="0"/>
                <a:sym typeface="+mn-ea"/>
              </a:rPr>
              <a:t>Saga</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University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Graduate</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School of Science and Engineering​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altLang="zh-CN" sz="2000" dirty="0">
                <a:solidFill>
                  <a:srgbClr val="000000"/>
                </a:solidFill>
                <a:latin typeface="+mj-lt"/>
                <a:cs typeface="+mj-lt"/>
                <a:sym typeface="+mn-ea"/>
              </a:rPr>
              <a:t>Computer Science &amp; Information Techology</a:t>
            </a:r>
            <a:r>
              <a:rPr lang="en-US" sz="2000">
                <a:solidFill>
                  <a:srgbClr val="000000"/>
                </a:solidFill>
                <a:effectLst/>
                <a:latin typeface="Times New Roman" panose="02020603050405020304" charset="0"/>
                <a:cs typeface="Times New Roman" panose="02020603050405020304" charset="0"/>
                <a:sym typeface="+mn-ea"/>
              </a:rPr>
              <a:t> Course​</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Fukuda</a:t>
            </a:r>
            <a:r>
              <a:rPr lang="en-US" sz="2000">
                <a:solidFill>
                  <a:srgbClr val="000000"/>
                </a:solidFill>
                <a:latin typeface="Times New Roman" panose="02020603050405020304" charset="0"/>
                <a:cs typeface="Times New Roman" panose="02020603050405020304" charset="0"/>
                <a:sym typeface="+mn-ea"/>
              </a:rPr>
              <a:t> </a:t>
            </a:r>
            <a:r>
              <a:rPr lang="en-US" sz="2000">
                <a:solidFill>
                  <a:srgbClr val="000000"/>
                </a:solidFill>
                <a:effectLst/>
                <a:latin typeface="Times New Roman" panose="02020603050405020304" charset="0"/>
                <a:cs typeface="Times New Roman" panose="02020603050405020304" charset="0"/>
                <a:sym typeface="+mn-ea"/>
              </a:rPr>
              <a:t>Laboratory</a:t>
            </a:r>
            <a:r>
              <a:rPr lang="ja-JP" sz="2000">
                <a:solidFill>
                  <a:srgbClr val="000000"/>
                </a:solidFill>
                <a:effectLst/>
                <a:latin typeface="Times New Roman" panose="02020603050405020304" charset="0"/>
                <a:ea typeface="Source Han Sans JP Bold"/>
                <a:cs typeface="Times New Roman" panose="02020603050405020304" charset="0"/>
                <a:sym typeface="+mn-ea"/>
              </a:rPr>
              <a:t>　</a:t>
            </a:r>
            <a:r>
              <a:rPr lang="en-US" altLang="ja-JP" sz="2000" dirty="0">
                <a:solidFill>
                  <a:srgbClr val="000000"/>
                </a:solidFill>
                <a:effectLst/>
                <a:latin typeface="+mj-lt"/>
                <a:cs typeface="+mj-lt"/>
                <a:sym typeface="+mn-ea"/>
              </a:rPr>
              <a:t>25742102 DI XIQING</a:t>
            </a:r>
            <a:endParaRPr lang="en-US" sz="2000" b="0" i="0">
              <a:solidFill>
                <a:srgbClr val="000000"/>
              </a:solidFill>
              <a:effectLst/>
              <a:latin typeface="Times New Roman" panose="02020603050405020304" charset="0"/>
              <a:cs typeface="Times New Roman" panose="02020603050405020304" charset="0"/>
            </a:endParaRPr>
          </a:p>
          <a:p>
            <a:pPr algn="ctr" rtl="0" fontAlgn="base"/>
            <a:r>
              <a:rPr lang="en-US" sz="2000">
                <a:solidFill>
                  <a:srgbClr val="000000"/>
                </a:solidFill>
                <a:effectLst/>
                <a:latin typeface="Times New Roman" panose="02020603050405020304" charset="0"/>
                <a:cs typeface="Times New Roman" panose="02020603050405020304" charset="0"/>
                <a:sym typeface="+mn-ea"/>
              </a:rPr>
              <a:t>Supervisor: </a:t>
            </a:r>
            <a:r>
              <a:rPr lang="en-US" altLang="ja-JP" sz="2000">
                <a:solidFill>
                  <a:srgbClr val="000000"/>
                </a:solidFill>
                <a:effectLst/>
                <a:latin typeface="Times New Roman" panose="02020603050405020304" charset="0"/>
                <a:ea typeface="Source Han Sans JP Bold"/>
                <a:cs typeface="Times New Roman" panose="02020603050405020304" charset="0"/>
                <a:sym typeface="+mn-ea"/>
              </a:rPr>
              <a:t>Professor </a:t>
            </a:r>
            <a:r>
              <a:rPr lang="en-US" sz="2000">
                <a:solidFill>
                  <a:srgbClr val="000000"/>
                </a:solidFill>
                <a:effectLst/>
                <a:latin typeface="Times New Roman" panose="02020603050405020304" charset="0"/>
                <a:cs typeface="Times New Roman" panose="02020603050405020304" charset="0"/>
                <a:sym typeface="+mn-ea"/>
              </a:rPr>
              <a:t>Osamu Fukuda</a:t>
            </a:r>
            <a:endParaRPr lang="ja-JP" sz="2000" b="0" i="0">
              <a:solidFill>
                <a:srgbClr val="000000"/>
              </a:solidFill>
              <a:effectLst/>
              <a:latin typeface="Times New Roman" panose="02020603050405020304" charset="0"/>
              <a:cs typeface="Times New Roman" panose="02020603050405020304" charset="0"/>
            </a:endParaRPr>
          </a:p>
          <a:p>
            <a:pPr algn="ctr"/>
            <a:endParaRPr lang="en-US" altLang="ja-JP" sz="2000" dirty="0">
              <a:solidFill>
                <a:srgbClr val="000000"/>
              </a:solidFill>
              <a:latin typeface="+mj-lt"/>
              <a:cs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 name="组合 13"/>
          <p:cNvGrpSpPr/>
          <p:nvPr/>
        </p:nvGrpSpPr>
        <p:grpSpPr>
          <a:xfrm rot="0">
            <a:off x="368935" y="3584575"/>
            <a:ext cx="3133090" cy="1705610"/>
            <a:chOff x="217" y="1346"/>
            <a:chExt cx="5557" cy="3794"/>
          </a:xfrm>
        </p:grpSpPr>
        <p:pic>
          <p:nvPicPr>
            <p:cNvPr id="11" name="图片 10" descr="microchip"/>
            <p:cNvPicPr>
              <a:picLocks noChangeAspect="1"/>
            </p:cNvPicPr>
            <p:nvPr/>
          </p:nvPicPr>
          <p:blipFill>
            <a:blip r:embed="rId1"/>
            <a:stretch>
              <a:fillRect/>
            </a:stretch>
          </p:blipFill>
          <p:spPr>
            <a:xfrm>
              <a:off x="3592" y="2152"/>
              <a:ext cx="2183" cy="2183"/>
            </a:xfrm>
            <a:prstGeom prst="rect">
              <a:avLst/>
            </a:prstGeom>
          </p:spPr>
        </p:pic>
        <p:pic>
          <p:nvPicPr>
            <p:cNvPr id="13" name="图片 12" descr="15b54b71-e4a1-4e40-8e4a-e87d225c2b09323123321323133321"/>
            <p:cNvPicPr>
              <a:picLocks noChangeAspect="1"/>
            </p:cNvPicPr>
            <p:nvPr/>
          </p:nvPicPr>
          <p:blipFill>
            <a:blip r:embed="rId2"/>
            <a:stretch>
              <a:fillRect/>
            </a:stretch>
          </p:blipFill>
          <p:spPr>
            <a:xfrm>
              <a:off x="217" y="1346"/>
              <a:ext cx="3375" cy="3795"/>
            </a:xfrm>
            <a:prstGeom prst="rect">
              <a:avLst/>
            </a:prstGeom>
          </p:spPr>
        </p:pic>
      </p:grpSp>
      <p:sp>
        <p:nvSpPr>
          <p:cNvPr id="6" name="文本框 5"/>
          <p:cNvSpPr txBox="1"/>
          <p:nvPr/>
        </p:nvSpPr>
        <p:spPr>
          <a:xfrm>
            <a:off x="220980" y="226695"/>
            <a:ext cx="8717915" cy="583565"/>
          </a:xfrm>
          <a:prstGeom prst="rect">
            <a:avLst/>
          </a:prstGeom>
          <a:noFill/>
        </p:spPr>
        <p:txBody>
          <a:bodyPr wrap="square" rtlCol="0">
            <a:spAutoFit/>
          </a:bodyPr>
          <a:p>
            <a:r>
              <a:rPr lang="en-US" altLang="zh-CN" sz="3200" b="1">
                <a:latin typeface="Times New Roman" panose="02020603050405020304" charset="0"/>
                <a:ea typeface="SimSun" panose="02010600030101010101" pitchFamily="2" charset="-122"/>
                <a:cs typeface="Times New Roman" panose="02020603050405020304" charset="0"/>
              </a:rPr>
              <a:t>Background</a:t>
            </a:r>
            <a:endParaRPr lang="en-US" altLang="zh-CN" sz="3200" b="1">
              <a:latin typeface="Times New Roman" panose="02020603050405020304" charset="0"/>
              <a:ea typeface="SimSun" panose="02010600030101010101" pitchFamily="2" charset="-122"/>
              <a:cs typeface="Times New Roman" panose="02020603050405020304" charset="0"/>
            </a:endParaRPr>
          </a:p>
        </p:txBody>
      </p:sp>
      <p:pic>
        <p:nvPicPr>
          <p:cNvPr id="15" name="图片 14" descr="15b54b71-e4a1-4e40-8e4a-e87d225c2b0932312332111"/>
          <p:cNvPicPr>
            <a:picLocks noChangeAspect="1"/>
          </p:cNvPicPr>
          <p:nvPr/>
        </p:nvPicPr>
        <p:blipFill>
          <a:blip r:embed="rId3"/>
          <a:stretch>
            <a:fillRect/>
          </a:stretch>
        </p:blipFill>
        <p:spPr>
          <a:xfrm>
            <a:off x="726440" y="5209540"/>
            <a:ext cx="2853055" cy="1280160"/>
          </a:xfrm>
          <a:prstGeom prst="rect">
            <a:avLst/>
          </a:prstGeom>
        </p:spPr>
      </p:pic>
      <p:sp>
        <p:nvSpPr>
          <p:cNvPr id="2" name="文本框 1"/>
          <p:cNvSpPr txBox="1"/>
          <p:nvPr/>
        </p:nvSpPr>
        <p:spPr>
          <a:xfrm>
            <a:off x="220980" y="1521460"/>
            <a:ext cx="3462020" cy="762000"/>
          </a:xfrm>
          <a:prstGeom prst="rect">
            <a:avLst/>
          </a:prstGeom>
        </p:spPr>
        <p:txBody>
          <a:bodyPr wrap="square">
            <a:noAutofit/>
          </a:bodyPr>
          <a:p>
            <a:pPr algn="ctr"/>
            <a:r>
              <a:rPr lang="en-US" altLang="ja-JP" sz="2400">
                <a:solidFill>
                  <a:srgbClr val="FF0000"/>
                </a:solidFill>
              </a:rPr>
              <a:t>57.7 million</a:t>
            </a:r>
            <a:r>
              <a:rPr lang="en-US" altLang="ja-JP" sz="1600"/>
              <a:t>  </a:t>
            </a:r>
            <a:r>
              <a:rPr lang="en-US" altLang="ja-JP"/>
              <a:t>people in world</a:t>
            </a:r>
            <a:endParaRPr lang="en-US" altLang="ja-JP"/>
          </a:p>
          <a:p>
            <a:pPr algn="ctr"/>
            <a:r>
              <a:rPr lang="en-US" altLang="ja-JP"/>
              <a:t>who had lost an upper limb</a:t>
            </a:r>
            <a:r>
              <a:rPr lang="en-US" altLang="ja-JP" sz="1600"/>
              <a:t> [1]</a:t>
            </a:r>
            <a:endParaRPr lang="en-US" altLang="ja-JP" sz="1600"/>
          </a:p>
          <a:p>
            <a:pPr algn="ctr"/>
            <a:endParaRPr lang="en-US" altLang="zh-CN" sz="1600"/>
          </a:p>
        </p:txBody>
      </p:sp>
      <p:pic>
        <p:nvPicPr>
          <p:cNvPr id="3" name="图片 2" descr="unnamed (1)"/>
          <p:cNvPicPr>
            <a:picLocks noChangeAspect="1"/>
          </p:cNvPicPr>
          <p:nvPr/>
        </p:nvPicPr>
        <p:blipFill>
          <a:blip r:embed="rId4"/>
          <a:stretch>
            <a:fillRect/>
          </a:stretch>
        </p:blipFill>
        <p:spPr>
          <a:xfrm>
            <a:off x="3834130" y="922020"/>
            <a:ext cx="4923790" cy="1918970"/>
          </a:xfrm>
          <a:prstGeom prst="rect">
            <a:avLst/>
          </a:prstGeom>
        </p:spPr>
      </p:pic>
      <p:pic>
        <p:nvPicPr>
          <p:cNvPr id="34" name="图片 33" descr="12916ba5-8dba-4f77-a3e2-01ea3b57ab82123321"/>
          <p:cNvPicPr>
            <a:picLocks noChangeAspect="1"/>
          </p:cNvPicPr>
          <p:nvPr/>
        </p:nvPicPr>
        <p:blipFill>
          <a:blip r:embed="rId5"/>
          <a:stretch>
            <a:fillRect/>
          </a:stretch>
        </p:blipFill>
        <p:spPr>
          <a:xfrm>
            <a:off x="6102350" y="3853815"/>
            <a:ext cx="2457450" cy="2635885"/>
          </a:xfrm>
          <a:prstGeom prst="rect">
            <a:avLst/>
          </a:prstGeom>
        </p:spPr>
      </p:pic>
      <p:sp>
        <p:nvSpPr>
          <p:cNvPr id="4" name="文本框 3"/>
          <p:cNvSpPr txBox="1"/>
          <p:nvPr/>
        </p:nvSpPr>
        <p:spPr>
          <a:xfrm>
            <a:off x="368935" y="3112135"/>
            <a:ext cx="8719185" cy="645160"/>
          </a:xfrm>
          <a:prstGeom prst="rect">
            <a:avLst/>
          </a:prstGeom>
          <a:noFill/>
        </p:spPr>
        <p:txBody>
          <a:bodyPr wrap="square" rtlCol="0" anchor="t">
            <a:spAutoFit/>
          </a:bodyPr>
          <a:p>
            <a:r>
              <a:rPr lang="en-US" altLang="ja-JP">
                <a:sym typeface="+mn-ea"/>
              </a:rPr>
              <a:t>Computational power and algorithms continue to advance, the prosthetic hand are able to recognize an increasing number of movements [2]</a:t>
            </a:r>
            <a:endParaRPr lang="en-US" altLang="ja-JP">
              <a:sym typeface="+mn-ea"/>
            </a:endParaRPr>
          </a:p>
        </p:txBody>
      </p:sp>
      <p:grpSp>
        <p:nvGrpSpPr>
          <p:cNvPr id="9" name="组合 8"/>
          <p:cNvGrpSpPr/>
          <p:nvPr/>
        </p:nvGrpSpPr>
        <p:grpSpPr>
          <a:xfrm>
            <a:off x="4363720" y="4107180"/>
            <a:ext cx="1193800" cy="1993265"/>
            <a:chOff x="6872" y="6468"/>
            <a:chExt cx="1880" cy="3139"/>
          </a:xfrm>
        </p:grpSpPr>
        <p:pic>
          <p:nvPicPr>
            <p:cNvPr id="5" name="图片 4" descr="arrows"/>
            <p:cNvPicPr>
              <a:picLocks noChangeAspect="1"/>
            </p:cNvPicPr>
            <p:nvPr/>
          </p:nvPicPr>
          <p:blipFill>
            <a:blip r:embed="rId6"/>
            <a:stretch>
              <a:fillRect/>
            </a:stretch>
          </p:blipFill>
          <p:spPr>
            <a:xfrm>
              <a:off x="6872" y="6468"/>
              <a:ext cx="1880" cy="1880"/>
            </a:xfrm>
            <a:prstGeom prst="rect">
              <a:avLst/>
            </a:prstGeom>
          </p:spPr>
        </p:pic>
        <p:pic>
          <p:nvPicPr>
            <p:cNvPr id="8" name="图片 7" descr="arrows"/>
            <p:cNvPicPr>
              <a:picLocks noChangeAspect="1"/>
            </p:cNvPicPr>
            <p:nvPr/>
          </p:nvPicPr>
          <p:blipFill>
            <a:blip r:embed="rId6"/>
            <a:stretch>
              <a:fillRect/>
            </a:stretch>
          </p:blipFill>
          <p:spPr>
            <a:xfrm>
              <a:off x="6872" y="7761"/>
              <a:ext cx="1847" cy="1847"/>
            </a:xfrm>
            <a:prstGeom prst="rect">
              <a:avLst/>
            </a:prstGeom>
          </p:spPr>
        </p:pic>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1595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Related</a:t>
            </a:r>
            <a:r>
              <a:rPr lang="en-US" altLang="zh-CN" sz="3200" b="1">
                <a:latin typeface="Times New Roman" panose="02020603050405020304" charset="0"/>
                <a:ea typeface="SimSun" panose="02010600030101010101" pitchFamily="2" charset="-122"/>
                <a:cs typeface="Times New Roman" panose="02020603050405020304" charset="0"/>
                <a:sym typeface="+mn-ea"/>
              </a:rPr>
              <a:t> Study</a:t>
            </a:r>
            <a:endParaRPr lang="en-US" altLang="zh-CN" sz="3200" b="1">
              <a:latin typeface="Times New Roman" panose="02020603050405020304" charset="0"/>
              <a:ea typeface="SimSun" panose="02010600030101010101" pitchFamily="2" charset="-122"/>
              <a:cs typeface="Times New Roman" panose="02020603050405020304" charset="0"/>
            </a:endParaRPr>
          </a:p>
          <a:p>
            <a:endParaRPr lang="en-US" altLang="zh-CN" sz="3200" b="1">
              <a:latin typeface="Times New Roman" panose="02020603050405020304" charset="0"/>
              <a:ea typeface="SimSun" panose="02010600030101010101" pitchFamily="2" charset="-122"/>
              <a:cs typeface="Times New Roman" panose="02020603050405020304" charset="0"/>
            </a:endParaRPr>
          </a:p>
        </p:txBody>
      </p:sp>
      <p:cxnSp>
        <p:nvCxnSpPr>
          <p:cNvPr id="21" name="直接连接符 20"/>
          <p:cNvCxnSpPr/>
          <p:nvPr/>
        </p:nvCxnSpPr>
        <p:spPr>
          <a:xfrm flipH="1">
            <a:off x="220980" y="4066540"/>
            <a:ext cx="8651875" cy="50165"/>
          </a:xfrm>
          <a:prstGeom prst="line">
            <a:avLst/>
          </a:prstGeom>
          <a:ln w="6350" cmpd="sng">
            <a:solidFill>
              <a:srgbClr val="002060"/>
            </a:solidFill>
            <a:prstDash val="dash"/>
          </a:ln>
        </p:spPr>
        <p:style>
          <a:lnRef idx="2">
            <a:schemeClr val="accent1"/>
          </a:lnRef>
          <a:fillRef idx="0">
            <a:schemeClr val="accent1"/>
          </a:fillRef>
          <a:effectRef idx="1">
            <a:schemeClr val="accent1"/>
          </a:effectRef>
          <a:fontRef idx="minor">
            <a:schemeClr val="tx1"/>
          </a:fontRef>
        </p:style>
      </p:cxnSp>
      <p:sp>
        <p:nvSpPr>
          <p:cNvPr id="7" name="文本框 6"/>
          <p:cNvSpPr txBox="1"/>
          <p:nvPr/>
        </p:nvSpPr>
        <p:spPr>
          <a:xfrm>
            <a:off x="5615305" y="1383665"/>
            <a:ext cx="3528695" cy="2030095"/>
          </a:xfrm>
          <a:prstGeom prst="rect">
            <a:avLst/>
          </a:prstGeom>
        </p:spPr>
        <p:txBody>
          <a:bodyPr wrap="square">
            <a:spAutoFit/>
          </a:bodyPr>
          <a:p>
            <a:pPr algn="ctr"/>
            <a:r>
              <a:rPr lang="en-US" altLang="zh-CN">
                <a:sym typeface="+mn-ea"/>
              </a:rPr>
              <a:t>V</a:t>
            </a:r>
            <a:r>
              <a:rPr lang="en-US" altLang="en-US">
                <a:sym typeface="+mn-ea"/>
              </a:rPr>
              <a:t>á</a:t>
            </a:r>
            <a:r>
              <a:rPr lang="en-US" altLang="zh-CN">
                <a:sym typeface="+mn-ea"/>
              </a:rPr>
              <a:t>sconez</a:t>
            </a:r>
            <a:r>
              <a:rPr lang="en-US" altLang="zh-CN">
                <a:latin typeface="+mj-lt"/>
                <a:cs typeface="+mj-lt"/>
              </a:rPr>
              <a:t> et al. proposed</a:t>
            </a:r>
            <a:endParaRPr lang="ja-JP" altLang="en-US">
              <a:latin typeface="+mj-lt"/>
              <a:cs typeface="+mj-lt"/>
            </a:endParaRPr>
          </a:p>
          <a:p>
            <a:pPr algn="ctr"/>
            <a:endParaRPr lang="ja-JP" altLang="en-US">
              <a:latin typeface="+mj-lt"/>
              <a:cs typeface="+mj-lt"/>
            </a:endParaRPr>
          </a:p>
          <a:p>
            <a:pPr algn="ctr"/>
            <a:r>
              <a:rPr lang="en-US" altLang="zh-CN">
                <a:latin typeface="+mj-lt"/>
                <a:cs typeface="+mj-lt"/>
              </a:rPr>
              <a:t>EMG + </a:t>
            </a:r>
            <a:r>
              <a:rPr lang="en-US" altLang="ja-JP">
                <a:latin typeface="+mj-lt"/>
                <a:cs typeface="+mj-lt"/>
                <a:sym typeface="+mn-ea"/>
              </a:rPr>
              <a:t>IMU</a:t>
            </a:r>
            <a:endParaRPr lang="en-US" altLang="ja-JP">
              <a:latin typeface="+mj-lt"/>
              <a:cs typeface="+mj-lt"/>
              <a:sym typeface="+mn-ea"/>
            </a:endParaRPr>
          </a:p>
          <a:p>
            <a:pPr algn="ctr"/>
            <a:r>
              <a:rPr lang="en-US" altLang="zh-CN">
                <a:latin typeface="+mj-lt"/>
                <a:cs typeface="+mj-lt"/>
              </a:rPr>
              <a:t>Deep reinforcement learning model</a:t>
            </a:r>
            <a:endParaRPr lang="en-US" altLang="zh-CN">
              <a:latin typeface="+mj-lt"/>
              <a:cs typeface="+mj-lt"/>
            </a:endParaRPr>
          </a:p>
          <a:p>
            <a:pPr algn="ctr"/>
            <a:endParaRPr lang="ja-JP" altLang="en-US">
              <a:latin typeface="+mj-lt"/>
              <a:cs typeface="+mj-lt"/>
            </a:endParaRPr>
          </a:p>
          <a:p>
            <a:pPr algn="ctr"/>
            <a:r>
              <a:rPr lang="en-US" altLang="zh-CN">
                <a:latin typeface="+mj-lt"/>
                <a:cs typeface="+mj-lt"/>
                <a:sym typeface="+mn-ea"/>
              </a:rPr>
              <a:t>11 movements</a:t>
            </a:r>
            <a:endParaRPr lang="en-US" altLang="zh-CN">
              <a:latin typeface="+mj-lt"/>
              <a:cs typeface="+mj-lt"/>
              <a:sym typeface="+mn-ea"/>
            </a:endParaRPr>
          </a:p>
          <a:p>
            <a:pPr algn="ctr"/>
            <a:r>
              <a:rPr lang="en-US" altLang="zh-CN">
                <a:latin typeface="+mj-lt"/>
                <a:cs typeface="+mj-lt"/>
                <a:sym typeface="+mn-ea"/>
              </a:rPr>
              <a:t>accuracy: 97% [3]</a:t>
            </a:r>
            <a:endParaRPr lang="en-US" altLang="zh-CN">
              <a:latin typeface="+mj-lt"/>
              <a:cs typeface="+mj-lt"/>
            </a:endParaRPr>
          </a:p>
        </p:txBody>
      </p:sp>
      <p:grpSp>
        <p:nvGrpSpPr>
          <p:cNvPr id="8" name="组合 7"/>
          <p:cNvGrpSpPr/>
          <p:nvPr/>
        </p:nvGrpSpPr>
        <p:grpSpPr>
          <a:xfrm>
            <a:off x="220980" y="4420870"/>
            <a:ext cx="8651875" cy="2114550"/>
            <a:chOff x="348" y="1532"/>
            <a:chExt cx="13625" cy="3330"/>
          </a:xfrm>
        </p:grpSpPr>
        <p:sp>
          <p:nvSpPr>
            <p:cNvPr id="3" name="文本框 2"/>
            <p:cNvSpPr txBox="1"/>
            <p:nvPr/>
          </p:nvSpPr>
          <p:spPr>
            <a:xfrm>
              <a:off x="348" y="1690"/>
              <a:ext cx="5341" cy="3013"/>
            </a:xfrm>
            <a:prstGeom prst="rect">
              <a:avLst/>
            </a:prstGeom>
          </p:spPr>
          <p:txBody>
            <a:bodyPr wrap="square">
              <a:noAutofit/>
            </a:bodyPr>
            <a:p>
              <a:pPr algn="ctr"/>
              <a:r>
                <a:rPr lang="en-US" altLang="zh-CN">
                  <a:sym typeface="+mn-ea"/>
                </a:rPr>
                <a:t>Zandigohar</a:t>
              </a:r>
              <a:r>
                <a:rPr lang="en-US" altLang="zh-CN"/>
                <a:t> et al. proposed</a:t>
              </a:r>
              <a:endParaRPr lang="en-US" altLang="zh-CN"/>
            </a:p>
            <a:p>
              <a:pPr algn="ctr"/>
              <a:endParaRPr lang="en-US" altLang="zh-CN"/>
            </a:p>
            <a:p>
              <a:pPr algn="ctr"/>
              <a:r>
                <a:rPr lang="en-US" altLang="zh-CN">
                  <a:sym typeface="+mn-ea"/>
                </a:rPr>
                <a:t>EMG + </a:t>
              </a:r>
              <a:r>
                <a:rPr lang="en-US" altLang="zh-CN"/>
                <a:t>Eyes Tracking</a:t>
              </a:r>
              <a:endParaRPr lang="en-US" altLang="zh-CN"/>
            </a:p>
            <a:p>
              <a:pPr algn="ctr"/>
              <a:r>
                <a:rPr lang="en-US" altLang="zh-CN"/>
                <a:t>Extra-Trees and YOLOv4</a:t>
              </a:r>
              <a:endParaRPr lang="en-US" altLang="zh-CN"/>
            </a:p>
            <a:p>
              <a:pPr algn="ctr"/>
              <a:endParaRPr lang="en-US" altLang="zh-CN"/>
            </a:p>
            <a:p>
              <a:pPr algn="ctr"/>
              <a:r>
                <a:rPr lang="en-US" altLang="zh-CN"/>
                <a:t>14 movements</a:t>
              </a:r>
              <a:endParaRPr lang="en-US" altLang="zh-CN"/>
            </a:p>
            <a:p>
              <a:pPr algn="ctr"/>
              <a:r>
                <a:rPr lang="en-US" altLang="zh-CN"/>
                <a:t>accuracy: 93% [4]</a:t>
              </a:r>
              <a:endParaRPr lang="en-US" altLang="zh-CN"/>
            </a:p>
          </p:txBody>
        </p:sp>
        <p:pic>
          <p:nvPicPr>
            <p:cNvPr id="5" name="图片 4" descr="QQ20260505-110629"/>
            <p:cNvPicPr>
              <a:picLocks noChangeAspect="1"/>
            </p:cNvPicPr>
            <p:nvPr/>
          </p:nvPicPr>
          <p:blipFill>
            <a:blip r:embed="rId1"/>
            <a:stretch>
              <a:fillRect/>
            </a:stretch>
          </p:blipFill>
          <p:spPr>
            <a:xfrm>
              <a:off x="6153" y="1532"/>
              <a:ext cx="7820" cy="3330"/>
            </a:xfrm>
            <a:prstGeom prst="rect">
              <a:avLst/>
            </a:prstGeom>
          </p:spPr>
        </p:pic>
      </p:grpSp>
      <p:pic>
        <p:nvPicPr>
          <p:cNvPr id="10" name="图片 9" descr="QQ20260505-120705"/>
          <p:cNvPicPr>
            <a:picLocks noChangeAspect="1"/>
          </p:cNvPicPr>
          <p:nvPr/>
        </p:nvPicPr>
        <p:blipFill>
          <a:blip r:embed="rId2"/>
          <a:stretch>
            <a:fillRect/>
          </a:stretch>
        </p:blipFill>
        <p:spPr>
          <a:xfrm>
            <a:off x="220980" y="828675"/>
            <a:ext cx="5485765" cy="302958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760730"/>
          </a:xfrm>
          <a:prstGeom prst="rect">
            <a:avLst/>
          </a:prstGeom>
          <a:noFill/>
        </p:spPr>
        <p:txBody>
          <a:bodyPr wrap="square" rtlCol="0">
            <a:noAutofit/>
          </a:bodyPr>
          <a:p>
            <a:r>
              <a:rPr lang="en-US" altLang="zh-CN" sz="3200" b="1" dirty="0"/>
              <a:t>Research Objective</a:t>
            </a:r>
            <a:endParaRPr lang="en-US" altLang="zh-CN" sz="3200" b="1" dirty="0"/>
          </a:p>
          <a:p>
            <a:endParaRPr lang="en-US" altLang="zh-CN" sz="3200" b="1">
              <a:latin typeface="Times New Roman" panose="02020603050405020304" charset="0"/>
              <a:ea typeface="SimSun" panose="02010600030101010101" pitchFamily="2" charset="-122"/>
              <a:cs typeface="Times New Roman" panose="02020603050405020304" charset="0"/>
            </a:endParaRPr>
          </a:p>
        </p:txBody>
      </p:sp>
      <p:grpSp>
        <p:nvGrpSpPr>
          <p:cNvPr id="43" name="组合 42"/>
          <p:cNvGrpSpPr/>
          <p:nvPr/>
        </p:nvGrpSpPr>
        <p:grpSpPr>
          <a:xfrm>
            <a:off x="220980" y="843915"/>
            <a:ext cx="8717280" cy="523240"/>
            <a:chOff x="348" y="1555"/>
            <a:chExt cx="13728" cy="824"/>
          </a:xfrm>
        </p:grpSpPr>
        <p:sp>
          <p:nvSpPr>
            <p:cNvPr id="47" name="Shape 37"/>
            <p:cNvSpPr/>
            <p:nvPr/>
          </p:nvSpPr>
          <p:spPr>
            <a:xfrm>
              <a:off x="348" y="1555"/>
              <a:ext cx="13729" cy="825"/>
            </a:xfrm>
            <a:prstGeom prst="rect">
              <a:avLst/>
            </a:prstGeom>
            <a:solidFill>
              <a:srgbClr val="F59E0B"/>
            </a:solidFill>
            <a:ln w="12700">
              <a:solidFill>
                <a:srgbClr val="F59E0B"/>
              </a:solidFill>
              <a:prstDash val="solid"/>
            </a:ln>
          </p:spPr>
          <p:txBody>
            <a:bodyPr/>
            <a:p>
              <a:endParaRPr lang="zh-CN" altLang="en-US"/>
            </a:p>
          </p:txBody>
        </p:sp>
        <p:sp>
          <p:nvSpPr>
            <p:cNvPr id="48" name="Text 38"/>
            <p:cNvSpPr/>
            <p:nvPr/>
          </p:nvSpPr>
          <p:spPr>
            <a:xfrm>
              <a:off x="2209" y="1564"/>
              <a:ext cx="10429" cy="815"/>
            </a:xfrm>
            <a:prstGeom prst="rect">
              <a:avLst/>
            </a:prstGeom>
            <a:noFill/>
          </p:spPr>
          <p:txBody>
            <a:bodyPr wrap="square" lIns="0" tIns="0" rIns="0" bIns="0" rtlCol="0" anchor="ctr"/>
            <a:lstStyle/>
            <a:p>
              <a:pPr algn="ctr"/>
              <a:r>
                <a:rPr lang="en-US" altLang="zh-CN" dirty="0">
                  <a:solidFill>
                    <a:schemeClr val="tx1"/>
                  </a:solidFill>
                  <a:sym typeface="+mn-ea"/>
                </a:rPr>
                <a:t>But the rejection rate of prosthetic hands is as high as 44% [5].</a:t>
              </a:r>
              <a:endParaRPr lang="en-US" altLang="zh-CN" dirty="0">
                <a:solidFill>
                  <a:schemeClr val="tx1"/>
                </a:solidFill>
                <a:sym typeface="+mn-ea"/>
              </a:endParaRPr>
            </a:p>
          </p:txBody>
        </p:sp>
      </p:grpSp>
      <p:grpSp>
        <p:nvGrpSpPr>
          <p:cNvPr id="54" name="组合 53"/>
          <p:cNvGrpSpPr/>
          <p:nvPr>
            <p:custDataLst>
              <p:tags r:id="rId1"/>
            </p:custDataLst>
          </p:nvPr>
        </p:nvGrpSpPr>
        <p:grpSpPr>
          <a:xfrm>
            <a:off x="304800" y="1658620"/>
            <a:ext cx="3715385" cy="1268730"/>
            <a:chOff x="15576" y="4203"/>
            <a:chExt cx="5851" cy="1998"/>
          </a:xfrm>
        </p:grpSpPr>
        <p:grpSp>
          <p:nvGrpSpPr>
            <p:cNvPr id="53" name="组合 52"/>
            <p:cNvGrpSpPr/>
            <p:nvPr>
              <p:custDataLst>
                <p:tags r:id="rId2"/>
              </p:custDataLst>
            </p:nvPr>
          </p:nvGrpSpPr>
          <p:grpSpPr>
            <a:xfrm>
              <a:off x="16563" y="4203"/>
              <a:ext cx="4864" cy="1998"/>
              <a:chOff x="1943" y="3623"/>
              <a:chExt cx="4864" cy="1998"/>
            </a:xfrm>
          </p:grpSpPr>
          <p:sp>
            <p:nvSpPr>
              <p:cNvPr id="8" name="文本框 7"/>
              <p:cNvSpPr txBox="1"/>
              <p:nvPr>
                <p:custDataLst>
                  <p:tags r:id="rId3"/>
                </p:custDataLst>
              </p:nvPr>
            </p:nvSpPr>
            <p:spPr>
              <a:xfrm>
                <a:off x="1943" y="4169"/>
                <a:ext cx="4382" cy="1452"/>
              </a:xfrm>
              <a:prstGeom prst="rect">
                <a:avLst/>
              </a:prstGeom>
              <a:noFill/>
            </p:spPr>
            <p:txBody>
              <a:bodyPr wrap="square" rtlCol="0" anchor="t">
                <a:spAutoFit/>
              </a:bodyPr>
              <a:p>
                <a:r>
                  <a:rPr lang="en-US" altLang="zh-CN">
                    <a:sym typeface="+mn-ea"/>
                  </a:rPr>
                  <a:t>Transitions and adjustments between movements were not considered.</a:t>
                </a:r>
                <a:endParaRPr lang="en-US" altLang="zh-CN">
                  <a:sym typeface="+mn-ea"/>
                </a:endParaRPr>
              </a:p>
            </p:txBody>
          </p:sp>
          <p:grpSp>
            <p:nvGrpSpPr>
              <p:cNvPr id="46" name="组合 45"/>
              <p:cNvGrpSpPr/>
              <p:nvPr>
                <p:custDataLst>
                  <p:tags r:id="rId4"/>
                </p:custDataLst>
              </p:nvPr>
            </p:nvGrpSpPr>
            <p:grpSpPr>
              <a:xfrm>
                <a:off x="1943" y="3623"/>
                <a:ext cx="4864" cy="580"/>
                <a:chOff x="1943" y="3623"/>
                <a:chExt cx="4864" cy="580"/>
              </a:xfrm>
            </p:grpSpPr>
            <p:sp>
              <p:nvSpPr>
                <p:cNvPr id="7" name="文本框 6"/>
                <p:cNvSpPr txBox="1"/>
                <p:nvPr>
                  <p:custDataLst>
                    <p:tags r:id="rId5"/>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Movement Transition</a:t>
                  </a:r>
                  <a:endParaRPr lang="en-US" altLang="zh-CN" b="1" dirty="0">
                    <a:sym typeface="+mn-ea"/>
                  </a:endParaRPr>
                </a:p>
              </p:txBody>
            </p:sp>
            <p:cxnSp>
              <p:nvCxnSpPr>
                <p:cNvPr id="33" name="直接连接符 32"/>
                <p:cNvCxnSpPr/>
                <p:nvPr>
                  <p:custDataLst>
                    <p:tags r:id="rId6"/>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39" name="组合 38"/>
            <p:cNvGrpSpPr>
              <a:grpSpLocks noChangeAspect="1"/>
            </p:cNvGrpSpPr>
            <p:nvPr/>
          </p:nvGrpSpPr>
          <p:grpSpPr>
            <a:xfrm>
              <a:off x="15576" y="4310"/>
              <a:ext cx="927" cy="927"/>
              <a:chOff x="4973" y="4190"/>
              <a:chExt cx="1700" cy="1700"/>
            </a:xfrm>
          </p:grpSpPr>
          <p:sp>
            <p:nvSpPr>
              <p:cNvPr id="35" name="椭圆 34"/>
              <p:cNvSpPr>
                <a:spLocks noChangeAspect="1"/>
              </p:cNvSpPr>
              <p:nvPr>
                <p:custDataLst>
                  <p:tags r:id="rId7"/>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6" name="图片 35" descr="danger"/>
              <p:cNvPicPr>
                <a:picLocks noChangeAspect="1"/>
              </p:cNvPicPr>
              <p:nvPr>
                <p:custDataLst>
                  <p:tags r:id="rId8"/>
                </p:custDataLst>
              </p:nvPr>
            </p:nvPicPr>
            <p:blipFill>
              <a:blip r:embed="rId9"/>
              <a:stretch>
                <a:fillRect/>
              </a:stretch>
            </p:blipFill>
            <p:spPr>
              <a:xfrm>
                <a:off x="5344" y="4515"/>
                <a:ext cx="959" cy="959"/>
              </a:xfrm>
              <a:prstGeom prst="rect">
                <a:avLst/>
              </a:prstGeom>
            </p:spPr>
          </p:pic>
        </p:grpSp>
      </p:grpSp>
      <p:grpSp>
        <p:nvGrpSpPr>
          <p:cNvPr id="55" name="组合 54"/>
          <p:cNvGrpSpPr/>
          <p:nvPr>
            <p:custDataLst>
              <p:tags r:id="rId10"/>
            </p:custDataLst>
          </p:nvPr>
        </p:nvGrpSpPr>
        <p:grpSpPr>
          <a:xfrm>
            <a:off x="305435" y="3335655"/>
            <a:ext cx="3409315" cy="1268730"/>
            <a:chOff x="15576" y="4203"/>
            <a:chExt cx="5369" cy="1998"/>
          </a:xfrm>
        </p:grpSpPr>
        <p:grpSp>
          <p:nvGrpSpPr>
            <p:cNvPr id="56" name="组合 55"/>
            <p:cNvGrpSpPr/>
            <p:nvPr>
              <p:custDataLst>
                <p:tags r:id="rId11"/>
              </p:custDataLst>
            </p:nvPr>
          </p:nvGrpSpPr>
          <p:grpSpPr>
            <a:xfrm>
              <a:off x="16563" y="4203"/>
              <a:ext cx="4382" cy="1998"/>
              <a:chOff x="1943" y="3623"/>
              <a:chExt cx="4382" cy="1998"/>
            </a:xfrm>
          </p:grpSpPr>
          <p:sp>
            <p:nvSpPr>
              <p:cNvPr id="57" name="文本框 56"/>
              <p:cNvSpPr txBox="1"/>
              <p:nvPr>
                <p:custDataLst>
                  <p:tags r:id="rId12"/>
                </p:custDataLst>
              </p:nvPr>
            </p:nvSpPr>
            <p:spPr>
              <a:xfrm>
                <a:off x="1943" y="4169"/>
                <a:ext cx="4382" cy="1452"/>
              </a:xfrm>
              <a:prstGeom prst="rect">
                <a:avLst/>
              </a:prstGeom>
              <a:noFill/>
            </p:spPr>
            <p:txBody>
              <a:bodyPr wrap="square" rtlCol="0" anchor="t">
                <a:spAutoFit/>
              </a:bodyPr>
              <a:p>
                <a:r>
                  <a:rPr lang="en-US" altLang="zh-CN">
                    <a:sym typeface="+mn-ea"/>
                  </a:rPr>
                  <a:t>Users need to maintain a high level of concentration to achieve control.</a:t>
                </a:r>
                <a:endParaRPr lang="en-US" altLang="zh-CN">
                  <a:sym typeface="+mn-ea"/>
                </a:endParaRPr>
              </a:p>
            </p:txBody>
          </p:sp>
          <p:grpSp>
            <p:nvGrpSpPr>
              <p:cNvPr id="58" name="组合 57"/>
              <p:cNvGrpSpPr/>
              <p:nvPr>
                <p:custDataLst>
                  <p:tags r:id="rId13"/>
                </p:custDataLst>
              </p:nvPr>
            </p:nvGrpSpPr>
            <p:grpSpPr>
              <a:xfrm>
                <a:off x="1943" y="3623"/>
                <a:ext cx="3816" cy="580"/>
                <a:chOff x="1943" y="3623"/>
                <a:chExt cx="3816" cy="580"/>
              </a:xfrm>
            </p:grpSpPr>
            <p:sp>
              <p:nvSpPr>
                <p:cNvPr id="59" name="文本框 58"/>
                <p:cNvSpPr txBox="1"/>
                <p:nvPr>
                  <p:custDataLst>
                    <p:tags r:id="rId14"/>
                  </p:custDataLst>
                </p:nvPr>
              </p:nvSpPr>
              <p:spPr>
                <a:xfrm>
                  <a:off x="1943" y="3623"/>
                  <a:ext cx="3816" cy="580"/>
                </a:xfrm>
                <a:prstGeom prst="rect">
                  <a:avLst/>
                </a:prstGeom>
                <a:noFill/>
              </p:spPr>
              <p:txBody>
                <a:bodyPr wrap="square" rtlCol="0" anchor="t">
                  <a:spAutoFit/>
                </a:bodyPr>
                <a:p>
                  <a:pPr marL="0" indent="0" algn="l">
                    <a:buNone/>
                  </a:pPr>
                  <a:r>
                    <a:rPr lang="en-US" altLang="zh-CN" b="1" dirty="0">
                      <a:sym typeface="+mn-ea"/>
                    </a:rPr>
                    <a:t>Cognitive Load</a:t>
                  </a:r>
                  <a:endParaRPr lang="en-US" altLang="zh-CN" b="1" dirty="0">
                    <a:sym typeface="+mn-ea"/>
                  </a:endParaRPr>
                </a:p>
              </p:txBody>
            </p:sp>
            <p:cxnSp>
              <p:nvCxnSpPr>
                <p:cNvPr id="60" name="直接连接符 59"/>
                <p:cNvCxnSpPr/>
                <p:nvPr>
                  <p:custDataLst>
                    <p:tags r:id="rId15"/>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61" name="组合 60"/>
            <p:cNvGrpSpPr>
              <a:grpSpLocks noChangeAspect="1"/>
            </p:cNvGrpSpPr>
            <p:nvPr/>
          </p:nvGrpSpPr>
          <p:grpSpPr>
            <a:xfrm>
              <a:off x="15576" y="4310"/>
              <a:ext cx="927" cy="927"/>
              <a:chOff x="4973" y="4190"/>
              <a:chExt cx="1700" cy="1700"/>
            </a:xfrm>
          </p:grpSpPr>
          <p:sp>
            <p:nvSpPr>
              <p:cNvPr id="62" name="椭圆 61"/>
              <p:cNvSpPr>
                <a:spLocks noChangeAspect="1"/>
              </p:cNvSpPr>
              <p:nvPr>
                <p:custDataLst>
                  <p:tags r:id="rId16"/>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3" name="图片 62" descr="danger"/>
              <p:cNvPicPr>
                <a:picLocks noChangeAspect="1"/>
              </p:cNvPicPr>
              <p:nvPr>
                <p:custDataLst>
                  <p:tags r:id="rId17"/>
                </p:custDataLst>
              </p:nvPr>
            </p:nvPicPr>
            <p:blipFill>
              <a:blip r:embed="rId9"/>
              <a:stretch>
                <a:fillRect/>
              </a:stretch>
            </p:blipFill>
            <p:spPr>
              <a:xfrm>
                <a:off x="5344" y="4515"/>
                <a:ext cx="959" cy="959"/>
              </a:xfrm>
              <a:prstGeom prst="rect">
                <a:avLst/>
              </a:prstGeom>
            </p:spPr>
          </p:pic>
        </p:grpSp>
      </p:grpSp>
      <p:grpSp>
        <p:nvGrpSpPr>
          <p:cNvPr id="64" name="组合 63"/>
          <p:cNvGrpSpPr/>
          <p:nvPr>
            <p:custDataLst>
              <p:tags r:id="rId18"/>
            </p:custDataLst>
          </p:nvPr>
        </p:nvGrpSpPr>
        <p:grpSpPr>
          <a:xfrm>
            <a:off x="266700" y="4973955"/>
            <a:ext cx="3447415" cy="1545590"/>
            <a:chOff x="15576" y="4203"/>
            <a:chExt cx="5429" cy="2434"/>
          </a:xfrm>
        </p:grpSpPr>
        <p:grpSp>
          <p:nvGrpSpPr>
            <p:cNvPr id="65" name="组合 64"/>
            <p:cNvGrpSpPr/>
            <p:nvPr>
              <p:custDataLst>
                <p:tags r:id="rId19"/>
              </p:custDataLst>
            </p:nvPr>
          </p:nvGrpSpPr>
          <p:grpSpPr>
            <a:xfrm>
              <a:off x="16563" y="4203"/>
              <a:ext cx="4442" cy="2434"/>
              <a:chOff x="1943" y="3623"/>
              <a:chExt cx="4442" cy="2434"/>
            </a:xfrm>
          </p:grpSpPr>
          <p:sp>
            <p:nvSpPr>
              <p:cNvPr id="66" name="文本框 65"/>
              <p:cNvSpPr txBox="1"/>
              <p:nvPr>
                <p:custDataLst>
                  <p:tags r:id="rId20"/>
                </p:custDataLst>
              </p:nvPr>
            </p:nvSpPr>
            <p:spPr>
              <a:xfrm>
                <a:off x="1943" y="4169"/>
                <a:ext cx="4442" cy="1888"/>
              </a:xfrm>
              <a:prstGeom prst="rect">
                <a:avLst/>
              </a:prstGeom>
              <a:noFill/>
            </p:spPr>
            <p:txBody>
              <a:bodyPr wrap="square" rtlCol="0" anchor="t">
                <a:spAutoFit/>
              </a:bodyPr>
              <a:p>
                <a:r>
                  <a:rPr lang="en-US" altLang="zh-CN">
                    <a:sym typeface="+mn-ea"/>
                  </a:rPr>
                  <a:t>Modular Approach increases system complexity but also may lead to the loss of important information.</a:t>
                </a:r>
                <a:endParaRPr lang="en-US" altLang="zh-CN">
                  <a:sym typeface="+mn-ea"/>
                </a:endParaRPr>
              </a:p>
            </p:txBody>
          </p:sp>
          <p:grpSp>
            <p:nvGrpSpPr>
              <p:cNvPr id="67" name="组合 66"/>
              <p:cNvGrpSpPr/>
              <p:nvPr>
                <p:custDataLst>
                  <p:tags r:id="rId21"/>
                </p:custDataLst>
              </p:nvPr>
            </p:nvGrpSpPr>
            <p:grpSpPr>
              <a:xfrm>
                <a:off x="1943" y="3623"/>
                <a:ext cx="3876" cy="580"/>
                <a:chOff x="1943" y="3623"/>
                <a:chExt cx="3876" cy="580"/>
              </a:xfrm>
            </p:grpSpPr>
            <p:sp>
              <p:nvSpPr>
                <p:cNvPr id="68" name="文本框 67"/>
                <p:cNvSpPr txBox="1"/>
                <p:nvPr>
                  <p:custDataLst>
                    <p:tags r:id="rId22"/>
                  </p:custDataLst>
                </p:nvPr>
              </p:nvSpPr>
              <p:spPr>
                <a:xfrm>
                  <a:off x="1943" y="3623"/>
                  <a:ext cx="3876" cy="580"/>
                </a:xfrm>
                <a:prstGeom prst="rect">
                  <a:avLst/>
                </a:prstGeom>
                <a:noFill/>
              </p:spPr>
              <p:txBody>
                <a:bodyPr wrap="square" rtlCol="0" anchor="t">
                  <a:spAutoFit/>
                </a:bodyPr>
                <a:p>
                  <a:pPr marL="0" indent="0" algn="l">
                    <a:buNone/>
                  </a:pPr>
                  <a:r>
                    <a:rPr lang="en-US" altLang="zh-CN" b="1" dirty="0">
                      <a:sym typeface="+mn-ea"/>
                    </a:rPr>
                    <a:t>Modular Approach</a:t>
                  </a:r>
                  <a:endParaRPr lang="en-US" altLang="zh-CN" b="1" dirty="0">
                    <a:sym typeface="+mn-ea"/>
                  </a:endParaRPr>
                </a:p>
              </p:txBody>
            </p:sp>
            <p:cxnSp>
              <p:nvCxnSpPr>
                <p:cNvPr id="69" name="直接连接符 68"/>
                <p:cNvCxnSpPr/>
                <p:nvPr>
                  <p:custDataLst>
                    <p:tags r:id="rId23"/>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70" name="组合 69"/>
            <p:cNvGrpSpPr>
              <a:grpSpLocks noChangeAspect="1"/>
            </p:cNvGrpSpPr>
            <p:nvPr/>
          </p:nvGrpSpPr>
          <p:grpSpPr>
            <a:xfrm>
              <a:off x="15576" y="4310"/>
              <a:ext cx="927" cy="927"/>
              <a:chOff x="4973" y="4190"/>
              <a:chExt cx="1700" cy="1700"/>
            </a:xfrm>
          </p:grpSpPr>
          <p:sp>
            <p:nvSpPr>
              <p:cNvPr id="71" name="椭圆 70"/>
              <p:cNvSpPr>
                <a:spLocks noChangeAspect="1"/>
              </p:cNvSpPr>
              <p:nvPr>
                <p:custDataLst>
                  <p:tags r:id="rId24"/>
                </p:custDataLst>
              </p:nvPr>
            </p:nvSpPr>
            <p:spPr>
              <a:xfrm>
                <a:off x="4973" y="4190"/>
                <a:ext cx="1701" cy="1701"/>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2" name="图片 71" descr="danger"/>
              <p:cNvPicPr>
                <a:picLocks noChangeAspect="1"/>
              </p:cNvPicPr>
              <p:nvPr>
                <p:custDataLst>
                  <p:tags r:id="rId25"/>
                </p:custDataLst>
              </p:nvPr>
            </p:nvPicPr>
            <p:blipFill>
              <a:blip r:embed="rId9"/>
              <a:stretch>
                <a:fillRect/>
              </a:stretch>
            </p:blipFill>
            <p:spPr>
              <a:xfrm>
                <a:off x="5344" y="4515"/>
                <a:ext cx="959" cy="959"/>
              </a:xfrm>
              <a:prstGeom prst="rect">
                <a:avLst/>
              </a:prstGeom>
            </p:spPr>
          </p:pic>
        </p:grpSp>
      </p:grpSp>
      <p:sp>
        <p:nvSpPr>
          <p:cNvPr id="14" name="右箭头 13"/>
          <p:cNvSpPr/>
          <p:nvPr>
            <p:custDataLst>
              <p:tags r:id="rId26"/>
            </p:custDataLst>
          </p:nvPr>
        </p:nvSpPr>
        <p:spPr>
          <a:xfrm>
            <a:off x="3989705" y="1852930"/>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7" name="组合 16"/>
          <p:cNvGrpSpPr/>
          <p:nvPr>
            <p:custDataLst>
              <p:tags r:id="rId27"/>
            </p:custDataLst>
          </p:nvPr>
        </p:nvGrpSpPr>
        <p:grpSpPr>
          <a:xfrm>
            <a:off x="5268595" y="1630045"/>
            <a:ext cx="3715385" cy="1545590"/>
            <a:chOff x="8226" y="3049"/>
            <a:chExt cx="5851" cy="2434"/>
          </a:xfrm>
        </p:grpSpPr>
        <p:grpSp>
          <p:nvGrpSpPr>
            <p:cNvPr id="3" name="组合 2"/>
            <p:cNvGrpSpPr/>
            <p:nvPr>
              <p:custDataLst>
                <p:tags r:id="rId28"/>
              </p:custDataLst>
            </p:nvPr>
          </p:nvGrpSpPr>
          <p:grpSpPr>
            <a:xfrm rot="0">
              <a:off x="9213" y="3049"/>
              <a:ext cx="4864" cy="2434"/>
              <a:chOff x="1943" y="3623"/>
              <a:chExt cx="4864" cy="2434"/>
            </a:xfrm>
          </p:grpSpPr>
          <p:sp>
            <p:nvSpPr>
              <p:cNvPr id="4" name="文本框 3"/>
              <p:cNvSpPr txBox="1"/>
              <p:nvPr>
                <p:custDataLst>
                  <p:tags r:id="rId29"/>
                </p:custDataLst>
              </p:nvPr>
            </p:nvSpPr>
            <p:spPr>
              <a:xfrm>
                <a:off x="1943" y="4169"/>
                <a:ext cx="4863" cy="1888"/>
              </a:xfrm>
              <a:prstGeom prst="rect">
                <a:avLst/>
              </a:prstGeom>
              <a:noFill/>
            </p:spPr>
            <p:txBody>
              <a:bodyPr wrap="square" rtlCol="0" anchor="t">
                <a:spAutoFit/>
              </a:bodyPr>
              <a:p>
                <a:r>
                  <a:rPr lang="en-US" altLang="zh-CN">
                    <a:sym typeface="+mn-ea"/>
                  </a:rPr>
                  <a:t>Replace the classification model with a regression model to enable real-time </a:t>
                </a:r>
                <a:r>
                  <a:rPr lang="en-US" altLang="zh-CN" dirty="0">
                    <a:cs typeface="+mj-lt"/>
                    <a:sym typeface="+mn-ea"/>
                  </a:rPr>
                  <a:t>c</a:t>
                </a:r>
                <a:r>
                  <a:rPr lang="en-US" altLang="zh-CN" dirty="0">
                    <a:cs typeface="+mj-lt"/>
                    <a:sym typeface="+mn-ea"/>
                  </a:rPr>
                  <a:t>ontinuous</a:t>
                </a:r>
                <a:r>
                  <a:rPr lang="en-US" altLang="zh-CN">
                    <a:sym typeface="+mn-ea"/>
                  </a:rPr>
                  <a:t> adjustment.</a:t>
                </a:r>
                <a:endParaRPr lang="en-US" altLang="zh-CN">
                  <a:sym typeface="+mn-ea"/>
                </a:endParaRPr>
              </a:p>
            </p:txBody>
          </p:sp>
          <p:grpSp>
            <p:nvGrpSpPr>
              <p:cNvPr id="5" name="组合 4"/>
              <p:cNvGrpSpPr/>
              <p:nvPr>
                <p:custDataLst>
                  <p:tags r:id="rId30"/>
                </p:custDataLst>
              </p:nvPr>
            </p:nvGrpSpPr>
            <p:grpSpPr>
              <a:xfrm>
                <a:off x="1943" y="3623"/>
                <a:ext cx="4864" cy="580"/>
                <a:chOff x="1943" y="3623"/>
                <a:chExt cx="4864" cy="580"/>
              </a:xfrm>
            </p:grpSpPr>
            <p:sp>
              <p:nvSpPr>
                <p:cNvPr id="9" name="文本框 8"/>
                <p:cNvSpPr txBox="1"/>
                <p:nvPr>
                  <p:custDataLst>
                    <p:tags r:id="rId31"/>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Regression</a:t>
                  </a:r>
                  <a:endParaRPr lang="en-US" altLang="zh-CN" b="1" dirty="0">
                    <a:sym typeface="+mn-ea"/>
                  </a:endParaRPr>
                </a:p>
              </p:txBody>
            </p:sp>
            <p:cxnSp>
              <p:nvCxnSpPr>
                <p:cNvPr id="10" name="直接连接符 9"/>
                <p:cNvCxnSpPr/>
                <p:nvPr>
                  <p:custDataLst>
                    <p:tags r:id="rId32"/>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16" name="组合 15"/>
            <p:cNvGrpSpPr/>
            <p:nvPr/>
          </p:nvGrpSpPr>
          <p:grpSpPr>
            <a:xfrm>
              <a:off x="8226" y="3156"/>
              <a:ext cx="926" cy="928"/>
              <a:chOff x="8226" y="3156"/>
              <a:chExt cx="926" cy="928"/>
            </a:xfrm>
          </p:grpSpPr>
          <p:sp>
            <p:nvSpPr>
              <p:cNvPr id="12" name="椭圆 11"/>
              <p:cNvSpPr>
                <a:spLocks noChangeAspect="1"/>
              </p:cNvSpPr>
              <p:nvPr>
                <p:custDataLst>
                  <p:tags r:id="rId33"/>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descr="security"/>
              <p:cNvPicPr>
                <a:picLocks noChangeAspect="1"/>
              </p:cNvPicPr>
              <p:nvPr>
                <p:custDataLst>
                  <p:tags r:id="rId34"/>
                </p:custDataLst>
              </p:nvPr>
            </p:nvPicPr>
            <p:blipFill>
              <a:blip r:embed="rId35"/>
              <a:stretch>
                <a:fillRect/>
              </a:stretch>
            </p:blipFill>
            <p:spPr>
              <a:xfrm>
                <a:off x="8394" y="3345"/>
                <a:ext cx="592" cy="592"/>
              </a:xfrm>
              <a:prstGeom prst="rect">
                <a:avLst/>
              </a:prstGeom>
            </p:spPr>
          </p:pic>
        </p:grpSp>
      </p:grpSp>
      <p:sp>
        <p:nvSpPr>
          <p:cNvPr id="18" name="右箭头 17"/>
          <p:cNvSpPr/>
          <p:nvPr>
            <p:custDataLst>
              <p:tags r:id="rId36"/>
            </p:custDataLst>
          </p:nvPr>
        </p:nvSpPr>
        <p:spPr>
          <a:xfrm>
            <a:off x="3990340" y="351599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9" name="组合 18"/>
          <p:cNvGrpSpPr/>
          <p:nvPr>
            <p:custDataLst>
              <p:tags r:id="rId37"/>
            </p:custDataLst>
          </p:nvPr>
        </p:nvGrpSpPr>
        <p:grpSpPr>
          <a:xfrm>
            <a:off x="5268595" y="3335655"/>
            <a:ext cx="3795395" cy="1268730"/>
            <a:chOff x="8226" y="3049"/>
            <a:chExt cx="5977" cy="1998"/>
          </a:xfrm>
        </p:grpSpPr>
        <p:grpSp>
          <p:nvGrpSpPr>
            <p:cNvPr id="20" name="组合 19"/>
            <p:cNvGrpSpPr/>
            <p:nvPr>
              <p:custDataLst>
                <p:tags r:id="rId38"/>
              </p:custDataLst>
            </p:nvPr>
          </p:nvGrpSpPr>
          <p:grpSpPr>
            <a:xfrm rot="0">
              <a:off x="9213" y="3049"/>
              <a:ext cx="4990" cy="1998"/>
              <a:chOff x="1943" y="3623"/>
              <a:chExt cx="4990" cy="1998"/>
            </a:xfrm>
          </p:grpSpPr>
          <p:sp>
            <p:nvSpPr>
              <p:cNvPr id="21" name="文本框 20"/>
              <p:cNvSpPr txBox="1"/>
              <p:nvPr>
                <p:custDataLst>
                  <p:tags r:id="rId39"/>
                </p:custDataLst>
              </p:nvPr>
            </p:nvSpPr>
            <p:spPr>
              <a:xfrm>
                <a:off x="1943" y="4169"/>
                <a:ext cx="4990" cy="1452"/>
              </a:xfrm>
              <a:prstGeom prst="rect">
                <a:avLst/>
              </a:prstGeom>
              <a:noFill/>
            </p:spPr>
            <p:txBody>
              <a:bodyPr wrap="square" rtlCol="0" anchor="t">
                <a:spAutoFit/>
              </a:bodyPr>
              <a:p>
                <a:r>
                  <a:rPr lang="en-US" altLang="zh-CN">
                    <a:sym typeface="+mn-ea"/>
                  </a:rPr>
                  <a:t>Shared control delegates fine movement control to the system, reducing user cognitive load.</a:t>
                </a:r>
                <a:endParaRPr lang="en-US" altLang="zh-CN">
                  <a:sym typeface="+mn-ea"/>
                </a:endParaRPr>
              </a:p>
            </p:txBody>
          </p:sp>
          <p:grpSp>
            <p:nvGrpSpPr>
              <p:cNvPr id="22" name="组合 21"/>
              <p:cNvGrpSpPr/>
              <p:nvPr>
                <p:custDataLst>
                  <p:tags r:id="rId40"/>
                </p:custDataLst>
              </p:nvPr>
            </p:nvGrpSpPr>
            <p:grpSpPr>
              <a:xfrm>
                <a:off x="1943" y="3623"/>
                <a:ext cx="4864" cy="1016"/>
                <a:chOff x="1943" y="3623"/>
                <a:chExt cx="4864" cy="1016"/>
              </a:xfrm>
            </p:grpSpPr>
            <p:sp>
              <p:nvSpPr>
                <p:cNvPr id="23" name="文本框 22"/>
                <p:cNvSpPr txBox="1"/>
                <p:nvPr>
                  <p:custDataLst>
                    <p:tags r:id="rId41"/>
                  </p:custDataLst>
                </p:nvPr>
              </p:nvSpPr>
              <p:spPr>
                <a:xfrm>
                  <a:off x="1943" y="3623"/>
                  <a:ext cx="4864" cy="1016"/>
                </a:xfrm>
                <a:prstGeom prst="rect">
                  <a:avLst/>
                </a:prstGeom>
                <a:noFill/>
              </p:spPr>
              <p:txBody>
                <a:bodyPr wrap="square" rtlCol="0" anchor="t">
                  <a:spAutoFit/>
                </a:bodyPr>
                <a:p>
                  <a:pPr marL="0" indent="0" algn="l">
                    <a:buNone/>
                  </a:pPr>
                  <a:r>
                    <a:rPr lang="en-US" altLang="zh-CN" b="1" dirty="0">
                      <a:sym typeface="+mn-ea"/>
                    </a:rPr>
                    <a:t>Shared Control</a:t>
                  </a:r>
                  <a:endParaRPr lang="en-US" altLang="zh-CN" b="1" dirty="0"/>
                </a:p>
                <a:p>
                  <a:pPr marL="0" indent="0" algn="l">
                    <a:buNone/>
                  </a:pPr>
                  <a:endParaRPr lang="en-US" altLang="zh-CN" b="1" dirty="0">
                    <a:sym typeface="+mn-ea"/>
                  </a:endParaRPr>
                </a:p>
              </p:txBody>
            </p:sp>
            <p:cxnSp>
              <p:nvCxnSpPr>
                <p:cNvPr id="24" name="直接连接符 23"/>
                <p:cNvCxnSpPr/>
                <p:nvPr>
                  <p:custDataLst>
                    <p:tags r:id="rId42"/>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25" name="组合 24"/>
            <p:cNvGrpSpPr/>
            <p:nvPr/>
          </p:nvGrpSpPr>
          <p:grpSpPr>
            <a:xfrm>
              <a:off x="8226" y="3156"/>
              <a:ext cx="926" cy="928"/>
              <a:chOff x="8226" y="3156"/>
              <a:chExt cx="926" cy="928"/>
            </a:xfrm>
          </p:grpSpPr>
          <p:sp>
            <p:nvSpPr>
              <p:cNvPr id="26" name="椭圆 25"/>
              <p:cNvSpPr>
                <a:spLocks noChangeAspect="1"/>
              </p:cNvSpPr>
              <p:nvPr>
                <p:custDataLst>
                  <p:tags r:id="rId43"/>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7" name="图片 26" descr="security"/>
              <p:cNvPicPr>
                <a:picLocks noChangeAspect="1"/>
              </p:cNvPicPr>
              <p:nvPr>
                <p:custDataLst>
                  <p:tags r:id="rId44"/>
                </p:custDataLst>
              </p:nvPr>
            </p:nvPicPr>
            <p:blipFill>
              <a:blip r:embed="rId35"/>
              <a:stretch>
                <a:fillRect/>
              </a:stretch>
            </p:blipFill>
            <p:spPr>
              <a:xfrm>
                <a:off x="8394" y="3345"/>
                <a:ext cx="592" cy="592"/>
              </a:xfrm>
              <a:prstGeom prst="rect">
                <a:avLst/>
              </a:prstGeom>
            </p:spPr>
          </p:pic>
        </p:grpSp>
      </p:grpSp>
      <p:sp>
        <p:nvSpPr>
          <p:cNvPr id="29" name="右箭头 28"/>
          <p:cNvSpPr/>
          <p:nvPr>
            <p:custDataLst>
              <p:tags r:id="rId45"/>
            </p:custDataLst>
          </p:nvPr>
        </p:nvSpPr>
        <p:spPr>
          <a:xfrm>
            <a:off x="4006850" y="5342255"/>
            <a:ext cx="1002665" cy="68580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0" name="组合 29"/>
          <p:cNvGrpSpPr/>
          <p:nvPr>
            <p:custDataLst>
              <p:tags r:id="rId46"/>
            </p:custDataLst>
          </p:nvPr>
        </p:nvGrpSpPr>
        <p:grpSpPr>
          <a:xfrm>
            <a:off x="5268595" y="4973955"/>
            <a:ext cx="3715385" cy="1545590"/>
            <a:chOff x="8226" y="3049"/>
            <a:chExt cx="5851" cy="2434"/>
          </a:xfrm>
        </p:grpSpPr>
        <p:grpSp>
          <p:nvGrpSpPr>
            <p:cNvPr id="31" name="组合 30"/>
            <p:cNvGrpSpPr/>
            <p:nvPr>
              <p:custDataLst>
                <p:tags r:id="rId47"/>
              </p:custDataLst>
            </p:nvPr>
          </p:nvGrpSpPr>
          <p:grpSpPr>
            <a:xfrm rot="0">
              <a:off x="9213" y="3049"/>
              <a:ext cx="4864" cy="2434"/>
              <a:chOff x="1943" y="3623"/>
              <a:chExt cx="4864" cy="2434"/>
            </a:xfrm>
          </p:grpSpPr>
          <p:sp>
            <p:nvSpPr>
              <p:cNvPr id="32" name="文本框 31"/>
              <p:cNvSpPr txBox="1"/>
              <p:nvPr>
                <p:custDataLst>
                  <p:tags r:id="rId48"/>
                </p:custDataLst>
              </p:nvPr>
            </p:nvSpPr>
            <p:spPr>
              <a:xfrm>
                <a:off x="1943" y="4169"/>
                <a:ext cx="4382" cy="1888"/>
              </a:xfrm>
              <a:prstGeom prst="rect">
                <a:avLst/>
              </a:prstGeom>
              <a:noFill/>
            </p:spPr>
            <p:txBody>
              <a:bodyPr wrap="square" rtlCol="0" anchor="t">
                <a:spAutoFit/>
              </a:bodyPr>
              <a:p>
                <a:r>
                  <a:rPr lang="en-US" altLang="zh-CN">
                    <a:sym typeface="+mn-ea"/>
                  </a:rPr>
                  <a:t>directly mapping raw input signals to output results, enabling joint optimization of the entire system.</a:t>
                </a:r>
                <a:endParaRPr lang="en-US" altLang="zh-CN">
                  <a:sym typeface="+mn-ea"/>
                </a:endParaRPr>
              </a:p>
            </p:txBody>
          </p:sp>
          <p:grpSp>
            <p:nvGrpSpPr>
              <p:cNvPr id="34" name="组合 33"/>
              <p:cNvGrpSpPr/>
              <p:nvPr>
                <p:custDataLst>
                  <p:tags r:id="rId49"/>
                </p:custDataLst>
              </p:nvPr>
            </p:nvGrpSpPr>
            <p:grpSpPr>
              <a:xfrm>
                <a:off x="1943" y="3623"/>
                <a:ext cx="4864" cy="580"/>
                <a:chOff x="1943" y="3623"/>
                <a:chExt cx="4864" cy="580"/>
              </a:xfrm>
            </p:grpSpPr>
            <p:sp>
              <p:nvSpPr>
                <p:cNvPr id="37" name="文本框 36"/>
                <p:cNvSpPr txBox="1"/>
                <p:nvPr>
                  <p:custDataLst>
                    <p:tags r:id="rId50"/>
                  </p:custDataLst>
                </p:nvPr>
              </p:nvSpPr>
              <p:spPr>
                <a:xfrm>
                  <a:off x="1943" y="3623"/>
                  <a:ext cx="4864" cy="580"/>
                </a:xfrm>
                <a:prstGeom prst="rect">
                  <a:avLst/>
                </a:prstGeom>
                <a:noFill/>
              </p:spPr>
              <p:txBody>
                <a:bodyPr wrap="square" rtlCol="0" anchor="t">
                  <a:spAutoFit/>
                </a:bodyPr>
                <a:p>
                  <a:pPr marL="0" indent="0" algn="l">
                    <a:buNone/>
                  </a:pPr>
                  <a:r>
                    <a:rPr lang="en-US" altLang="zh-CN" b="1" dirty="0">
                      <a:sym typeface="+mn-ea"/>
                    </a:rPr>
                    <a:t>End-to-End</a:t>
                  </a:r>
                  <a:endParaRPr lang="en-US" altLang="zh-CN" b="1" dirty="0">
                    <a:sym typeface="+mn-ea"/>
                  </a:endParaRPr>
                </a:p>
              </p:txBody>
            </p:sp>
            <p:cxnSp>
              <p:nvCxnSpPr>
                <p:cNvPr id="38" name="直接连接符 37"/>
                <p:cNvCxnSpPr/>
                <p:nvPr>
                  <p:custDataLst>
                    <p:tags r:id="rId51"/>
                  </p:custDataLst>
                </p:nvPr>
              </p:nvCxnSpPr>
              <p:spPr>
                <a:xfrm>
                  <a:off x="2073" y="4115"/>
                  <a:ext cx="3685" cy="0"/>
                </a:xfrm>
                <a:prstGeom prst="line">
                  <a:avLst/>
                </a:prstGeom>
                <a:ln>
                  <a:gradFill>
                    <a:gsLst>
                      <a:gs pos="100000">
                        <a:srgbClr val="F59E0B"/>
                      </a:gs>
                      <a:gs pos="0">
                        <a:srgbClr val="FFB66F"/>
                      </a:gs>
                    </a:gsLst>
                    <a:path path="circle">
                      <a:fillToRect l="100000" t="100000"/>
                    </a:path>
                    <a:tileRect r="-100000" b="-100000"/>
                  </a:gradFill>
                </a:ln>
              </p:spPr>
              <p:style>
                <a:lnRef idx="2">
                  <a:schemeClr val="accent1"/>
                </a:lnRef>
                <a:fillRef idx="0">
                  <a:schemeClr val="accent1"/>
                </a:fillRef>
                <a:effectRef idx="1">
                  <a:schemeClr val="accent1"/>
                </a:effectRef>
                <a:fontRef idx="minor">
                  <a:schemeClr val="tx1"/>
                </a:fontRef>
              </p:style>
            </p:cxnSp>
          </p:grpSp>
        </p:grpSp>
        <p:grpSp>
          <p:nvGrpSpPr>
            <p:cNvPr id="40" name="组合 39"/>
            <p:cNvGrpSpPr/>
            <p:nvPr/>
          </p:nvGrpSpPr>
          <p:grpSpPr>
            <a:xfrm>
              <a:off x="8226" y="3156"/>
              <a:ext cx="926" cy="928"/>
              <a:chOff x="8226" y="3156"/>
              <a:chExt cx="926" cy="928"/>
            </a:xfrm>
          </p:grpSpPr>
          <p:sp>
            <p:nvSpPr>
              <p:cNvPr id="41" name="椭圆 40"/>
              <p:cNvSpPr>
                <a:spLocks noChangeAspect="1"/>
              </p:cNvSpPr>
              <p:nvPr>
                <p:custDataLst>
                  <p:tags r:id="rId52"/>
                </p:custDataLst>
              </p:nvPr>
            </p:nvSpPr>
            <p:spPr>
              <a:xfrm>
                <a:off x="8226" y="3156"/>
                <a:ext cx="927" cy="928"/>
              </a:xfrm>
              <a:prstGeom prst="ellipse">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2" name="图片 41" descr="security"/>
              <p:cNvPicPr>
                <a:picLocks noChangeAspect="1"/>
              </p:cNvPicPr>
              <p:nvPr>
                <p:custDataLst>
                  <p:tags r:id="rId53"/>
                </p:custDataLst>
              </p:nvPr>
            </p:nvPicPr>
            <p:blipFill>
              <a:blip r:embed="rId35"/>
              <a:stretch>
                <a:fillRect/>
              </a:stretch>
            </p:blipFill>
            <p:spPr>
              <a:xfrm>
                <a:off x="8394" y="3345"/>
                <a:ext cx="592" cy="592"/>
              </a:xfrm>
              <a:prstGeom prst="rect">
                <a:avLst/>
              </a:prstGeom>
            </p:spPr>
          </p:pic>
        </p:gr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950085" y="1331595"/>
            <a:ext cx="4998085" cy="4882515"/>
          </a:xfrm>
          <a:prstGeom prst="rect">
            <a:avLst/>
          </a:prstGeom>
          <a:solidFill>
            <a:schemeClr val="bg1"/>
          </a:solidFill>
          <a:ln w="2540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ym typeface="+mn-ea"/>
              </a:rPr>
              <a:t>512</a:t>
            </a:r>
            <a:r>
              <a:rPr lang="en-US" altLang="ja-JP">
                <a:sym typeface="+mn-ea"/>
              </a:rPr>
              <a:t>-D feature vector</a:t>
            </a:r>
            <a:endParaRPr lang="zh-CN" altLang="en-US"/>
          </a:p>
        </p:txBody>
      </p:sp>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System Architecture</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210" name="Card2BG"/>
          <p:cNvSpPr>
            <a:spLocks noGrp="1"/>
          </p:cNvSpPr>
          <p:nvPr>
            <p:custDataLst>
              <p:tags r:id="rId1"/>
            </p:custDataLst>
          </p:nvPr>
        </p:nvSpPr>
        <p:spPr>
          <a:xfrm>
            <a:off x="5323840" y="3284855"/>
            <a:ext cx="1390015" cy="1134745"/>
          </a:xfrm>
          <a:prstGeom prst="roundRect">
            <a:avLst>
              <a:gd name="adj" fmla="val 0"/>
            </a:avLst>
          </a:prstGeom>
          <a:solidFill>
            <a:schemeClr val="accent2">
              <a:lumMod val="60000"/>
              <a:lumOff val="40000"/>
              <a:alpha val="50000"/>
            </a:schemeClr>
          </a:solidFill>
          <a:ln w="15875">
            <a:solidFill>
              <a:srgbClr val="F09A70"/>
            </a:solidFill>
          </a:ln>
        </p:spPr>
        <p:txBody>
          <a:bodyPr anchor="ctr" anchorCtr="0"/>
          <a:p>
            <a:pPr algn="ctr"/>
            <a:r>
              <a:rPr lang="en-US"/>
              <a:t>Fusion</a:t>
            </a:r>
            <a:endParaRPr lang="en-US"/>
          </a:p>
        </p:txBody>
      </p:sp>
      <p:sp>
        <p:nvSpPr>
          <p:cNvPr id="200" name="Card1BG"/>
          <p:cNvSpPr>
            <a:spLocks noGrp="1"/>
          </p:cNvSpPr>
          <p:nvPr>
            <p:custDataLst>
              <p:tags r:id="rId2"/>
            </p:custDataLst>
          </p:nvPr>
        </p:nvSpPr>
        <p:spPr>
          <a:xfrm>
            <a:off x="132715" y="1077595"/>
            <a:ext cx="1450975" cy="1593215"/>
          </a:xfrm>
          <a:prstGeom prst="roundRect">
            <a:avLst>
              <a:gd name="adj" fmla="val 0"/>
            </a:avLst>
          </a:prstGeom>
          <a:solidFill>
            <a:srgbClr val="F5F5F5"/>
          </a:solidFill>
          <a:ln w="19050">
            <a:solidFill>
              <a:srgbClr val="DDDDDD"/>
            </a:solidFill>
          </a:ln>
        </p:spPr>
        <p:txBody>
          <a:bodyPr/>
          <a:p/>
        </p:txBody>
      </p:sp>
      <p:pic>
        <p:nvPicPr>
          <p:cNvPr id="202" name="EMGImg"/>
          <p:cNvPicPr>
            <a:picLocks noChangeAspect="1"/>
          </p:cNvPicPr>
          <p:nvPr>
            <p:custDataLst>
              <p:tags r:id="rId3"/>
            </p:custDataLst>
          </p:nvPr>
        </p:nvPicPr>
        <p:blipFill>
          <a:blip r:embed="rId4"/>
          <a:stretch>
            <a:fillRect/>
          </a:stretch>
        </p:blipFill>
        <p:spPr>
          <a:xfrm>
            <a:off x="220980" y="1331595"/>
            <a:ext cx="1270000" cy="1270000"/>
          </a:xfrm>
          <a:prstGeom prst="rect">
            <a:avLst/>
          </a:prstGeom>
        </p:spPr>
      </p:pic>
      <p:sp>
        <p:nvSpPr>
          <p:cNvPr id="203" name="Card1Text"/>
          <p:cNvSpPr txBox="1"/>
          <p:nvPr>
            <p:custDataLst>
              <p:tags r:id="rId5"/>
            </p:custDataLst>
          </p:nvPr>
        </p:nvSpPr>
        <p:spPr>
          <a:xfrm>
            <a:off x="220980" y="1076960"/>
            <a:ext cx="1270635" cy="254635"/>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EMG Sensor</a:t>
            </a:r>
            <a:endParaRPr lang="zh-CN" altLang="en-US" sz="1100" dirty="0">
              <a:solidFill>
                <a:srgbClr val="444444"/>
              </a:solidFill>
              <a:latin typeface="Calibri" panose="020F0502020204030204"/>
            </a:endParaRPr>
          </a:p>
        </p:txBody>
      </p:sp>
      <p:sp>
        <p:nvSpPr>
          <p:cNvPr id="2" name="Card1BG"/>
          <p:cNvSpPr>
            <a:spLocks noGrp="1"/>
          </p:cNvSpPr>
          <p:nvPr>
            <p:custDataLst>
              <p:tags r:id="rId6"/>
            </p:custDataLst>
          </p:nvPr>
        </p:nvSpPr>
        <p:spPr>
          <a:xfrm>
            <a:off x="126365" y="2921000"/>
            <a:ext cx="1450975" cy="1593215"/>
          </a:xfrm>
          <a:prstGeom prst="roundRect">
            <a:avLst>
              <a:gd name="adj" fmla="val 0"/>
            </a:avLst>
          </a:prstGeom>
          <a:solidFill>
            <a:srgbClr val="F5F5F5"/>
          </a:solidFill>
          <a:ln w="19050">
            <a:solidFill>
              <a:srgbClr val="DDDDDD"/>
            </a:solidFill>
          </a:ln>
        </p:spPr>
        <p:txBody>
          <a:bodyPr/>
          <a:p/>
        </p:txBody>
      </p:sp>
      <p:sp>
        <p:nvSpPr>
          <p:cNvPr id="4" name="Card1Text"/>
          <p:cNvSpPr txBox="1"/>
          <p:nvPr>
            <p:custDataLst>
              <p:tags r:id="rId7"/>
            </p:custDataLst>
          </p:nvPr>
        </p:nvSpPr>
        <p:spPr>
          <a:xfrm>
            <a:off x="213995" y="2921000"/>
            <a:ext cx="1270635" cy="254000"/>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Camera</a:t>
            </a:r>
            <a:endParaRPr lang="zh-CN" altLang="en-US" sz="1100" dirty="0">
              <a:solidFill>
                <a:srgbClr val="444444"/>
              </a:solidFill>
              <a:latin typeface="Calibri" panose="020F0502020204030204"/>
            </a:endParaRPr>
          </a:p>
        </p:txBody>
      </p:sp>
      <p:pic>
        <p:nvPicPr>
          <p:cNvPr id="212" name="CameraImg"/>
          <p:cNvPicPr>
            <a:picLocks noChangeAspect="1"/>
          </p:cNvPicPr>
          <p:nvPr>
            <p:custDataLst>
              <p:tags r:id="rId8"/>
            </p:custDataLst>
          </p:nvPr>
        </p:nvPicPr>
        <p:blipFill>
          <a:blip r:embed="rId9"/>
          <a:stretch>
            <a:fillRect/>
          </a:stretch>
        </p:blipFill>
        <p:spPr>
          <a:xfrm>
            <a:off x="214630" y="3175000"/>
            <a:ext cx="1270000" cy="1270000"/>
          </a:xfrm>
          <a:prstGeom prst="rect">
            <a:avLst/>
          </a:prstGeom>
        </p:spPr>
      </p:pic>
      <p:sp>
        <p:nvSpPr>
          <p:cNvPr id="13" name="Card1BG"/>
          <p:cNvSpPr>
            <a:spLocks noGrp="1"/>
          </p:cNvSpPr>
          <p:nvPr>
            <p:custDataLst>
              <p:tags r:id="rId10"/>
            </p:custDataLst>
          </p:nvPr>
        </p:nvSpPr>
        <p:spPr>
          <a:xfrm>
            <a:off x="132715" y="4833620"/>
            <a:ext cx="1450975" cy="1593215"/>
          </a:xfrm>
          <a:prstGeom prst="roundRect">
            <a:avLst>
              <a:gd name="adj" fmla="val 0"/>
            </a:avLst>
          </a:prstGeom>
          <a:solidFill>
            <a:srgbClr val="F5F5F5"/>
          </a:solidFill>
          <a:ln w="19050">
            <a:solidFill>
              <a:srgbClr val="DDDDDD"/>
            </a:solidFill>
          </a:ln>
        </p:spPr>
        <p:txBody>
          <a:bodyPr/>
          <a:p/>
        </p:txBody>
      </p:sp>
      <p:sp>
        <p:nvSpPr>
          <p:cNvPr id="14" name="Card1Text"/>
          <p:cNvSpPr txBox="1"/>
          <p:nvPr>
            <p:custDataLst>
              <p:tags r:id="rId11"/>
            </p:custDataLst>
          </p:nvPr>
        </p:nvSpPr>
        <p:spPr>
          <a:xfrm>
            <a:off x="220345" y="4833620"/>
            <a:ext cx="1270635" cy="254000"/>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IMU</a:t>
            </a:r>
            <a:endParaRPr lang="zh-CN" altLang="en-US" sz="1100" dirty="0">
              <a:solidFill>
                <a:srgbClr val="444444"/>
              </a:solidFill>
              <a:latin typeface="Calibri" panose="020F0502020204030204"/>
            </a:endParaRPr>
          </a:p>
        </p:txBody>
      </p:sp>
      <p:pic>
        <p:nvPicPr>
          <p:cNvPr id="222" name="IMUImg"/>
          <p:cNvPicPr>
            <a:picLocks noChangeAspect="1"/>
          </p:cNvPicPr>
          <p:nvPr>
            <p:custDataLst>
              <p:tags r:id="rId12"/>
            </p:custDataLst>
          </p:nvPr>
        </p:nvPicPr>
        <p:blipFill>
          <a:blip r:embed="rId13"/>
          <a:stretch>
            <a:fillRect/>
          </a:stretch>
        </p:blipFill>
        <p:spPr>
          <a:xfrm>
            <a:off x="213995" y="5087620"/>
            <a:ext cx="1270000" cy="1270000"/>
          </a:xfrm>
          <a:prstGeom prst="rect">
            <a:avLst/>
          </a:prstGeom>
        </p:spPr>
      </p:pic>
      <p:sp>
        <p:nvSpPr>
          <p:cNvPr id="18" name="Shape 15"/>
          <p:cNvSpPr/>
          <p:nvPr/>
        </p:nvSpPr>
        <p:spPr>
          <a:xfrm flipV="1">
            <a:off x="1654810" y="3780790"/>
            <a:ext cx="213360" cy="9525"/>
          </a:xfrm>
          <a:prstGeom prst="line">
            <a:avLst/>
          </a:prstGeom>
          <a:noFill/>
          <a:ln w="19050">
            <a:solidFill>
              <a:srgbClr val="14B8A6"/>
            </a:solidFill>
            <a:prstDash val="solid"/>
            <a:tailEnd type="triangle"/>
          </a:ln>
        </p:spPr>
      </p:sp>
      <p:sp>
        <p:nvSpPr>
          <p:cNvPr id="20" name="Card1BG"/>
          <p:cNvSpPr>
            <a:spLocks noGrp="1"/>
          </p:cNvSpPr>
          <p:nvPr>
            <p:custDataLst>
              <p:tags r:id="rId14"/>
            </p:custDataLst>
          </p:nvPr>
        </p:nvSpPr>
        <p:spPr>
          <a:xfrm>
            <a:off x="2100580" y="1565910"/>
            <a:ext cx="1245870" cy="619760"/>
          </a:xfrm>
          <a:prstGeom prst="roundRect">
            <a:avLst>
              <a:gd name="adj" fmla="val 0"/>
            </a:avLst>
          </a:prstGeom>
          <a:solidFill>
            <a:srgbClr val="F5F5F5"/>
          </a:solidFill>
          <a:ln w="19050">
            <a:solidFill>
              <a:srgbClr val="DDDDDD"/>
            </a:solidFill>
          </a:ln>
        </p:spPr>
        <p:txBody>
          <a:bodyPr anchor="ctr" anchorCtr="0"/>
          <a:p>
            <a:pPr algn="ctr"/>
            <a:r>
              <a:rPr lang="en-US" altLang="zh-CN"/>
              <a:t>1D CNN</a:t>
            </a:r>
            <a:endParaRPr lang="en-US" altLang="zh-CN"/>
          </a:p>
        </p:txBody>
      </p:sp>
      <p:sp>
        <p:nvSpPr>
          <p:cNvPr id="21" name="Card1BG"/>
          <p:cNvSpPr>
            <a:spLocks noGrp="1"/>
          </p:cNvSpPr>
          <p:nvPr>
            <p:custDataLst>
              <p:tags r:id="rId15"/>
            </p:custDataLst>
          </p:nvPr>
        </p:nvSpPr>
        <p:spPr>
          <a:xfrm>
            <a:off x="2093595" y="5436870"/>
            <a:ext cx="1247775" cy="619760"/>
          </a:xfrm>
          <a:prstGeom prst="roundRect">
            <a:avLst>
              <a:gd name="adj" fmla="val 0"/>
            </a:avLst>
          </a:prstGeom>
          <a:solidFill>
            <a:srgbClr val="F5F5F5"/>
          </a:solidFill>
          <a:ln w="19050">
            <a:solidFill>
              <a:srgbClr val="DDDDDD"/>
            </a:solidFill>
          </a:ln>
        </p:spPr>
        <p:txBody>
          <a:bodyPr anchor="ctr" anchorCtr="0"/>
          <a:p>
            <a:pPr algn="ctr"/>
            <a:r>
              <a:rPr lang="en-US" altLang="zh-CN"/>
              <a:t>Network</a:t>
            </a:r>
            <a:endParaRPr lang="en-US" altLang="zh-CN"/>
          </a:p>
        </p:txBody>
      </p:sp>
      <p:sp>
        <p:nvSpPr>
          <p:cNvPr id="22" name="Card1BG"/>
          <p:cNvSpPr>
            <a:spLocks noGrp="1"/>
          </p:cNvSpPr>
          <p:nvPr>
            <p:custDataLst>
              <p:tags r:id="rId16"/>
            </p:custDataLst>
          </p:nvPr>
        </p:nvSpPr>
        <p:spPr>
          <a:xfrm>
            <a:off x="2106930" y="3501390"/>
            <a:ext cx="1239520" cy="619760"/>
          </a:xfrm>
          <a:prstGeom prst="roundRect">
            <a:avLst>
              <a:gd name="adj" fmla="val 0"/>
            </a:avLst>
          </a:prstGeom>
          <a:solidFill>
            <a:srgbClr val="F5F5F5"/>
          </a:solidFill>
          <a:ln w="19050">
            <a:solidFill>
              <a:srgbClr val="DDDDDD"/>
            </a:solidFill>
          </a:ln>
        </p:spPr>
        <p:txBody>
          <a:bodyPr anchor="ctr" anchorCtr="0"/>
          <a:p>
            <a:pPr algn="ctr"/>
            <a:r>
              <a:rPr lang="en-US" altLang="ja-JP">
                <a:sym typeface="+mn-ea"/>
              </a:rPr>
              <a:t>ResNet18</a:t>
            </a:r>
            <a:endParaRPr lang="en-US" altLang="zh-CN"/>
          </a:p>
        </p:txBody>
      </p:sp>
      <p:sp>
        <p:nvSpPr>
          <p:cNvPr id="23" name="Shape 15"/>
          <p:cNvSpPr/>
          <p:nvPr/>
        </p:nvSpPr>
        <p:spPr>
          <a:xfrm flipV="1">
            <a:off x="3541395" y="3790315"/>
            <a:ext cx="1588135" cy="8890"/>
          </a:xfrm>
          <a:prstGeom prst="line">
            <a:avLst/>
          </a:prstGeom>
          <a:noFill/>
          <a:ln w="19050">
            <a:solidFill>
              <a:srgbClr val="14B8A6"/>
            </a:solidFill>
            <a:prstDash val="solid"/>
            <a:tailEnd type="triangle"/>
          </a:ln>
        </p:spPr>
      </p:sp>
      <p:grpSp>
        <p:nvGrpSpPr>
          <p:cNvPr id="15" name="组合 14"/>
          <p:cNvGrpSpPr/>
          <p:nvPr/>
        </p:nvGrpSpPr>
        <p:grpSpPr>
          <a:xfrm>
            <a:off x="7486650" y="2814955"/>
            <a:ext cx="1527175" cy="1778635"/>
            <a:chOff x="13115" y="4247"/>
            <a:chExt cx="3075" cy="3932"/>
          </a:xfrm>
        </p:grpSpPr>
        <p:sp>
          <p:nvSpPr>
            <p:cNvPr id="300" name="HandCardBG"/>
            <p:cNvSpPr>
              <a:spLocks noGrp="1"/>
            </p:cNvSpPr>
            <p:nvPr/>
          </p:nvSpPr>
          <p:spPr>
            <a:xfrm>
              <a:off x="13115" y="4247"/>
              <a:ext cx="3075" cy="3932"/>
            </a:xfrm>
            <a:prstGeom prst="roundRect">
              <a:avLst>
                <a:gd name="adj" fmla="val 0"/>
              </a:avLst>
            </a:prstGeom>
            <a:solidFill>
              <a:srgbClr val="EEF3F8"/>
            </a:solidFill>
            <a:ln w="28575">
              <a:solidFill>
                <a:srgbClr val="1E3A5F"/>
              </a:solidFill>
            </a:ln>
          </p:spPr>
          <p:txBody>
            <a:bodyPr/>
            <a:p/>
          </p:txBody>
        </p:sp>
        <p:pic>
          <p:nvPicPr>
            <p:cNvPr id="301" name="HandImg"/>
            <p:cNvPicPr>
              <a:picLocks noChangeAspect="1"/>
            </p:cNvPicPr>
            <p:nvPr/>
          </p:nvPicPr>
          <p:blipFill>
            <a:blip r:embed="rId17"/>
            <a:stretch>
              <a:fillRect/>
            </a:stretch>
          </p:blipFill>
          <p:spPr>
            <a:xfrm>
              <a:off x="13261" y="4429"/>
              <a:ext cx="2779" cy="2520"/>
            </a:xfrm>
            <a:prstGeom prst="rect">
              <a:avLst/>
            </a:prstGeom>
          </p:spPr>
        </p:pic>
        <p:sp>
          <p:nvSpPr>
            <p:cNvPr id="44" name="文本框 43"/>
            <p:cNvSpPr txBox="1"/>
            <p:nvPr/>
          </p:nvSpPr>
          <p:spPr>
            <a:xfrm>
              <a:off x="13261" y="6950"/>
              <a:ext cx="2779" cy="1154"/>
            </a:xfrm>
            <a:prstGeom prst="rect">
              <a:avLst/>
            </a:prstGeom>
            <a:noFill/>
          </p:spPr>
          <p:txBody>
            <a:bodyPr wrap="square" rtlCol="0">
              <a:spAutoFit/>
            </a:bodyPr>
            <a:p>
              <a:pPr algn="ctr"/>
              <a:r>
                <a:rPr lang="en-US" altLang="zh-CN" sz="1400"/>
                <a:t>Motor Rotation Angle</a:t>
              </a:r>
              <a:endParaRPr lang="en-US" altLang="zh-CN" sz="1400"/>
            </a:p>
          </p:txBody>
        </p:sp>
      </p:grpSp>
      <p:sp>
        <p:nvSpPr>
          <p:cNvPr id="7" name="文本框 6"/>
          <p:cNvSpPr txBox="1"/>
          <p:nvPr/>
        </p:nvSpPr>
        <p:spPr>
          <a:xfrm>
            <a:off x="2805430" y="923290"/>
            <a:ext cx="3048000" cy="368300"/>
          </a:xfrm>
          <a:prstGeom prst="rect">
            <a:avLst/>
          </a:prstGeom>
          <a:noFill/>
        </p:spPr>
        <p:txBody>
          <a:bodyPr wrap="square" rtlCol="0">
            <a:spAutoFit/>
          </a:bodyPr>
          <a:p>
            <a:pPr algn="ctr"/>
            <a:r>
              <a:rPr lang="en-US" altLang="zh-CN"/>
              <a:t>System</a:t>
            </a:r>
            <a:endParaRPr lang="en-US" altLang="zh-CN"/>
          </a:p>
        </p:txBody>
      </p:sp>
      <p:sp>
        <p:nvSpPr>
          <p:cNvPr id="11" name="文本框 10"/>
          <p:cNvSpPr txBox="1"/>
          <p:nvPr/>
        </p:nvSpPr>
        <p:spPr>
          <a:xfrm>
            <a:off x="3396615" y="1510665"/>
            <a:ext cx="2046605" cy="337185"/>
          </a:xfrm>
          <a:prstGeom prst="rect">
            <a:avLst/>
          </a:prstGeom>
          <a:noFill/>
        </p:spPr>
        <p:txBody>
          <a:bodyPr wrap="square" rtlCol="0" anchor="t">
            <a:spAutoFit/>
          </a:bodyPr>
          <a:p>
            <a:r>
              <a:rPr lang="en-US" altLang="ja-JP" sz="1600">
                <a:sym typeface="+mn-ea"/>
              </a:rPr>
              <a:t>32-D feature vector</a:t>
            </a:r>
            <a:endParaRPr lang="en-US" altLang="ja-JP" sz="1600">
              <a:sym typeface="+mn-ea"/>
            </a:endParaRPr>
          </a:p>
        </p:txBody>
      </p:sp>
      <p:sp>
        <p:nvSpPr>
          <p:cNvPr id="12" name="文本框 11"/>
          <p:cNvSpPr txBox="1"/>
          <p:nvPr/>
        </p:nvSpPr>
        <p:spPr>
          <a:xfrm>
            <a:off x="3355340" y="3501390"/>
            <a:ext cx="1882775" cy="337185"/>
          </a:xfrm>
          <a:prstGeom prst="rect">
            <a:avLst/>
          </a:prstGeom>
          <a:noFill/>
        </p:spPr>
        <p:txBody>
          <a:bodyPr wrap="square" rtlCol="0" anchor="t">
            <a:spAutoFit/>
          </a:bodyPr>
          <a:p>
            <a:pPr algn="ctr"/>
            <a:r>
              <a:rPr lang="en-US" altLang="zh-CN" sz="1600">
                <a:sym typeface="+mn-ea"/>
              </a:rPr>
              <a:t>512</a:t>
            </a:r>
            <a:r>
              <a:rPr lang="en-US" altLang="ja-JP" sz="1600">
                <a:sym typeface="+mn-ea"/>
              </a:rPr>
              <a:t>-D feature vector</a:t>
            </a:r>
            <a:endParaRPr lang="en-US" altLang="ja-JP" sz="1600">
              <a:sym typeface="+mn-ea"/>
            </a:endParaRPr>
          </a:p>
        </p:txBody>
      </p:sp>
      <p:sp>
        <p:nvSpPr>
          <p:cNvPr id="16" name="Shape 15"/>
          <p:cNvSpPr/>
          <p:nvPr/>
        </p:nvSpPr>
        <p:spPr>
          <a:xfrm flipV="1">
            <a:off x="1657985" y="5664200"/>
            <a:ext cx="213360" cy="9525"/>
          </a:xfrm>
          <a:prstGeom prst="line">
            <a:avLst/>
          </a:prstGeom>
          <a:noFill/>
          <a:ln w="19050">
            <a:solidFill>
              <a:srgbClr val="14B8A6"/>
            </a:solidFill>
            <a:prstDash val="solid"/>
            <a:tailEnd type="triangle"/>
          </a:ln>
        </p:spPr>
      </p:sp>
      <p:sp>
        <p:nvSpPr>
          <p:cNvPr id="24" name="Shape 15"/>
          <p:cNvSpPr/>
          <p:nvPr/>
        </p:nvSpPr>
        <p:spPr>
          <a:xfrm flipV="1">
            <a:off x="1657985" y="1869440"/>
            <a:ext cx="213360" cy="9525"/>
          </a:xfrm>
          <a:prstGeom prst="line">
            <a:avLst/>
          </a:prstGeom>
          <a:noFill/>
          <a:ln w="19050">
            <a:solidFill>
              <a:srgbClr val="14B8A6"/>
            </a:solidFill>
            <a:prstDash val="solid"/>
            <a:tailEnd type="triangle"/>
          </a:ln>
        </p:spPr>
      </p:sp>
      <p:sp>
        <p:nvSpPr>
          <p:cNvPr id="27" name="Shape 15"/>
          <p:cNvSpPr/>
          <p:nvPr/>
        </p:nvSpPr>
        <p:spPr>
          <a:xfrm flipV="1">
            <a:off x="7110730" y="3771265"/>
            <a:ext cx="213360" cy="9525"/>
          </a:xfrm>
          <a:prstGeom prst="line">
            <a:avLst/>
          </a:prstGeom>
          <a:noFill/>
          <a:ln w="19050">
            <a:solidFill>
              <a:srgbClr val="14B8A6"/>
            </a:solidFill>
            <a:prstDash val="solid"/>
            <a:tailEnd type="triangle"/>
          </a:ln>
        </p:spPr>
      </p:sp>
      <p:sp>
        <p:nvSpPr>
          <p:cNvPr id="28" name="任意多边形 27"/>
          <p:cNvSpPr/>
          <p:nvPr/>
        </p:nvSpPr>
        <p:spPr>
          <a:xfrm>
            <a:off x="3396615" y="1851660"/>
            <a:ext cx="2556510" cy="1302385"/>
          </a:xfrm>
          <a:custGeom>
            <a:avLst/>
            <a:gdLst>
              <a:gd name="connisteX0" fmla="*/ 0 w 2556510"/>
              <a:gd name="connsiteY0" fmla="*/ 9525 h 1302385"/>
              <a:gd name="connisteX1" fmla="*/ 1553210 w 2556510"/>
              <a:gd name="connsiteY1" fmla="*/ 0 h 1302385"/>
              <a:gd name="connisteX2" fmla="*/ 2556510 w 2556510"/>
              <a:gd name="connsiteY2" fmla="*/ 1302385 h 1302385"/>
            </a:gdLst>
            <a:ahLst/>
            <a:cxnLst>
              <a:cxn ang="0">
                <a:pos x="connisteX0" y="connsiteY0"/>
              </a:cxn>
              <a:cxn ang="0">
                <a:pos x="connisteX1" y="connsiteY1"/>
              </a:cxn>
              <a:cxn ang="0">
                <a:pos x="connisteX2" y="connsiteY2"/>
              </a:cxn>
            </a:cxnLst>
            <a:rect l="l" t="t" r="r" b="b"/>
            <a:pathLst>
              <a:path w="2556510" h="1302385">
                <a:moveTo>
                  <a:pt x="0" y="9525"/>
                </a:moveTo>
                <a:lnTo>
                  <a:pt x="1553210" y="0"/>
                </a:lnTo>
                <a:lnTo>
                  <a:pt x="2556510" y="1302385"/>
                </a:lnTo>
              </a:path>
            </a:pathLst>
          </a:custGeom>
          <a:noFill/>
          <a:ln>
            <a:solidFill>
              <a:srgbClr val="14B8A6"/>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任意多边形 28"/>
          <p:cNvSpPr/>
          <p:nvPr/>
        </p:nvSpPr>
        <p:spPr>
          <a:xfrm>
            <a:off x="3368040" y="4513580"/>
            <a:ext cx="2604135" cy="1215390"/>
          </a:xfrm>
          <a:custGeom>
            <a:avLst/>
            <a:gdLst>
              <a:gd name="connisteX0" fmla="*/ 0 w 2604135"/>
              <a:gd name="connsiteY0" fmla="*/ 1215390 h 1215390"/>
              <a:gd name="connisteX1" fmla="*/ 1851660 w 2604135"/>
              <a:gd name="connsiteY1" fmla="*/ 1215390 h 1215390"/>
              <a:gd name="connisteX2" fmla="*/ 2604135 w 2604135"/>
              <a:gd name="connsiteY2" fmla="*/ 0 h 1215390"/>
            </a:gdLst>
            <a:ahLst/>
            <a:cxnLst>
              <a:cxn ang="0">
                <a:pos x="connisteX0" y="connsiteY0"/>
              </a:cxn>
              <a:cxn ang="0">
                <a:pos x="connisteX1" y="connsiteY1"/>
              </a:cxn>
              <a:cxn ang="0">
                <a:pos x="connisteX2" y="connsiteY2"/>
              </a:cxn>
            </a:cxnLst>
            <a:rect l="l" t="t" r="r" b="b"/>
            <a:pathLst>
              <a:path w="2604135" h="1215390">
                <a:moveTo>
                  <a:pt x="0" y="1215390"/>
                </a:moveTo>
                <a:lnTo>
                  <a:pt x="1851660" y="1215390"/>
                </a:lnTo>
                <a:lnTo>
                  <a:pt x="2604135" y="0"/>
                </a:lnTo>
              </a:path>
            </a:pathLst>
          </a:custGeom>
          <a:noFill/>
          <a:ln>
            <a:solidFill>
              <a:srgbClr val="14B8A6"/>
            </a:solid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Fusion Strategy</a:t>
            </a:r>
            <a:endParaRPr lang="en-US" altLang="zh-CN" sz="3200" b="1" dirty="0">
              <a:latin typeface="Times New Roman" panose="02020603050405020304"/>
            </a:endParaRPr>
          </a:p>
        </p:txBody>
      </p:sp>
      <p:sp>
        <p:nvSpPr>
          <p:cNvPr id="32" name="Shape 25"/>
          <p:cNvSpPr/>
          <p:nvPr>
            <p:custDataLst>
              <p:tags r:id="rId1"/>
            </p:custDataLst>
          </p:nvPr>
        </p:nvSpPr>
        <p:spPr>
          <a:xfrm>
            <a:off x="1175385" y="2329180"/>
            <a:ext cx="2668905" cy="422910"/>
          </a:xfrm>
          <a:prstGeom prst="rect">
            <a:avLst/>
          </a:prstGeom>
          <a:solidFill>
            <a:srgbClr val="F59E0B">
              <a:alpha val="10000"/>
            </a:srgbClr>
          </a:solidFill>
          <a:ln w="19050">
            <a:solidFill>
              <a:srgbClr val="F59E0B"/>
            </a:solidFill>
            <a:prstDash val="solid"/>
          </a:ln>
        </p:spPr>
        <p:txBody>
          <a:bodyPr/>
          <a:p>
            <a:pPr algn="ctr"/>
            <a:r>
              <a:rPr lang="en-US" altLang="zh-CN"/>
              <a:t>Grasping Intention</a:t>
            </a:r>
            <a:endParaRPr lang="en-US" altLang="zh-CN"/>
          </a:p>
        </p:txBody>
      </p:sp>
      <p:grpSp>
        <p:nvGrpSpPr>
          <p:cNvPr id="33" name="组合 32"/>
          <p:cNvGrpSpPr/>
          <p:nvPr/>
        </p:nvGrpSpPr>
        <p:grpSpPr>
          <a:xfrm>
            <a:off x="1174750" y="1207135"/>
            <a:ext cx="2669540" cy="388620"/>
            <a:chOff x="2430" y="3065"/>
            <a:chExt cx="4204" cy="612"/>
          </a:xfrm>
        </p:grpSpPr>
        <p:sp>
          <p:nvSpPr>
            <p:cNvPr id="44" name="Shape 26"/>
            <p:cNvSpPr/>
            <p:nvPr>
              <p:custDataLst>
                <p:tags r:id="rId2"/>
              </p:custDataLst>
            </p:nvPr>
          </p:nvSpPr>
          <p:spPr>
            <a:xfrm>
              <a:off x="2430" y="3065"/>
              <a:ext cx="4204" cy="613"/>
            </a:xfrm>
            <a:prstGeom prst="rect">
              <a:avLst/>
            </a:prstGeom>
            <a:solidFill>
              <a:srgbClr val="F59E0B"/>
            </a:solidFill>
            <a:ln w="19050">
              <a:solidFill>
                <a:srgbClr val="F59E0B"/>
              </a:solidFill>
              <a:prstDash val="solid"/>
            </a:ln>
          </p:spPr>
        </p:sp>
        <p:sp>
          <p:nvSpPr>
            <p:cNvPr id="45" name="Text 27"/>
            <p:cNvSpPr/>
            <p:nvPr>
              <p:custDataLst>
                <p:tags r:id="rId3"/>
              </p:custDataLst>
            </p:nvPr>
          </p:nvSpPr>
          <p:spPr>
            <a:xfrm>
              <a:off x="2430" y="3065"/>
              <a:ext cx="4204" cy="613"/>
            </a:xfrm>
            <a:prstGeom prst="rect">
              <a:avLst/>
            </a:prstGeom>
            <a:noFill/>
          </p:spPr>
          <p:txBody>
            <a:bodyPr wrap="square" lIns="0" tIns="0" rIns="0" bIns="0" rtlCol="0" anchor="ctr"/>
            <a:lstStyle/>
            <a:p>
              <a:pPr marL="0" indent="0" algn="ctr">
                <a:buNone/>
              </a:pPr>
              <a:r>
                <a:rPr lang="en-US" altLang="zh-CN" b="1" dirty="0"/>
                <a:t>EMG</a:t>
              </a:r>
              <a:endParaRPr lang="en-US" altLang="zh-CN" b="1" dirty="0"/>
            </a:p>
          </p:txBody>
        </p:sp>
      </p:grpSp>
      <p:sp>
        <p:nvSpPr>
          <p:cNvPr id="34" name="下箭头 33"/>
          <p:cNvSpPr/>
          <p:nvPr/>
        </p:nvSpPr>
        <p:spPr>
          <a:xfrm>
            <a:off x="1672590" y="1692275"/>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下箭头 34"/>
          <p:cNvSpPr/>
          <p:nvPr/>
        </p:nvSpPr>
        <p:spPr>
          <a:xfrm>
            <a:off x="2938145" y="1692275"/>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Shape 25"/>
          <p:cNvSpPr/>
          <p:nvPr>
            <p:custDataLst>
              <p:tags r:id="rId4"/>
            </p:custDataLst>
          </p:nvPr>
        </p:nvSpPr>
        <p:spPr>
          <a:xfrm>
            <a:off x="5268595" y="2303780"/>
            <a:ext cx="2668905" cy="422910"/>
          </a:xfrm>
          <a:prstGeom prst="rect">
            <a:avLst/>
          </a:prstGeom>
          <a:solidFill>
            <a:srgbClr val="F59E0B">
              <a:alpha val="10000"/>
            </a:srgbClr>
          </a:solidFill>
          <a:ln w="19050">
            <a:solidFill>
              <a:srgbClr val="F59E0B"/>
            </a:solidFill>
            <a:prstDash val="solid"/>
          </a:ln>
        </p:spPr>
        <p:txBody>
          <a:bodyPr/>
          <a:p>
            <a:pPr algn="ctr"/>
            <a:r>
              <a:rPr lang="en-US" altLang="zh-CN"/>
              <a:t>Target Size</a:t>
            </a:r>
            <a:endParaRPr lang="en-US" altLang="zh-CN"/>
          </a:p>
        </p:txBody>
      </p:sp>
      <p:grpSp>
        <p:nvGrpSpPr>
          <p:cNvPr id="37" name="组合 36"/>
          <p:cNvGrpSpPr/>
          <p:nvPr/>
        </p:nvGrpSpPr>
        <p:grpSpPr>
          <a:xfrm>
            <a:off x="5267960" y="1181735"/>
            <a:ext cx="2669540" cy="388620"/>
            <a:chOff x="2430" y="3065"/>
            <a:chExt cx="4204" cy="612"/>
          </a:xfrm>
        </p:grpSpPr>
        <p:sp>
          <p:nvSpPr>
            <p:cNvPr id="38" name="Shape 26"/>
            <p:cNvSpPr/>
            <p:nvPr>
              <p:custDataLst>
                <p:tags r:id="rId5"/>
              </p:custDataLst>
            </p:nvPr>
          </p:nvSpPr>
          <p:spPr>
            <a:xfrm>
              <a:off x="2430" y="3065"/>
              <a:ext cx="4204" cy="613"/>
            </a:xfrm>
            <a:prstGeom prst="rect">
              <a:avLst/>
            </a:prstGeom>
            <a:solidFill>
              <a:srgbClr val="F59E0B"/>
            </a:solidFill>
            <a:ln w="19050">
              <a:solidFill>
                <a:srgbClr val="F59E0B"/>
              </a:solidFill>
              <a:prstDash val="solid"/>
            </a:ln>
          </p:spPr>
        </p:sp>
        <p:sp>
          <p:nvSpPr>
            <p:cNvPr id="39" name="Text 27"/>
            <p:cNvSpPr/>
            <p:nvPr>
              <p:custDataLst>
                <p:tags r:id="rId6"/>
              </p:custDataLst>
            </p:nvPr>
          </p:nvSpPr>
          <p:spPr>
            <a:xfrm>
              <a:off x="2430" y="3065"/>
              <a:ext cx="4204" cy="613"/>
            </a:xfrm>
            <a:prstGeom prst="rect">
              <a:avLst/>
            </a:prstGeom>
            <a:noFill/>
          </p:spPr>
          <p:txBody>
            <a:bodyPr wrap="square" lIns="0" tIns="0" rIns="0" bIns="0" rtlCol="0" anchor="ctr"/>
            <a:lstStyle/>
            <a:p>
              <a:pPr marL="0" indent="0" algn="ctr">
                <a:buNone/>
              </a:pPr>
              <a:r>
                <a:rPr lang="en-US" altLang="zh-CN" b="1" dirty="0">
                  <a:sym typeface="+mn-ea"/>
                </a:rPr>
                <a:t>Camera</a:t>
              </a:r>
              <a:endParaRPr lang="en-US" altLang="zh-CN" b="1" dirty="0"/>
            </a:p>
          </p:txBody>
        </p:sp>
      </p:grpSp>
      <p:sp>
        <p:nvSpPr>
          <p:cNvPr id="40" name="下箭头 39"/>
          <p:cNvSpPr/>
          <p:nvPr/>
        </p:nvSpPr>
        <p:spPr>
          <a:xfrm>
            <a:off x="5765800" y="1666875"/>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下箭头 45"/>
          <p:cNvSpPr/>
          <p:nvPr/>
        </p:nvSpPr>
        <p:spPr>
          <a:xfrm>
            <a:off x="7031355" y="1666875"/>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下箭头 48"/>
          <p:cNvSpPr/>
          <p:nvPr/>
        </p:nvSpPr>
        <p:spPr>
          <a:xfrm>
            <a:off x="1697990" y="3117850"/>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0" name="下箭头 49"/>
          <p:cNvSpPr/>
          <p:nvPr/>
        </p:nvSpPr>
        <p:spPr>
          <a:xfrm>
            <a:off x="2963545" y="3117850"/>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下箭头 50"/>
          <p:cNvSpPr/>
          <p:nvPr/>
        </p:nvSpPr>
        <p:spPr>
          <a:xfrm>
            <a:off x="5765800" y="3105785"/>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下箭头 52"/>
          <p:cNvSpPr/>
          <p:nvPr/>
        </p:nvSpPr>
        <p:spPr>
          <a:xfrm>
            <a:off x="7031355" y="3105785"/>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Shape 25"/>
          <p:cNvSpPr/>
          <p:nvPr>
            <p:custDataLst>
              <p:tags r:id="rId7"/>
            </p:custDataLst>
          </p:nvPr>
        </p:nvSpPr>
        <p:spPr>
          <a:xfrm>
            <a:off x="1174750" y="3896995"/>
            <a:ext cx="2668905" cy="422910"/>
          </a:xfrm>
          <a:prstGeom prst="rect">
            <a:avLst/>
          </a:prstGeom>
          <a:solidFill>
            <a:srgbClr val="F59E0B">
              <a:alpha val="10000"/>
            </a:srgbClr>
          </a:solidFill>
          <a:ln w="19050">
            <a:solidFill>
              <a:srgbClr val="F59E0B"/>
            </a:solidFill>
            <a:prstDash val="solid"/>
          </a:ln>
        </p:spPr>
        <p:txBody>
          <a:bodyPr/>
          <a:p>
            <a:pPr algn="ctr"/>
            <a:r>
              <a:rPr lang="en-US" altLang="zh-CN"/>
              <a:t>Open/Close/Stay</a:t>
            </a:r>
            <a:endParaRPr lang="en-US" altLang="zh-CN"/>
          </a:p>
        </p:txBody>
      </p:sp>
      <p:sp>
        <p:nvSpPr>
          <p:cNvPr id="55" name="Shape 25"/>
          <p:cNvSpPr/>
          <p:nvPr>
            <p:custDataLst>
              <p:tags r:id="rId8"/>
            </p:custDataLst>
          </p:nvPr>
        </p:nvSpPr>
        <p:spPr>
          <a:xfrm>
            <a:off x="5268595" y="3905885"/>
            <a:ext cx="2668905" cy="422910"/>
          </a:xfrm>
          <a:prstGeom prst="rect">
            <a:avLst/>
          </a:prstGeom>
          <a:solidFill>
            <a:srgbClr val="F59E0B">
              <a:alpha val="10000"/>
            </a:srgbClr>
          </a:solidFill>
          <a:ln w="19050">
            <a:solidFill>
              <a:srgbClr val="F59E0B"/>
            </a:solidFill>
            <a:prstDash val="solid"/>
          </a:ln>
        </p:spPr>
        <p:txBody>
          <a:bodyPr/>
          <a:p>
            <a:pPr algn="ctr"/>
            <a:r>
              <a:rPr lang="en-US" altLang="zh-CN"/>
              <a:t>23.5/62.1/33.3...</a:t>
            </a:r>
            <a:endParaRPr lang="zh-CN" altLang="en-US">
              <a:ea typeface="SimSun" panose="02010600030101010101" pitchFamily="2" charset="-122"/>
            </a:endParaRPr>
          </a:p>
        </p:txBody>
      </p:sp>
      <p:sp>
        <p:nvSpPr>
          <p:cNvPr id="58" name="下箭头 57"/>
          <p:cNvSpPr/>
          <p:nvPr/>
        </p:nvSpPr>
        <p:spPr>
          <a:xfrm rot="18900000">
            <a:off x="2301875" y="4691380"/>
            <a:ext cx="414655" cy="83883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下箭头 58"/>
          <p:cNvSpPr/>
          <p:nvPr/>
        </p:nvSpPr>
        <p:spPr>
          <a:xfrm rot="2700000">
            <a:off x="6395720" y="4691380"/>
            <a:ext cx="414655" cy="83883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61" name="组合 60"/>
          <p:cNvGrpSpPr/>
          <p:nvPr/>
        </p:nvGrpSpPr>
        <p:grpSpPr>
          <a:xfrm>
            <a:off x="3221355" y="5694045"/>
            <a:ext cx="2669540" cy="388620"/>
            <a:chOff x="2430" y="3065"/>
            <a:chExt cx="4204" cy="612"/>
          </a:xfrm>
        </p:grpSpPr>
        <p:sp>
          <p:nvSpPr>
            <p:cNvPr id="62" name="Shape 26"/>
            <p:cNvSpPr/>
            <p:nvPr>
              <p:custDataLst>
                <p:tags r:id="rId9"/>
              </p:custDataLst>
            </p:nvPr>
          </p:nvSpPr>
          <p:spPr>
            <a:xfrm>
              <a:off x="2430" y="3065"/>
              <a:ext cx="4204" cy="613"/>
            </a:xfrm>
            <a:prstGeom prst="rect">
              <a:avLst/>
            </a:prstGeom>
            <a:solidFill>
              <a:srgbClr val="F59E0B"/>
            </a:solidFill>
            <a:ln w="19050">
              <a:solidFill>
                <a:srgbClr val="F59E0B"/>
              </a:solidFill>
              <a:prstDash val="solid"/>
            </a:ln>
          </p:spPr>
          <p:txBody>
            <a:bodyPr/>
            <a:p>
              <a:endParaRPr lang="zh-CN" altLang="en-US"/>
            </a:p>
          </p:txBody>
        </p:sp>
        <p:sp>
          <p:nvSpPr>
            <p:cNvPr id="63" name="Text 27"/>
            <p:cNvSpPr/>
            <p:nvPr>
              <p:custDataLst>
                <p:tags r:id="rId10"/>
              </p:custDataLst>
            </p:nvPr>
          </p:nvSpPr>
          <p:spPr>
            <a:xfrm>
              <a:off x="2430" y="3065"/>
              <a:ext cx="4204" cy="613"/>
            </a:xfrm>
            <a:prstGeom prst="rect">
              <a:avLst/>
            </a:prstGeom>
            <a:noFill/>
          </p:spPr>
          <p:txBody>
            <a:bodyPr wrap="square" lIns="0" tIns="0" rIns="0" bIns="0" rtlCol="0" anchor="ctr"/>
            <a:lstStyle/>
            <a:p>
              <a:pPr marL="0" indent="0" algn="ctr">
                <a:buNone/>
              </a:pPr>
              <a:r>
                <a:rPr lang="en-US" altLang="zh-CN" b="1" dirty="0"/>
                <a:t>Output</a:t>
              </a:r>
              <a:endParaRPr lang="en-US" altLang="zh-CN" b="1" dirty="0"/>
            </a:p>
          </p:txBody>
        </p:sp>
      </p:grpSp>
      <p:sp>
        <p:nvSpPr>
          <p:cNvPr id="64" name="文本框 63"/>
          <p:cNvSpPr txBox="1"/>
          <p:nvPr/>
        </p:nvSpPr>
        <p:spPr>
          <a:xfrm>
            <a:off x="3199130" y="5044440"/>
            <a:ext cx="2691130" cy="368300"/>
          </a:xfrm>
          <a:prstGeom prst="rect">
            <a:avLst/>
          </a:prstGeom>
        </p:spPr>
        <p:txBody>
          <a:bodyPr wrap="square">
            <a:spAutoFit/>
          </a:bodyPr>
          <a:p>
            <a:pPr algn="ctr"/>
            <a:r>
              <a:rPr lang="en-US" altLang="ja-JP"/>
              <a:t>Fusion</a:t>
            </a:r>
            <a:endParaRPr lang="en-US" altLang="ja-JP"/>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Figure_1321"/>
          <p:cNvPicPr>
            <a:picLocks noChangeAspect="1"/>
          </p:cNvPicPr>
          <p:nvPr/>
        </p:nvPicPr>
        <p:blipFill>
          <a:blip r:embed="rId1"/>
          <a:stretch>
            <a:fillRect/>
          </a:stretch>
        </p:blipFill>
        <p:spPr>
          <a:xfrm>
            <a:off x="1731010" y="4312920"/>
            <a:ext cx="5699760" cy="2545080"/>
          </a:xfrm>
          <a:prstGeom prst="rect">
            <a:avLst/>
          </a:prstGeom>
        </p:spPr>
      </p:pic>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rPr>
              <a:t>Data Collection</a:t>
            </a:r>
            <a:endParaRPr lang="en-US" altLang="zh-CN" sz="3200" b="1" dirty="0">
              <a:latin typeface="Times New Roman" panose="02020603050405020304"/>
            </a:endParaRPr>
          </a:p>
        </p:txBody>
      </p:sp>
      <p:pic>
        <p:nvPicPr>
          <p:cNvPr id="3" name="7月7日">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41680" y="817880"/>
            <a:ext cx="7678420" cy="2799715"/>
          </a:xfrm>
          <a:prstGeom prst="rect">
            <a:avLst/>
          </a:prstGeom>
        </p:spPr>
      </p:pic>
      <p:sp>
        <p:nvSpPr>
          <p:cNvPr id="4" name="文本框 3"/>
          <p:cNvSpPr txBox="1"/>
          <p:nvPr/>
        </p:nvSpPr>
        <p:spPr>
          <a:xfrm>
            <a:off x="221615" y="3765550"/>
            <a:ext cx="8717915" cy="656590"/>
          </a:xfrm>
          <a:prstGeom prst="rect">
            <a:avLst/>
          </a:prstGeom>
          <a:noFill/>
        </p:spPr>
        <p:txBody>
          <a:bodyPr wrap="square" rtlCol="0">
            <a:noAutofit/>
          </a:bodyPr>
          <a:p>
            <a:r>
              <a:rPr lang="en-US" altLang="zh-CN" sz="3200" b="1" dirty="0">
                <a:latin typeface="Times New Roman" panose="02020603050405020304"/>
              </a:rPr>
              <a:t>Data Processing</a:t>
            </a:r>
            <a:endParaRPr lang="zh-CN" altLang="en-US" sz="3200" b="1" dirty="0">
              <a:latin typeface="Times New Roman" panose="02020603050405020304"/>
              <a:ea typeface="SimSun" panose="02010600030101010101" pitchFamily="2" charset="-122"/>
            </a:endParaRPr>
          </a:p>
        </p:txBody>
      </p:sp>
      <p:sp>
        <p:nvSpPr>
          <p:cNvPr id="8" name="矩形 7"/>
          <p:cNvSpPr/>
          <p:nvPr/>
        </p:nvSpPr>
        <p:spPr>
          <a:xfrm>
            <a:off x="2146300" y="4530725"/>
            <a:ext cx="2425700" cy="2026285"/>
          </a:xfrm>
          <a:prstGeom prst="rect">
            <a:avLst/>
          </a:prstGeom>
          <a:noFill/>
          <a:ln w="12700" cmpd="sng">
            <a:solidFill>
              <a:srgbClr val="FF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48590" y="4490085"/>
            <a:ext cx="1510030" cy="1076325"/>
          </a:xfrm>
          <a:prstGeom prst="rect">
            <a:avLst/>
          </a:prstGeom>
        </p:spPr>
        <p:txBody>
          <a:bodyPr wrap="square">
            <a:spAutoFit/>
          </a:bodyPr>
          <a:p>
            <a:r>
              <a:rPr lang="en-US" altLang="zh-CN" sz="1600"/>
              <a:t>Discard the data collected during the initial setup and debugging.</a:t>
            </a:r>
            <a:endParaRPr lang="en-US" altLang="zh-CN" sz="1600"/>
          </a:p>
        </p:txBody>
      </p:sp>
      <p:sp>
        <p:nvSpPr>
          <p:cNvPr id="14" name="文本框 13"/>
          <p:cNvSpPr txBox="1"/>
          <p:nvPr/>
        </p:nvSpPr>
        <p:spPr>
          <a:xfrm>
            <a:off x="7722870" y="5068570"/>
            <a:ext cx="1421130" cy="1322070"/>
          </a:xfrm>
          <a:prstGeom prst="rect">
            <a:avLst/>
          </a:prstGeom>
        </p:spPr>
        <p:txBody>
          <a:bodyPr wrap="square">
            <a:spAutoFit/>
          </a:bodyPr>
          <a:p>
            <a:r>
              <a:rPr lang="en-US" altLang="ja-JP" sz="1600"/>
              <a:t>Label the opening and closing peaks in each data segment</a:t>
            </a:r>
            <a:endParaRPr lang="en-US" altLang="ja-JP" sz="1600"/>
          </a:p>
        </p:txBody>
      </p:sp>
      <p:cxnSp>
        <p:nvCxnSpPr>
          <p:cNvPr id="2" name="直接箭头连接符 1"/>
          <p:cNvCxnSpPr/>
          <p:nvPr/>
        </p:nvCxnSpPr>
        <p:spPr>
          <a:xfrm flipH="1">
            <a:off x="1658620" y="4723765"/>
            <a:ext cx="665480" cy="0"/>
          </a:xfrm>
          <a:prstGeom prst="straightConnector1">
            <a:avLst/>
          </a:prstGeom>
          <a:noFill/>
          <a:ln w="12700" cmpd="sng">
            <a:solidFill>
              <a:srgbClr val="F20000"/>
            </a:solidFill>
            <a:prstDash val="solid"/>
            <a:tailEnd type="arrow"/>
          </a:ln>
        </p:spPr>
      </p:cxnSp>
      <p:cxnSp>
        <p:nvCxnSpPr>
          <p:cNvPr id="11" name="直接箭头连接符 10"/>
          <p:cNvCxnSpPr/>
          <p:nvPr/>
        </p:nvCxnSpPr>
        <p:spPr>
          <a:xfrm flipV="1">
            <a:off x="7095490" y="6510655"/>
            <a:ext cx="560070" cy="9525"/>
          </a:xfrm>
          <a:prstGeom prst="straightConnector1">
            <a:avLst/>
          </a:prstGeom>
          <a:noFill/>
          <a:ln w="12700" cmpd="sng">
            <a:solidFill>
              <a:srgbClr val="14B8A6"/>
            </a:solidFill>
            <a:prstDash val="solid"/>
            <a:tailEnd type="arrow"/>
          </a:ln>
        </p:spPr>
      </p:cxnSp>
      <p:cxnSp>
        <p:nvCxnSpPr>
          <p:cNvPr id="15" name="直接箭头连接符 14"/>
          <p:cNvCxnSpPr/>
          <p:nvPr/>
        </p:nvCxnSpPr>
        <p:spPr>
          <a:xfrm>
            <a:off x="7047230" y="5227320"/>
            <a:ext cx="589280" cy="0"/>
          </a:xfrm>
          <a:prstGeom prst="straightConnector1">
            <a:avLst/>
          </a:prstGeom>
          <a:noFill/>
          <a:ln w="12700" cmpd="sng">
            <a:solidFill>
              <a:srgbClr val="14B8A6"/>
            </a:solidFill>
            <a:prstDash val="solid"/>
            <a:tailEnd type="arrow"/>
          </a:ln>
        </p:spPr>
      </p:cxnSp>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rPr>
              <a:t>Real-Time Inference</a:t>
            </a:r>
            <a:endParaRPr lang="en-US" altLang="zh-CN" sz="3200" b="1" dirty="0">
              <a:latin typeface="Times New Roman" panose="02020603050405020304"/>
            </a:endParaRPr>
          </a:p>
        </p:txBody>
      </p:sp>
      <p:pic>
        <p:nvPicPr>
          <p:cNvPr id="9" name="7月7日(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20980" y="883285"/>
            <a:ext cx="8717915" cy="3178175"/>
          </a:xfrm>
          <a:prstGeom prst="rect">
            <a:avLst/>
          </a:prstGeom>
        </p:spPr>
      </p:pic>
      <p:sp>
        <p:nvSpPr>
          <p:cNvPr id="12" name="文本框 11"/>
          <p:cNvSpPr txBox="1"/>
          <p:nvPr/>
        </p:nvSpPr>
        <p:spPr>
          <a:xfrm>
            <a:off x="220980" y="4497070"/>
            <a:ext cx="8718550" cy="368300"/>
          </a:xfrm>
          <a:prstGeom prst="rect">
            <a:avLst/>
          </a:prstGeom>
        </p:spPr>
        <p:txBody>
          <a:bodyPr wrap="square">
            <a:spAutoFit/>
          </a:bodyPr>
          <a:p>
            <a:r>
              <a:rPr lang="en-US" altLang="ja-JP" b="1">
                <a:solidFill>
                  <a:srgbClr val="FF0000"/>
                </a:solidFill>
              </a:rPr>
              <a:t>#</a:t>
            </a:r>
            <a:r>
              <a:rPr lang="en-US" altLang="ja-JP"/>
              <a:t> At the current stage, only the system's real-time inference capability has been tested</a:t>
            </a:r>
            <a:endParaRPr lang="en-US" altLang="ja-JP"/>
          </a:p>
        </p:txBody>
      </p:sp>
      <p:sp>
        <p:nvSpPr>
          <p:cNvPr id="13" name="文本框 12"/>
          <p:cNvSpPr txBox="1"/>
          <p:nvPr/>
        </p:nvSpPr>
        <p:spPr>
          <a:xfrm>
            <a:off x="220980" y="5032375"/>
            <a:ext cx="8717915" cy="645160"/>
          </a:xfrm>
          <a:prstGeom prst="rect">
            <a:avLst/>
          </a:prstGeom>
        </p:spPr>
        <p:txBody>
          <a:bodyPr wrap="square">
            <a:spAutoFit/>
          </a:bodyPr>
          <a:p>
            <a:r>
              <a:rPr lang="en-US" altLang="ja-JP" b="1">
                <a:solidFill>
                  <a:srgbClr val="FF0000"/>
                </a:solidFill>
                <a:sym typeface="+mn-ea"/>
              </a:rPr>
              <a:t>#</a:t>
            </a:r>
            <a:r>
              <a:rPr lang="en-US" altLang="ja-JP">
                <a:sym typeface="+mn-ea"/>
              </a:rPr>
              <a:t> </a:t>
            </a:r>
            <a:r>
              <a:rPr lang="en-US" altLang="ja-JP"/>
              <a:t>next step is to </a:t>
            </a:r>
            <a:r>
              <a:rPr lang="en-US" altLang="ja-JP">
                <a:sym typeface="+mn-ea"/>
              </a:rPr>
              <a:t>record data that</a:t>
            </a:r>
            <a:r>
              <a:rPr lang="en-US" altLang="ja-JP"/>
              <a:t> grasping experiments on various objects, enabling the model to learn grasping angles for different objects.</a:t>
            </a:r>
            <a:endParaRPr lang="en-US" altLang="ja-JP"/>
          </a:p>
        </p:txBody>
      </p:sp>
    </p:spTree>
  </p:cSld>
  <p:clrMapOvr>
    <a:masterClrMapping/>
  </p:clrMapOvr>
  <p:timing>
    <p:tnLst>
      <p:par>
        <p:cTn id="1" dur="indefinite" restart="never" nodeType="tmRoot">
          <p:childTnLst>
            <p:video fullScrn="0">
              <p:cMediaNode>
                <p:cTn id="2" fill="hold" display="1">
                  <p:stCondLst>
                    <p:cond delay="indefinite"/>
                  </p:stCondLst>
                </p:cTn>
                <p:tgtEl>
                  <p:spTgt spid="9"/>
                </p:tgtEl>
              </p:cMediaNode>
            </p:video>
            <p:seq concurrent="1" nextAc="seek">
              <p:cTn id="3" restart="whenNotActive" fill="hold" evtFilter="cancelBubble" nodeType="interactiveSeq">
                <p:stCondLst>
                  <p:cond evt="onClick" delay="0">
                    <p:tgtEl>
                      <p:spTgt spid="9"/>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 name="文本框 61"/>
          <p:cNvSpPr txBox="1"/>
          <p:nvPr/>
        </p:nvSpPr>
        <p:spPr>
          <a:xfrm>
            <a:off x="220980" y="973455"/>
            <a:ext cx="4641850" cy="1889760"/>
          </a:xfrm>
          <a:prstGeom prst="rect">
            <a:avLst/>
          </a:prstGeom>
          <a:noFill/>
        </p:spPr>
        <p:txBody>
          <a:bodyPr wrap="square" rtlCol="0">
            <a:noAutofit/>
          </a:bodyPr>
          <a:p>
            <a:pPr marL="285750" indent="-285750">
              <a:buFont typeface="Wingdings" panose="05000000000000000000" charset="0"/>
              <a:buChar char="n"/>
            </a:pPr>
            <a:r>
              <a:rPr lang="en-US" altLang="zh-CN">
                <a:sym typeface="+mn-ea"/>
              </a:rPr>
              <a:t>Objective : </a:t>
            </a:r>
            <a:endParaRPr lang="en-US" altLang="zh-CN">
              <a:sym typeface="+mn-ea"/>
            </a:endParaRPr>
          </a:p>
          <a:p>
            <a:pPr indent="0">
              <a:buFont typeface="Wingdings" panose="05000000000000000000" charset="0"/>
              <a:buNone/>
            </a:pPr>
            <a:r>
              <a:rPr lang="en-US" altLang="zh-CN">
                <a:sym typeface="+mn-ea"/>
              </a:rPr>
              <a:t>Evaluate the system’s performance, and its ability to reduce the operator’s cognitive load</a:t>
            </a:r>
            <a:endParaRPr lang="en-US" altLang="zh-CN">
              <a:sym typeface="+mn-ea"/>
            </a:endParaRPr>
          </a:p>
          <a:p>
            <a:pPr indent="0">
              <a:buFont typeface="Wingdings" panose="05000000000000000000" charset="0"/>
              <a:buNone/>
            </a:pPr>
            <a:endParaRPr lang="en-US" altLang="zh-CN">
              <a:sym typeface="+mn-ea"/>
            </a:endParaRPr>
          </a:p>
          <a:p>
            <a:pPr marL="285750" indent="-285750">
              <a:buFont typeface="Wingdings" panose="05000000000000000000" charset="0"/>
              <a:buChar char="n"/>
            </a:pPr>
            <a:r>
              <a:rPr lang="en-US" altLang="zh-CN">
                <a:sym typeface="+mn-ea"/>
              </a:rPr>
              <a:t>Participants : </a:t>
            </a:r>
            <a:endParaRPr lang="en-US" altLang="zh-CN">
              <a:sym typeface="+mn-ea"/>
            </a:endParaRPr>
          </a:p>
          <a:p>
            <a:r>
              <a:rPr lang="en-US" altLang="zh-CN">
                <a:ea typeface="SimSun" panose="02010600030101010101" pitchFamily="2" charset="-122"/>
                <a:sym typeface="+mn-ea"/>
              </a:rPr>
              <a:t>10 healthy adults</a:t>
            </a:r>
            <a:endParaRPr lang="zh-CN" altLang="en-US" sz="1400">
              <a:ea typeface="SimSun" panose="02010600030101010101" pitchFamily="2" charset="-122"/>
              <a:sym typeface="+mn-ea"/>
            </a:endParaRPr>
          </a:p>
        </p:txBody>
      </p:sp>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rPr>
              <a:t>E</a:t>
            </a:r>
            <a:r>
              <a:rPr lang="en-US" altLang="zh-CN" sz="3200" b="1">
                <a:latin typeface="Times New Roman" panose="02020603050405020304" charset="0"/>
                <a:ea typeface="SimSun" panose="02010600030101010101" pitchFamily="2" charset="-122"/>
                <a:cs typeface="Times New Roman" panose="02020603050405020304" charset="0"/>
              </a:rPr>
              <a:t>xperiment</a:t>
            </a:r>
            <a:endParaRPr lang="en-US" altLang="zh-CN" sz="3200" b="1">
              <a:latin typeface="Times New Roman" panose="02020603050405020304" charset="0"/>
              <a:ea typeface="SimSun" panose="02010600030101010101" pitchFamily="2" charset="-122"/>
              <a:cs typeface="Times New Roman" panose="02020603050405020304" charset="0"/>
            </a:endParaRPr>
          </a:p>
        </p:txBody>
      </p:sp>
      <p:grpSp>
        <p:nvGrpSpPr>
          <p:cNvPr id="61" name="组合 60"/>
          <p:cNvGrpSpPr/>
          <p:nvPr/>
        </p:nvGrpSpPr>
        <p:grpSpPr>
          <a:xfrm>
            <a:off x="655955" y="3984625"/>
            <a:ext cx="3691890" cy="2357755"/>
            <a:chOff x="8025" y="3001"/>
            <a:chExt cx="4293" cy="2887"/>
          </a:xfrm>
        </p:grpSpPr>
        <p:grpSp>
          <p:nvGrpSpPr>
            <p:cNvPr id="59" name="组合 58"/>
            <p:cNvGrpSpPr/>
            <p:nvPr/>
          </p:nvGrpSpPr>
          <p:grpSpPr>
            <a:xfrm>
              <a:off x="8025" y="3001"/>
              <a:ext cx="4293" cy="2887"/>
              <a:chOff x="8857" y="1916"/>
              <a:chExt cx="4293" cy="2887"/>
            </a:xfrm>
          </p:grpSpPr>
          <p:grpSp>
            <p:nvGrpSpPr>
              <p:cNvPr id="3" name="组合 2"/>
              <p:cNvGrpSpPr>
                <a:grpSpLocks noChangeAspect="1"/>
              </p:cNvGrpSpPr>
              <p:nvPr/>
            </p:nvGrpSpPr>
            <p:grpSpPr>
              <a:xfrm>
                <a:off x="8857" y="1916"/>
                <a:ext cx="4293" cy="2887"/>
                <a:chOff x="3392" y="2238"/>
                <a:chExt cx="5359" cy="3372"/>
              </a:xfrm>
            </p:grpSpPr>
            <p:sp>
              <p:nvSpPr>
                <p:cNvPr id="5" name="フローチャート: データ 3"/>
                <p:cNvSpPr/>
                <p:nvPr/>
              </p:nvSpPr>
              <p:spPr>
                <a:xfrm>
                  <a:off x="3392" y="3294"/>
                  <a:ext cx="3488" cy="1746"/>
                </a:xfrm>
                <a:prstGeom prst="flowChartInputOutpu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组合 6"/>
                <p:cNvGrpSpPr/>
                <p:nvPr/>
              </p:nvGrpSpPr>
              <p:grpSpPr>
                <a:xfrm>
                  <a:off x="5950" y="2238"/>
                  <a:ext cx="2801" cy="3372"/>
                  <a:chOff x="8391" y="2469"/>
                  <a:chExt cx="2801" cy="3372"/>
                </a:xfrm>
              </p:grpSpPr>
              <p:grpSp>
                <p:nvGrpSpPr>
                  <p:cNvPr id="8" name="组合 7"/>
                  <p:cNvGrpSpPr/>
                  <p:nvPr/>
                </p:nvGrpSpPr>
                <p:grpSpPr>
                  <a:xfrm>
                    <a:off x="9560" y="2469"/>
                    <a:ext cx="1633" cy="3373"/>
                    <a:chOff x="9560" y="2469"/>
                    <a:chExt cx="1633" cy="3373"/>
                  </a:xfrm>
                </p:grpSpPr>
                <p:sp>
                  <p:nvSpPr>
                    <p:cNvPr id="9" name="フリーフォーム: 図形 6"/>
                    <p:cNvSpPr/>
                    <p:nvPr/>
                  </p:nvSpPr>
                  <p:spPr bwMode="auto">
                    <a:xfrm rot="21227523">
                      <a:off x="9837" y="3496"/>
                      <a:ext cx="1357" cy="2346"/>
                    </a:xfrm>
                    <a:custGeom>
                      <a:avLst/>
                      <a:gdLst>
                        <a:gd name="connsiteX0" fmla="*/ 455339 w 980001"/>
                        <a:gd name="connsiteY0" fmla="*/ 317 h 1483570"/>
                        <a:gd name="connsiteX1" fmla="*/ 479456 w 980001"/>
                        <a:gd name="connsiteY1" fmla="*/ 3956 h 1483570"/>
                        <a:gd name="connsiteX2" fmla="*/ 488638 w 980001"/>
                        <a:gd name="connsiteY2" fmla="*/ 2871 h 1483570"/>
                        <a:gd name="connsiteX3" fmla="*/ 660744 w 980001"/>
                        <a:gd name="connsiteY3" fmla="*/ 46415 h 1483570"/>
                        <a:gd name="connsiteX4" fmla="*/ 764008 w 980001"/>
                        <a:gd name="connsiteY4" fmla="*/ 126971 h 1483570"/>
                        <a:gd name="connsiteX5" fmla="*/ 842030 w 980001"/>
                        <a:gd name="connsiteY5" fmla="*/ 229299 h 1483570"/>
                        <a:gd name="connsiteX6" fmla="*/ 903988 w 980001"/>
                        <a:gd name="connsiteY6" fmla="*/ 322917 h 1483570"/>
                        <a:gd name="connsiteX7" fmla="*/ 945294 w 980001"/>
                        <a:gd name="connsiteY7" fmla="*/ 464435 h 1483570"/>
                        <a:gd name="connsiteX8" fmla="*/ 961357 w 980001"/>
                        <a:gd name="connsiteY8" fmla="*/ 738760 h 1483570"/>
                        <a:gd name="connsiteX9" fmla="*/ 977420 w 980001"/>
                        <a:gd name="connsiteY9" fmla="*/ 1026149 h 1483570"/>
                        <a:gd name="connsiteX10" fmla="*/ 972831 w 980001"/>
                        <a:gd name="connsiteY10" fmla="*/ 1224273 h 1483570"/>
                        <a:gd name="connsiteX11" fmla="*/ 910873 w 980001"/>
                        <a:gd name="connsiteY11" fmla="*/ 1365790 h 1483570"/>
                        <a:gd name="connsiteX12" fmla="*/ 773188 w 980001"/>
                        <a:gd name="connsiteY12" fmla="*/ 1455055 h 1483570"/>
                        <a:gd name="connsiteX13" fmla="*/ 603375 w 980001"/>
                        <a:gd name="connsiteY13" fmla="*/ 1483358 h 1483570"/>
                        <a:gd name="connsiteX14" fmla="*/ 364722 w 980001"/>
                        <a:gd name="connsiteY14" fmla="*/ 1465941 h 1483570"/>
                        <a:gd name="connsiteX15" fmla="*/ 190320 w 980001"/>
                        <a:gd name="connsiteY15" fmla="*/ 1428929 h 1483570"/>
                        <a:gd name="connsiteX16" fmla="*/ 73288 w 980001"/>
                        <a:gd name="connsiteY16" fmla="*/ 1372321 h 1483570"/>
                        <a:gd name="connsiteX17" fmla="*/ 9035 w 980001"/>
                        <a:gd name="connsiteY17" fmla="*/ 1241690 h 1483570"/>
                        <a:gd name="connsiteX18" fmla="*/ 2151 w 980001"/>
                        <a:gd name="connsiteY18" fmla="*/ 1100173 h 1483570"/>
                        <a:gd name="connsiteX19" fmla="*/ 25098 w 980001"/>
                        <a:gd name="connsiteY19" fmla="*/ 775773 h 1483570"/>
                        <a:gd name="connsiteX20" fmla="*/ 67083 w 980001"/>
                        <a:gd name="connsiteY20" fmla="*/ 598007 h 1483570"/>
                        <a:gd name="connsiteX21" fmla="*/ 114708 w 980001"/>
                        <a:gd name="connsiteY21" fmla="*/ 454930 h 1483570"/>
                        <a:gd name="connsiteX22" fmla="*/ 178604 w 980001"/>
                        <a:gd name="connsiteY22" fmla="*/ 204950 h 1483570"/>
                        <a:gd name="connsiteX23" fmla="*/ 455339 w 980001"/>
                        <a:gd name="connsiteY23" fmla="*/ 317 h 148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80001" h="1483570">
                          <a:moveTo>
                            <a:pt x="455339" y="317"/>
                          </a:moveTo>
                          <a:lnTo>
                            <a:pt x="479456" y="3956"/>
                          </a:lnTo>
                          <a:lnTo>
                            <a:pt x="488638" y="2871"/>
                          </a:lnTo>
                          <a:cubicBezTo>
                            <a:pt x="541035" y="5411"/>
                            <a:pt x="614849" y="25732"/>
                            <a:pt x="660744" y="46415"/>
                          </a:cubicBezTo>
                          <a:cubicBezTo>
                            <a:pt x="706639" y="67098"/>
                            <a:pt x="733794" y="96490"/>
                            <a:pt x="764008" y="126971"/>
                          </a:cubicBezTo>
                          <a:cubicBezTo>
                            <a:pt x="794222" y="157451"/>
                            <a:pt x="818700" y="196641"/>
                            <a:pt x="842030" y="229299"/>
                          </a:cubicBezTo>
                          <a:cubicBezTo>
                            <a:pt x="865360" y="261956"/>
                            <a:pt x="886777" y="283728"/>
                            <a:pt x="903988" y="322917"/>
                          </a:cubicBezTo>
                          <a:cubicBezTo>
                            <a:pt x="921198" y="362107"/>
                            <a:pt x="935733" y="395128"/>
                            <a:pt x="945294" y="464435"/>
                          </a:cubicBezTo>
                          <a:cubicBezTo>
                            <a:pt x="954855" y="533742"/>
                            <a:pt x="956003" y="645142"/>
                            <a:pt x="961357" y="738760"/>
                          </a:cubicBezTo>
                          <a:cubicBezTo>
                            <a:pt x="966711" y="832379"/>
                            <a:pt x="975508" y="945230"/>
                            <a:pt x="977420" y="1026149"/>
                          </a:cubicBezTo>
                          <a:cubicBezTo>
                            <a:pt x="979332" y="1107067"/>
                            <a:pt x="983922" y="1167666"/>
                            <a:pt x="972831" y="1224273"/>
                          </a:cubicBezTo>
                          <a:cubicBezTo>
                            <a:pt x="961740" y="1280880"/>
                            <a:pt x="944147" y="1327327"/>
                            <a:pt x="910873" y="1365790"/>
                          </a:cubicBezTo>
                          <a:cubicBezTo>
                            <a:pt x="877599" y="1404254"/>
                            <a:pt x="824437" y="1435460"/>
                            <a:pt x="773188" y="1455055"/>
                          </a:cubicBezTo>
                          <a:cubicBezTo>
                            <a:pt x="721938" y="1474650"/>
                            <a:pt x="671453" y="1481544"/>
                            <a:pt x="603375" y="1483358"/>
                          </a:cubicBezTo>
                          <a:cubicBezTo>
                            <a:pt x="535298" y="1485173"/>
                            <a:pt x="433565" y="1475013"/>
                            <a:pt x="364722" y="1465941"/>
                          </a:cubicBezTo>
                          <a:cubicBezTo>
                            <a:pt x="295879" y="1456869"/>
                            <a:pt x="238892" y="1444532"/>
                            <a:pt x="190320" y="1428929"/>
                          </a:cubicBezTo>
                          <a:cubicBezTo>
                            <a:pt x="141748" y="1413326"/>
                            <a:pt x="103502" y="1403528"/>
                            <a:pt x="73288" y="1372321"/>
                          </a:cubicBezTo>
                          <a:cubicBezTo>
                            <a:pt x="43074" y="1341115"/>
                            <a:pt x="20891" y="1287048"/>
                            <a:pt x="9035" y="1241690"/>
                          </a:cubicBezTo>
                          <a:cubicBezTo>
                            <a:pt x="-2821" y="1196333"/>
                            <a:pt x="-526" y="1177826"/>
                            <a:pt x="2151" y="1100173"/>
                          </a:cubicBezTo>
                          <a:cubicBezTo>
                            <a:pt x="4828" y="1022521"/>
                            <a:pt x="3950" y="890489"/>
                            <a:pt x="25098" y="775773"/>
                          </a:cubicBezTo>
                          <a:cubicBezTo>
                            <a:pt x="35672" y="718414"/>
                            <a:pt x="49713" y="658908"/>
                            <a:pt x="67083" y="598007"/>
                          </a:cubicBezTo>
                          <a:lnTo>
                            <a:pt x="114708" y="454930"/>
                          </a:lnTo>
                          <a:lnTo>
                            <a:pt x="178604" y="204950"/>
                          </a:lnTo>
                          <a:cubicBezTo>
                            <a:pt x="211193" y="77449"/>
                            <a:pt x="328823" y="-5812"/>
                            <a:pt x="455339" y="317"/>
                          </a:cubicBezTo>
                          <a:close/>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1" name="フリーフォーム 10"/>
                    <p:cNvSpPr/>
                    <p:nvPr/>
                  </p:nvSpPr>
                  <p:spPr bwMode="auto">
                    <a:xfrm rot="2493260">
                      <a:off x="9560" y="3658"/>
                      <a:ext cx="824" cy="798"/>
                    </a:xfrm>
                    <a:custGeom>
                      <a:avLst/>
                      <a:gdLst>
                        <a:gd name="connsiteX0" fmla="*/ 643847 w 1123308"/>
                        <a:gd name="connsiteY0" fmla="*/ 616449 h 2106202"/>
                        <a:gd name="connsiteX1" fmla="*/ 636998 w 1123308"/>
                        <a:gd name="connsiteY1" fmla="*/ 777411 h 2106202"/>
                        <a:gd name="connsiteX2" fmla="*/ 643847 w 1123308"/>
                        <a:gd name="connsiteY2" fmla="*/ 887002 h 2106202"/>
                        <a:gd name="connsiteX3" fmla="*/ 654121 w 1123308"/>
                        <a:gd name="connsiteY3" fmla="*/ 1027416 h 2106202"/>
                        <a:gd name="connsiteX4" fmla="*/ 674669 w 1123308"/>
                        <a:gd name="connsiteY4" fmla="*/ 1157555 h 2106202"/>
                        <a:gd name="connsiteX5" fmla="*/ 705492 w 1123308"/>
                        <a:gd name="connsiteY5" fmla="*/ 1260297 h 2106202"/>
                        <a:gd name="connsiteX6" fmla="*/ 500009 w 1123308"/>
                        <a:gd name="connsiteY6" fmla="*/ 1380162 h 2106202"/>
                        <a:gd name="connsiteX7" fmla="*/ 410966 w 1123308"/>
                        <a:gd name="connsiteY7" fmla="*/ 1472629 h 2106202"/>
                        <a:gd name="connsiteX8" fmla="*/ 315074 w 1123308"/>
                        <a:gd name="connsiteY8" fmla="*/ 1571946 h 2106202"/>
                        <a:gd name="connsiteX9" fmla="*/ 212332 w 1123308"/>
                        <a:gd name="connsiteY9" fmla="*/ 1657564 h 2106202"/>
                        <a:gd name="connsiteX10" fmla="*/ 78768 w 1123308"/>
                        <a:gd name="connsiteY10" fmla="*/ 1760306 h 2106202"/>
                        <a:gd name="connsiteX11" fmla="*/ 0 w 1123308"/>
                        <a:gd name="connsiteY11" fmla="*/ 1815101 h 2106202"/>
                        <a:gd name="connsiteX12" fmla="*/ 157537 w 1123308"/>
                        <a:gd name="connsiteY12" fmla="*/ 2106202 h 2106202"/>
                        <a:gd name="connsiteX13" fmla="*/ 287676 w 1123308"/>
                        <a:gd name="connsiteY13" fmla="*/ 2054832 h 2106202"/>
                        <a:gd name="connsiteX14" fmla="*/ 513708 w 1123308"/>
                        <a:gd name="connsiteY14" fmla="*/ 1955515 h 2106202"/>
                        <a:gd name="connsiteX15" fmla="*/ 643847 w 1123308"/>
                        <a:gd name="connsiteY15" fmla="*/ 1883596 h 2106202"/>
                        <a:gd name="connsiteX16" fmla="*/ 801384 w 1123308"/>
                        <a:gd name="connsiteY16" fmla="*/ 1698661 h 2106202"/>
                        <a:gd name="connsiteX17" fmla="*/ 934948 w 1123308"/>
                        <a:gd name="connsiteY17" fmla="*/ 1530849 h 2106202"/>
                        <a:gd name="connsiteX18" fmla="*/ 1027415 w 1123308"/>
                        <a:gd name="connsiteY18" fmla="*/ 1359614 h 2106202"/>
                        <a:gd name="connsiteX19" fmla="*/ 1078786 w 1123308"/>
                        <a:gd name="connsiteY19" fmla="*/ 1171254 h 2106202"/>
                        <a:gd name="connsiteX20" fmla="*/ 1123308 w 1123308"/>
                        <a:gd name="connsiteY20" fmla="*/ 808234 h 2106202"/>
                        <a:gd name="connsiteX21" fmla="*/ 1119883 w 1123308"/>
                        <a:gd name="connsiteY21" fmla="*/ 623299 h 2106202"/>
                        <a:gd name="connsiteX22" fmla="*/ 1109609 w 1123308"/>
                        <a:gd name="connsiteY22" fmla="*/ 469187 h 2106202"/>
                        <a:gd name="connsiteX23" fmla="*/ 1078786 w 1123308"/>
                        <a:gd name="connsiteY23" fmla="*/ 311649 h 2106202"/>
                        <a:gd name="connsiteX24" fmla="*/ 1023991 w 1123308"/>
                        <a:gd name="connsiteY24" fmla="*/ 157537 h 2106202"/>
                        <a:gd name="connsiteX25" fmla="*/ 969195 w 1123308"/>
                        <a:gd name="connsiteY25" fmla="*/ 68494 h 2106202"/>
                        <a:gd name="connsiteX26" fmla="*/ 893851 w 1123308"/>
                        <a:gd name="connsiteY26" fmla="*/ 0 h 2106202"/>
                        <a:gd name="connsiteX27" fmla="*/ 797959 w 1123308"/>
                        <a:gd name="connsiteY27" fmla="*/ 41097 h 2106202"/>
                        <a:gd name="connsiteX28" fmla="*/ 729465 w 1123308"/>
                        <a:gd name="connsiteY28" fmla="*/ 167811 h 2106202"/>
                        <a:gd name="connsiteX29" fmla="*/ 681519 w 1123308"/>
                        <a:gd name="connsiteY29" fmla="*/ 339047 h 2106202"/>
                        <a:gd name="connsiteX30" fmla="*/ 671245 w 1123308"/>
                        <a:gd name="connsiteY30" fmla="*/ 410966 h 2106202"/>
                        <a:gd name="connsiteX31" fmla="*/ 664395 w 1123308"/>
                        <a:gd name="connsiteY31" fmla="*/ 458912 h 2106202"/>
                        <a:gd name="connsiteX0-1" fmla="*/ 643847 w 1123308"/>
                        <a:gd name="connsiteY0-2" fmla="*/ 616449 h 2106202"/>
                        <a:gd name="connsiteX1-3" fmla="*/ 636998 w 1123308"/>
                        <a:gd name="connsiteY1-4" fmla="*/ 777411 h 2106202"/>
                        <a:gd name="connsiteX2-5" fmla="*/ 643847 w 1123308"/>
                        <a:gd name="connsiteY2-6" fmla="*/ 887002 h 2106202"/>
                        <a:gd name="connsiteX3-7" fmla="*/ 654121 w 1123308"/>
                        <a:gd name="connsiteY3-8" fmla="*/ 1027416 h 2106202"/>
                        <a:gd name="connsiteX4-9" fmla="*/ 674669 w 1123308"/>
                        <a:gd name="connsiteY4-10" fmla="*/ 1157555 h 2106202"/>
                        <a:gd name="connsiteX5-11" fmla="*/ 705492 w 1123308"/>
                        <a:gd name="connsiteY5-12" fmla="*/ 1260297 h 2106202"/>
                        <a:gd name="connsiteX6-13" fmla="*/ 500009 w 1123308"/>
                        <a:gd name="connsiteY6-14" fmla="*/ 1380162 h 2106202"/>
                        <a:gd name="connsiteX7-15" fmla="*/ 410966 w 1123308"/>
                        <a:gd name="connsiteY7-16" fmla="*/ 1472629 h 2106202"/>
                        <a:gd name="connsiteX8-17" fmla="*/ 315074 w 1123308"/>
                        <a:gd name="connsiteY8-18" fmla="*/ 1571946 h 2106202"/>
                        <a:gd name="connsiteX9-19" fmla="*/ 212332 w 1123308"/>
                        <a:gd name="connsiteY9-20" fmla="*/ 1657564 h 2106202"/>
                        <a:gd name="connsiteX10-21" fmla="*/ 78768 w 1123308"/>
                        <a:gd name="connsiteY10-22" fmla="*/ 1760306 h 2106202"/>
                        <a:gd name="connsiteX11-23" fmla="*/ 0 w 1123308"/>
                        <a:gd name="connsiteY11-24" fmla="*/ 1815101 h 2106202"/>
                        <a:gd name="connsiteX12-25" fmla="*/ 157537 w 1123308"/>
                        <a:gd name="connsiteY12-26" fmla="*/ 2106202 h 2106202"/>
                        <a:gd name="connsiteX13-27" fmla="*/ 287676 w 1123308"/>
                        <a:gd name="connsiteY13-28" fmla="*/ 2054832 h 2106202"/>
                        <a:gd name="connsiteX14-29" fmla="*/ 513708 w 1123308"/>
                        <a:gd name="connsiteY14-30" fmla="*/ 1955515 h 2106202"/>
                        <a:gd name="connsiteX15-31" fmla="*/ 643847 w 1123308"/>
                        <a:gd name="connsiteY15-32" fmla="*/ 1883596 h 2106202"/>
                        <a:gd name="connsiteX16-33" fmla="*/ 801384 w 1123308"/>
                        <a:gd name="connsiteY16-34" fmla="*/ 1698661 h 2106202"/>
                        <a:gd name="connsiteX17-35" fmla="*/ 934948 w 1123308"/>
                        <a:gd name="connsiteY17-36" fmla="*/ 1530849 h 2106202"/>
                        <a:gd name="connsiteX18-37" fmla="*/ 1027415 w 1123308"/>
                        <a:gd name="connsiteY18-38" fmla="*/ 1359614 h 2106202"/>
                        <a:gd name="connsiteX19-39" fmla="*/ 1078786 w 1123308"/>
                        <a:gd name="connsiteY19-40" fmla="*/ 1171254 h 2106202"/>
                        <a:gd name="connsiteX20-41" fmla="*/ 1123308 w 1123308"/>
                        <a:gd name="connsiteY20-42" fmla="*/ 808234 h 2106202"/>
                        <a:gd name="connsiteX21-43" fmla="*/ 1119883 w 1123308"/>
                        <a:gd name="connsiteY21-44" fmla="*/ 623299 h 2106202"/>
                        <a:gd name="connsiteX22-45" fmla="*/ 1109609 w 1123308"/>
                        <a:gd name="connsiteY22-46" fmla="*/ 469187 h 2106202"/>
                        <a:gd name="connsiteX23-47" fmla="*/ 1078786 w 1123308"/>
                        <a:gd name="connsiteY23-48" fmla="*/ 311649 h 2106202"/>
                        <a:gd name="connsiteX24-49" fmla="*/ 1023991 w 1123308"/>
                        <a:gd name="connsiteY24-50" fmla="*/ 157537 h 2106202"/>
                        <a:gd name="connsiteX25-51" fmla="*/ 969195 w 1123308"/>
                        <a:gd name="connsiteY25-52" fmla="*/ 68494 h 2106202"/>
                        <a:gd name="connsiteX26-53" fmla="*/ 893851 w 1123308"/>
                        <a:gd name="connsiteY26-54" fmla="*/ 0 h 2106202"/>
                        <a:gd name="connsiteX27-55" fmla="*/ 797959 w 1123308"/>
                        <a:gd name="connsiteY27-56" fmla="*/ 41097 h 2106202"/>
                        <a:gd name="connsiteX28-57" fmla="*/ 729465 w 1123308"/>
                        <a:gd name="connsiteY28-58" fmla="*/ 167811 h 2106202"/>
                        <a:gd name="connsiteX29-59" fmla="*/ 681519 w 1123308"/>
                        <a:gd name="connsiteY29-60" fmla="*/ 339047 h 2106202"/>
                        <a:gd name="connsiteX30-61" fmla="*/ 671245 w 1123308"/>
                        <a:gd name="connsiteY30-62" fmla="*/ 410966 h 2106202"/>
                        <a:gd name="connsiteX0-63" fmla="*/ 643847 w 1123308"/>
                        <a:gd name="connsiteY0-64" fmla="*/ 616449 h 2106202"/>
                        <a:gd name="connsiteX1-65" fmla="*/ 636998 w 1123308"/>
                        <a:gd name="connsiteY1-66" fmla="*/ 777411 h 2106202"/>
                        <a:gd name="connsiteX2-67" fmla="*/ 643847 w 1123308"/>
                        <a:gd name="connsiteY2-68" fmla="*/ 887002 h 2106202"/>
                        <a:gd name="connsiteX3-69" fmla="*/ 654121 w 1123308"/>
                        <a:gd name="connsiteY3-70" fmla="*/ 1027416 h 2106202"/>
                        <a:gd name="connsiteX4-71" fmla="*/ 674669 w 1123308"/>
                        <a:gd name="connsiteY4-72" fmla="*/ 1157555 h 2106202"/>
                        <a:gd name="connsiteX5-73" fmla="*/ 705492 w 1123308"/>
                        <a:gd name="connsiteY5-74" fmla="*/ 1260297 h 2106202"/>
                        <a:gd name="connsiteX6-75" fmla="*/ 500009 w 1123308"/>
                        <a:gd name="connsiteY6-76" fmla="*/ 1380162 h 2106202"/>
                        <a:gd name="connsiteX7-77" fmla="*/ 410966 w 1123308"/>
                        <a:gd name="connsiteY7-78" fmla="*/ 1472629 h 2106202"/>
                        <a:gd name="connsiteX8-79" fmla="*/ 315074 w 1123308"/>
                        <a:gd name="connsiteY8-80" fmla="*/ 1571946 h 2106202"/>
                        <a:gd name="connsiteX9-81" fmla="*/ 212332 w 1123308"/>
                        <a:gd name="connsiteY9-82" fmla="*/ 1657564 h 2106202"/>
                        <a:gd name="connsiteX10-83" fmla="*/ 78768 w 1123308"/>
                        <a:gd name="connsiteY10-84" fmla="*/ 1760306 h 2106202"/>
                        <a:gd name="connsiteX11-85" fmla="*/ 0 w 1123308"/>
                        <a:gd name="connsiteY11-86" fmla="*/ 1815101 h 2106202"/>
                        <a:gd name="connsiteX12-87" fmla="*/ 157537 w 1123308"/>
                        <a:gd name="connsiteY12-88" fmla="*/ 2106202 h 2106202"/>
                        <a:gd name="connsiteX13-89" fmla="*/ 287676 w 1123308"/>
                        <a:gd name="connsiteY13-90" fmla="*/ 2054832 h 2106202"/>
                        <a:gd name="connsiteX14-91" fmla="*/ 513708 w 1123308"/>
                        <a:gd name="connsiteY14-92" fmla="*/ 1955515 h 2106202"/>
                        <a:gd name="connsiteX15-93" fmla="*/ 643847 w 1123308"/>
                        <a:gd name="connsiteY15-94" fmla="*/ 1883596 h 2106202"/>
                        <a:gd name="connsiteX16-95" fmla="*/ 801384 w 1123308"/>
                        <a:gd name="connsiteY16-96" fmla="*/ 1698661 h 2106202"/>
                        <a:gd name="connsiteX17-97" fmla="*/ 934948 w 1123308"/>
                        <a:gd name="connsiteY17-98" fmla="*/ 1530849 h 2106202"/>
                        <a:gd name="connsiteX18-99" fmla="*/ 1027415 w 1123308"/>
                        <a:gd name="connsiteY18-100" fmla="*/ 1359614 h 2106202"/>
                        <a:gd name="connsiteX19-101" fmla="*/ 1078786 w 1123308"/>
                        <a:gd name="connsiteY19-102" fmla="*/ 1171254 h 2106202"/>
                        <a:gd name="connsiteX20-103" fmla="*/ 1123308 w 1123308"/>
                        <a:gd name="connsiteY20-104" fmla="*/ 808234 h 2106202"/>
                        <a:gd name="connsiteX21-105" fmla="*/ 1119883 w 1123308"/>
                        <a:gd name="connsiteY21-106" fmla="*/ 623299 h 2106202"/>
                        <a:gd name="connsiteX22-107" fmla="*/ 1109609 w 1123308"/>
                        <a:gd name="connsiteY22-108" fmla="*/ 469187 h 2106202"/>
                        <a:gd name="connsiteX23-109" fmla="*/ 1078786 w 1123308"/>
                        <a:gd name="connsiteY23-110" fmla="*/ 311649 h 2106202"/>
                        <a:gd name="connsiteX24-111" fmla="*/ 1023991 w 1123308"/>
                        <a:gd name="connsiteY24-112" fmla="*/ 157537 h 2106202"/>
                        <a:gd name="connsiteX25-113" fmla="*/ 969195 w 1123308"/>
                        <a:gd name="connsiteY25-114" fmla="*/ 68494 h 2106202"/>
                        <a:gd name="connsiteX26-115" fmla="*/ 893851 w 1123308"/>
                        <a:gd name="connsiteY26-116" fmla="*/ 0 h 2106202"/>
                        <a:gd name="connsiteX27-117" fmla="*/ 797959 w 1123308"/>
                        <a:gd name="connsiteY27-118" fmla="*/ 41097 h 2106202"/>
                        <a:gd name="connsiteX28-119" fmla="*/ 729465 w 1123308"/>
                        <a:gd name="connsiteY28-120" fmla="*/ 167811 h 2106202"/>
                        <a:gd name="connsiteX29-121" fmla="*/ 681519 w 1123308"/>
                        <a:gd name="connsiteY29-122" fmla="*/ 339047 h 2106202"/>
                        <a:gd name="connsiteX0-123" fmla="*/ 643847 w 1123308"/>
                        <a:gd name="connsiteY0-124" fmla="*/ 616449 h 2106202"/>
                        <a:gd name="connsiteX1-125" fmla="*/ 636998 w 1123308"/>
                        <a:gd name="connsiteY1-126" fmla="*/ 777411 h 2106202"/>
                        <a:gd name="connsiteX2-127" fmla="*/ 643847 w 1123308"/>
                        <a:gd name="connsiteY2-128" fmla="*/ 887002 h 2106202"/>
                        <a:gd name="connsiteX3-129" fmla="*/ 654121 w 1123308"/>
                        <a:gd name="connsiteY3-130" fmla="*/ 1027416 h 2106202"/>
                        <a:gd name="connsiteX4-131" fmla="*/ 674669 w 1123308"/>
                        <a:gd name="connsiteY4-132" fmla="*/ 1157555 h 2106202"/>
                        <a:gd name="connsiteX5-133" fmla="*/ 705492 w 1123308"/>
                        <a:gd name="connsiteY5-134" fmla="*/ 1260297 h 2106202"/>
                        <a:gd name="connsiteX6-135" fmla="*/ 500009 w 1123308"/>
                        <a:gd name="connsiteY6-136" fmla="*/ 1380162 h 2106202"/>
                        <a:gd name="connsiteX7-137" fmla="*/ 410966 w 1123308"/>
                        <a:gd name="connsiteY7-138" fmla="*/ 1472629 h 2106202"/>
                        <a:gd name="connsiteX8-139" fmla="*/ 315074 w 1123308"/>
                        <a:gd name="connsiteY8-140" fmla="*/ 1571946 h 2106202"/>
                        <a:gd name="connsiteX9-141" fmla="*/ 212332 w 1123308"/>
                        <a:gd name="connsiteY9-142" fmla="*/ 1657564 h 2106202"/>
                        <a:gd name="connsiteX10-143" fmla="*/ 78768 w 1123308"/>
                        <a:gd name="connsiteY10-144" fmla="*/ 1760306 h 2106202"/>
                        <a:gd name="connsiteX11-145" fmla="*/ 0 w 1123308"/>
                        <a:gd name="connsiteY11-146" fmla="*/ 1815101 h 2106202"/>
                        <a:gd name="connsiteX12-147" fmla="*/ 157537 w 1123308"/>
                        <a:gd name="connsiteY12-148" fmla="*/ 2106202 h 2106202"/>
                        <a:gd name="connsiteX13-149" fmla="*/ 287676 w 1123308"/>
                        <a:gd name="connsiteY13-150" fmla="*/ 2054832 h 2106202"/>
                        <a:gd name="connsiteX14-151" fmla="*/ 513708 w 1123308"/>
                        <a:gd name="connsiteY14-152" fmla="*/ 1955515 h 2106202"/>
                        <a:gd name="connsiteX15-153" fmla="*/ 643847 w 1123308"/>
                        <a:gd name="connsiteY15-154" fmla="*/ 1883596 h 2106202"/>
                        <a:gd name="connsiteX16-155" fmla="*/ 801384 w 1123308"/>
                        <a:gd name="connsiteY16-156" fmla="*/ 1698661 h 2106202"/>
                        <a:gd name="connsiteX17-157" fmla="*/ 934948 w 1123308"/>
                        <a:gd name="connsiteY17-158" fmla="*/ 1530849 h 2106202"/>
                        <a:gd name="connsiteX18-159" fmla="*/ 1027415 w 1123308"/>
                        <a:gd name="connsiteY18-160" fmla="*/ 1359614 h 2106202"/>
                        <a:gd name="connsiteX19-161" fmla="*/ 1078786 w 1123308"/>
                        <a:gd name="connsiteY19-162" fmla="*/ 1171254 h 2106202"/>
                        <a:gd name="connsiteX20-163" fmla="*/ 1123308 w 1123308"/>
                        <a:gd name="connsiteY20-164" fmla="*/ 808234 h 2106202"/>
                        <a:gd name="connsiteX21-165" fmla="*/ 1119883 w 1123308"/>
                        <a:gd name="connsiteY21-166" fmla="*/ 623299 h 2106202"/>
                        <a:gd name="connsiteX22-167" fmla="*/ 1109609 w 1123308"/>
                        <a:gd name="connsiteY22-168" fmla="*/ 469187 h 2106202"/>
                        <a:gd name="connsiteX23-169" fmla="*/ 1078786 w 1123308"/>
                        <a:gd name="connsiteY23-170" fmla="*/ 311649 h 2106202"/>
                        <a:gd name="connsiteX24-171" fmla="*/ 1023991 w 1123308"/>
                        <a:gd name="connsiteY24-172" fmla="*/ 157537 h 2106202"/>
                        <a:gd name="connsiteX25-173" fmla="*/ 969195 w 1123308"/>
                        <a:gd name="connsiteY25-174" fmla="*/ 68494 h 2106202"/>
                        <a:gd name="connsiteX26-175" fmla="*/ 893851 w 1123308"/>
                        <a:gd name="connsiteY26-176" fmla="*/ 0 h 2106202"/>
                        <a:gd name="connsiteX27-177" fmla="*/ 797959 w 1123308"/>
                        <a:gd name="connsiteY27-178" fmla="*/ 41097 h 2106202"/>
                        <a:gd name="connsiteX28-179" fmla="*/ 729465 w 1123308"/>
                        <a:gd name="connsiteY28-180" fmla="*/ 167811 h 2106202"/>
                        <a:gd name="connsiteX0-181" fmla="*/ 643847 w 1123308"/>
                        <a:gd name="connsiteY0-182" fmla="*/ 616449 h 2106202"/>
                        <a:gd name="connsiteX1-183" fmla="*/ 636998 w 1123308"/>
                        <a:gd name="connsiteY1-184" fmla="*/ 777411 h 2106202"/>
                        <a:gd name="connsiteX2-185" fmla="*/ 643847 w 1123308"/>
                        <a:gd name="connsiteY2-186" fmla="*/ 887002 h 2106202"/>
                        <a:gd name="connsiteX3-187" fmla="*/ 654121 w 1123308"/>
                        <a:gd name="connsiteY3-188" fmla="*/ 1027416 h 2106202"/>
                        <a:gd name="connsiteX4-189" fmla="*/ 674669 w 1123308"/>
                        <a:gd name="connsiteY4-190" fmla="*/ 1157555 h 2106202"/>
                        <a:gd name="connsiteX5-191" fmla="*/ 705492 w 1123308"/>
                        <a:gd name="connsiteY5-192" fmla="*/ 1260297 h 2106202"/>
                        <a:gd name="connsiteX6-193" fmla="*/ 500009 w 1123308"/>
                        <a:gd name="connsiteY6-194" fmla="*/ 1380162 h 2106202"/>
                        <a:gd name="connsiteX7-195" fmla="*/ 410966 w 1123308"/>
                        <a:gd name="connsiteY7-196" fmla="*/ 1472629 h 2106202"/>
                        <a:gd name="connsiteX8-197" fmla="*/ 315074 w 1123308"/>
                        <a:gd name="connsiteY8-198" fmla="*/ 1571946 h 2106202"/>
                        <a:gd name="connsiteX9-199" fmla="*/ 212332 w 1123308"/>
                        <a:gd name="connsiteY9-200" fmla="*/ 1657564 h 2106202"/>
                        <a:gd name="connsiteX10-201" fmla="*/ 78768 w 1123308"/>
                        <a:gd name="connsiteY10-202" fmla="*/ 1760306 h 2106202"/>
                        <a:gd name="connsiteX11-203" fmla="*/ 0 w 1123308"/>
                        <a:gd name="connsiteY11-204" fmla="*/ 1815101 h 2106202"/>
                        <a:gd name="connsiteX12-205" fmla="*/ 157537 w 1123308"/>
                        <a:gd name="connsiteY12-206" fmla="*/ 2106202 h 2106202"/>
                        <a:gd name="connsiteX13-207" fmla="*/ 287676 w 1123308"/>
                        <a:gd name="connsiteY13-208" fmla="*/ 2054832 h 2106202"/>
                        <a:gd name="connsiteX14-209" fmla="*/ 513708 w 1123308"/>
                        <a:gd name="connsiteY14-210" fmla="*/ 1955515 h 2106202"/>
                        <a:gd name="connsiteX15-211" fmla="*/ 643847 w 1123308"/>
                        <a:gd name="connsiteY15-212" fmla="*/ 1883596 h 2106202"/>
                        <a:gd name="connsiteX16-213" fmla="*/ 801384 w 1123308"/>
                        <a:gd name="connsiteY16-214" fmla="*/ 1698661 h 2106202"/>
                        <a:gd name="connsiteX17-215" fmla="*/ 934948 w 1123308"/>
                        <a:gd name="connsiteY17-216" fmla="*/ 1530849 h 2106202"/>
                        <a:gd name="connsiteX18-217" fmla="*/ 1027415 w 1123308"/>
                        <a:gd name="connsiteY18-218" fmla="*/ 1359614 h 2106202"/>
                        <a:gd name="connsiteX19-219" fmla="*/ 1078786 w 1123308"/>
                        <a:gd name="connsiteY19-220" fmla="*/ 1171254 h 2106202"/>
                        <a:gd name="connsiteX20-221" fmla="*/ 1123308 w 1123308"/>
                        <a:gd name="connsiteY20-222" fmla="*/ 808234 h 2106202"/>
                        <a:gd name="connsiteX21-223" fmla="*/ 1119883 w 1123308"/>
                        <a:gd name="connsiteY21-224" fmla="*/ 623299 h 2106202"/>
                        <a:gd name="connsiteX22-225" fmla="*/ 1109609 w 1123308"/>
                        <a:gd name="connsiteY22-226" fmla="*/ 469187 h 2106202"/>
                        <a:gd name="connsiteX23-227" fmla="*/ 1078786 w 1123308"/>
                        <a:gd name="connsiteY23-228" fmla="*/ 311649 h 2106202"/>
                        <a:gd name="connsiteX24-229" fmla="*/ 1023991 w 1123308"/>
                        <a:gd name="connsiteY24-230" fmla="*/ 157537 h 2106202"/>
                        <a:gd name="connsiteX25-231" fmla="*/ 969195 w 1123308"/>
                        <a:gd name="connsiteY25-232" fmla="*/ 68494 h 2106202"/>
                        <a:gd name="connsiteX26-233" fmla="*/ 893851 w 1123308"/>
                        <a:gd name="connsiteY26-234" fmla="*/ 0 h 2106202"/>
                        <a:gd name="connsiteX27-235" fmla="*/ 797959 w 1123308"/>
                        <a:gd name="connsiteY27-236" fmla="*/ 41097 h 2106202"/>
                        <a:gd name="connsiteX0-237" fmla="*/ 643847 w 1123308"/>
                        <a:gd name="connsiteY0-238" fmla="*/ 616449 h 2106202"/>
                        <a:gd name="connsiteX1-239" fmla="*/ 636998 w 1123308"/>
                        <a:gd name="connsiteY1-240" fmla="*/ 777411 h 2106202"/>
                        <a:gd name="connsiteX2-241" fmla="*/ 643847 w 1123308"/>
                        <a:gd name="connsiteY2-242" fmla="*/ 887002 h 2106202"/>
                        <a:gd name="connsiteX3-243" fmla="*/ 654121 w 1123308"/>
                        <a:gd name="connsiteY3-244" fmla="*/ 1027416 h 2106202"/>
                        <a:gd name="connsiteX4-245" fmla="*/ 674669 w 1123308"/>
                        <a:gd name="connsiteY4-246" fmla="*/ 1157555 h 2106202"/>
                        <a:gd name="connsiteX5-247" fmla="*/ 705492 w 1123308"/>
                        <a:gd name="connsiteY5-248" fmla="*/ 1260297 h 2106202"/>
                        <a:gd name="connsiteX6-249" fmla="*/ 500009 w 1123308"/>
                        <a:gd name="connsiteY6-250" fmla="*/ 1380162 h 2106202"/>
                        <a:gd name="connsiteX7-251" fmla="*/ 410966 w 1123308"/>
                        <a:gd name="connsiteY7-252" fmla="*/ 1472629 h 2106202"/>
                        <a:gd name="connsiteX8-253" fmla="*/ 315074 w 1123308"/>
                        <a:gd name="connsiteY8-254" fmla="*/ 1571946 h 2106202"/>
                        <a:gd name="connsiteX9-255" fmla="*/ 212332 w 1123308"/>
                        <a:gd name="connsiteY9-256" fmla="*/ 1657564 h 2106202"/>
                        <a:gd name="connsiteX10-257" fmla="*/ 78768 w 1123308"/>
                        <a:gd name="connsiteY10-258" fmla="*/ 1760306 h 2106202"/>
                        <a:gd name="connsiteX11-259" fmla="*/ 0 w 1123308"/>
                        <a:gd name="connsiteY11-260" fmla="*/ 1815101 h 2106202"/>
                        <a:gd name="connsiteX12-261" fmla="*/ 157537 w 1123308"/>
                        <a:gd name="connsiteY12-262" fmla="*/ 2106202 h 2106202"/>
                        <a:gd name="connsiteX13-263" fmla="*/ 287676 w 1123308"/>
                        <a:gd name="connsiteY13-264" fmla="*/ 2054832 h 2106202"/>
                        <a:gd name="connsiteX14-265" fmla="*/ 513708 w 1123308"/>
                        <a:gd name="connsiteY14-266" fmla="*/ 1955515 h 2106202"/>
                        <a:gd name="connsiteX15-267" fmla="*/ 643847 w 1123308"/>
                        <a:gd name="connsiteY15-268" fmla="*/ 1883596 h 2106202"/>
                        <a:gd name="connsiteX16-269" fmla="*/ 801384 w 1123308"/>
                        <a:gd name="connsiteY16-270" fmla="*/ 1698661 h 2106202"/>
                        <a:gd name="connsiteX17-271" fmla="*/ 934948 w 1123308"/>
                        <a:gd name="connsiteY17-272" fmla="*/ 1530849 h 2106202"/>
                        <a:gd name="connsiteX18-273" fmla="*/ 1027415 w 1123308"/>
                        <a:gd name="connsiteY18-274" fmla="*/ 1359614 h 2106202"/>
                        <a:gd name="connsiteX19-275" fmla="*/ 1078786 w 1123308"/>
                        <a:gd name="connsiteY19-276" fmla="*/ 1171254 h 2106202"/>
                        <a:gd name="connsiteX20-277" fmla="*/ 1123308 w 1123308"/>
                        <a:gd name="connsiteY20-278" fmla="*/ 808234 h 2106202"/>
                        <a:gd name="connsiteX21-279" fmla="*/ 1119883 w 1123308"/>
                        <a:gd name="connsiteY21-280" fmla="*/ 623299 h 2106202"/>
                        <a:gd name="connsiteX22-281" fmla="*/ 1109609 w 1123308"/>
                        <a:gd name="connsiteY22-282" fmla="*/ 469187 h 2106202"/>
                        <a:gd name="connsiteX23-283" fmla="*/ 1078786 w 1123308"/>
                        <a:gd name="connsiteY23-284" fmla="*/ 311649 h 2106202"/>
                        <a:gd name="connsiteX24-285" fmla="*/ 1023991 w 1123308"/>
                        <a:gd name="connsiteY24-286" fmla="*/ 157537 h 2106202"/>
                        <a:gd name="connsiteX25-287" fmla="*/ 969195 w 1123308"/>
                        <a:gd name="connsiteY25-288" fmla="*/ 68494 h 2106202"/>
                        <a:gd name="connsiteX26-289" fmla="*/ 893851 w 1123308"/>
                        <a:gd name="connsiteY26-290" fmla="*/ 0 h 210620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Lst>
                      <a:rect l="l" t="t" r="r" b="b"/>
                      <a:pathLst>
                        <a:path w="1123308" h="2106202">
                          <a:moveTo>
                            <a:pt x="643847" y="616449"/>
                          </a:moveTo>
                          <a:lnTo>
                            <a:pt x="636998" y="777411"/>
                          </a:lnTo>
                          <a:lnTo>
                            <a:pt x="643847" y="887002"/>
                          </a:lnTo>
                          <a:lnTo>
                            <a:pt x="654121" y="1027416"/>
                          </a:lnTo>
                          <a:lnTo>
                            <a:pt x="674669" y="1157555"/>
                          </a:lnTo>
                          <a:lnTo>
                            <a:pt x="705492" y="1260297"/>
                          </a:lnTo>
                          <a:lnTo>
                            <a:pt x="500009" y="1380162"/>
                          </a:lnTo>
                          <a:lnTo>
                            <a:pt x="410966" y="1472629"/>
                          </a:lnTo>
                          <a:lnTo>
                            <a:pt x="315074" y="1571946"/>
                          </a:lnTo>
                          <a:lnTo>
                            <a:pt x="212332" y="1657564"/>
                          </a:lnTo>
                          <a:lnTo>
                            <a:pt x="78768" y="1760306"/>
                          </a:lnTo>
                          <a:lnTo>
                            <a:pt x="0" y="1815101"/>
                          </a:lnTo>
                          <a:lnTo>
                            <a:pt x="157537" y="2106202"/>
                          </a:lnTo>
                          <a:lnTo>
                            <a:pt x="287676" y="2054832"/>
                          </a:lnTo>
                          <a:lnTo>
                            <a:pt x="513708" y="1955515"/>
                          </a:lnTo>
                          <a:lnTo>
                            <a:pt x="643847" y="1883596"/>
                          </a:lnTo>
                          <a:lnTo>
                            <a:pt x="801384" y="1698661"/>
                          </a:lnTo>
                          <a:lnTo>
                            <a:pt x="934948" y="1530849"/>
                          </a:lnTo>
                          <a:lnTo>
                            <a:pt x="1027415" y="1359614"/>
                          </a:lnTo>
                          <a:lnTo>
                            <a:pt x="1078786" y="1171254"/>
                          </a:lnTo>
                          <a:lnTo>
                            <a:pt x="1123308" y="808234"/>
                          </a:lnTo>
                          <a:cubicBezTo>
                            <a:pt x="1122166" y="746589"/>
                            <a:pt x="1121025" y="684944"/>
                            <a:pt x="1119883" y="623299"/>
                          </a:cubicBezTo>
                          <a:lnTo>
                            <a:pt x="1109609" y="469187"/>
                          </a:lnTo>
                          <a:lnTo>
                            <a:pt x="1078786" y="311649"/>
                          </a:lnTo>
                          <a:lnTo>
                            <a:pt x="1023991" y="157537"/>
                          </a:lnTo>
                          <a:lnTo>
                            <a:pt x="969195" y="68494"/>
                          </a:lnTo>
                          <a:lnTo>
                            <a:pt x="893851" y="0"/>
                          </a:lnTo>
                        </a:path>
                      </a:pathLst>
                    </a:cu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1043305" rtl="0" eaLnBrk="1" fontAlgn="base" latinLnBrk="0" hangingPunct="1">
                        <a:lnSpc>
                          <a:spcPct val="100000"/>
                        </a:lnSpc>
                        <a:spcBef>
                          <a:spcPct val="0"/>
                        </a:spcBef>
                        <a:spcAft>
                          <a:spcPct val="0"/>
                        </a:spcAft>
                        <a:buClrTx/>
                        <a:buSzTx/>
                        <a:buFontTx/>
                        <a:buNone/>
                      </a:pPr>
                      <a:endParaRPr kumimoji="1" lang="ja-JP" altLang="en-US" sz="2700" b="0" i="0" u="none" strike="noStrike" cap="none" normalizeH="0" baseline="0" dirty="0">
                        <a:ln>
                          <a:noFill/>
                        </a:ln>
                        <a:solidFill>
                          <a:srgbClr val="000000"/>
                        </a:solidFill>
                        <a:effectLst/>
                        <a:latin typeface="Times New Roman" panose="02020603050405020304" charset="0"/>
                        <a:ea typeface="MS PGothic" panose="020B0600070205080204" charset="-128"/>
                      </a:endParaRPr>
                    </a:p>
                  </p:txBody>
                </p:sp>
                <p:sp>
                  <p:nvSpPr>
                    <p:cNvPr id="12" name="円/楕円 11"/>
                    <p:cNvSpPr/>
                    <p:nvPr/>
                  </p:nvSpPr>
                  <p:spPr>
                    <a:xfrm>
                      <a:off x="9889" y="2469"/>
                      <a:ext cx="1072" cy="1264"/>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2975" dirty="0">
                        <a:latin typeface="MS PGothic" panose="020B0600070205080204" charset="-128"/>
                        <a:ea typeface="MS PGothic" panose="020B0600070205080204" charset="-128"/>
                      </a:endParaRPr>
                    </a:p>
                  </p:txBody>
                </p:sp>
              </p:grpSp>
              <p:grpSp>
                <p:nvGrpSpPr>
                  <p:cNvPr id="40" name="组合 39"/>
                  <p:cNvGrpSpPr/>
                  <p:nvPr/>
                </p:nvGrpSpPr>
                <p:grpSpPr>
                  <a:xfrm>
                    <a:off x="8391" y="3184"/>
                    <a:ext cx="1145" cy="1305"/>
                    <a:chOff x="8161" y="4243"/>
                    <a:chExt cx="1145" cy="1305"/>
                  </a:xfrm>
                </p:grpSpPr>
                <p:grpSp>
                  <p:nvGrpSpPr>
                    <p:cNvPr id="10" name="グループ化 10"/>
                    <p:cNvGrpSpPr/>
                    <p:nvPr/>
                  </p:nvGrpSpPr>
                  <p:grpSpPr>
                    <a:xfrm rot="290409">
                      <a:off x="8161" y="4824"/>
                      <a:ext cx="1088" cy="725"/>
                      <a:chOff x="3047465" y="4059226"/>
                      <a:chExt cx="922569" cy="720307"/>
                    </a:xfrm>
                  </p:grpSpPr>
                  <p:sp>
                    <p:nvSpPr>
                      <p:cNvPr id="15" name="フリーフォーム 170"/>
                      <p:cNvSpPr/>
                      <p:nvPr/>
                    </p:nvSpPr>
                    <p:spPr>
                      <a:xfrm rot="20273636">
                        <a:off x="3789087" y="4126983"/>
                        <a:ext cx="180947" cy="370157"/>
                      </a:xfrm>
                      <a:custGeom>
                        <a:avLst/>
                        <a:gdLst>
                          <a:gd name="connsiteX0" fmla="*/ 1038 w 296005"/>
                          <a:gd name="connsiteY0" fmla="*/ 65085 h 605531"/>
                          <a:gd name="connsiteX1" fmla="*/ 65930 w 296005"/>
                          <a:gd name="connsiteY1" fmla="*/ 283361 h 605531"/>
                          <a:gd name="connsiteX2" fmla="*/ 71830 w 296005"/>
                          <a:gd name="connsiteY2" fmla="*/ 430845 h 605531"/>
                          <a:gd name="connsiteX3" fmla="*/ 42333 w 296005"/>
                          <a:gd name="connsiteY3" fmla="*/ 554732 h 605531"/>
                          <a:gd name="connsiteX4" fmla="*/ 219314 w 296005"/>
                          <a:gd name="connsiteY4" fmla="*/ 601926 h 605531"/>
                          <a:gd name="connsiteX5" fmla="*/ 278307 w 296005"/>
                          <a:gd name="connsiteY5" fmla="*/ 466241 h 605531"/>
                          <a:gd name="connsiteX6" fmla="*/ 296005 w 296005"/>
                          <a:gd name="connsiteY6" fmla="*/ 289261 h 605531"/>
                          <a:gd name="connsiteX7" fmla="*/ 278307 w 296005"/>
                          <a:gd name="connsiteY7" fmla="*/ 112280 h 605531"/>
                          <a:gd name="connsiteX8" fmla="*/ 260609 w 296005"/>
                          <a:gd name="connsiteY8" fmla="*/ 6092 h 605531"/>
                          <a:gd name="connsiteX9" fmla="*/ 124924 w 296005"/>
                          <a:gd name="connsiteY9" fmla="*/ 17890 h 605531"/>
                          <a:gd name="connsiteX10" fmla="*/ 1038 w 296005"/>
                          <a:gd name="connsiteY10" fmla="*/ 65085 h 60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005" h="605531">
                            <a:moveTo>
                              <a:pt x="1038" y="65085"/>
                            </a:moveTo>
                            <a:cubicBezTo>
                              <a:pt x="-8794" y="109330"/>
                              <a:pt x="54131" y="222401"/>
                              <a:pt x="65930" y="283361"/>
                            </a:cubicBezTo>
                            <a:cubicBezTo>
                              <a:pt x="77729" y="344321"/>
                              <a:pt x="75763" y="385617"/>
                              <a:pt x="71830" y="430845"/>
                            </a:cubicBezTo>
                            <a:cubicBezTo>
                              <a:pt x="67897" y="476074"/>
                              <a:pt x="17752" y="526219"/>
                              <a:pt x="42333" y="554732"/>
                            </a:cubicBezTo>
                            <a:cubicBezTo>
                              <a:pt x="66914" y="583245"/>
                              <a:pt x="179985" y="616675"/>
                              <a:pt x="219314" y="601926"/>
                            </a:cubicBezTo>
                            <a:cubicBezTo>
                              <a:pt x="258643" y="587178"/>
                              <a:pt x="265525" y="518352"/>
                              <a:pt x="278307" y="466241"/>
                            </a:cubicBezTo>
                            <a:cubicBezTo>
                              <a:pt x="291089" y="414130"/>
                              <a:pt x="296005" y="348254"/>
                              <a:pt x="296005" y="289261"/>
                            </a:cubicBezTo>
                            <a:cubicBezTo>
                              <a:pt x="296005" y="230268"/>
                              <a:pt x="284206" y="159475"/>
                              <a:pt x="278307" y="112280"/>
                            </a:cubicBezTo>
                            <a:cubicBezTo>
                              <a:pt x="272408" y="65085"/>
                              <a:pt x="286173" y="21824"/>
                              <a:pt x="260609" y="6092"/>
                            </a:cubicBezTo>
                            <a:cubicBezTo>
                              <a:pt x="235045" y="-9640"/>
                              <a:pt x="161303" y="9041"/>
                              <a:pt x="124924" y="17890"/>
                            </a:cubicBezTo>
                            <a:cubicBezTo>
                              <a:pt x="88545" y="26739"/>
                              <a:pt x="10870" y="20840"/>
                              <a:pt x="1038" y="65085"/>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latin typeface="MS PGothic" panose="020B0600070205080204" charset="-128"/>
                          <a:ea typeface="MS PGothic" panose="020B0600070205080204" charset="-128"/>
                        </a:endParaRPr>
                      </a:p>
                    </p:txBody>
                  </p:sp>
                  <p:sp>
                    <p:nvSpPr>
                      <p:cNvPr id="16" name="円/楕円 12"/>
                      <p:cNvSpPr/>
                      <p:nvPr/>
                    </p:nvSpPr>
                    <p:spPr>
                      <a:xfrm>
                        <a:off x="3429947" y="4126137"/>
                        <a:ext cx="440191" cy="504237"/>
                      </a:xfrm>
                      <a:custGeom>
                        <a:avLst/>
                        <a:gdLst>
                          <a:gd name="connsiteX0" fmla="*/ 0 w 1406381"/>
                          <a:gd name="connsiteY0" fmla="*/ 762684 h 1525367"/>
                          <a:gd name="connsiteX1" fmla="*/ 703191 w 1406381"/>
                          <a:gd name="connsiteY1" fmla="*/ 0 h 1525367"/>
                          <a:gd name="connsiteX2" fmla="*/ 1406382 w 1406381"/>
                          <a:gd name="connsiteY2" fmla="*/ 762684 h 1525367"/>
                          <a:gd name="connsiteX3" fmla="*/ 703191 w 1406381"/>
                          <a:gd name="connsiteY3" fmla="*/ 1525368 h 1525367"/>
                          <a:gd name="connsiteX4" fmla="*/ 0 w 1406381"/>
                          <a:gd name="connsiteY4" fmla="*/ 762684 h 1525367"/>
                          <a:gd name="connsiteX0-1" fmla="*/ 2902 w 1409284"/>
                          <a:gd name="connsiteY0-2" fmla="*/ 647071 h 1409755"/>
                          <a:gd name="connsiteX1-3" fmla="*/ 537928 w 1409284"/>
                          <a:gd name="connsiteY1-4" fmla="*/ 0 h 1409755"/>
                          <a:gd name="connsiteX2-5" fmla="*/ 1409284 w 1409284"/>
                          <a:gd name="connsiteY2-6" fmla="*/ 647071 h 1409755"/>
                          <a:gd name="connsiteX3-7" fmla="*/ 706093 w 1409284"/>
                          <a:gd name="connsiteY3-8" fmla="*/ 1409755 h 1409755"/>
                          <a:gd name="connsiteX4-9" fmla="*/ 2902 w 1409284"/>
                          <a:gd name="connsiteY4-10" fmla="*/ 647071 h 1409755"/>
                          <a:gd name="connsiteX0-11" fmla="*/ 2902 w 1409284"/>
                          <a:gd name="connsiteY0-12" fmla="*/ 648835 h 1411519"/>
                          <a:gd name="connsiteX1-13" fmla="*/ 537928 w 1409284"/>
                          <a:gd name="connsiteY1-14" fmla="*/ 1764 h 1411519"/>
                          <a:gd name="connsiteX2-15" fmla="*/ 1409284 w 1409284"/>
                          <a:gd name="connsiteY2-16" fmla="*/ 648835 h 1411519"/>
                          <a:gd name="connsiteX3-17" fmla="*/ 706093 w 1409284"/>
                          <a:gd name="connsiteY3-18" fmla="*/ 1411519 h 1411519"/>
                          <a:gd name="connsiteX4-19" fmla="*/ 2902 w 1409284"/>
                          <a:gd name="connsiteY4-20" fmla="*/ 648835 h 1411519"/>
                          <a:gd name="connsiteX0-21" fmla="*/ 2902 w 1434226"/>
                          <a:gd name="connsiteY0-22" fmla="*/ 648835 h 1411519"/>
                          <a:gd name="connsiteX1-23" fmla="*/ 537928 w 1434226"/>
                          <a:gd name="connsiteY1-24" fmla="*/ 1764 h 1411519"/>
                          <a:gd name="connsiteX2-25" fmla="*/ 1409284 w 1434226"/>
                          <a:gd name="connsiteY2-26" fmla="*/ 648835 h 1411519"/>
                          <a:gd name="connsiteX3-27" fmla="*/ 706093 w 1434226"/>
                          <a:gd name="connsiteY3-28" fmla="*/ 1411519 h 1411519"/>
                          <a:gd name="connsiteX4-29" fmla="*/ 2902 w 1434226"/>
                          <a:gd name="connsiteY4-30" fmla="*/ 648835 h 1411519"/>
                          <a:gd name="connsiteX0-31" fmla="*/ 2902 w 1429310"/>
                          <a:gd name="connsiteY0-32" fmla="*/ 648835 h 1421223"/>
                          <a:gd name="connsiteX1-33" fmla="*/ 537928 w 1429310"/>
                          <a:gd name="connsiteY1-34" fmla="*/ 1764 h 1421223"/>
                          <a:gd name="connsiteX2-35" fmla="*/ 1409284 w 1429310"/>
                          <a:gd name="connsiteY2-36" fmla="*/ 648835 h 1421223"/>
                          <a:gd name="connsiteX3-37" fmla="*/ 706093 w 1429310"/>
                          <a:gd name="connsiteY3-38" fmla="*/ 1411519 h 1421223"/>
                          <a:gd name="connsiteX4-39" fmla="*/ 2902 w 1429310"/>
                          <a:gd name="connsiteY4-40" fmla="*/ 648835 h 1421223"/>
                          <a:gd name="connsiteX0-41" fmla="*/ 3222 w 1429931"/>
                          <a:gd name="connsiteY0-42" fmla="*/ 648835 h 1483603"/>
                          <a:gd name="connsiteX1-43" fmla="*/ 538248 w 1429931"/>
                          <a:gd name="connsiteY1-44" fmla="*/ 1764 h 1483603"/>
                          <a:gd name="connsiteX2-45" fmla="*/ 1409604 w 1429931"/>
                          <a:gd name="connsiteY2-46" fmla="*/ 648835 h 1483603"/>
                          <a:gd name="connsiteX3-47" fmla="*/ 716924 w 1429931"/>
                          <a:gd name="connsiteY3-48" fmla="*/ 1474581 h 1483603"/>
                          <a:gd name="connsiteX4-49" fmla="*/ 3222 w 1429931"/>
                          <a:gd name="connsiteY4-50" fmla="*/ 648835 h 1483603"/>
                          <a:gd name="connsiteX0-51" fmla="*/ 3222 w 1429931"/>
                          <a:gd name="connsiteY0-52" fmla="*/ 648835 h 1484124"/>
                          <a:gd name="connsiteX1-53" fmla="*/ 538248 w 1429931"/>
                          <a:gd name="connsiteY1-54" fmla="*/ 1764 h 1484124"/>
                          <a:gd name="connsiteX2-55" fmla="*/ 1409604 w 1429931"/>
                          <a:gd name="connsiteY2-56" fmla="*/ 648835 h 1484124"/>
                          <a:gd name="connsiteX3-57" fmla="*/ 716924 w 1429931"/>
                          <a:gd name="connsiteY3-58" fmla="*/ 1474581 h 1484124"/>
                          <a:gd name="connsiteX4-59" fmla="*/ 3222 w 1429931"/>
                          <a:gd name="connsiteY4-60" fmla="*/ 648835 h 1484124"/>
                          <a:gd name="connsiteX0-61" fmla="*/ 2861 w 1281581"/>
                          <a:gd name="connsiteY0-62" fmla="*/ 637738 h 1474000"/>
                          <a:gd name="connsiteX1-63" fmla="*/ 390742 w 1281581"/>
                          <a:gd name="connsiteY1-64" fmla="*/ 1177 h 1474000"/>
                          <a:gd name="connsiteX2-65" fmla="*/ 1262098 w 1281581"/>
                          <a:gd name="connsiteY2-66" fmla="*/ 648248 h 1474000"/>
                          <a:gd name="connsiteX3-67" fmla="*/ 569418 w 1281581"/>
                          <a:gd name="connsiteY3-68" fmla="*/ 1473994 h 1474000"/>
                          <a:gd name="connsiteX4-69" fmla="*/ 2861 w 1281581"/>
                          <a:gd name="connsiteY4-70" fmla="*/ 637738 h 1474000"/>
                          <a:gd name="connsiteX0-71" fmla="*/ 36382 w 1315102"/>
                          <a:gd name="connsiteY0-72" fmla="*/ 637738 h 1474000"/>
                          <a:gd name="connsiteX1-73" fmla="*/ 424263 w 1315102"/>
                          <a:gd name="connsiteY1-74" fmla="*/ 1177 h 1474000"/>
                          <a:gd name="connsiteX2-75" fmla="*/ 1295619 w 1315102"/>
                          <a:gd name="connsiteY2-76" fmla="*/ 648248 h 1474000"/>
                          <a:gd name="connsiteX3-77" fmla="*/ 602939 w 1315102"/>
                          <a:gd name="connsiteY3-78" fmla="*/ 1473994 h 1474000"/>
                          <a:gd name="connsiteX4-79" fmla="*/ 36382 w 1315102"/>
                          <a:gd name="connsiteY4-80" fmla="*/ 637738 h 1474000"/>
                          <a:gd name="connsiteX0-81" fmla="*/ 69692 w 1348412"/>
                          <a:gd name="connsiteY0-82" fmla="*/ 708338 h 1544600"/>
                          <a:gd name="connsiteX1-83" fmla="*/ 457573 w 1348412"/>
                          <a:gd name="connsiteY1-84" fmla="*/ 71777 h 1544600"/>
                          <a:gd name="connsiteX2-85" fmla="*/ 1328929 w 1348412"/>
                          <a:gd name="connsiteY2-86" fmla="*/ 718848 h 1544600"/>
                          <a:gd name="connsiteX3-87" fmla="*/ 636249 w 1348412"/>
                          <a:gd name="connsiteY3-88" fmla="*/ 1544594 h 1544600"/>
                          <a:gd name="connsiteX4-89" fmla="*/ 69692 w 1348412"/>
                          <a:gd name="connsiteY4-90" fmla="*/ 708338 h 1544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348412" h="1544600">
                            <a:moveTo>
                              <a:pt x="69692" y="708338"/>
                            </a:moveTo>
                            <a:cubicBezTo>
                              <a:pt x="-75700" y="63475"/>
                              <a:pt x="-15058" y="-119162"/>
                              <a:pt x="457573" y="71777"/>
                            </a:cubicBezTo>
                            <a:cubicBezTo>
                              <a:pt x="930204" y="262716"/>
                              <a:pt x="992598" y="3339"/>
                              <a:pt x="1328929" y="718848"/>
                            </a:cubicBezTo>
                            <a:cubicBezTo>
                              <a:pt x="1465564" y="1171598"/>
                              <a:pt x="846122" y="1546346"/>
                              <a:pt x="636249" y="1544594"/>
                            </a:cubicBezTo>
                            <a:cubicBezTo>
                              <a:pt x="426376" y="1542842"/>
                              <a:pt x="215084" y="1353201"/>
                              <a:pt x="69692" y="708338"/>
                            </a:cubicBezTo>
                            <a:close/>
                          </a:path>
                        </a:pathLst>
                      </a:cu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176"/>
                      <p:cNvSpPr/>
                      <p:nvPr/>
                    </p:nvSpPr>
                    <p:spPr>
                      <a:xfrm>
                        <a:off x="3224219" y="4101354"/>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177"/>
                      <p:cNvSpPr/>
                      <p:nvPr/>
                    </p:nvSpPr>
                    <p:spPr>
                      <a:xfrm rot="18723341">
                        <a:off x="3407984" y="4567390"/>
                        <a:ext cx="229191" cy="130795"/>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178"/>
                      <p:cNvSpPr/>
                      <p:nvPr/>
                    </p:nvSpPr>
                    <p:spPr>
                      <a:xfrm rot="20718969">
                        <a:off x="3190089" y="4306199"/>
                        <a:ext cx="293640" cy="146447"/>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179"/>
                      <p:cNvSpPr/>
                      <p:nvPr/>
                    </p:nvSpPr>
                    <p:spPr>
                      <a:xfrm>
                        <a:off x="3242593" y="4192523"/>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180"/>
                      <p:cNvSpPr/>
                      <p:nvPr/>
                    </p:nvSpPr>
                    <p:spPr>
                      <a:xfrm rot="19105625">
                        <a:off x="3047465" y="4168450"/>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181"/>
                      <p:cNvSpPr/>
                      <p:nvPr/>
                    </p:nvSpPr>
                    <p:spPr>
                      <a:xfrm rot="19105625">
                        <a:off x="3084464" y="4258587"/>
                        <a:ext cx="229191" cy="8124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182"/>
                      <p:cNvSpPr/>
                      <p:nvPr/>
                    </p:nvSpPr>
                    <p:spPr>
                      <a:xfrm rot="16755692">
                        <a:off x="3058967" y="4494801"/>
                        <a:ext cx="292462" cy="100161"/>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183"/>
                      <p:cNvSpPr/>
                      <p:nvPr/>
                    </p:nvSpPr>
                    <p:spPr>
                      <a:xfrm rot="20206640">
                        <a:off x="3301011" y="4675841"/>
                        <a:ext cx="192498" cy="103692"/>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柱 24"/>
                      <p:cNvSpPr/>
                      <p:nvPr/>
                    </p:nvSpPr>
                    <p:spPr>
                      <a:xfrm rot="10800000">
                        <a:off x="3408555" y="4059226"/>
                        <a:ext cx="7115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柱 25"/>
                      <p:cNvSpPr/>
                      <p:nvPr/>
                    </p:nvSpPr>
                    <p:spPr>
                      <a:xfrm rot="10474734">
                        <a:off x="3416350" y="4159325"/>
                        <a:ext cx="71151"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柱 26"/>
                      <p:cNvSpPr/>
                      <p:nvPr/>
                    </p:nvSpPr>
                    <p:spPr>
                      <a:xfrm rot="9758492">
                        <a:off x="3447727" y="4287451"/>
                        <a:ext cx="67222"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柱 27"/>
                      <p:cNvSpPr/>
                      <p:nvPr/>
                    </p:nvSpPr>
                    <p:spPr>
                      <a:xfrm rot="8504862">
                        <a:off x="3553843" y="4503969"/>
                        <a:ext cx="69949" cy="145111"/>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柱 28"/>
                      <p:cNvSpPr/>
                      <p:nvPr/>
                    </p:nvSpPr>
                    <p:spPr>
                      <a:xfrm rot="9906573">
                        <a:off x="3225345" y="4080595"/>
                        <a:ext cx="55239"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柱 30"/>
                      <p:cNvSpPr/>
                      <p:nvPr/>
                    </p:nvSpPr>
                    <p:spPr>
                      <a:xfrm rot="9906573">
                        <a:off x="3260138" y="4190660"/>
                        <a:ext cx="52223" cy="10882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柱 31"/>
                      <p:cNvSpPr/>
                      <p:nvPr/>
                    </p:nvSpPr>
                    <p:spPr>
                      <a:xfrm rot="7547432">
                        <a:off x="3211970" y="4366416"/>
                        <a:ext cx="56335"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柱 32"/>
                      <p:cNvSpPr/>
                      <p:nvPr/>
                    </p:nvSpPr>
                    <p:spPr>
                      <a:xfrm rot="8499449">
                        <a:off x="3435980" y="4618733"/>
                        <a:ext cx="44830" cy="138593"/>
                      </a:xfrm>
                      <a:prstGeom prst="can">
                        <a:avLst>
                          <a:gd name="adj" fmla="val 68214"/>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グループ化 40"/>
                    <p:cNvGrpSpPr/>
                    <p:nvPr/>
                  </p:nvGrpSpPr>
                  <p:grpSpPr>
                    <a:xfrm rot="0">
                      <a:off x="8438" y="4243"/>
                      <a:ext cx="869" cy="836"/>
                      <a:chOff x="548845" y="2977005"/>
                      <a:chExt cx="2700000" cy="2700000"/>
                    </a:xfrm>
                  </p:grpSpPr>
                  <p:pic>
                    <p:nvPicPr>
                      <p:cNvPr id="55" name="グラフィックス 41" descr="セキュリティ カメラ 単色塗りつぶ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flipH="1">
                        <a:off x="548845" y="2977005"/>
                        <a:ext cx="2700000" cy="2700000"/>
                      </a:xfrm>
                      <a:prstGeom prst="rect">
                        <a:avLst/>
                      </a:prstGeom>
                    </p:spPr>
                  </p:pic>
                  <p:sp>
                    <p:nvSpPr>
                      <p:cNvPr id="56" name="正方形/長方形 42"/>
                      <p:cNvSpPr/>
                      <p:nvPr/>
                    </p:nvSpPr>
                    <p:spPr>
                      <a:xfrm>
                        <a:off x="2720049" y="3305593"/>
                        <a:ext cx="370390" cy="13387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400" dirty="0"/>
                      </a:p>
                    </p:txBody>
                  </p:sp>
                </p:grpSp>
              </p:grpSp>
            </p:grpSp>
            <p:sp>
              <p:nvSpPr>
                <p:cNvPr id="57" name="フローチャート: 磁気ディスク 2"/>
                <p:cNvSpPr/>
                <p:nvPr/>
              </p:nvSpPr>
              <p:spPr>
                <a:xfrm>
                  <a:off x="4945" y="3772"/>
                  <a:ext cx="629" cy="819"/>
                </a:xfrm>
                <a:prstGeom prst="flowChartMagneticDisk">
                  <a:avLst/>
                </a:prstGeom>
                <a:solidFill>
                  <a:schemeClr val="bg1">
                    <a:lumMod val="50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8" name="图片 57" descr="cube"/>
              <p:cNvPicPr>
                <a:picLocks noChangeAspect="1"/>
              </p:cNvPicPr>
              <p:nvPr/>
            </p:nvPicPr>
            <p:blipFill>
              <a:blip r:embed="rId3"/>
              <a:stretch>
                <a:fillRect/>
              </a:stretch>
            </p:blipFill>
            <p:spPr>
              <a:xfrm>
                <a:off x="9340" y="2826"/>
                <a:ext cx="588" cy="588"/>
              </a:xfrm>
              <a:prstGeom prst="rect">
                <a:avLst/>
              </a:prstGeom>
            </p:spPr>
          </p:pic>
        </p:grpSp>
        <p:pic>
          <p:nvPicPr>
            <p:cNvPr id="60" name="图片 59" descr="triangular"/>
            <p:cNvPicPr>
              <a:picLocks noChangeAspect="1"/>
            </p:cNvPicPr>
            <p:nvPr/>
          </p:nvPicPr>
          <p:blipFill>
            <a:blip r:embed="rId4"/>
            <a:stretch>
              <a:fillRect/>
            </a:stretch>
          </p:blipFill>
          <p:spPr>
            <a:xfrm>
              <a:off x="8406" y="4606"/>
              <a:ext cx="690" cy="690"/>
            </a:xfrm>
            <a:prstGeom prst="rect">
              <a:avLst/>
            </a:prstGeom>
          </p:spPr>
        </p:pic>
      </p:grpSp>
      <p:sp>
        <p:nvSpPr>
          <p:cNvPr id="68" name="文本框 67"/>
          <p:cNvSpPr txBox="1"/>
          <p:nvPr/>
        </p:nvSpPr>
        <p:spPr>
          <a:xfrm>
            <a:off x="220980" y="2953385"/>
            <a:ext cx="4733925" cy="922020"/>
          </a:xfrm>
          <a:prstGeom prst="rect">
            <a:avLst/>
          </a:prstGeom>
          <a:noFill/>
        </p:spPr>
        <p:txBody>
          <a:bodyPr wrap="square" rtlCol="0" anchor="t">
            <a:spAutoFit/>
          </a:bodyPr>
          <a:p>
            <a:pPr marL="285750" indent="-285750">
              <a:buFont typeface="Wingdings" panose="05000000000000000000" charset="0"/>
              <a:buChar char="n"/>
            </a:pPr>
            <a:r>
              <a:rPr lang="en-US" altLang="zh-CN">
                <a:sym typeface="+mn-ea"/>
              </a:rPr>
              <a:t>Scene:</a:t>
            </a:r>
            <a:endParaRPr lang="en-US" altLang="zh-CN">
              <a:sym typeface="+mn-ea"/>
            </a:endParaRPr>
          </a:p>
          <a:p>
            <a:pPr indent="457200">
              <a:buFont typeface="Wingdings" panose="05000000000000000000" charset="0"/>
              <a:buNone/>
            </a:pPr>
            <a:r>
              <a:rPr lang="en-US" altLang="zh-CN">
                <a:ea typeface="SimSun" panose="02010600030101010101" pitchFamily="2" charset="-122"/>
                <a:sym typeface="+mn-ea"/>
              </a:rPr>
              <a:t>Grasping different size objects under two conditions</a:t>
            </a:r>
            <a:endParaRPr lang="en-US" altLang="zh-CN">
              <a:ea typeface="SimSun" panose="02010600030101010101" pitchFamily="2" charset="-122"/>
              <a:sym typeface="+mn-ea"/>
            </a:endParaRPr>
          </a:p>
        </p:txBody>
      </p:sp>
      <p:sp>
        <p:nvSpPr>
          <p:cNvPr id="82" name="Card1"/>
          <p:cNvSpPr>
            <a:spLocks noGrp="1"/>
          </p:cNvSpPr>
          <p:nvPr/>
        </p:nvSpPr>
        <p:spPr>
          <a:xfrm>
            <a:off x="5160010" y="1435735"/>
            <a:ext cx="3712210" cy="1954530"/>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0" name="文本框 69"/>
          <p:cNvSpPr txBox="1"/>
          <p:nvPr>
            <p:custDataLst>
              <p:tags r:id="rId5"/>
            </p:custDataLst>
          </p:nvPr>
        </p:nvSpPr>
        <p:spPr>
          <a:xfrm>
            <a:off x="5319395" y="1522095"/>
            <a:ext cx="3616960" cy="368300"/>
          </a:xfrm>
          <a:prstGeom prst="rect">
            <a:avLst/>
          </a:prstGeom>
          <a:noFill/>
        </p:spPr>
        <p:txBody>
          <a:bodyPr wrap="square" rtlCol="0">
            <a:spAutoFit/>
          </a:bodyPr>
          <a:p>
            <a:pPr algn="ctr"/>
            <a:r>
              <a:rPr lang="en-US" altLang="zh-CN"/>
              <a:t>Condition A: EMG-Only Control</a:t>
            </a:r>
            <a:endParaRPr lang="en-US" altLang="zh-CN"/>
          </a:p>
        </p:txBody>
      </p:sp>
      <p:pic>
        <p:nvPicPr>
          <p:cNvPr id="78" name="图片 77" descr="屏幕截图 2026-04-29 162033"/>
          <p:cNvPicPr>
            <a:picLocks noChangeAspect="1"/>
          </p:cNvPicPr>
          <p:nvPr/>
        </p:nvPicPr>
        <p:blipFill>
          <a:blip r:embed="rId6"/>
          <a:stretch>
            <a:fillRect/>
          </a:stretch>
        </p:blipFill>
        <p:spPr>
          <a:xfrm>
            <a:off x="5986145" y="1974215"/>
            <a:ext cx="1998980" cy="1258570"/>
          </a:xfrm>
          <a:prstGeom prst="rect">
            <a:avLst/>
          </a:prstGeom>
        </p:spPr>
      </p:pic>
      <p:sp>
        <p:nvSpPr>
          <p:cNvPr id="85" name="Card1"/>
          <p:cNvSpPr>
            <a:spLocks noGrp="1"/>
          </p:cNvSpPr>
          <p:nvPr/>
        </p:nvSpPr>
        <p:spPr>
          <a:xfrm>
            <a:off x="5160010" y="3942715"/>
            <a:ext cx="3712210" cy="2016125"/>
          </a:xfrm>
          <a:prstGeom prst="roundRect">
            <a:avLst>
              <a:gd name="adj" fmla="val 0"/>
            </a:avLst>
          </a:prstGeom>
          <a:solidFill>
            <a:srgbClr val="F9F4EE"/>
          </a:solidFill>
          <a:ln w="19050">
            <a:noFill/>
          </a:ln>
        </p:spPr>
        <p:txBody>
          <a:bodyPr lIns="685800" tIns="182880" rIns="182880" bIns="182880" anchor="ctr">
            <a:noAutofit/>
          </a:bodyPr>
          <a:p>
            <a:r>
              <a:rPr lang="en-US" sz="2400" dirty="0">
                <a:solidFill>
                  <a:srgbClr val="555555"/>
                </a:solidFill>
                <a:latin typeface="+mj-lt"/>
                <a:cs typeface="+mj-lt"/>
              </a:rPr>
              <a:t>   </a:t>
            </a:r>
            <a:endParaRPr lang="en-US" sz="2400" dirty="0">
              <a:solidFill>
                <a:srgbClr val="555555"/>
              </a:solidFill>
              <a:latin typeface="+mj-lt"/>
              <a:cs typeface="+mj-lt"/>
            </a:endParaRPr>
          </a:p>
        </p:txBody>
      </p:sp>
      <p:sp>
        <p:nvSpPr>
          <p:cNvPr id="72" name="文本框 71"/>
          <p:cNvSpPr txBox="1"/>
          <p:nvPr>
            <p:custDataLst>
              <p:tags r:id="rId7"/>
            </p:custDataLst>
          </p:nvPr>
        </p:nvSpPr>
        <p:spPr>
          <a:xfrm>
            <a:off x="5133975" y="4060190"/>
            <a:ext cx="3816350" cy="337185"/>
          </a:xfrm>
          <a:prstGeom prst="rect">
            <a:avLst/>
          </a:prstGeom>
          <a:noFill/>
        </p:spPr>
        <p:txBody>
          <a:bodyPr wrap="square" rtlCol="0">
            <a:spAutoFit/>
          </a:bodyPr>
          <a:p>
            <a:pPr algn="ctr"/>
            <a:r>
              <a:rPr lang="en-US" altLang="zh-CN" sz="1600"/>
              <a:t>Condition B: Proposed System </a:t>
            </a:r>
            <a:r>
              <a:rPr lang="en-US" altLang="zh-CN" sz="1600">
                <a:sym typeface="+mn-ea"/>
              </a:rPr>
              <a:t>Control</a:t>
            </a:r>
            <a:endParaRPr lang="en-US" altLang="zh-CN" sz="1600"/>
          </a:p>
        </p:txBody>
      </p:sp>
      <p:pic>
        <p:nvPicPr>
          <p:cNvPr id="65" name="图片 64" descr="屏幕截图 333"/>
          <p:cNvPicPr>
            <a:picLocks noChangeAspect="1"/>
          </p:cNvPicPr>
          <p:nvPr/>
        </p:nvPicPr>
        <p:blipFill>
          <a:blip r:embed="rId8"/>
          <a:stretch>
            <a:fillRect/>
          </a:stretch>
        </p:blipFill>
        <p:spPr>
          <a:xfrm>
            <a:off x="5986145" y="4406900"/>
            <a:ext cx="1998980" cy="139954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ea typeface="SimSun" panose="02010600030101010101" pitchFamily="2" charset="-122"/>
                <a:sym typeface="+mn-ea"/>
              </a:rPr>
              <a:t>Evaluation</a:t>
            </a:r>
            <a:endParaRPr lang="en-US" altLang="zh-CN" sz="3200" b="1">
              <a:latin typeface="Times New Roman" panose="02020603050405020304" charset="0"/>
              <a:ea typeface="SimSun" panose="02010600030101010101" pitchFamily="2" charset="-122"/>
              <a:cs typeface="Times New Roman" panose="02020603050405020304" charset="0"/>
            </a:endParaRPr>
          </a:p>
        </p:txBody>
      </p:sp>
      <p:cxnSp>
        <p:nvCxnSpPr>
          <p:cNvPr id="21" name="Divider"/>
          <p:cNvCxnSpPr/>
          <p:nvPr/>
        </p:nvCxnSpPr>
        <p:spPr>
          <a:xfrm>
            <a:off x="4554220" y="895985"/>
            <a:ext cx="40005" cy="5347335"/>
          </a:xfrm>
          <a:prstGeom prst="line">
            <a:avLst/>
          </a:prstGeom>
          <a:ln w="12700" cmpd="sng">
            <a:solidFill>
              <a:srgbClr val="BBCCDD"/>
            </a:solidFill>
            <a:prstDash val="dash"/>
          </a:ln>
        </p:spPr>
        <p:style>
          <a:lnRef idx="2">
            <a:schemeClr val="accent1"/>
          </a:lnRef>
          <a:fillRef idx="0">
            <a:schemeClr val="accent1"/>
          </a:fillRef>
          <a:effectRef idx="1">
            <a:schemeClr val="accent1"/>
          </a:effectRef>
          <a:fontRef idx="minor">
            <a:schemeClr val="tx1"/>
          </a:fontRef>
        </p:style>
      </p:cxnSp>
      <p:sp>
        <p:nvSpPr>
          <p:cNvPr id="200" name="LeftBar"/>
          <p:cNvSpPr>
            <a:spLocks noGrp="1"/>
          </p:cNvSpPr>
          <p:nvPr/>
        </p:nvSpPr>
        <p:spPr>
          <a:xfrm>
            <a:off x="304800" y="950000"/>
            <a:ext cx="190500" cy="457200"/>
          </a:xfrm>
          <a:prstGeom prst="rect">
            <a:avLst/>
          </a:prstGeom>
          <a:solidFill>
            <a:srgbClr val="1E3A5F"/>
          </a:solidFill>
          <a:ln>
            <a:noFill/>
          </a:ln>
        </p:spPr>
        <p:txBody>
          <a:bodyPr/>
          <a:p/>
        </p:txBody>
      </p:sp>
      <p:sp>
        <p:nvSpPr>
          <p:cNvPr id="201" name="LeftHeader"/>
          <p:cNvSpPr txBox="1"/>
          <p:nvPr/>
        </p:nvSpPr>
        <p:spPr>
          <a:xfrm>
            <a:off x="571500" y="950000"/>
            <a:ext cx="3600000" cy="457200"/>
          </a:xfrm>
          <a:prstGeom prst="rect">
            <a:avLst/>
          </a:prstGeom>
          <a:noFill/>
        </p:spPr>
        <p:txBody>
          <a:bodyPr wrap="square" rtlCol="0">
            <a:noAutofit/>
          </a:bodyPr>
          <a:p>
            <a:r>
              <a:rPr lang="en-US" altLang="zh-CN" sz="2000" b="1" dirty="0">
                <a:solidFill>
                  <a:srgbClr val="1E3A5F"/>
                </a:solidFill>
                <a:latin typeface="+mj-lt"/>
                <a:ea typeface="SimSun" panose="02010600030101010101" pitchFamily="2" charset="-122"/>
                <a:cs typeface="+mj-lt"/>
              </a:rPr>
              <a:t>Performance</a:t>
            </a:r>
            <a:endParaRPr lang="en-US" altLang="zh-CN" sz="2000" b="1" dirty="0">
              <a:solidFill>
                <a:srgbClr val="1E3A5F"/>
              </a:solidFill>
              <a:latin typeface="+mj-lt"/>
              <a:ea typeface="SimSun" panose="02010600030101010101" pitchFamily="2" charset="-122"/>
              <a:cs typeface="+mj-lt"/>
            </a:endParaRPr>
          </a:p>
        </p:txBody>
      </p:sp>
      <p:sp>
        <p:nvSpPr>
          <p:cNvPr id="300" name="RightBar"/>
          <p:cNvSpPr>
            <a:spLocks noGrp="1"/>
          </p:cNvSpPr>
          <p:nvPr/>
        </p:nvSpPr>
        <p:spPr>
          <a:xfrm>
            <a:off x="4876020" y="950000"/>
            <a:ext cx="190500" cy="457200"/>
          </a:xfrm>
          <a:prstGeom prst="rect">
            <a:avLst/>
          </a:prstGeom>
          <a:solidFill>
            <a:srgbClr val="7A1E5F"/>
          </a:solidFill>
          <a:ln>
            <a:noFill/>
          </a:ln>
        </p:spPr>
        <p:txBody>
          <a:bodyPr/>
          <a:p/>
        </p:txBody>
      </p:sp>
      <p:sp>
        <p:nvSpPr>
          <p:cNvPr id="301" name="RightHeader"/>
          <p:cNvSpPr txBox="1"/>
          <p:nvPr/>
        </p:nvSpPr>
        <p:spPr>
          <a:xfrm>
            <a:off x="5142720" y="950000"/>
            <a:ext cx="3600000" cy="457200"/>
          </a:xfrm>
          <a:prstGeom prst="rect">
            <a:avLst/>
          </a:prstGeom>
          <a:noFill/>
        </p:spPr>
        <p:txBody>
          <a:bodyPr wrap="square" rtlCol="0">
            <a:noAutofit/>
          </a:bodyPr>
          <a:p>
            <a:r>
              <a:rPr lang="en-US" altLang="zh-CN" sz="2000" b="1" dirty="0">
                <a:solidFill>
                  <a:srgbClr val="7A1E5F"/>
                </a:solidFill>
                <a:latin typeface="+mj-lt"/>
                <a:ea typeface="SimSun" panose="02010600030101010101" pitchFamily="2" charset="-122"/>
                <a:cs typeface="+mj-lt"/>
              </a:rPr>
              <a:t>Cognitive load</a:t>
            </a:r>
            <a:endParaRPr lang="en-US" altLang="zh-CN" sz="2000" b="1" dirty="0">
              <a:solidFill>
                <a:srgbClr val="7A1E5F"/>
              </a:solidFill>
              <a:latin typeface="+mj-lt"/>
              <a:ea typeface="SimSun" panose="02010600030101010101" pitchFamily="2" charset="-122"/>
              <a:cs typeface="+mj-lt"/>
            </a:endParaRPr>
          </a:p>
        </p:txBody>
      </p:sp>
      <p:sp>
        <p:nvSpPr>
          <p:cNvPr id="210" name="Card1"/>
          <p:cNvSpPr>
            <a:spLocks noGrp="1"/>
          </p:cNvSpPr>
          <p:nvPr/>
        </p:nvSpPr>
        <p:spPr>
          <a:xfrm>
            <a:off x="304800" y="180320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Task Completion Time</a:t>
            </a:r>
            <a:endParaRPr lang="en-US" sz="2400" dirty="0">
              <a:solidFill>
                <a:srgbClr val="555555"/>
              </a:solidFill>
              <a:latin typeface="+mj-lt"/>
              <a:cs typeface="+mj-lt"/>
            </a:endParaRPr>
          </a:p>
        </p:txBody>
      </p:sp>
      <p:pic>
        <p:nvPicPr>
          <p:cNvPr id="2" name="图片 1" descr="clock"/>
          <p:cNvPicPr>
            <a:picLocks noChangeAspect="1"/>
          </p:cNvPicPr>
          <p:nvPr/>
        </p:nvPicPr>
        <p:blipFill>
          <a:blip r:embed="rId1"/>
          <a:stretch>
            <a:fillRect/>
          </a:stretch>
        </p:blipFill>
        <p:spPr>
          <a:xfrm>
            <a:off x="426720" y="2248535"/>
            <a:ext cx="609600" cy="609600"/>
          </a:xfrm>
          <a:prstGeom prst="rect">
            <a:avLst/>
          </a:prstGeom>
        </p:spPr>
      </p:pic>
      <p:sp>
        <p:nvSpPr>
          <p:cNvPr id="4" name="Card1"/>
          <p:cNvSpPr>
            <a:spLocks noGrp="1"/>
          </p:cNvSpPr>
          <p:nvPr/>
        </p:nvSpPr>
        <p:spPr>
          <a:xfrm>
            <a:off x="304800" y="3819960"/>
            <a:ext cx="3962400" cy="1500000"/>
          </a:xfrm>
          <a:prstGeom prst="roundRect">
            <a:avLst>
              <a:gd name="adj" fmla="val 0"/>
            </a:avLst>
          </a:prstGeom>
          <a:solidFill>
            <a:srgbClr val="EEF3F8"/>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Grasp Success Rate</a:t>
            </a:r>
            <a:endParaRPr lang="en-US" altLang="zh-CN" sz="2400" dirty="0">
              <a:solidFill>
                <a:srgbClr val="555555"/>
              </a:solidFill>
              <a:latin typeface="+mj-lt"/>
              <a:cs typeface="+mj-lt"/>
            </a:endParaRPr>
          </a:p>
        </p:txBody>
      </p:sp>
      <p:pic>
        <p:nvPicPr>
          <p:cNvPr id="13" name="图片 12" descr="C:/Users/Di/Desktop/achieve-goal (1).pngachieve-goal (1)"/>
          <p:cNvPicPr>
            <a:picLocks noChangeAspect="1"/>
          </p:cNvPicPr>
          <p:nvPr/>
        </p:nvPicPr>
        <p:blipFill>
          <a:blip r:embed="rId2"/>
          <a:srcRect/>
          <a:stretch>
            <a:fillRect/>
          </a:stretch>
        </p:blipFill>
        <p:spPr>
          <a:xfrm>
            <a:off x="426720" y="4265295"/>
            <a:ext cx="609600" cy="609600"/>
          </a:xfrm>
          <a:prstGeom prst="rect">
            <a:avLst/>
          </a:prstGeom>
        </p:spPr>
      </p:pic>
      <p:sp>
        <p:nvSpPr>
          <p:cNvPr id="17" name="Card1"/>
          <p:cNvSpPr>
            <a:spLocks noGrp="1"/>
          </p:cNvSpPr>
          <p:nvPr/>
        </p:nvSpPr>
        <p:spPr>
          <a:xfrm>
            <a:off x="4876165" y="1803200"/>
            <a:ext cx="3962400" cy="1500000"/>
          </a:xfrm>
          <a:prstGeom prst="roundRect">
            <a:avLst>
              <a:gd name="adj" fmla="val 0"/>
            </a:avLst>
          </a:prstGeom>
          <a:solidFill>
            <a:srgbClr val="F5EEF5"/>
          </a:solidFill>
          <a:ln w="19050">
            <a:noFill/>
          </a:ln>
        </p:spPr>
        <p:txBody>
          <a:bodyPr lIns="685800" tIns="182880" rIns="182880" bIns="182880" anchor="ctr">
            <a:noAutofit/>
          </a:bodyPr>
          <a:p>
            <a:r>
              <a:rPr lang="en-US" sz="2400" dirty="0">
                <a:solidFill>
                  <a:srgbClr val="555555"/>
                </a:solidFill>
                <a:latin typeface="+mj-lt"/>
                <a:cs typeface="+mj-lt"/>
              </a:rPr>
              <a:t>   </a:t>
            </a:r>
            <a:r>
              <a:rPr lang="en-US" altLang="zh-CN" sz="2400" dirty="0">
                <a:solidFill>
                  <a:srgbClr val="555555"/>
                </a:solidFill>
                <a:latin typeface="+mj-lt"/>
                <a:cs typeface="+mj-lt"/>
              </a:rPr>
              <a:t>NASA-TLX [6]</a:t>
            </a:r>
            <a:endParaRPr lang="en-US" altLang="zh-CN" sz="2400" dirty="0">
              <a:solidFill>
                <a:srgbClr val="555555"/>
              </a:solidFill>
              <a:latin typeface="+mj-lt"/>
              <a:cs typeface="+mj-lt"/>
            </a:endParaRPr>
          </a:p>
        </p:txBody>
      </p:sp>
      <p:pic>
        <p:nvPicPr>
          <p:cNvPr id="18" name="图片 17" descr="C:/Users/Di/Desktop/exam.pngexam"/>
          <p:cNvPicPr>
            <a:picLocks noChangeAspect="1"/>
          </p:cNvPicPr>
          <p:nvPr/>
        </p:nvPicPr>
        <p:blipFill>
          <a:blip r:embed="rId3"/>
          <a:srcRect/>
          <a:stretch>
            <a:fillRect/>
          </a:stretch>
        </p:blipFill>
        <p:spPr>
          <a:xfrm>
            <a:off x="5066665" y="2248535"/>
            <a:ext cx="609600" cy="6096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Summary</a:t>
            </a:r>
            <a:endParaRPr lang="en-US" altLang="zh-CN" sz="3200" b="1">
              <a:latin typeface="Times New Roman" panose="02020603050405020304" charset="0"/>
              <a:ea typeface="SimSun" panose="02010600030101010101" pitchFamily="2" charset="-122"/>
              <a:cs typeface="Times New Roman" panose="02020603050405020304" charset="0"/>
            </a:endParaRPr>
          </a:p>
          <a:p>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2" name="文本框 1"/>
          <p:cNvSpPr txBox="1"/>
          <p:nvPr/>
        </p:nvSpPr>
        <p:spPr>
          <a:xfrm>
            <a:off x="220980" y="2860675"/>
            <a:ext cx="8717915" cy="65659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rPr>
              <a:t>Next Steps</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4" name="文本框 3"/>
          <p:cNvSpPr txBox="1"/>
          <p:nvPr/>
        </p:nvSpPr>
        <p:spPr>
          <a:xfrm>
            <a:off x="306705" y="3609975"/>
            <a:ext cx="7856855" cy="727710"/>
          </a:xfrm>
          <a:prstGeom prst="rect">
            <a:avLst/>
          </a:prstGeom>
          <a:noFill/>
        </p:spPr>
        <p:txBody>
          <a:bodyPr wrap="square" rtlCol="0" anchor="t">
            <a:noAutofit/>
          </a:bodyPr>
          <a:p>
            <a:pPr indent="457200">
              <a:buFont typeface="Wingdings" panose="05000000000000000000" charset="0"/>
              <a:buNone/>
            </a:pPr>
            <a:r>
              <a:rPr lang="en-US" altLang="zh-CN"/>
              <a:t>Complete the fusion algorithm, enable real-time inference, and achieve basic system functionality.</a:t>
            </a:r>
            <a:endParaRPr lang="en-US" altLang="zh-CN"/>
          </a:p>
        </p:txBody>
      </p:sp>
      <p:sp>
        <p:nvSpPr>
          <p:cNvPr id="5" name="文本框 4"/>
          <p:cNvSpPr txBox="1"/>
          <p:nvPr/>
        </p:nvSpPr>
        <p:spPr>
          <a:xfrm>
            <a:off x="306705" y="883285"/>
            <a:ext cx="8441055" cy="922020"/>
          </a:xfrm>
          <a:prstGeom prst="rect">
            <a:avLst/>
          </a:prstGeom>
        </p:spPr>
        <p:txBody>
          <a:bodyPr wrap="square">
            <a:spAutoFit/>
          </a:bodyPr>
          <a:p>
            <a:pPr indent="457200"/>
            <a:r>
              <a:rPr lang="en-US" altLang="zh-CN"/>
              <a:t>The two sensors, the camera and EMG, have been successfully integrated. Button-based control has been replaced with EMG-based control, and synchronized data acquisition and recording have been successfully implemented.</a:t>
            </a:r>
            <a:endParaRPr lang="en-US" altLang="zh-C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192135" cy="583565"/>
          </a:xfrm>
          <a:prstGeom prst="rect">
            <a:avLst/>
          </a:prstGeom>
          <a:noFill/>
        </p:spPr>
        <p:txBody>
          <a:bodyPr wrap="square" rtlCol="0">
            <a:spAutoFit/>
          </a:bodyPr>
          <a:p>
            <a:r>
              <a:rPr lang="en-US" sz="3200" b="1" dirty="0">
                <a:latin typeface="Times New Roman" panose="02020603050405020304" charset="0"/>
                <a:cs typeface="Times New Roman" panose="02020603050405020304" charset="0"/>
                <a:sym typeface="+mn-ea"/>
              </a:rPr>
              <a:t>References</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3" name="文本框 2"/>
          <p:cNvSpPr txBox="1"/>
          <p:nvPr/>
        </p:nvSpPr>
        <p:spPr>
          <a:xfrm>
            <a:off x="275590" y="902970"/>
            <a:ext cx="8529955" cy="5598160"/>
          </a:xfrm>
          <a:prstGeom prst="rect">
            <a:avLst/>
          </a:prstGeom>
          <a:noFill/>
        </p:spPr>
        <p:txBody>
          <a:bodyPr wrap="square" rtlCol="0" anchor="t">
            <a:spAutoFit/>
          </a:bodyPr>
          <a:p>
            <a:pPr marL="0" indent="0">
              <a:lnSpc>
                <a:spcPct val="120000"/>
              </a:lnSpc>
              <a:buNone/>
            </a:pPr>
            <a:r>
              <a:rPr lang="en-US" sz="1600">
                <a:sym typeface="+mn-ea"/>
              </a:rPr>
              <a:t>[1] </a:t>
            </a:r>
            <a:r>
              <a:rPr lang="en-US" altLang="zh-CN" sz="1600" dirty="0">
                <a:sym typeface="+mn-ea"/>
              </a:rPr>
              <a:t>McDonald C L, Westcott-McCoy S, Weaver M R, et al. Global prevalence of traumatic non-fatal limb amputation[J]. Prosthetics and orthotics international, 2021, 45(2): 105-114.</a:t>
            </a:r>
            <a:endParaRPr lang="en-US" altLang="zh-CN" sz="1600" dirty="0">
              <a:sym typeface="+mn-ea"/>
            </a:endParaRPr>
          </a:p>
          <a:p>
            <a:pPr marL="0" indent="0">
              <a:lnSpc>
                <a:spcPct val="120000"/>
              </a:lnSpc>
              <a:buNone/>
            </a:pPr>
            <a:endParaRPr lang="en-US" altLang="zh-CN" sz="1600" dirty="0">
              <a:sym typeface="+mn-ea"/>
            </a:endParaRPr>
          </a:p>
          <a:p>
            <a:pPr marL="0" indent="0">
              <a:lnSpc>
                <a:spcPct val="120000"/>
              </a:lnSpc>
              <a:buNone/>
            </a:pPr>
            <a:r>
              <a:rPr lang="en-US" sz="1600">
                <a:sym typeface="+mn-ea"/>
              </a:rPr>
              <a:t>[2] </a:t>
            </a:r>
            <a:r>
              <a:rPr lang="en-US" altLang="zh-CN" sz="1600"/>
              <a:t>Chen, Z., Min, H., Wang, D., Xia, Z., Sun, F., &amp; Fang, B. (2023). A review of myoelectric control for prosthetic hand manipulation. Biomimetics, 8(3), 328.</a:t>
            </a:r>
            <a:endParaRPr lang="en-US" altLang="zh-CN" sz="1600"/>
          </a:p>
          <a:p>
            <a:pPr marL="0" indent="0">
              <a:lnSpc>
                <a:spcPct val="120000"/>
              </a:lnSpc>
              <a:buNone/>
            </a:pPr>
            <a:endParaRPr lang="en-US" altLang="zh-CN" sz="1600"/>
          </a:p>
          <a:p>
            <a:pPr marL="0" indent="0">
              <a:lnSpc>
                <a:spcPct val="120000"/>
              </a:lnSpc>
              <a:buNone/>
            </a:pPr>
            <a:r>
              <a:rPr lang="en-US" sz="1600">
                <a:sym typeface="+mn-ea"/>
              </a:rPr>
              <a:t>[3] </a:t>
            </a:r>
            <a:r>
              <a:rPr lang="en-US" altLang="zh-CN" sz="1600"/>
              <a:t>V</a:t>
            </a:r>
            <a:r>
              <a:rPr lang="en-US" altLang="en-US" sz="1600"/>
              <a:t>á</a:t>
            </a:r>
            <a:r>
              <a:rPr lang="en-US" altLang="zh-CN" sz="1600"/>
              <a:t>sconez, J. P., Barona L</a:t>
            </a:r>
            <a:r>
              <a:rPr lang="en-US" altLang="en-US" sz="1600"/>
              <a:t>ó</a:t>
            </a:r>
            <a:r>
              <a:rPr lang="en-US" altLang="zh-CN" sz="1600"/>
              <a:t>pez, L. I., Valdivieso Caraguay, </a:t>
            </a:r>
            <a:r>
              <a:rPr lang="en-US" altLang="en-US" sz="1600"/>
              <a:t>Á. </a:t>
            </a:r>
            <a:r>
              <a:rPr lang="en-US" altLang="zh-CN" sz="1600"/>
              <a:t>L., &amp; Benalc</a:t>
            </a:r>
            <a:r>
              <a:rPr lang="en-US" altLang="en-US" sz="1600"/>
              <a:t>á</a:t>
            </a:r>
            <a:r>
              <a:rPr lang="en-US" altLang="zh-CN" sz="1600"/>
              <a:t>zar, M. E. (2022). Hand gesture recognition using EMG-IMU signals and deep q-networks. Sensors, 22(24), 9613.</a:t>
            </a:r>
            <a:endParaRPr lang="en-US" altLang="zh-CN" sz="1600"/>
          </a:p>
          <a:p>
            <a:pPr marL="0" indent="0">
              <a:lnSpc>
                <a:spcPct val="120000"/>
              </a:lnSpc>
              <a:buNone/>
            </a:pPr>
            <a:endParaRPr lang="en-US" altLang="zh-CN" sz="1600"/>
          </a:p>
          <a:p>
            <a:pPr marL="0" indent="0">
              <a:lnSpc>
                <a:spcPct val="120000"/>
              </a:lnSpc>
              <a:buNone/>
            </a:pPr>
            <a:r>
              <a:rPr lang="en-US" sz="1600">
                <a:sym typeface="+mn-ea"/>
              </a:rPr>
              <a:t>[4] </a:t>
            </a:r>
            <a:r>
              <a:rPr lang="en-US" altLang="zh-CN" sz="1600">
                <a:sym typeface="+mn-ea"/>
              </a:rPr>
              <a:t>Zandigohar, M., Han, M., Sharif, M., G</a:t>
            </a:r>
            <a:r>
              <a:rPr lang="en-US" altLang="en-US" sz="1600">
                <a:sym typeface="+mn-ea"/>
              </a:rPr>
              <a:t>ü</a:t>
            </a:r>
            <a:r>
              <a:rPr lang="en-US" altLang="zh-CN" sz="1600">
                <a:sym typeface="+mn-ea"/>
              </a:rPr>
              <a:t>nay, S. Y., Furmanek, M. P., Yarossi, M., ... &amp; Schirner, G. (2024). Multimodal fusion of EMG and vision for human grasp intent inference in prosthetic hand control. Frontiers in Robotics and AI, 11, 1312554.</a:t>
            </a:r>
            <a:endParaRPr lang="en-US" altLang="zh-CN" sz="1600">
              <a:sym typeface="+mn-ea"/>
            </a:endParaRPr>
          </a:p>
          <a:p>
            <a:pPr marL="0" indent="0">
              <a:lnSpc>
                <a:spcPct val="120000"/>
              </a:lnSpc>
              <a:buNone/>
            </a:pPr>
            <a:endParaRPr lang="en-US" altLang="zh-CN" sz="1600">
              <a:sym typeface="+mn-ea"/>
            </a:endParaRPr>
          </a:p>
          <a:p>
            <a:pPr marL="0" indent="0">
              <a:lnSpc>
                <a:spcPct val="120000"/>
              </a:lnSpc>
              <a:buNone/>
            </a:pPr>
            <a:r>
              <a:rPr lang="en-US" sz="1600">
                <a:sym typeface="+mn-ea"/>
              </a:rPr>
              <a:t>[5] </a:t>
            </a:r>
            <a:r>
              <a:rPr lang="en-US" altLang="zh-CN" sz="1600">
                <a:sym typeface="+mn-ea"/>
              </a:rPr>
              <a:t>Salminger, S., Stino, H., Pichler, L. H., Gstoettner, C., Sturma, A., Mayer, J. A., ... &amp; Aszmann, O. C. (2022). Current rates of prosthetic usage in upper-limb amputees–have innovations had an impact on device acceptance?. Disability and rehabilitation, 44(14), 3708-3713.</a:t>
            </a:r>
            <a:endParaRPr lang="en-US" altLang="zh-CN" sz="1600"/>
          </a:p>
          <a:p>
            <a:pPr marL="0" indent="0">
              <a:lnSpc>
                <a:spcPct val="120000"/>
              </a:lnSpc>
              <a:buNone/>
            </a:pPr>
            <a:endParaRPr lang="en-US" altLang="zh-CN" sz="1600" dirty="0"/>
          </a:p>
          <a:p>
            <a:pPr marL="0" indent="0" fontAlgn="t">
              <a:spcBef>
                <a:spcPct val="0"/>
              </a:spcBef>
              <a:spcAft>
                <a:spcPct val="0"/>
              </a:spcAft>
            </a:pPr>
            <a:r>
              <a:rPr lang="en-US" sz="1600">
                <a:sym typeface="+mn-ea"/>
              </a:rPr>
              <a:t>[6] </a:t>
            </a:r>
            <a:r>
              <a:rPr lang="en-US" altLang="zh-CN" sz="1600">
                <a:solidFill>
                  <a:srgbClr val="222222"/>
                </a:solidFill>
                <a:latin typeface="Times New Roman" panose="02020603050405020304" charset="0"/>
                <a:ea typeface="Arial" panose="020B0604020202020204"/>
                <a:cs typeface="Times New Roman" panose="02020603050405020304" charset="0"/>
                <a:sym typeface="+mn-ea"/>
              </a:rPr>
              <a:t>Hart, S. G., &amp; Staveland, L. E. (1988). Development of NASA-TLX (Task Load Index): Results of empirical and theoretical research. In Advances in psychology (Vol. 52, pp. 139-183). North-holland.</a:t>
            </a:r>
            <a:endParaRPr lang="en-US" altLang="zh-CN"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sym typeface="+mn-ea"/>
              </a:rPr>
              <a:t>Fusion Strategy</a:t>
            </a:r>
            <a:endParaRPr lang="en-US" altLang="zh-CN" sz="3200" b="1" dirty="0">
              <a:latin typeface="Times New Roman" panose="02020603050405020304"/>
            </a:endParaRPr>
          </a:p>
        </p:txBody>
      </p:sp>
      <p:sp>
        <p:nvSpPr>
          <p:cNvPr id="2" name="文本框 1"/>
          <p:cNvSpPr txBox="1"/>
          <p:nvPr/>
        </p:nvSpPr>
        <p:spPr>
          <a:xfrm>
            <a:off x="220980" y="882968"/>
            <a:ext cx="5080000" cy="368300"/>
          </a:xfrm>
          <a:prstGeom prst="rect">
            <a:avLst/>
          </a:prstGeom>
        </p:spPr>
        <p:txBody>
          <a:bodyPr>
            <a:spAutoFit/>
          </a:bodyPr>
          <a:p>
            <a:r>
              <a:rPr lang="en-US" altLang="ja-JP"/>
              <a:t>1 - Concatenation Fusion</a:t>
            </a:r>
            <a:endParaRPr lang="en-US" altLang="ja-JP"/>
          </a:p>
        </p:txBody>
      </p:sp>
      <p:sp>
        <p:nvSpPr>
          <p:cNvPr id="23" name="Card1BG"/>
          <p:cNvSpPr>
            <a:spLocks noGrp="1"/>
          </p:cNvSpPr>
          <p:nvPr>
            <p:custDataLst>
              <p:tags r:id="rId1"/>
            </p:custDataLst>
          </p:nvPr>
        </p:nvSpPr>
        <p:spPr>
          <a:xfrm>
            <a:off x="316865" y="1599565"/>
            <a:ext cx="416560" cy="1612265"/>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32D</a:t>
            </a:r>
            <a:endParaRPr lang="en-US" altLang="zh-CN">
              <a:sym typeface="+mn-ea"/>
            </a:endParaRPr>
          </a:p>
          <a:p>
            <a:pPr algn="ctr"/>
            <a:r>
              <a:rPr lang="en-US" altLang="zh-CN"/>
              <a:t>F</a:t>
            </a:r>
            <a:endParaRPr lang="en-US" altLang="zh-CN"/>
          </a:p>
        </p:txBody>
      </p:sp>
      <p:sp>
        <p:nvSpPr>
          <p:cNvPr id="3" name="加号 2"/>
          <p:cNvSpPr/>
          <p:nvPr/>
        </p:nvSpPr>
        <p:spPr>
          <a:xfrm>
            <a:off x="856615" y="2282190"/>
            <a:ext cx="369570" cy="399415"/>
          </a:xfrm>
          <a:prstGeom prst="mathPlus">
            <a:avLst>
              <a:gd name="adj1" fmla="val 9081"/>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Card1BG"/>
          <p:cNvSpPr>
            <a:spLocks noGrp="1"/>
          </p:cNvSpPr>
          <p:nvPr>
            <p:custDataLst>
              <p:tags r:id="rId2"/>
            </p:custDataLst>
          </p:nvPr>
        </p:nvSpPr>
        <p:spPr>
          <a:xfrm>
            <a:off x="1349375" y="1333500"/>
            <a:ext cx="559435" cy="2330450"/>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512D</a:t>
            </a:r>
            <a:endParaRPr lang="en-US" altLang="zh-CN">
              <a:sym typeface="+mn-ea"/>
            </a:endParaRPr>
          </a:p>
          <a:p>
            <a:pPr algn="ctr"/>
            <a:r>
              <a:rPr lang="en-US" altLang="zh-CN"/>
              <a:t>F</a:t>
            </a:r>
            <a:endParaRPr lang="en-US" altLang="zh-CN"/>
          </a:p>
        </p:txBody>
      </p:sp>
      <p:cxnSp>
        <p:nvCxnSpPr>
          <p:cNvPr id="5" name="直接箭头连接符 4"/>
          <p:cNvCxnSpPr/>
          <p:nvPr/>
        </p:nvCxnSpPr>
        <p:spPr>
          <a:xfrm flipV="1">
            <a:off x="2117090" y="2456180"/>
            <a:ext cx="1054100" cy="10160"/>
          </a:xfrm>
          <a:prstGeom prst="straightConnector1">
            <a:avLst/>
          </a:prstGeom>
          <a:noFill/>
          <a:ln w="12700" cmpd="sng">
            <a:solidFill>
              <a:schemeClr val="tx1">
                <a:lumMod val="85000"/>
                <a:lumOff val="15000"/>
              </a:schemeClr>
            </a:solidFill>
            <a:prstDash val="solid"/>
            <a:tailEnd type="arrow"/>
          </a:ln>
        </p:spPr>
      </p:cxnSp>
      <p:sp>
        <p:nvSpPr>
          <p:cNvPr id="7" name="文本框 6"/>
          <p:cNvSpPr txBox="1"/>
          <p:nvPr/>
        </p:nvSpPr>
        <p:spPr>
          <a:xfrm>
            <a:off x="2248535" y="1985645"/>
            <a:ext cx="791210" cy="368300"/>
          </a:xfrm>
          <a:prstGeom prst="rect">
            <a:avLst/>
          </a:prstGeom>
        </p:spPr>
        <p:txBody>
          <a:bodyPr wrap="square">
            <a:spAutoFit/>
          </a:bodyPr>
          <a:p>
            <a:r>
              <a:rPr lang="en-US" altLang="ja-JP"/>
              <a:t>concat</a:t>
            </a:r>
            <a:endParaRPr lang="en-US" altLang="ja-JP"/>
          </a:p>
        </p:txBody>
      </p:sp>
      <p:sp>
        <p:nvSpPr>
          <p:cNvPr id="8" name="Card1BG"/>
          <p:cNvSpPr>
            <a:spLocks noGrp="1"/>
          </p:cNvSpPr>
          <p:nvPr>
            <p:custDataLst>
              <p:tags r:id="rId3"/>
            </p:custDataLst>
          </p:nvPr>
        </p:nvSpPr>
        <p:spPr>
          <a:xfrm>
            <a:off x="3314065" y="1180465"/>
            <a:ext cx="559435" cy="2738755"/>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544D</a:t>
            </a:r>
            <a:endParaRPr lang="en-US" altLang="zh-CN">
              <a:sym typeface="+mn-ea"/>
            </a:endParaRPr>
          </a:p>
          <a:p>
            <a:pPr algn="ctr"/>
            <a:r>
              <a:rPr lang="en-US" altLang="zh-CN"/>
              <a:t>F</a:t>
            </a:r>
            <a:endParaRPr lang="en-US" altLang="zh-CN"/>
          </a:p>
        </p:txBody>
      </p:sp>
      <p:cxnSp>
        <p:nvCxnSpPr>
          <p:cNvPr id="21" name="直接连接符 20"/>
          <p:cNvCxnSpPr/>
          <p:nvPr/>
        </p:nvCxnSpPr>
        <p:spPr>
          <a:xfrm flipH="1" flipV="1">
            <a:off x="4176395" y="883285"/>
            <a:ext cx="3810" cy="3343275"/>
          </a:xfrm>
          <a:prstGeom prst="line">
            <a:avLst/>
          </a:prstGeom>
          <a:ln w="6350" cmpd="sng">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10" name="文本框 9"/>
          <p:cNvSpPr txBox="1"/>
          <p:nvPr/>
        </p:nvSpPr>
        <p:spPr>
          <a:xfrm>
            <a:off x="4468495" y="883285"/>
            <a:ext cx="4469765" cy="368300"/>
          </a:xfrm>
          <a:prstGeom prst="rect">
            <a:avLst/>
          </a:prstGeom>
        </p:spPr>
        <p:txBody>
          <a:bodyPr wrap="square">
            <a:spAutoFit/>
          </a:bodyPr>
          <a:p>
            <a:r>
              <a:rPr lang="en-US" altLang="ja-JP"/>
              <a:t>2 - Residual Fusion</a:t>
            </a:r>
            <a:endParaRPr lang="en-US" altLang="ja-JP"/>
          </a:p>
        </p:txBody>
      </p:sp>
      <p:sp>
        <p:nvSpPr>
          <p:cNvPr id="11" name="Card1BG"/>
          <p:cNvSpPr>
            <a:spLocks noGrp="1"/>
          </p:cNvSpPr>
          <p:nvPr>
            <p:custDataLst>
              <p:tags r:id="rId4"/>
            </p:custDataLst>
          </p:nvPr>
        </p:nvSpPr>
        <p:spPr>
          <a:xfrm>
            <a:off x="4554855" y="1333500"/>
            <a:ext cx="416560" cy="1020445"/>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32D</a:t>
            </a:r>
            <a:endParaRPr lang="en-US" altLang="zh-CN">
              <a:sym typeface="+mn-ea"/>
            </a:endParaRPr>
          </a:p>
          <a:p>
            <a:pPr algn="ctr"/>
            <a:r>
              <a:rPr lang="en-US" altLang="zh-CN"/>
              <a:t>F</a:t>
            </a:r>
            <a:endParaRPr lang="en-US" altLang="zh-CN"/>
          </a:p>
        </p:txBody>
      </p:sp>
      <p:sp>
        <p:nvSpPr>
          <p:cNvPr id="14" name="Card1BG"/>
          <p:cNvSpPr>
            <a:spLocks noGrp="1"/>
          </p:cNvSpPr>
          <p:nvPr>
            <p:custDataLst>
              <p:tags r:id="rId5"/>
            </p:custDataLst>
          </p:nvPr>
        </p:nvSpPr>
        <p:spPr>
          <a:xfrm>
            <a:off x="4468495" y="2484120"/>
            <a:ext cx="589915" cy="1483995"/>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512D</a:t>
            </a:r>
            <a:endParaRPr lang="en-US" altLang="zh-CN">
              <a:sym typeface="+mn-ea"/>
            </a:endParaRPr>
          </a:p>
          <a:p>
            <a:pPr algn="ctr"/>
            <a:r>
              <a:rPr lang="en-US" altLang="zh-CN"/>
              <a:t>F</a:t>
            </a:r>
            <a:endParaRPr lang="en-US" altLang="zh-CN"/>
          </a:p>
        </p:txBody>
      </p:sp>
      <p:cxnSp>
        <p:nvCxnSpPr>
          <p:cNvPr id="15" name="直接箭头连接符 14"/>
          <p:cNvCxnSpPr/>
          <p:nvPr/>
        </p:nvCxnSpPr>
        <p:spPr>
          <a:xfrm flipV="1">
            <a:off x="5156835" y="1842135"/>
            <a:ext cx="645160" cy="6350"/>
          </a:xfrm>
          <a:prstGeom prst="straightConnector1">
            <a:avLst/>
          </a:prstGeom>
          <a:noFill/>
          <a:ln w="12700" cmpd="sng">
            <a:solidFill>
              <a:schemeClr val="tx1">
                <a:lumMod val="85000"/>
                <a:lumOff val="15000"/>
              </a:schemeClr>
            </a:solidFill>
            <a:prstDash val="solid"/>
            <a:tailEnd type="arrow"/>
          </a:ln>
        </p:spPr>
      </p:cxnSp>
      <p:cxnSp>
        <p:nvCxnSpPr>
          <p:cNvPr id="16" name="直接箭头连接符 15"/>
          <p:cNvCxnSpPr/>
          <p:nvPr/>
        </p:nvCxnSpPr>
        <p:spPr>
          <a:xfrm flipV="1">
            <a:off x="5157470" y="3213735"/>
            <a:ext cx="675005" cy="8255"/>
          </a:xfrm>
          <a:prstGeom prst="straightConnector1">
            <a:avLst/>
          </a:prstGeom>
          <a:noFill/>
          <a:ln w="12700" cmpd="sng">
            <a:solidFill>
              <a:schemeClr val="tx1">
                <a:lumMod val="85000"/>
                <a:lumOff val="15000"/>
              </a:schemeClr>
            </a:solidFill>
            <a:prstDash val="solid"/>
            <a:tailEnd type="arrow"/>
          </a:ln>
        </p:spPr>
      </p:cxnSp>
      <p:sp>
        <p:nvSpPr>
          <p:cNvPr id="17" name="文本框 16"/>
          <p:cNvSpPr txBox="1"/>
          <p:nvPr/>
        </p:nvSpPr>
        <p:spPr>
          <a:xfrm>
            <a:off x="5832475" y="1677035"/>
            <a:ext cx="688975" cy="368300"/>
          </a:xfrm>
          <a:prstGeom prst="rect">
            <a:avLst/>
          </a:prstGeom>
        </p:spPr>
        <p:txBody>
          <a:bodyPr wrap="square">
            <a:spAutoFit/>
          </a:bodyPr>
          <a:p>
            <a:r>
              <a:rPr lang="en-US" altLang="ja-JP"/>
              <a:t>Base</a:t>
            </a:r>
            <a:endParaRPr lang="en-US" altLang="ja-JP"/>
          </a:p>
        </p:txBody>
      </p:sp>
      <p:sp>
        <p:nvSpPr>
          <p:cNvPr id="18" name="文本框 17"/>
          <p:cNvSpPr txBox="1"/>
          <p:nvPr/>
        </p:nvSpPr>
        <p:spPr>
          <a:xfrm>
            <a:off x="5832475" y="3057525"/>
            <a:ext cx="1036955" cy="368300"/>
          </a:xfrm>
          <a:prstGeom prst="rect">
            <a:avLst/>
          </a:prstGeom>
        </p:spPr>
        <p:txBody>
          <a:bodyPr wrap="square">
            <a:spAutoFit/>
          </a:bodyPr>
          <a:p>
            <a:r>
              <a:rPr lang="en-US" altLang="ja-JP"/>
              <a:t>Adjusted</a:t>
            </a:r>
            <a:endParaRPr lang="en-US" altLang="ja-JP"/>
          </a:p>
        </p:txBody>
      </p:sp>
      <p:cxnSp>
        <p:nvCxnSpPr>
          <p:cNvPr id="19" name="直接箭头连接符 18"/>
          <p:cNvCxnSpPr/>
          <p:nvPr/>
        </p:nvCxnSpPr>
        <p:spPr>
          <a:xfrm>
            <a:off x="6743700" y="1892935"/>
            <a:ext cx="628650" cy="327660"/>
          </a:xfrm>
          <a:prstGeom prst="straightConnector1">
            <a:avLst/>
          </a:prstGeom>
          <a:noFill/>
          <a:ln w="12700" cmpd="sng">
            <a:solidFill>
              <a:schemeClr val="tx1">
                <a:lumMod val="85000"/>
                <a:lumOff val="15000"/>
              </a:schemeClr>
            </a:solidFill>
            <a:prstDash val="solid"/>
            <a:tailEnd type="arrow"/>
          </a:ln>
        </p:spPr>
      </p:cxnSp>
      <p:cxnSp>
        <p:nvCxnSpPr>
          <p:cNvPr id="20" name="直接箭头连接符 19"/>
          <p:cNvCxnSpPr/>
          <p:nvPr/>
        </p:nvCxnSpPr>
        <p:spPr>
          <a:xfrm flipV="1">
            <a:off x="6887210" y="2794000"/>
            <a:ext cx="485140" cy="450215"/>
          </a:xfrm>
          <a:prstGeom prst="straightConnector1">
            <a:avLst/>
          </a:prstGeom>
          <a:noFill/>
          <a:ln w="12700" cmpd="sng">
            <a:solidFill>
              <a:schemeClr val="tx1">
                <a:lumMod val="85000"/>
                <a:lumOff val="15000"/>
              </a:schemeClr>
            </a:solidFill>
            <a:prstDash val="solid"/>
            <a:tailEnd type="arrow"/>
          </a:ln>
        </p:spPr>
      </p:cxnSp>
      <p:sp>
        <p:nvSpPr>
          <p:cNvPr id="24" name="Card1BG"/>
          <p:cNvSpPr>
            <a:spLocks noGrp="1"/>
          </p:cNvSpPr>
          <p:nvPr>
            <p:custDataLst>
              <p:tags r:id="rId6"/>
            </p:custDataLst>
          </p:nvPr>
        </p:nvSpPr>
        <p:spPr>
          <a:xfrm>
            <a:off x="7508875" y="2282190"/>
            <a:ext cx="1430020" cy="419100"/>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Result</a:t>
            </a:r>
            <a:endParaRPr lang="en-US" altLang="zh-CN"/>
          </a:p>
        </p:txBody>
      </p:sp>
      <p:cxnSp>
        <p:nvCxnSpPr>
          <p:cNvPr id="25" name="直接连接符 24"/>
          <p:cNvCxnSpPr/>
          <p:nvPr/>
        </p:nvCxnSpPr>
        <p:spPr>
          <a:xfrm>
            <a:off x="45085" y="4293235"/>
            <a:ext cx="8944610" cy="20320"/>
          </a:xfrm>
          <a:prstGeom prst="line">
            <a:avLst/>
          </a:prstGeom>
          <a:ln w="6350" cmpd="sng">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文本框 8"/>
          <p:cNvSpPr txBox="1"/>
          <p:nvPr/>
        </p:nvSpPr>
        <p:spPr>
          <a:xfrm>
            <a:off x="220980" y="4390073"/>
            <a:ext cx="5080000" cy="368300"/>
          </a:xfrm>
          <a:prstGeom prst="rect">
            <a:avLst/>
          </a:prstGeom>
        </p:spPr>
        <p:txBody>
          <a:bodyPr>
            <a:spAutoFit/>
          </a:bodyPr>
          <a:p>
            <a:r>
              <a:rPr lang="en-US" altLang="ja-JP"/>
              <a:t>3 - </a:t>
            </a:r>
            <a:r>
              <a:rPr lang="en-US" altLang="ja-JP">
                <a:sym typeface="+mn-ea"/>
              </a:rPr>
              <a:t>Modified Gated Fusion</a:t>
            </a:r>
            <a:endParaRPr lang="en-US" altLang="ja-JP"/>
          </a:p>
        </p:txBody>
      </p:sp>
      <p:sp>
        <p:nvSpPr>
          <p:cNvPr id="12" name="Shape 25"/>
          <p:cNvSpPr/>
          <p:nvPr>
            <p:custDataLst>
              <p:tags r:id="rId7"/>
            </p:custDataLst>
          </p:nvPr>
        </p:nvSpPr>
        <p:spPr>
          <a:xfrm>
            <a:off x="317500" y="6044565"/>
            <a:ext cx="2668905" cy="422910"/>
          </a:xfrm>
          <a:prstGeom prst="rect">
            <a:avLst/>
          </a:prstGeom>
          <a:solidFill>
            <a:srgbClr val="F59E0B">
              <a:alpha val="10000"/>
            </a:srgbClr>
          </a:solidFill>
          <a:ln w="19050">
            <a:solidFill>
              <a:srgbClr val="F59E0B"/>
            </a:solidFill>
            <a:prstDash val="solid"/>
          </a:ln>
        </p:spPr>
        <p:txBody>
          <a:bodyPr/>
          <a:p>
            <a:pPr algn="ctr"/>
            <a:r>
              <a:rPr lang="en-US" altLang="zh-CN"/>
              <a:t>Grasping Intention</a:t>
            </a:r>
            <a:endParaRPr lang="en-US" altLang="zh-CN"/>
          </a:p>
        </p:txBody>
      </p:sp>
      <p:grpSp>
        <p:nvGrpSpPr>
          <p:cNvPr id="13" name="组合 12"/>
          <p:cNvGrpSpPr/>
          <p:nvPr/>
        </p:nvGrpSpPr>
        <p:grpSpPr>
          <a:xfrm>
            <a:off x="316865" y="4922520"/>
            <a:ext cx="2669540" cy="388620"/>
            <a:chOff x="2430" y="3065"/>
            <a:chExt cx="4204" cy="612"/>
          </a:xfrm>
        </p:grpSpPr>
        <p:sp>
          <p:nvSpPr>
            <p:cNvPr id="22" name="Shape 26"/>
            <p:cNvSpPr/>
            <p:nvPr>
              <p:custDataLst>
                <p:tags r:id="rId8"/>
              </p:custDataLst>
            </p:nvPr>
          </p:nvSpPr>
          <p:spPr>
            <a:xfrm>
              <a:off x="2430" y="3065"/>
              <a:ext cx="4204" cy="613"/>
            </a:xfrm>
            <a:prstGeom prst="rect">
              <a:avLst/>
            </a:prstGeom>
            <a:solidFill>
              <a:srgbClr val="F59E0B"/>
            </a:solidFill>
            <a:ln w="19050">
              <a:solidFill>
                <a:srgbClr val="F59E0B"/>
              </a:solidFill>
              <a:prstDash val="solid"/>
            </a:ln>
          </p:spPr>
        </p:sp>
        <p:sp>
          <p:nvSpPr>
            <p:cNvPr id="26" name="Text 27"/>
            <p:cNvSpPr/>
            <p:nvPr>
              <p:custDataLst>
                <p:tags r:id="rId9"/>
              </p:custDataLst>
            </p:nvPr>
          </p:nvSpPr>
          <p:spPr>
            <a:xfrm>
              <a:off x="2430" y="3065"/>
              <a:ext cx="4204" cy="613"/>
            </a:xfrm>
            <a:prstGeom prst="rect">
              <a:avLst/>
            </a:prstGeom>
            <a:noFill/>
          </p:spPr>
          <p:txBody>
            <a:bodyPr wrap="square" lIns="0" tIns="0" rIns="0" bIns="0" rtlCol="0" anchor="ctr"/>
            <a:lstStyle/>
            <a:p>
              <a:pPr marL="0" indent="0" algn="ctr">
                <a:buNone/>
              </a:pPr>
              <a:r>
                <a:rPr lang="en-US" altLang="zh-CN" b="1" dirty="0"/>
                <a:t>EMG</a:t>
              </a:r>
              <a:endParaRPr lang="en-US" altLang="zh-CN" b="1" dirty="0"/>
            </a:p>
          </p:txBody>
        </p:sp>
      </p:grpSp>
      <p:sp>
        <p:nvSpPr>
          <p:cNvPr id="27" name="下箭头 26"/>
          <p:cNvSpPr/>
          <p:nvPr/>
        </p:nvSpPr>
        <p:spPr>
          <a:xfrm>
            <a:off x="814705" y="5407660"/>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下箭头 27"/>
          <p:cNvSpPr/>
          <p:nvPr/>
        </p:nvSpPr>
        <p:spPr>
          <a:xfrm>
            <a:off x="2080260" y="5407660"/>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Shape 25"/>
          <p:cNvSpPr/>
          <p:nvPr>
            <p:custDataLst>
              <p:tags r:id="rId10"/>
            </p:custDataLst>
          </p:nvPr>
        </p:nvSpPr>
        <p:spPr>
          <a:xfrm>
            <a:off x="4410710" y="6019165"/>
            <a:ext cx="2668905" cy="422910"/>
          </a:xfrm>
          <a:prstGeom prst="rect">
            <a:avLst/>
          </a:prstGeom>
          <a:solidFill>
            <a:srgbClr val="F59E0B">
              <a:alpha val="10000"/>
            </a:srgbClr>
          </a:solidFill>
          <a:ln w="19050">
            <a:solidFill>
              <a:srgbClr val="F59E0B"/>
            </a:solidFill>
            <a:prstDash val="solid"/>
          </a:ln>
        </p:spPr>
        <p:txBody>
          <a:bodyPr/>
          <a:p>
            <a:pPr algn="ctr"/>
            <a:r>
              <a:rPr lang="en-US" altLang="zh-CN"/>
              <a:t>Target Size</a:t>
            </a:r>
            <a:endParaRPr lang="en-US" altLang="zh-CN"/>
          </a:p>
        </p:txBody>
      </p:sp>
      <p:grpSp>
        <p:nvGrpSpPr>
          <p:cNvPr id="30" name="组合 29"/>
          <p:cNvGrpSpPr/>
          <p:nvPr/>
        </p:nvGrpSpPr>
        <p:grpSpPr>
          <a:xfrm>
            <a:off x="4410075" y="4897120"/>
            <a:ext cx="2669540" cy="388620"/>
            <a:chOff x="2430" y="3065"/>
            <a:chExt cx="4204" cy="612"/>
          </a:xfrm>
        </p:grpSpPr>
        <p:sp>
          <p:nvSpPr>
            <p:cNvPr id="31" name="Shape 26"/>
            <p:cNvSpPr/>
            <p:nvPr>
              <p:custDataLst>
                <p:tags r:id="rId11"/>
              </p:custDataLst>
            </p:nvPr>
          </p:nvSpPr>
          <p:spPr>
            <a:xfrm>
              <a:off x="2430" y="3065"/>
              <a:ext cx="4204" cy="613"/>
            </a:xfrm>
            <a:prstGeom prst="rect">
              <a:avLst/>
            </a:prstGeom>
            <a:solidFill>
              <a:srgbClr val="F59E0B"/>
            </a:solidFill>
            <a:ln w="19050">
              <a:solidFill>
                <a:srgbClr val="F59E0B"/>
              </a:solidFill>
              <a:prstDash val="solid"/>
            </a:ln>
          </p:spPr>
        </p:sp>
        <p:sp>
          <p:nvSpPr>
            <p:cNvPr id="41" name="Text 27"/>
            <p:cNvSpPr/>
            <p:nvPr>
              <p:custDataLst>
                <p:tags r:id="rId12"/>
              </p:custDataLst>
            </p:nvPr>
          </p:nvSpPr>
          <p:spPr>
            <a:xfrm>
              <a:off x="2430" y="3065"/>
              <a:ext cx="4204" cy="613"/>
            </a:xfrm>
            <a:prstGeom prst="rect">
              <a:avLst/>
            </a:prstGeom>
            <a:noFill/>
          </p:spPr>
          <p:txBody>
            <a:bodyPr wrap="square" lIns="0" tIns="0" rIns="0" bIns="0" rtlCol="0" anchor="ctr"/>
            <a:lstStyle/>
            <a:p>
              <a:pPr marL="0" indent="0" algn="ctr">
                <a:buNone/>
              </a:pPr>
              <a:r>
                <a:rPr lang="en-US" altLang="zh-CN" b="1" dirty="0">
                  <a:sym typeface="+mn-ea"/>
                </a:rPr>
                <a:t>Camera</a:t>
              </a:r>
              <a:endParaRPr lang="en-US" altLang="zh-CN" b="1" dirty="0"/>
            </a:p>
          </p:txBody>
        </p:sp>
      </p:grpSp>
      <p:sp>
        <p:nvSpPr>
          <p:cNvPr id="42" name="下箭头 41"/>
          <p:cNvSpPr/>
          <p:nvPr/>
        </p:nvSpPr>
        <p:spPr>
          <a:xfrm>
            <a:off x="4907915" y="5382260"/>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下箭头 42"/>
          <p:cNvSpPr/>
          <p:nvPr/>
        </p:nvSpPr>
        <p:spPr>
          <a:xfrm>
            <a:off x="6173470" y="5382260"/>
            <a:ext cx="414655" cy="540385"/>
          </a:xfrm>
          <a:prstGeom prst="downArrow">
            <a:avLst/>
          </a:prstGeom>
          <a:solidFill>
            <a:srgbClr val="F59E0B"/>
          </a:solidFill>
          <a:ln>
            <a:noFill/>
            <a:tailEnd type="triangle"/>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53" name="矩形 52"/>
          <p:cNvSpPr/>
          <p:nvPr/>
        </p:nvSpPr>
        <p:spPr>
          <a:xfrm>
            <a:off x="1759585" y="1330325"/>
            <a:ext cx="396240" cy="3244850"/>
          </a:xfrm>
          <a:prstGeom prst="rect">
            <a:avLst/>
          </a:prstGeom>
          <a:solidFill>
            <a:schemeClr val="bg1"/>
          </a:solidFill>
          <a:ln w="2540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220980" y="226695"/>
            <a:ext cx="8717915" cy="656590"/>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rPr>
              <a:t>Current Implementation</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3" name="矩形 2"/>
          <p:cNvSpPr/>
          <p:nvPr/>
        </p:nvSpPr>
        <p:spPr>
          <a:xfrm>
            <a:off x="2331720" y="1330325"/>
            <a:ext cx="3736340" cy="3244850"/>
          </a:xfrm>
          <a:prstGeom prst="rect">
            <a:avLst/>
          </a:prstGeom>
          <a:solidFill>
            <a:schemeClr val="bg1"/>
          </a:solidFill>
          <a:ln w="25400" cmpd="sng">
            <a:solidFill>
              <a:srgbClr val="F59E0B"/>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0" name="Card2BG"/>
          <p:cNvSpPr>
            <a:spLocks noGrp="1"/>
          </p:cNvSpPr>
          <p:nvPr>
            <p:custDataLst>
              <p:tags r:id="rId1"/>
            </p:custDataLst>
          </p:nvPr>
        </p:nvSpPr>
        <p:spPr>
          <a:xfrm>
            <a:off x="4544060" y="2259965"/>
            <a:ext cx="1390015" cy="1134745"/>
          </a:xfrm>
          <a:prstGeom prst="roundRect">
            <a:avLst>
              <a:gd name="adj" fmla="val 0"/>
            </a:avLst>
          </a:prstGeom>
          <a:solidFill>
            <a:schemeClr val="accent2">
              <a:lumMod val="60000"/>
              <a:lumOff val="40000"/>
              <a:alpha val="50000"/>
            </a:schemeClr>
          </a:solidFill>
          <a:ln w="15875">
            <a:solidFill>
              <a:srgbClr val="F09A70"/>
            </a:solidFill>
          </a:ln>
        </p:spPr>
        <p:txBody>
          <a:bodyPr anchor="ctr" anchorCtr="0"/>
          <a:p>
            <a:pPr algn="ctr"/>
            <a:r>
              <a:rPr lang="en-US"/>
              <a:t>Fusion</a:t>
            </a:r>
            <a:endParaRPr lang="en-US"/>
          </a:p>
        </p:txBody>
      </p:sp>
      <p:sp>
        <p:nvSpPr>
          <p:cNvPr id="200" name="Card1BG"/>
          <p:cNvSpPr>
            <a:spLocks noGrp="1"/>
          </p:cNvSpPr>
          <p:nvPr>
            <p:custDataLst>
              <p:tags r:id="rId2"/>
            </p:custDataLst>
          </p:nvPr>
        </p:nvSpPr>
        <p:spPr>
          <a:xfrm>
            <a:off x="132715" y="1077595"/>
            <a:ext cx="1450975" cy="1593215"/>
          </a:xfrm>
          <a:prstGeom prst="roundRect">
            <a:avLst>
              <a:gd name="adj" fmla="val 0"/>
            </a:avLst>
          </a:prstGeom>
          <a:solidFill>
            <a:srgbClr val="F5F5F5"/>
          </a:solidFill>
          <a:ln w="19050">
            <a:solidFill>
              <a:srgbClr val="DDDDDD"/>
            </a:solidFill>
          </a:ln>
        </p:spPr>
        <p:txBody>
          <a:bodyPr/>
          <a:p/>
        </p:txBody>
      </p:sp>
      <p:pic>
        <p:nvPicPr>
          <p:cNvPr id="202" name="EMGImg"/>
          <p:cNvPicPr>
            <a:picLocks noChangeAspect="1"/>
          </p:cNvPicPr>
          <p:nvPr>
            <p:custDataLst>
              <p:tags r:id="rId3"/>
            </p:custDataLst>
          </p:nvPr>
        </p:nvPicPr>
        <p:blipFill>
          <a:blip r:embed="rId4"/>
          <a:stretch>
            <a:fillRect/>
          </a:stretch>
        </p:blipFill>
        <p:spPr>
          <a:xfrm>
            <a:off x="220980" y="1331595"/>
            <a:ext cx="1270000" cy="1270000"/>
          </a:xfrm>
          <a:prstGeom prst="rect">
            <a:avLst/>
          </a:prstGeom>
        </p:spPr>
      </p:pic>
      <p:sp>
        <p:nvSpPr>
          <p:cNvPr id="203" name="Card1Text"/>
          <p:cNvSpPr txBox="1"/>
          <p:nvPr>
            <p:custDataLst>
              <p:tags r:id="rId5"/>
            </p:custDataLst>
          </p:nvPr>
        </p:nvSpPr>
        <p:spPr>
          <a:xfrm>
            <a:off x="220980" y="1076960"/>
            <a:ext cx="1270635" cy="254635"/>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EMG Sensor</a:t>
            </a:r>
            <a:endParaRPr lang="zh-CN" altLang="en-US" sz="1100" dirty="0">
              <a:solidFill>
                <a:srgbClr val="444444"/>
              </a:solidFill>
              <a:latin typeface="Calibri" panose="020F0502020204030204"/>
            </a:endParaRPr>
          </a:p>
        </p:txBody>
      </p:sp>
      <p:sp>
        <p:nvSpPr>
          <p:cNvPr id="4" name="Card1BG"/>
          <p:cNvSpPr>
            <a:spLocks noGrp="1"/>
          </p:cNvSpPr>
          <p:nvPr>
            <p:custDataLst>
              <p:tags r:id="rId6"/>
            </p:custDataLst>
          </p:nvPr>
        </p:nvSpPr>
        <p:spPr>
          <a:xfrm>
            <a:off x="126365" y="2921000"/>
            <a:ext cx="1450975" cy="1593215"/>
          </a:xfrm>
          <a:prstGeom prst="roundRect">
            <a:avLst>
              <a:gd name="adj" fmla="val 0"/>
            </a:avLst>
          </a:prstGeom>
          <a:solidFill>
            <a:srgbClr val="F5F5F5"/>
          </a:solidFill>
          <a:ln w="19050">
            <a:solidFill>
              <a:srgbClr val="DDDDDD"/>
            </a:solidFill>
          </a:ln>
        </p:spPr>
        <p:txBody>
          <a:bodyPr/>
          <a:p/>
        </p:txBody>
      </p:sp>
      <p:sp>
        <p:nvSpPr>
          <p:cNvPr id="14" name="Card1Text"/>
          <p:cNvSpPr txBox="1"/>
          <p:nvPr>
            <p:custDataLst>
              <p:tags r:id="rId7"/>
            </p:custDataLst>
          </p:nvPr>
        </p:nvSpPr>
        <p:spPr>
          <a:xfrm>
            <a:off x="213995" y="2921000"/>
            <a:ext cx="1270635" cy="254000"/>
          </a:xfrm>
          <a:prstGeom prst="rect">
            <a:avLst/>
          </a:prstGeom>
          <a:noFill/>
        </p:spPr>
        <p:txBody>
          <a:bodyPr wrap="square" rtlCol="0" anchor="ctr" anchorCtr="0">
            <a:noAutofit/>
          </a:bodyPr>
          <a:p>
            <a:pPr algn="ctr"/>
            <a:r>
              <a:rPr lang="en-US" sz="1600" b="1" dirty="0">
                <a:solidFill>
                  <a:srgbClr val="1E3A5F"/>
                </a:solidFill>
                <a:latin typeface="Calibri" panose="020F0502020204030204"/>
              </a:rPr>
              <a:t>Camera</a:t>
            </a:r>
            <a:endParaRPr lang="zh-CN" altLang="en-US" sz="1100" dirty="0">
              <a:solidFill>
                <a:srgbClr val="444444"/>
              </a:solidFill>
              <a:latin typeface="Calibri" panose="020F0502020204030204"/>
            </a:endParaRPr>
          </a:p>
        </p:txBody>
      </p:sp>
      <p:pic>
        <p:nvPicPr>
          <p:cNvPr id="212" name="CameraImg"/>
          <p:cNvPicPr>
            <a:picLocks noChangeAspect="1"/>
          </p:cNvPicPr>
          <p:nvPr>
            <p:custDataLst>
              <p:tags r:id="rId8"/>
            </p:custDataLst>
          </p:nvPr>
        </p:nvPicPr>
        <p:blipFill>
          <a:blip r:embed="rId9"/>
          <a:stretch>
            <a:fillRect/>
          </a:stretch>
        </p:blipFill>
        <p:spPr>
          <a:xfrm>
            <a:off x="214630" y="3175000"/>
            <a:ext cx="1270000" cy="1270000"/>
          </a:xfrm>
          <a:prstGeom prst="rect">
            <a:avLst/>
          </a:prstGeom>
        </p:spPr>
      </p:pic>
      <p:sp>
        <p:nvSpPr>
          <p:cNvPr id="18" name="Shape 15"/>
          <p:cNvSpPr/>
          <p:nvPr/>
        </p:nvSpPr>
        <p:spPr>
          <a:xfrm>
            <a:off x="1714500" y="1874266"/>
            <a:ext cx="548640" cy="0"/>
          </a:xfrm>
          <a:prstGeom prst="line">
            <a:avLst/>
          </a:prstGeom>
          <a:noFill/>
          <a:ln w="19050">
            <a:solidFill>
              <a:srgbClr val="14B8A6"/>
            </a:solidFill>
            <a:prstDash val="solid"/>
            <a:tailEnd type="triangle"/>
          </a:ln>
        </p:spPr>
      </p:sp>
      <p:sp>
        <p:nvSpPr>
          <p:cNvPr id="20" name="Shape 15"/>
          <p:cNvSpPr/>
          <p:nvPr/>
        </p:nvSpPr>
        <p:spPr>
          <a:xfrm>
            <a:off x="1714500" y="3809746"/>
            <a:ext cx="548640" cy="0"/>
          </a:xfrm>
          <a:prstGeom prst="line">
            <a:avLst/>
          </a:prstGeom>
          <a:noFill/>
          <a:ln w="19050">
            <a:solidFill>
              <a:srgbClr val="14B8A6"/>
            </a:solidFill>
            <a:prstDash val="solid"/>
            <a:tailEnd type="triangle"/>
          </a:ln>
        </p:spPr>
      </p:sp>
      <p:sp>
        <p:nvSpPr>
          <p:cNvPr id="23" name="Card1BG"/>
          <p:cNvSpPr>
            <a:spLocks noGrp="1"/>
          </p:cNvSpPr>
          <p:nvPr>
            <p:custDataLst>
              <p:tags r:id="rId10"/>
            </p:custDataLst>
          </p:nvPr>
        </p:nvSpPr>
        <p:spPr>
          <a:xfrm>
            <a:off x="2486660" y="1564640"/>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EMG</a:t>
            </a:r>
            <a:endParaRPr lang="en-US" altLang="zh-CN">
              <a:sym typeface="+mn-ea"/>
            </a:endParaRPr>
          </a:p>
          <a:p>
            <a:pPr algn="ctr"/>
            <a:r>
              <a:rPr lang="en-US" altLang="zh-CN">
                <a:sym typeface="+mn-ea"/>
              </a:rPr>
              <a:t>Feature</a:t>
            </a:r>
            <a:endParaRPr lang="en-US" altLang="zh-CN"/>
          </a:p>
        </p:txBody>
      </p:sp>
      <p:sp>
        <p:nvSpPr>
          <p:cNvPr id="27" name="Card1BG"/>
          <p:cNvSpPr>
            <a:spLocks noGrp="1"/>
          </p:cNvSpPr>
          <p:nvPr>
            <p:custDataLst>
              <p:tags r:id="rId11"/>
            </p:custDataLst>
          </p:nvPr>
        </p:nvSpPr>
        <p:spPr>
          <a:xfrm>
            <a:off x="2493010" y="3500120"/>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Image</a:t>
            </a:r>
            <a:r>
              <a:rPr lang="en-US" altLang="zh-CN"/>
              <a:t> Feature</a:t>
            </a:r>
            <a:endParaRPr lang="en-US" altLang="zh-CN"/>
          </a:p>
        </p:txBody>
      </p:sp>
      <p:sp>
        <p:nvSpPr>
          <p:cNvPr id="30" name="Shape 15"/>
          <p:cNvSpPr/>
          <p:nvPr/>
        </p:nvSpPr>
        <p:spPr>
          <a:xfrm flipV="1">
            <a:off x="4048125" y="3394710"/>
            <a:ext cx="396240" cy="415290"/>
          </a:xfrm>
          <a:prstGeom prst="line">
            <a:avLst/>
          </a:prstGeom>
          <a:noFill/>
          <a:ln w="19050">
            <a:solidFill>
              <a:srgbClr val="14B8A6"/>
            </a:solidFill>
            <a:prstDash val="solid"/>
            <a:tailEnd type="triangle"/>
          </a:ln>
        </p:spPr>
      </p:sp>
      <p:sp>
        <p:nvSpPr>
          <p:cNvPr id="54" name="Shape 52"/>
          <p:cNvSpPr/>
          <p:nvPr/>
        </p:nvSpPr>
        <p:spPr>
          <a:xfrm>
            <a:off x="4033520" y="1873885"/>
            <a:ext cx="418465" cy="309880"/>
          </a:xfrm>
          <a:prstGeom prst="line">
            <a:avLst/>
          </a:prstGeom>
          <a:noFill/>
          <a:ln w="19050">
            <a:solidFill>
              <a:srgbClr val="14B8A6"/>
            </a:solidFill>
            <a:prstDash val="solid"/>
            <a:tailEnd type="triangle"/>
          </a:ln>
        </p:spPr>
      </p:sp>
      <p:sp>
        <p:nvSpPr>
          <p:cNvPr id="300" name="HandCardBG"/>
          <p:cNvSpPr>
            <a:spLocks noGrp="1"/>
          </p:cNvSpPr>
          <p:nvPr/>
        </p:nvSpPr>
        <p:spPr>
          <a:xfrm>
            <a:off x="6961505" y="1577340"/>
            <a:ext cx="1952625" cy="2496820"/>
          </a:xfrm>
          <a:prstGeom prst="roundRect">
            <a:avLst>
              <a:gd name="adj" fmla="val 0"/>
            </a:avLst>
          </a:prstGeom>
          <a:solidFill>
            <a:srgbClr val="EEF3F8"/>
          </a:solidFill>
          <a:ln w="28575">
            <a:solidFill>
              <a:srgbClr val="1E3A5F"/>
            </a:solidFill>
          </a:ln>
        </p:spPr>
        <p:txBody>
          <a:bodyPr/>
          <a:p/>
        </p:txBody>
      </p:sp>
      <p:pic>
        <p:nvPicPr>
          <p:cNvPr id="301" name="HandImg"/>
          <p:cNvPicPr>
            <a:picLocks noChangeAspect="1"/>
          </p:cNvPicPr>
          <p:nvPr/>
        </p:nvPicPr>
        <p:blipFill>
          <a:blip r:embed="rId12"/>
          <a:stretch>
            <a:fillRect/>
          </a:stretch>
        </p:blipFill>
        <p:spPr>
          <a:xfrm>
            <a:off x="7054215" y="1692910"/>
            <a:ext cx="1764665" cy="1600200"/>
          </a:xfrm>
          <a:prstGeom prst="rect">
            <a:avLst/>
          </a:prstGeom>
        </p:spPr>
      </p:pic>
      <p:sp>
        <p:nvSpPr>
          <p:cNvPr id="41" name="Shape 15"/>
          <p:cNvSpPr/>
          <p:nvPr/>
        </p:nvSpPr>
        <p:spPr>
          <a:xfrm>
            <a:off x="6215380" y="2943225"/>
            <a:ext cx="674370" cy="635"/>
          </a:xfrm>
          <a:prstGeom prst="line">
            <a:avLst/>
          </a:prstGeom>
          <a:noFill/>
          <a:ln w="19050">
            <a:solidFill>
              <a:srgbClr val="14B8A6"/>
            </a:solidFill>
            <a:prstDash val="solid"/>
            <a:tailEnd type="triangle"/>
          </a:ln>
        </p:spPr>
      </p:sp>
      <p:sp>
        <p:nvSpPr>
          <p:cNvPr id="42" name="文本框 41"/>
          <p:cNvSpPr txBox="1"/>
          <p:nvPr/>
        </p:nvSpPr>
        <p:spPr>
          <a:xfrm>
            <a:off x="6136640" y="2601595"/>
            <a:ext cx="753745" cy="337185"/>
          </a:xfrm>
          <a:prstGeom prst="rect">
            <a:avLst/>
          </a:prstGeom>
          <a:noFill/>
        </p:spPr>
        <p:txBody>
          <a:bodyPr wrap="square" rtlCol="0">
            <a:spAutoFit/>
          </a:bodyPr>
          <a:p>
            <a:pPr algn="ctr"/>
            <a:r>
              <a:rPr lang="en-US" altLang="zh-CN" sz="1600"/>
              <a:t>Output</a:t>
            </a:r>
            <a:endParaRPr lang="en-US" altLang="zh-CN" sz="1600"/>
          </a:p>
        </p:txBody>
      </p:sp>
      <p:sp>
        <p:nvSpPr>
          <p:cNvPr id="44" name="文本框 43"/>
          <p:cNvSpPr txBox="1"/>
          <p:nvPr/>
        </p:nvSpPr>
        <p:spPr>
          <a:xfrm>
            <a:off x="7054215" y="3394710"/>
            <a:ext cx="1764665" cy="645160"/>
          </a:xfrm>
          <a:prstGeom prst="rect">
            <a:avLst/>
          </a:prstGeom>
          <a:noFill/>
        </p:spPr>
        <p:txBody>
          <a:bodyPr wrap="square" rtlCol="0">
            <a:spAutoFit/>
          </a:bodyPr>
          <a:p>
            <a:pPr algn="ctr"/>
            <a:r>
              <a:rPr lang="en-US" altLang="zh-CN"/>
              <a:t>Motor Rotation Angle</a:t>
            </a:r>
            <a:endParaRPr lang="en-US" altLang="zh-CN"/>
          </a:p>
        </p:txBody>
      </p:sp>
      <p:sp>
        <p:nvSpPr>
          <p:cNvPr id="36" name="文本框 35"/>
          <p:cNvSpPr txBox="1"/>
          <p:nvPr/>
        </p:nvSpPr>
        <p:spPr>
          <a:xfrm>
            <a:off x="2670175" y="887730"/>
            <a:ext cx="3048000" cy="368300"/>
          </a:xfrm>
          <a:prstGeom prst="rect">
            <a:avLst/>
          </a:prstGeom>
          <a:noFill/>
        </p:spPr>
        <p:txBody>
          <a:bodyPr wrap="square" rtlCol="0">
            <a:spAutoFit/>
          </a:bodyPr>
          <a:p>
            <a:pPr algn="ctr"/>
            <a:r>
              <a:rPr lang="en-US" altLang="zh-CN"/>
              <a:t>Neural Network</a:t>
            </a:r>
            <a:endParaRPr lang="en-US" altLang="zh-CN"/>
          </a:p>
        </p:txBody>
      </p:sp>
      <p:cxnSp>
        <p:nvCxnSpPr>
          <p:cNvPr id="51" name="肘形连接符 50"/>
          <p:cNvCxnSpPr>
            <a:stCxn id="23" idx="2"/>
          </p:cNvCxnSpPr>
          <p:nvPr/>
        </p:nvCxnSpPr>
        <p:spPr>
          <a:xfrm rot="5400000">
            <a:off x="645795" y="2426970"/>
            <a:ext cx="2809875" cy="2323465"/>
          </a:xfrm>
          <a:prstGeom prst="bentConnector3">
            <a:avLst>
              <a:gd name="adj1" fmla="val 21220"/>
            </a:avLst>
          </a:prstGeom>
          <a:noFill/>
          <a:ln w="38100" cmpd="sng">
            <a:solidFill>
              <a:srgbClr val="14B8A6"/>
            </a:solidFill>
            <a:prstDash val="solid"/>
            <a:tailEnd type="triangle"/>
          </a:ln>
        </p:spPr>
      </p:cxnSp>
      <p:sp>
        <p:nvSpPr>
          <p:cNvPr id="52" name="文本框 51"/>
          <p:cNvSpPr txBox="1"/>
          <p:nvPr/>
        </p:nvSpPr>
        <p:spPr>
          <a:xfrm>
            <a:off x="221615" y="5018405"/>
            <a:ext cx="1270000" cy="368300"/>
          </a:xfrm>
          <a:prstGeom prst="rect">
            <a:avLst/>
          </a:prstGeom>
        </p:spPr>
        <p:txBody>
          <a:bodyPr wrap="square">
            <a:spAutoFit/>
          </a:bodyPr>
          <a:p>
            <a:pPr algn="ctr"/>
            <a:r>
              <a:rPr lang="en-US" altLang="ja-JP"/>
              <a:t>1D CNN</a:t>
            </a:r>
            <a:endParaRPr lang="en-US" altLang="ja-JP"/>
          </a:p>
        </p:txBody>
      </p:sp>
      <p:sp>
        <p:nvSpPr>
          <p:cNvPr id="55" name="文本框 54"/>
          <p:cNvSpPr txBox="1"/>
          <p:nvPr/>
        </p:nvSpPr>
        <p:spPr>
          <a:xfrm>
            <a:off x="1588135" y="685165"/>
            <a:ext cx="743585" cy="645160"/>
          </a:xfrm>
          <a:prstGeom prst="rect">
            <a:avLst/>
          </a:prstGeom>
        </p:spPr>
        <p:txBody>
          <a:bodyPr wrap="square">
            <a:spAutoFit/>
          </a:bodyPr>
          <a:p>
            <a:pPr algn="ctr"/>
            <a:r>
              <a:rPr lang="en-US" altLang="ja-JP"/>
              <a:t>Sync</a:t>
            </a:r>
            <a:endParaRPr lang="en-US" altLang="ja-JP"/>
          </a:p>
          <a:p>
            <a:pPr algn="ctr"/>
            <a:r>
              <a:rPr lang="en-US" altLang="zh-CN">
                <a:ea typeface="SimSun" panose="02010600030101010101" pitchFamily="2" charset="-122"/>
              </a:rPr>
              <a:t>33ms</a:t>
            </a:r>
            <a:endParaRPr lang="en-US" altLang="zh-CN">
              <a:ea typeface="SimSun" panose="02010600030101010101" pitchFamily="2" charset="-122"/>
            </a:endParaRPr>
          </a:p>
        </p:txBody>
      </p:sp>
      <p:sp>
        <p:nvSpPr>
          <p:cNvPr id="56" name="下箭头 55"/>
          <p:cNvSpPr/>
          <p:nvPr/>
        </p:nvSpPr>
        <p:spPr>
          <a:xfrm>
            <a:off x="708025" y="5523865"/>
            <a:ext cx="300355" cy="538480"/>
          </a:xfrm>
          <a:prstGeom prst="downArrow">
            <a:avLst>
              <a:gd name="adj1" fmla="val 43340"/>
              <a:gd name="adj2" fmla="val 64244"/>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文本框 56"/>
          <p:cNvSpPr txBox="1"/>
          <p:nvPr/>
        </p:nvSpPr>
        <p:spPr>
          <a:xfrm>
            <a:off x="0" y="6199505"/>
            <a:ext cx="2040890" cy="368300"/>
          </a:xfrm>
          <a:prstGeom prst="rect">
            <a:avLst/>
          </a:prstGeom>
        </p:spPr>
        <p:txBody>
          <a:bodyPr wrap="square">
            <a:spAutoFit/>
          </a:bodyPr>
          <a:p>
            <a:pPr algn="ctr"/>
            <a:r>
              <a:rPr lang="en-US" altLang="ja-JP"/>
              <a:t>32-D feature vector</a:t>
            </a:r>
            <a:endParaRPr lang="en-US" altLang="ja-JP"/>
          </a:p>
        </p:txBody>
      </p:sp>
      <p:cxnSp>
        <p:nvCxnSpPr>
          <p:cNvPr id="58" name="直接箭头连接符 57"/>
          <p:cNvCxnSpPr>
            <a:stCxn id="27" idx="2"/>
          </p:cNvCxnSpPr>
          <p:nvPr/>
        </p:nvCxnSpPr>
        <p:spPr>
          <a:xfrm>
            <a:off x="3218815" y="4119880"/>
            <a:ext cx="3810" cy="843915"/>
          </a:xfrm>
          <a:prstGeom prst="straightConnector1">
            <a:avLst/>
          </a:prstGeom>
          <a:noFill/>
          <a:ln w="38100" cmpd="sng">
            <a:solidFill>
              <a:srgbClr val="14B8A6"/>
            </a:solidFill>
            <a:prstDash val="solid"/>
            <a:tailEnd type="triangle"/>
          </a:ln>
        </p:spPr>
      </p:cxnSp>
      <p:sp>
        <p:nvSpPr>
          <p:cNvPr id="59" name="文本框 58"/>
          <p:cNvSpPr txBox="1"/>
          <p:nvPr/>
        </p:nvSpPr>
        <p:spPr>
          <a:xfrm>
            <a:off x="2493010" y="5022215"/>
            <a:ext cx="1341120" cy="368300"/>
          </a:xfrm>
          <a:prstGeom prst="rect">
            <a:avLst/>
          </a:prstGeom>
        </p:spPr>
        <p:txBody>
          <a:bodyPr wrap="square">
            <a:spAutoFit/>
          </a:bodyPr>
          <a:p>
            <a:pPr algn="ctr"/>
            <a:r>
              <a:rPr lang="en-US" altLang="ja-JP"/>
              <a:t>ResNet18</a:t>
            </a:r>
            <a:endParaRPr lang="en-US" altLang="ja-JP"/>
          </a:p>
        </p:txBody>
      </p:sp>
      <p:sp>
        <p:nvSpPr>
          <p:cNvPr id="60" name="下箭头 59"/>
          <p:cNvSpPr/>
          <p:nvPr/>
        </p:nvSpPr>
        <p:spPr>
          <a:xfrm>
            <a:off x="3070860" y="5507355"/>
            <a:ext cx="300355" cy="538480"/>
          </a:xfrm>
          <a:prstGeom prst="downArrow">
            <a:avLst>
              <a:gd name="adj1" fmla="val 43340"/>
              <a:gd name="adj2" fmla="val 64244"/>
            </a:avLst>
          </a:prstGeom>
          <a:solidFill>
            <a:srgbClr val="F59E0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文本框 60"/>
          <p:cNvSpPr txBox="1"/>
          <p:nvPr/>
        </p:nvSpPr>
        <p:spPr>
          <a:xfrm>
            <a:off x="2171065" y="6199505"/>
            <a:ext cx="2280920" cy="368300"/>
          </a:xfrm>
          <a:prstGeom prst="rect">
            <a:avLst/>
          </a:prstGeom>
        </p:spPr>
        <p:txBody>
          <a:bodyPr wrap="square">
            <a:spAutoFit/>
          </a:bodyPr>
          <a:p>
            <a:pPr algn="ctr"/>
            <a:r>
              <a:rPr lang="en-US" altLang="zh-CN"/>
              <a:t>512</a:t>
            </a:r>
            <a:r>
              <a:rPr lang="en-US" altLang="ja-JP"/>
              <a:t>-D feature vector</a:t>
            </a:r>
            <a:endParaRPr lang="en-US" altLang="ja-JP"/>
          </a:p>
        </p:txBody>
      </p:sp>
      <p:cxnSp>
        <p:nvCxnSpPr>
          <p:cNvPr id="62" name="肘形连接符 61"/>
          <p:cNvCxnSpPr>
            <a:stCxn id="210" idx="2"/>
          </p:cNvCxnSpPr>
          <p:nvPr/>
        </p:nvCxnSpPr>
        <p:spPr>
          <a:xfrm rot="5400000" flipV="1">
            <a:off x="5237480" y="3395980"/>
            <a:ext cx="1528445" cy="1524635"/>
          </a:xfrm>
          <a:prstGeom prst="bentConnector3">
            <a:avLst>
              <a:gd name="adj1" fmla="val 37972"/>
            </a:avLst>
          </a:prstGeom>
          <a:noFill/>
          <a:ln w="38100" cmpd="sng">
            <a:solidFill>
              <a:srgbClr val="14B8A6"/>
            </a:solidFill>
            <a:prstDash val="solid"/>
            <a:tailEnd type="triangle"/>
          </a:ln>
        </p:spPr>
      </p:cxnSp>
      <p:sp>
        <p:nvSpPr>
          <p:cNvPr id="63" name="文本框 62"/>
          <p:cNvSpPr txBox="1"/>
          <p:nvPr/>
        </p:nvSpPr>
        <p:spPr>
          <a:xfrm>
            <a:off x="5718175" y="5022215"/>
            <a:ext cx="2289175" cy="368300"/>
          </a:xfrm>
          <a:prstGeom prst="rect">
            <a:avLst/>
          </a:prstGeom>
        </p:spPr>
        <p:txBody>
          <a:bodyPr wrap="square">
            <a:spAutoFit/>
          </a:bodyPr>
          <a:p>
            <a:pPr algn="ctr"/>
            <a:r>
              <a:rPr lang="en-US" altLang="ja-JP"/>
              <a:t>Fusion Strategy</a:t>
            </a:r>
            <a:endParaRPr lang="en-US" altLang="ja-JP"/>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6" name="文本框 5"/>
          <p:cNvSpPr txBox="1"/>
          <p:nvPr/>
        </p:nvSpPr>
        <p:spPr>
          <a:xfrm>
            <a:off x="220980" y="226695"/>
            <a:ext cx="8717915" cy="656590"/>
          </a:xfrm>
          <a:prstGeom prst="rect">
            <a:avLst/>
          </a:prstGeom>
          <a:noFill/>
        </p:spPr>
        <p:txBody>
          <a:bodyPr wrap="square" rtlCol="0">
            <a:noAutofit/>
          </a:bodyPr>
          <a:p>
            <a:r>
              <a:rPr lang="en-US" altLang="zh-CN" sz="3200" b="1" dirty="0">
                <a:latin typeface="Times New Roman" panose="02020603050405020304"/>
              </a:rPr>
              <a:t>End To End</a:t>
            </a:r>
            <a:endParaRPr lang="en-US" altLang="zh-CN" sz="3200" b="1" dirty="0">
              <a:latin typeface="Times New Roman" panose="02020603050405020304"/>
            </a:endParaRPr>
          </a:p>
        </p:txBody>
      </p:sp>
      <p:sp>
        <p:nvSpPr>
          <p:cNvPr id="2" name="文本框 1"/>
          <p:cNvSpPr txBox="1"/>
          <p:nvPr/>
        </p:nvSpPr>
        <p:spPr>
          <a:xfrm>
            <a:off x="175895" y="862330"/>
            <a:ext cx="2052955" cy="398780"/>
          </a:xfrm>
          <a:prstGeom prst="rect">
            <a:avLst/>
          </a:prstGeom>
          <a:noFill/>
        </p:spPr>
        <p:txBody>
          <a:bodyPr wrap="square" rtlCol="0">
            <a:spAutoFit/>
          </a:bodyPr>
          <a:p>
            <a:r>
              <a:rPr lang="en-US" altLang="zh-CN" sz="2000" b="1"/>
              <a:t>Previous System</a:t>
            </a:r>
            <a:endParaRPr lang="en-US" altLang="zh-CN" sz="2000" b="1"/>
          </a:p>
        </p:txBody>
      </p:sp>
      <p:sp>
        <p:nvSpPr>
          <p:cNvPr id="12" name="Card1BG"/>
          <p:cNvSpPr>
            <a:spLocks noGrp="1"/>
          </p:cNvSpPr>
          <p:nvPr>
            <p:custDataLst>
              <p:tags r:id="rId1"/>
            </p:custDataLst>
          </p:nvPr>
        </p:nvSpPr>
        <p:spPr>
          <a:xfrm>
            <a:off x="175895" y="1612265"/>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t>Camera Image</a:t>
            </a:r>
            <a:endParaRPr lang="en-US" altLang="zh-CN"/>
          </a:p>
        </p:txBody>
      </p:sp>
      <p:sp>
        <p:nvSpPr>
          <p:cNvPr id="11" name="Shape 15"/>
          <p:cNvSpPr/>
          <p:nvPr/>
        </p:nvSpPr>
        <p:spPr>
          <a:xfrm>
            <a:off x="1851660" y="1922145"/>
            <a:ext cx="548640" cy="0"/>
          </a:xfrm>
          <a:prstGeom prst="line">
            <a:avLst/>
          </a:prstGeom>
          <a:noFill/>
          <a:ln w="19050">
            <a:solidFill>
              <a:srgbClr val="14B8A6"/>
            </a:solidFill>
            <a:prstDash val="solid"/>
            <a:tailEnd type="triangle"/>
          </a:ln>
        </p:spPr>
      </p:sp>
      <p:sp>
        <p:nvSpPr>
          <p:cNvPr id="3" name="Card1BG"/>
          <p:cNvSpPr>
            <a:spLocks noGrp="1"/>
          </p:cNvSpPr>
          <p:nvPr>
            <p:custDataLst>
              <p:tags r:id="rId2"/>
            </p:custDataLst>
          </p:nvPr>
        </p:nvSpPr>
        <p:spPr>
          <a:xfrm>
            <a:off x="2625090" y="1612265"/>
            <a:ext cx="1603375" cy="629285"/>
          </a:xfrm>
          <a:prstGeom prst="roundRect">
            <a:avLst>
              <a:gd name="adj" fmla="val 0"/>
            </a:avLst>
          </a:prstGeom>
          <a:solidFill>
            <a:srgbClr val="F5F5F5"/>
          </a:solidFill>
          <a:ln w="19050">
            <a:solidFill>
              <a:srgbClr val="DDDDDD"/>
            </a:solidFill>
          </a:ln>
        </p:spPr>
        <p:txBody>
          <a:bodyPr anchor="ctr" anchorCtr="0"/>
          <a:p>
            <a:pPr algn="ctr"/>
            <a:r>
              <a:rPr lang="en-US" altLang="zh-CN"/>
              <a:t>YOLO Object Classification</a:t>
            </a:r>
            <a:endParaRPr lang="en-US" altLang="zh-CN"/>
          </a:p>
        </p:txBody>
      </p:sp>
      <p:sp>
        <p:nvSpPr>
          <p:cNvPr id="5" name="Shape 15"/>
          <p:cNvSpPr/>
          <p:nvPr/>
        </p:nvSpPr>
        <p:spPr>
          <a:xfrm>
            <a:off x="4345940" y="1922145"/>
            <a:ext cx="548640" cy="0"/>
          </a:xfrm>
          <a:prstGeom prst="line">
            <a:avLst/>
          </a:prstGeom>
          <a:noFill/>
          <a:ln w="19050">
            <a:solidFill>
              <a:srgbClr val="14B8A6"/>
            </a:solidFill>
            <a:prstDash val="solid"/>
            <a:tailEnd type="triangle"/>
          </a:ln>
        </p:spPr>
      </p:sp>
      <p:sp>
        <p:nvSpPr>
          <p:cNvPr id="7" name="Card1BG"/>
          <p:cNvSpPr>
            <a:spLocks noGrp="1"/>
          </p:cNvSpPr>
          <p:nvPr>
            <p:custDataLst>
              <p:tags r:id="rId3"/>
            </p:custDataLst>
          </p:nvPr>
        </p:nvSpPr>
        <p:spPr>
          <a:xfrm>
            <a:off x="5047615" y="1607185"/>
            <a:ext cx="1450975" cy="629285"/>
          </a:xfrm>
          <a:prstGeom prst="roundRect">
            <a:avLst>
              <a:gd name="adj" fmla="val 0"/>
            </a:avLst>
          </a:prstGeom>
          <a:solidFill>
            <a:srgbClr val="F5F5F5"/>
          </a:solidFill>
          <a:ln w="19050">
            <a:solidFill>
              <a:srgbClr val="DDDDDD"/>
            </a:solidFill>
          </a:ln>
        </p:spPr>
        <p:txBody>
          <a:bodyPr anchor="ctr" anchorCtr="0"/>
          <a:p>
            <a:pPr algn="ctr"/>
            <a:r>
              <a:rPr lang="en-US" altLang="zh-CN"/>
              <a:t>System Decision</a:t>
            </a:r>
            <a:endParaRPr lang="en-US" altLang="zh-CN"/>
          </a:p>
        </p:txBody>
      </p:sp>
      <p:sp>
        <p:nvSpPr>
          <p:cNvPr id="8" name="Shape 15"/>
          <p:cNvSpPr/>
          <p:nvPr/>
        </p:nvSpPr>
        <p:spPr>
          <a:xfrm>
            <a:off x="6651625" y="1921510"/>
            <a:ext cx="548640" cy="0"/>
          </a:xfrm>
          <a:prstGeom prst="line">
            <a:avLst/>
          </a:prstGeom>
          <a:noFill/>
          <a:ln w="19050">
            <a:solidFill>
              <a:srgbClr val="14B8A6"/>
            </a:solidFill>
            <a:prstDash val="solid"/>
            <a:tailEnd type="triangle"/>
          </a:ln>
        </p:spPr>
      </p:sp>
      <p:sp>
        <p:nvSpPr>
          <p:cNvPr id="10" name="Card1BG"/>
          <p:cNvSpPr>
            <a:spLocks noGrp="1"/>
          </p:cNvSpPr>
          <p:nvPr>
            <p:custDataLst>
              <p:tags r:id="rId4"/>
            </p:custDataLst>
          </p:nvPr>
        </p:nvSpPr>
        <p:spPr>
          <a:xfrm>
            <a:off x="282575" y="4325620"/>
            <a:ext cx="1450975" cy="619760"/>
          </a:xfrm>
          <a:prstGeom prst="roundRect">
            <a:avLst>
              <a:gd name="adj" fmla="val 0"/>
            </a:avLst>
          </a:prstGeom>
          <a:solidFill>
            <a:srgbClr val="F5F5F5"/>
          </a:solidFill>
          <a:ln w="19050">
            <a:solidFill>
              <a:srgbClr val="DDDDDD"/>
            </a:solidFill>
          </a:ln>
        </p:spPr>
        <p:txBody>
          <a:bodyPr anchor="ctr" anchorCtr="0"/>
          <a:p>
            <a:pPr algn="ctr"/>
            <a:r>
              <a:rPr lang="en-US" altLang="zh-CN">
                <a:sym typeface="+mn-ea"/>
              </a:rPr>
              <a:t>Camera Image</a:t>
            </a:r>
            <a:endParaRPr lang="en-US" altLang="zh-CN"/>
          </a:p>
        </p:txBody>
      </p:sp>
      <p:sp>
        <p:nvSpPr>
          <p:cNvPr id="14" name="Card1BG"/>
          <p:cNvSpPr>
            <a:spLocks noGrp="1"/>
          </p:cNvSpPr>
          <p:nvPr>
            <p:custDataLst>
              <p:tags r:id="rId5"/>
            </p:custDataLst>
          </p:nvPr>
        </p:nvSpPr>
        <p:spPr>
          <a:xfrm>
            <a:off x="282575" y="5996305"/>
            <a:ext cx="1450975" cy="629285"/>
          </a:xfrm>
          <a:prstGeom prst="roundRect">
            <a:avLst>
              <a:gd name="adj" fmla="val 0"/>
            </a:avLst>
          </a:prstGeom>
          <a:solidFill>
            <a:srgbClr val="F5F5F5"/>
          </a:solidFill>
          <a:ln w="19050">
            <a:solidFill>
              <a:srgbClr val="DDDDDD"/>
            </a:solidFill>
          </a:ln>
        </p:spPr>
        <p:txBody>
          <a:bodyPr anchor="ctr" anchorCtr="0"/>
          <a:p>
            <a:pPr algn="ctr"/>
            <a:r>
              <a:rPr lang="en-US" altLang="zh-CN"/>
              <a:t>Output Angle</a:t>
            </a:r>
            <a:endParaRPr lang="en-US" altLang="zh-CN"/>
          </a:p>
        </p:txBody>
      </p:sp>
      <p:pic>
        <p:nvPicPr>
          <p:cNvPr id="17" name="图片 16" descr="图片321"/>
          <p:cNvPicPr>
            <a:picLocks noChangeAspect="1"/>
          </p:cNvPicPr>
          <p:nvPr/>
        </p:nvPicPr>
        <p:blipFill>
          <a:blip r:embed="rId6"/>
          <a:stretch>
            <a:fillRect/>
          </a:stretch>
        </p:blipFill>
        <p:spPr>
          <a:xfrm>
            <a:off x="2576195" y="2484755"/>
            <a:ext cx="1725295" cy="1247775"/>
          </a:xfrm>
          <a:prstGeom prst="rect">
            <a:avLst/>
          </a:prstGeom>
        </p:spPr>
      </p:pic>
      <p:sp>
        <p:nvSpPr>
          <p:cNvPr id="22" name="Shape 15"/>
          <p:cNvSpPr/>
          <p:nvPr/>
        </p:nvSpPr>
        <p:spPr>
          <a:xfrm rot="5400000">
            <a:off x="5629420" y="1400030"/>
            <a:ext cx="288000" cy="0"/>
          </a:xfrm>
          <a:prstGeom prst="line">
            <a:avLst/>
          </a:prstGeom>
          <a:noFill/>
          <a:ln w="19050">
            <a:solidFill>
              <a:srgbClr val="14B8A6"/>
            </a:solidFill>
            <a:prstDash val="solid"/>
            <a:tailEnd type="triangle"/>
          </a:ln>
        </p:spPr>
      </p:sp>
      <p:sp>
        <p:nvSpPr>
          <p:cNvPr id="23" name="文本框 22"/>
          <p:cNvSpPr txBox="1"/>
          <p:nvPr/>
        </p:nvSpPr>
        <p:spPr>
          <a:xfrm>
            <a:off x="4829810" y="911225"/>
            <a:ext cx="1893570" cy="368300"/>
          </a:xfrm>
          <a:prstGeom prst="rect">
            <a:avLst/>
          </a:prstGeom>
        </p:spPr>
        <p:txBody>
          <a:bodyPr wrap="square">
            <a:spAutoFit/>
          </a:bodyPr>
          <a:p>
            <a:pPr algn="ctr"/>
            <a:r>
              <a:rPr lang="en-US" altLang="zh-CN"/>
              <a:t>Manual Design</a:t>
            </a:r>
            <a:endParaRPr lang="en-US" altLang="zh-CN"/>
          </a:p>
        </p:txBody>
      </p:sp>
      <p:sp>
        <p:nvSpPr>
          <p:cNvPr id="24" name="Shape 15"/>
          <p:cNvSpPr/>
          <p:nvPr/>
        </p:nvSpPr>
        <p:spPr>
          <a:xfrm>
            <a:off x="4300855" y="3107055"/>
            <a:ext cx="548640" cy="0"/>
          </a:xfrm>
          <a:prstGeom prst="line">
            <a:avLst/>
          </a:prstGeom>
          <a:noFill/>
          <a:ln w="19050">
            <a:solidFill>
              <a:srgbClr val="14B8A6"/>
            </a:solidFill>
            <a:prstDash val="solid"/>
            <a:tailEnd type="triangle"/>
          </a:ln>
        </p:spPr>
      </p:sp>
      <p:sp>
        <p:nvSpPr>
          <p:cNvPr id="25" name="文本框 24"/>
          <p:cNvSpPr txBox="1"/>
          <p:nvPr/>
        </p:nvSpPr>
        <p:spPr>
          <a:xfrm>
            <a:off x="4829810" y="2852420"/>
            <a:ext cx="2576830" cy="645160"/>
          </a:xfrm>
          <a:prstGeom prst="rect">
            <a:avLst/>
          </a:prstGeom>
          <a:noFill/>
        </p:spPr>
        <p:txBody>
          <a:bodyPr wrap="square" rtlCol="0">
            <a:spAutoFit/>
          </a:bodyPr>
          <a:p>
            <a:pPr algn="ctr"/>
            <a:r>
              <a:rPr lang="en-US" altLang="zh-CN"/>
              <a:t>Program-Defined Target</a:t>
            </a:r>
            <a:endParaRPr lang="en-US" altLang="zh-CN"/>
          </a:p>
          <a:p>
            <a:pPr algn="ctr"/>
            <a:r>
              <a:rPr lang="en-US" altLang="zh-CN">
                <a:ea typeface="SimSun" panose="02010600030101010101" pitchFamily="2" charset="-122"/>
              </a:rPr>
              <a:t>Recognition and Tracking</a:t>
            </a:r>
            <a:endParaRPr lang="en-US" altLang="zh-CN">
              <a:ea typeface="SimSun" panose="02010600030101010101" pitchFamily="2" charset="-122"/>
            </a:endParaRPr>
          </a:p>
        </p:txBody>
      </p:sp>
      <p:grpSp>
        <p:nvGrpSpPr>
          <p:cNvPr id="33" name="组合 32"/>
          <p:cNvGrpSpPr/>
          <p:nvPr/>
        </p:nvGrpSpPr>
        <p:grpSpPr>
          <a:xfrm>
            <a:off x="2582545" y="4326890"/>
            <a:ext cx="6406515" cy="2385060"/>
            <a:chOff x="4311" y="6621"/>
            <a:chExt cx="9888" cy="3605"/>
          </a:xfrm>
        </p:grpSpPr>
        <p:pic>
          <p:nvPicPr>
            <p:cNvPr id="26" name="图片 25" descr="frame_000224"/>
            <p:cNvPicPr>
              <a:picLocks noChangeAspect="1"/>
            </p:cNvPicPr>
            <p:nvPr/>
          </p:nvPicPr>
          <p:blipFill>
            <a:blip r:embed="rId7"/>
            <a:stretch>
              <a:fillRect/>
            </a:stretch>
          </p:blipFill>
          <p:spPr>
            <a:xfrm>
              <a:off x="9395" y="6621"/>
              <a:ext cx="4804" cy="3605"/>
            </a:xfrm>
            <a:prstGeom prst="rect">
              <a:avLst/>
            </a:prstGeom>
          </p:spPr>
        </p:pic>
        <p:pic>
          <p:nvPicPr>
            <p:cNvPr id="27" name="图片 26" descr="frame_000114"/>
            <p:cNvPicPr>
              <a:picLocks noChangeAspect="1"/>
            </p:cNvPicPr>
            <p:nvPr/>
          </p:nvPicPr>
          <p:blipFill>
            <a:blip r:embed="rId8"/>
            <a:stretch>
              <a:fillRect/>
            </a:stretch>
          </p:blipFill>
          <p:spPr>
            <a:xfrm>
              <a:off x="4311" y="6638"/>
              <a:ext cx="4781" cy="3588"/>
            </a:xfrm>
            <a:prstGeom prst="rect">
              <a:avLst/>
            </a:prstGeom>
          </p:spPr>
        </p:pic>
      </p:grpSp>
      <p:sp>
        <p:nvSpPr>
          <p:cNvPr id="28" name="Card1BG"/>
          <p:cNvSpPr>
            <a:spLocks noGrp="1"/>
          </p:cNvSpPr>
          <p:nvPr>
            <p:custDataLst>
              <p:tags r:id="rId9"/>
            </p:custDataLst>
          </p:nvPr>
        </p:nvSpPr>
        <p:spPr>
          <a:xfrm>
            <a:off x="7318375" y="1612265"/>
            <a:ext cx="1631950" cy="629285"/>
          </a:xfrm>
          <a:prstGeom prst="roundRect">
            <a:avLst>
              <a:gd name="adj" fmla="val 0"/>
            </a:avLst>
          </a:prstGeom>
          <a:solidFill>
            <a:srgbClr val="F5F5F5"/>
          </a:solidFill>
          <a:ln w="19050">
            <a:solidFill>
              <a:srgbClr val="DDDDDD"/>
            </a:solidFill>
          </a:ln>
        </p:spPr>
        <p:txBody>
          <a:bodyPr anchor="ctr" anchorCtr="0"/>
          <a:p>
            <a:pPr algn="ctr"/>
            <a:r>
              <a:rPr lang="en-US" altLang="zh-CN"/>
              <a:t>Output Control Commands</a:t>
            </a:r>
            <a:endParaRPr lang="en-US" altLang="zh-CN"/>
          </a:p>
        </p:txBody>
      </p:sp>
      <p:sp>
        <p:nvSpPr>
          <p:cNvPr id="29" name="文本框 28"/>
          <p:cNvSpPr txBox="1"/>
          <p:nvPr/>
        </p:nvSpPr>
        <p:spPr>
          <a:xfrm>
            <a:off x="220980" y="3805555"/>
            <a:ext cx="2052955" cy="398780"/>
          </a:xfrm>
          <a:prstGeom prst="rect">
            <a:avLst/>
          </a:prstGeom>
          <a:noFill/>
        </p:spPr>
        <p:txBody>
          <a:bodyPr wrap="square" rtlCol="0">
            <a:spAutoFit/>
          </a:bodyPr>
          <a:p>
            <a:r>
              <a:rPr lang="en-US" altLang="zh-CN" sz="2000" b="1"/>
              <a:t>Current System</a:t>
            </a:r>
            <a:endParaRPr lang="en-US" altLang="zh-CN" sz="2000" b="1"/>
          </a:p>
        </p:txBody>
      </p:sp>
      <p:sp>
        <p:nvSpPr>
          <p:cNvPr id="30" name="Shape 15"/>
          <p:cNvSpPr/>
          <p:nvPr/>
        </p:nvSpPr>
        <p:spPr>
          <a:xfrm rot="5400000">
            <a:off x="773745" y="5470210"/>
            <a:ext cx="468000" cy="635"/>
          </a:xfrm>
          <a:prstGeom prst="line">
            <a:avLst/>
          </a:prstGeom>
          <a:noFill/>
          <a:ln w="19050">
            <a:solidFill>
              <a:srgbClr val="14B8A6"/>
            </a:solidFill>
            <a:prstDash val="solid"/>
            <a:tailEnd type="triangle"/>
          </a:ln>
        </p:spPr>
      </p:sp>
      <p:sp>
        <p:nvSpPr>
          <p:cNvPr id="31" name="文本框 30"/>
          <p:cNvSpPr txBox="1"/>
          <p:nvPr/>
        </p:nvSpPr>
        <p:spPr>
          <a:xfrm>
            <a:off x="1119505" y="5179060"/>
            <a:ext cx="945515" cy="583565"/>
          </a:xfrm>
          <a:prstGeom prst="rect">
            <a:avLst/>
          </a:prstGeom>
        </p:spPr>
        <p:txBody>
          <a:bodyPr vert="horz" wrap="square">
            <a:spAutoFit/>
          </a:bodyPr>
          <a:p>
            <a:r>
              <a:rPr lang="en-US" altLang="ja-JP" sz="1600"/>
              <a:t>Direct Mapping</a:t>
            </a:r>
            <a:endParaRPr lang="en-US" altLang="ja-JP" sz="1600"/>
          </a:p>
        </p:txBody>
      </p:sp>
      <p:sp>
        <p:nvSpPr>
          <p:cNvPr id="32" name="文本框 31"/>
          <p:cNvSpPr txBox="1"/>
          <p:nvPr/>
        </p:nvSpPr>
        <p:spPr>
          <a:xfrm>
            <a:off x="2482215" y="3975735"/>
            <a:ext cx="3197860" cy="368300"/>
          </a:xfrm>
          <a:prstGeom prst="rect">
            <a:avLst/>
          </a:prstGeom>
        </p:spPr>
        <p:txBody>
          <a:bodyPr wrap="square">
            <a:spAutoFit/>
          </a:bodyPr>
          <a:p>
            <a:r>
              <a:rPr lang="en-US" altLang="ja-JP"/>
              <a:t>Training Data</a:t>
            </a:r>
            <a:endParaRPr lang="en-US" altLang="ja-JP"/>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KSO_WM_DIAGRAM_VIRTUALLY_FRAME" val="{&quot;height&quot;:447.7,&quot;left&quot;:12.9,&quot;top&quot;:116.2,&quot;width&quot;:1501.65}"/>
</p:tagLst>
</file>

<file path=ppt/tags/tag2.xml><?xml version="1.0" encoding="utf-8"?>
<p:tagLst xmlns:p="http://schemas.openxmlformats.org/presentationml/2006/main">
  <p:tag name="KSO_WM_DIAGRAM_VIRTUALLY_FRAME" val="{&quot;height&quot;:278.25,&quot;left&quot;:12.9,&quot;top&quot;:181.15,&quot;width&quot;:1501.65}"/>
</p:tagLst>
</file>

<file path=ppt/tags/tag3.xml><?xml version="1.0" encoding="utf-8"?>
<p:tagLst xmlns:p="http://schemas.openxmlformats.org/presentationml/2006/main">
  <p:tag name="KSO_WM_DIAGRAM_VIRTUALLY_FRAME" val="{&quot;height&quot;:447.7,&quot;left&quot;:12.9,&quot;top&quot;:116.2,&quot;width&quot;:1501.65}"/>
</p:tagLst>
</file>

<file path=ppt/tags/tag4.xml><?xml version="1.0" encoding="utf-8"?>
<p:tagLst xmlns:p="http://schemas.openxmlformats.org/presentationml/2006/main">
  <p:tag name="KSO_WM_DIAGRAM_VIRTUALLY_FRAME" val="{&quot;height&quot;:278.25,&quot;left&quot;:12.9,&quot;top&quot;:181.15,&quot;width&quot;:770.7}"/>
</p:tagLst>
</file>

<file path=ppt/tags/tag5.xml><?xml version="1.0" encoding="utf-8"?>
<p:tagLst xmlns:p="http://schemas.openxmlformats.org/presentationml/2006/main">
  <p:tag name="KSO_WM_DIAGRAM_VIRTUALLY_FRAME" val="{&quot;height&quot;:447.7,&quot;left&quot;:12.9,&quot;top&quot;:116.2,&quot;width&quot;:1501.65}"/>
</p:tagLst>
</file>

<file path=ppt/tags/tag6.xml><?xml version="1.0" encoding="utf-8"?>
<p:tagLst xmlns:p="http://schemas.openxmlformats.org/presentationml/2006/main">
  <p:tag name="KSO_WM_DIAGRAM_VIRTUALLY_FRAME" val="{&quot;height&quot;:447.7,&quot;left&quot;:12.9,&quot;top&quot;:116.2,&quot;width&quot;:1501.65}"/>
</p:tagLst>
</file>

<file path=ppt/tags/tag7.xml><?xml version="1.0" encoding="utf-8"?>
<p:tagLst xmlns:p="http://schemas.openxmlformats.org/presentationml/2006/main">
  <p:tag name="KSO_WM_DIAGRAM_VIRTUALLY_FRAME" val="{&quot;height&quot;:447.7,&quot;left&quot;:12.9,&quot;top&quot;:116.2,&quot;width&quot;:1501.65}"/>
</p:tagLst>
</file>

<file path=ppt/tags/tag8.xml><?xml version="1.0" encoding="utf-8"?>
<p:tagLst xmlns:p="http://schemas.openxmlformats.org/presentationml/2006/main">
  <p:tag name="KSO_WM_DIAGRAM_VIRTUALLY_FRAME" val="{&quot;height&quot;:447.7,&quot;left&quot;:12.9,&quot;top&quot;:116.2,&quot;width&quot;:1501.65}"/>
</p:tagLst>
</file>

<file path=ppt/tags/tag9.xml><?xml version="1.0" encoding="utf-8"?>
<p:tagLst xmlns:p="http://schemas.openxmlformats.org/presentationml/2006/main">
  <p:tag name="KSO_WM_DIAGRAM_VIRTUALLY_FRAME" val="{&quot;height&quot;:447.7,&quot;left&quot;:12.9,&quot;top&quot;:116.2,&quot;width&quot;:1501.65}"/>
</p:tagLst>
</file>

<file path=ppt/tags/tag10.xml><?xml version="1.0" encoding="utf-8"?>
<p:tagLst xmlns:p="http://schemas.openxmlformats.org/presentationml/2006/main">
  <p:tag name="KSO_WM_DIAGRAM_VIRTUALLY_FRAME" val="{&quot;height&quot;:278.25,&quot;left&quot;:12.9,&quot;top&quot;:181.15,&quot;width&quot;:1501.65}"/>
</p:tagLst>
</file>

<file path=ppt/tags/tag11.xml><?xml version="1.0" encoding="utf-8"?>
<p:tagLst xmlns:p="http://schemas.openxmlformats.org/presentationml/2006/main">
  <p:tag name="KSO_WM_DIAGRAM_VIRTUALLY_FRAME" val="{&quot;height&quot;:447.7,&quot;left&quot;:12.9,&quot;top&quot;:116.2,&quot;width&quot;:1501.65}"/>
</p:tagLst>
</file>

<file path=ppt/tags/tag12.xml><?xml version="1.0" encoding="utf-8"?>
<p:tagLst xmlns:p="http://schemas.openxmlformats.org/presentationml/2006/main">
  <p:tag name="KSO_WM_DIAGRAM_VIRTUALLY_FRAME" val="{&quot;height&quot;:278.25,&quot;left&quot;:12.9,&quot;top&quot;:181.15,&quot;width&quot;:770.7}"/>
</p:tagLst>
</file>

<file path=ppt/tags/tag13.xml><?xml version="1.0" encoding="utf-8"?>
<p:tagLst xmlns:p="http://schemas.openxmlformats.org/presentationml/2006/main">
  <p:tag name="KSO_WM_DIAGRAM_VIRTUALLY_FRAME" val="{&quot;height&quot;:447.7,&quot;left&quot;:12.9,&quot;top&quot;:116.2,&quot;width&quot;:1501.65}"/>
</p:tagLst>
</file>

<file path=ppt/tags/tag14.xml><?xml version="1.0" encoding="utf-8"?>
<p:tagLst xmlns:p="http://schemas.openxmlformats.org/presentationml/2006/main">
  <p:tag name="KSO_WM_DIAGRAM_VIRTUALLY_FRAME" val="{&quot;height&quot;:447.7,&quot;left&quot;:12.9,&quot;top&quot;:116.2,&quot;width&quot;:1501.65}"/>
</p:tagLst>
</file>

<file path=ppt/tags/tag15.xml><?xml version="1.0" encoding="utf-8"?>
<p:tagLst xmlns:p="http://schemas.openxmlformats.org/presentationml/2006/main">
  <p:tag name="KSO_WM_DIAGRAM_VIRTUALLY_FRAME" val="{&quot;height&quot;:447.7,&quot;left&quot;:12.9,&quot;top&quot;:116.2,&quot;width&quot;:1501.65}"/>
</p:tagLst>
</file>

<file path=ppt/tags/tag16.xml><?xml version="1.0" encoding="utf-8"?>
<p:tagLst xmlns:p="http://schemas.openxmlformats.org/presentationml/2006/main">
  <p:tag name="KSO_WM_DIAGRAM_VIRTUALLY_FRAME" val="{&quot;height&quot;:447.7,&quot;left&quot;:12.9,&quot;top&quot;:116.2,&quot;width&quot;:1501.65}"/>
</p:tagLst>
</file>

<file path=ppt/tags/tag17.xml><?xml version="1.0" encoding="utf-8"?>
<p:tagLst xmlns:p="http://schemas.openxmlformats.org/presentationml/2006/main">
  <p:tag name="KSO_WM_DIAGRAM_VIRTUALLY_FRAME" val="{&quot;height&quot;:447.7,&quot;left&quot;:12.9,&quot;top&quot;:116.2,&quot;width&quot;:1501.65}"/>
</p:tagLst>
</file>

<file path=ppt/tags/tag18.xml><?xml version="1.0" encoding="utf-8"?>
<p:tagLst xmlns:p="http://schemas.openxmlformats.org/presentationml/2006/main">
  <p:tag name="KSO_WM_DIAGRAM_VIRTUALLY_FRAME" val="{&quot;height&quot;:278.25,&quot;left&quot;:12.9,&quot;top&quot;:181.15,&quot;width&quot;:1501.65}"/>
</p:tagLst>
</file>

<file path=ppt/tags/tag19.xml><?xml version="1.0" encoding="utf-8"?>
<p:tagLst xmlns:p="http://schemas.openxmlformats.org/presentationml/2006/main">
  <p:tag name="KSO_WM_DIAGRAM_VIRTUALLY_FRAME" val="{&quot;height&quot;:447.7,&quot;left&quot;:12.9,&quot;top&quot;:116.2,&quot;width&quot;:1501.65}"/>
</p:tagLst>
</file>

<file path=ppt/tags/tag20.xml><?xml version="1.0" encoding="utf-8"?>
<p:tagLst xmlns:p="http://schemas.openxmlformats.org/presentationml/2006/main">
  <p:tag name="KSO_WM_DIAGRAM_VIRTUALLY_FRAME" val="{&quot;height&quot;:278.25,&quot;left&quot;:12.9,&quot;top&quot;:181.15,&quot;width&quot;:770.7}"/>
</p:tagLst>
</file>

<file path=ppt/tags/tag21.xml><?xml version="1.0" encoding="utf-8"?>
<p:tagLst xmlns:p="http://schemas.openxmlformats.org/presentationml/2006/main">
  <p:tag name="KSO_WM_DIAGRAM_VIRTUALLY_FRAME" val="{&quot;height&quot;:447.7,&quot;left&quot;:12.9,&quot;top&quot;:116.2,&quot;width&quot;:1501.65}"/>
</p:tagLst>
</file>

<file path=ppt/tags/tag22.xml><?xml version="1.0" encoding="utf-8"?>
<p:tagLst xmlns:p="http://schemas.openxmlformats.org/presentationml/2006/main">
  <p:tag name="KSO_WM_DIAGRAM_VIRTUALLY_FRAME" val="{&quot;height&quot;:447.7,&quot;left&quot;:12.9,&quot;top&quot;:116.2,&quot;width&quot;:1501.65}"/>
</p:tagLst>
</file>

<file path=ppt/tags/tag23.xml><?xml version="1.0" encoding="utf-8"?>
<p:tagLst xmlns:p="http://schemas.openxmlformats.org/presentationml/2006/main">
  <p:tag name="KSO_WM_DIAGRAM_VIRTUALLY_FRAME" val="{&quot;height&quot;:447.7,&quot;left&quot;:12.9,&quot;top&quot;:116.2,&quot;width&quot;:1501.65}"/>
</p:tagLst>
</file>

<file path=ppt/tags/tag24.xml><?xml version="1.0" encoding="utf-8"?>
<p:tagLst xmlns:p="http://schemas.openxmlformats.org/presentationml/2006/main">
  <p:tag name="KSO_WM_DIAGRAM_VIRTUALLY_FRAME" val="{&quot;height&quot;:447.7,&quot;left&quot;:12.9,&quot;top&quot;:116.2,&quot;width&quot;:1501.65}"/>
</p:tagLst>
</file>

<file path=ppt/tags/tag25.xml><?xml version="1.0" encoding="utf-8"?>
<p:tagLst xmlns:p="http://schemas.openxmlformats.org/presentationml/2006/main">
  <p:tag name="KSO_WM_DIAGRAM_VIRTUALLY_FRAME" val="{&quot;height&quot;:447.7,&quot;left&quot;:12.9,&quot;top&quot;:116.2,&quot;width&quot;:1501.65}"/>
</p:tagLst>
</file>

<file path=ppt/tags/tag26.xml><?xml version="1.0" encoding="utf-8"?>
<p:tagLst xmlns:p="http://schemas.openxmlformats.org/presentationml/2006/main">
  <p:tag name="KSO_WM_DIAGRAM_VIRTUALLY_FRAME" val="{&quot;height&quot;:447.7,&quot;left&quot;:12.9,&quot;top&quot;:116.2,&quot;width&quot;:1501.65}"/>
</p:tagLst>
</file>

<file path=ppt/tags/tag27.xml><?xml version="1.0" encoding="utf-8"?>
<p:tagLst xmlns:p="http://schemas.openxmlformats.org/presentationml/2006/main">
  <p:tag name="KSO_WM_DIAGRAM_VIRTUALLY_FRAME" val="{&quot;height&quot;:278.25,&quot;left&quot;:12.9,&quot;top&quot;:181.15,&quot;width&quot;:1501.65}"/>
</p:tagLst>
</file>

<file path=ppt/tags/tag28.xml><?xml version="1.0" encoding="utf-8"?>
<p:tagLst xmlns:p="http://schemas.openxmlformats.org/presentationml/2006/main">
  <p:tag name="KSO_WM_DIAGRAM_VIRTUALLY_FRAME" val="{&quot;height&quot;:447.7,&quot;left&quot;:12.9,&quot;top&quot;:116.2,&quot;width&quot;:1501.65}"/>
</p:tagLst>
</file>

<file path=ppt/tags/tag29.xml><?xml version="1.0" encoding="utf-8"?>
<p:tagLst xmlns:p="http://schemas.openxmlformats.org/presentationml/2006/main">
  <p:tag name="KSO_WM_DIAGRAM_VIRTUALLY_FRAME" val="{&quot;height&quot;:278.25,&quot;left&quot;:12.9,&quot;top&quot;:181.15,&quot;width&quot;:770.7}"/>
</p:tagLst>
</file>

<file path=ppt/tags/tag30.xml><?xml version="1.0" encoding="utf-8"?>
<p:tagLst xmlns:p="http://schemas.openxmlformats.org/presentationml/2006/main">
  <p:tag name="KSO_WM_DIAGRAM_VIRTUALLY_FRAME" val="{&quot;height&quot;:447.7,&quot;left&quot;:12.9,&quot;top&quot;:116.2,&quot;width&quot;:1501.65}"/>
</p:tagLst>
</file>

<file path=ppt/tags/tag31.xml><?xml version="1.0" encoding="utf-8"?>
<p:tagLst xmlns:p="http://schemas.openxmlformats.org/presentationml/2006/main">
  <p:tag name="KSO_WM_DIAGRAM_VIRTUALLY_FRAME" val="{&quot;height&quot;:447.7,&quot;left&quot;:12.9,&quot;top&quot;:116.2,&quot;width&quot;:1501.65}"/>
</p:tagLst>
</file>

<file path=ppt/tags/tag32.xml><?xml version="1.0" encoding="utf-8"?>
<p:tagLst xmlns:p="http://schemas.openxmlformats.org/presentationml/2006/main">
  <p:tag name="KSO_WM_DIAGRAM_VIRTUALLY_FRAME" val="{&quot;height&quot;:447.7,&quot;left&quot;:12.9,&quot;top&quot;:116.2,&quot;width&quot;:1501.65}"/>
</p:tagLst>
</file>

<file path=ppt/tags/tag33.xml><?xml version="1.0" encoding="utf-8"?>
<p:tagLst xmlns:p="http://schemas.openxmlformats.org/presentationml/2006/main">
  <p:tag name="KSO_WM_DIAGRAM_VIRTUALLY_FRAME" val="{&quot;height&quot;:447.7,&quot;left&quot;:12.9,&quot;top&quot;:116.2,&quot;width&quot;:1501.65}"/>
</p:tagLst>
</file>

<file path=ppt/tags/tag34.xml><?xml version="1.0" encoding="utf-8"?>
<p:tagLst xmlns:p="http://schemas.openxmlformats.org/presentationml/2006/main">
  <p:tag name="KSO_WM_DIAGRAM_VIRTUALLY_FRAME" val="{&quot;height&quot;:447.7,&quot;left&quot;:12.9,&quot;top&quot;:116.2,&quot;width&quot;:1501.65}"/>
</p:tagLst>
</file>

<file path=ppt/tags/tag35.xml><?xml version="1.0" encoding="utf-8"?>
<p:tagLst xmlns:p="http://schemas.openxmlformats.org/presentationml/2006/main">
  <p:tag name="KSO_WM_DIAGRAM_VIRTUALLY_FRAME" val="{&quot;height&quot;:447.7,&quot;left&quot;:12.9,&quot;top&quot;:116.2,&quot;width&quot;:1501.65}"/>
</p:tagLst>
</file>

<file path=ppt/tags/tag36.xml><?xml version="1.0" encoding="utf-8"?>
<p:tagLst xmlns:p="http://schemas.openxmlformats.org/presentationml/2006/main">
  <p:tag name="KSO_WM_DIAGRAM_VIRTUALLY_FRAME" val="{&quot;height&quot;:278.25,&quot;left&quot;:12.9,&quot;top&quot;:181.15,&quot;width&quot;:1501.65}"/>
</p:tagLst>
</file>

<file path=ppt/tags/tag37.xml><?xml version="1.0" encoding="utf-8"?>
<p:tagLst xmlns:p="http://schemas.openxmlformats.org/presentationml/2006/main">
  <p:tag name="KSO_WM_DIAGRAM_VIRTUALLY_FRAME" val="{&quot;height&quot;:447.7,&quot;left&quot;:12.9,&quot;top&quot;:116.2,&quot;width&quot;:1501.65}"/>
</p:tagLst>
</file>

<file path=ppt/tags/tag38.xml><?xml version="1.0" encoding="utf-8"?>
<p:tagLst xmlns:p="http://schemas.openxmlformats.org/presentationml/2006/main">
  <p:tag name="KSO_WM_DIAGRAM_VIRTUALLY_FRAME" val="{&quot;height&quot;:278.25,&quot;left&quot;:12.9,&quot;top&quot;:181.15,&quot;width&quot;:770.7}"/>
</p:tagLst>
</file>

<file path=ppt/tags/tag39.xml><?xml version="1.0" encoding="utf-8"?>
<p:tagLst xmlns:p="http://schemas.openxmlformats.org/presentationml/2006/main">
  <p:tag name="KSO_WM_DIAGRAM_VIRTUALLY_FRAME" val="{&quot;height&quot;:447.7,&quot;left&quot;:12.9,&quot;top&quot;:116.2,&quot;width&quot;:1501.65}"/>
</p:tagLst>
</file>

<file path=ppt/tags/tag40.xml><?xml version="1.0" encoding="utf-8"?>
<p:tagLst xmlns:p="http://schemas.openxmlformats.org/presentationml/2006/main">
  <p:tag name="KSO_WM_DIAGRAM_VIRTUALLY_FRAME" val="{&quot;height&quot;:447.7,&quot;left&quot;:12.9,&quot;top&quot;:116.2,&quot;width&quot;:1501.65}"/>
</p:tagLst>
</file>

<file path=ppt/tags/tag41.xml><?xml version="1.0" encoding="utf-8"?>
<p:tagLst xmlns:p="http://schemas.openxmlformats.org/presentationml/2006/main">
  <p:tag name="KSO_WM_DIAGRAM_VIRTUALLY_FRAME" val="{&quot;height&quot;:447.7,&quot;left&quot;:12.9,&quot;top&quot;:116.2,&quot;width&quot;:1501.65}"/>
</p:tagLst>
</file>

<file path=ppt/tags/tag42.xml><?xml version="1.0" encoding="utf-8"?>
<p:tagLst xmlns:p="http://schemas.openxmlformats.org/presentationml/2006/main">
  <p:tag name="KSO_WM_DIAGRAM_VIRTUALLY_FRAME" val="{&quot;height&quot;:447.7,&quot;left&quot;:12.9,&quot;top&quot;:116.2,&quot;width&quot;:1501.65}"/>
</p:tagLst>
</file>

<file path=ppt/tags/tag43.xml><?xml version="1.0" encoding="utf-8"?>
<p:tagLst xmlns:p="http://schemas.openxmlformats.org/presentationml/2006/main">
  <p:tag name="KSO_WM_DIAGRAM_VIRTUALLY_FRAME" val="{&quot;height&quot;:447.7,&quot;left&quot;:12.9,&quot;top&quot;:116.2,&quot;width&quot;:1501.65}"/>
</p:tagLst>
</file>

<file path=ppt/tags/tag44.xml><?xml version="1.0" encoding="utf-8"?>
<p:tagLst xmlns:p="http://schemas.openxmlformats.org/presentationml/2006/main">
  <p:tag name="KSO_WM_DIAGRAM_VIRTUALLY_FRAME" val="{&quot;height&quot;:447.7,&quot;left&quot;:12.9,&quot;top&quot;:116.2,&quot;width&quot;:1501.65}"/>
</p:tagLst>
</file>

<file path=ppt/tags/tag45.xml><?xml version="1.0" encoding="utf-8"?>
<p:tagLst xmlns:p="http://schemas.openxmlformats.org/presentationml/2006/main">
  <p:tag name="KSO_WM_DIAGRAM_VIRTUALLY_FRAME" val="{&quot;height&quot;:278.25,&quot;left&quot;:12.9,&quot;top&quot;:181.15,&quot;width&quot;:1501.65}"/>
</p:tagLst>
</file>

<file path=ppt/tags/tag46.xml><?xml version="1.0" encoding="utf-8"?>
<p:tagLst xmlns:p="http://schemas.openxmlformats.org/presentationml/2006/main">
  <p:tag name="KSO_WM_DIAGRAM_VIRTUALLY_FRAME" val="{&quot;height&quot;:447.7,&quot;left&quot;:12.9,&quot;top&quot;:116.2,&quot;width&quot;:1501.65}"/>
</p:tagLst>
</file>

<file path=ppt/tags/tag47.xml><?xml version="1.0" encoding="utf-8"?>
<p:tagLst xmlns:p="http://schemas.openxmlformats.org/presentationml/2006/main">
  <p:tag name="KSO_WM_DIAGRAM_VIRTUALLY_FRAME" val="{&quot;height&quot;:278.25,&quot;left&quot;:12.9,&quot;top&quot;:181.15,&quot;width&quot;:770.7}"/>
</p:tagLst>
</file>

<file path=ppt/tags/tag48.xml><?xml version="1.0" encoding="utf-8"?>
<p:tagLst xmlns:p="http://schemas.openxmlformats.org/presentationml/2006/main">
  <p:tag name="KSO_WM_DIAGRAM_VIRTUALLY_FRAME" val="{&quot;height&quot;:447.7,&quot;left&quot;:12.9,&quot;top&quot;:116.2,&quot;width&quot;:1501.65}"/>
</p:tagLst>
</file>

<file path=ppt/tags/tag49.xml><?xml version="1.0" encoding="utf-8"?>
<p:tagLst xmlns:p="http://schemas.openxmlformats.org/presentationml/2006/main">
  <p:tag name="KSO_WM_DIAGRAM_VIRTUALLY_FRAME" val="{&quot;height&quot;:447.7,&quot;left&quot;:12.9,&quot;top&quot;:116.2,&quot;width&quot;:1501.65}"/>
</p:tagLst>
</file>

<file path=ppt/tags/tag50.xml><?xml version="1.0" encoding="utf-8"?>
<p:tagLst xmlns:p="http://schemas.openxmlformats.org/presentationml/2006/main">
  <p:tag name="KSO_WM_DIAGRAM_VIRTUALLY_FRAME" val="{&quot;height&quot;:447.7,&quot;left&quot;:12.9,&quot;top&quot;:116.2,&quot;width&quot;:1501.65}"/>
</p:tagLst>
</file>

<file path=ppt/tags/tag51.xml><?xml version="1.0" encoding="utf-8"?>
<p:tagLst xmlns:p="http://schemas.openxmlformats.org/presentationml/2006/main">
  <p:tag name="KSO_WM_DIAGRAM_VIRTUALLY_FRAME" val="{&quot;height&quot;:447.7,&quot;left&quot;:12.9,&quot;top&quot;:116.2,&quot;width&quot;:1501.65}"/>
</p:tagLst>
</file>

<file path=ppt/tags/tag52.xml><?xml version="1.0" encoding="utf-8"?>
<p:tagLst xmlns:p="http://schemas.openxmlformats.org/presentationml/2006/main">
  <p:tag name="KSO_WM_DIAGRAM_VIRTUALLY_FRAME" val="{&quot;height&quot;:409.9212598425197,&quot;left&quot;:36,&quot;top&quot;:94,&quot;width&quot;:283.46456692913387}"/>
</p:tagLst>
</file>

<file path=ppt/tags/tag53.xml><?xml version="1.0" encoding="utf-8"?>
<p:tagLst xmlns:p="http://schemas.openxmlformats.org/presentationml/2006/main">
  <p:tag name="KSO_WM_DIAGRAM_VIRTUALLY_FRAME" val="{&quot;height&quot;:409.9212598425197,&quot;left&quot;:36,&quot;top&quot;:94,&quot;width&quot;:283.46456692913387}"/>
</p:tagLst>
</file>

<file path=ppt/tags/tag54.xml><?xml version="1.0" encoding="utf-8"?>
<p:tagLst xmlns:p="http://schemas.openxmlformats.org/presentationml/2006/main">
  <p:tag name="KSO_WM_DIAGRAM_VIRTUALLY_FRAME" val="{&quot;height&quot;:409.9212598425197,&quot;left&quot;:36,&quot;top&quot;:94,&quot;width&quot;:283.46456692913387}"/>
</p:tagLst>
</file>

<file path=ppt/tags/tag55.xml><?xml version="1.0" encoding="utf-8"?>
<p:tagLst xmlns:p="http://schemas.openxmlformats.org/presentationml/2006/main">
  <p:tag name="KSO_WM_DIAGRAM_VIRTUALLY_FRAME" val="{&quot;height&quot;:409.9212598425197,&quot;left&quot;:36,&quot;top&quot;:94,&quot;width&quot;:283.46456692913387}"/>
</p:tagLst>
</file>

<file path=ppt/tags/tag56.xml><?xml version="1.0" encoding="utf-8"?>
<p:tagLst xmlns:p="http://schemas.openxmlformats.org/presentationml/2006/main">
  <p:tag name="KSO_WM_DIAGRAM_VIRTUALLY_FRAME" val="{&quot;height&quot;:409.9212598425197,&quot;left&quot;:36,&quot;top&quot;:94,&quot;width&quot;:283.46456692913387}"/>
</p:tagLst>
</file>

<file path=ppt/tags/tag57.xml><?xml version="1.0" encoding="utf-8"?>
<p:tagLst xmlns:p="http://schemas.openxmlformats.org/presentationml/2006/main">
  <p:tag name="KSO_WM_DIAGRAM_VIRTUALLY_FRAME" val="{&quot;height&quot;:409.9212598425197,&quot;left&quot;:36,&quot;top&quot;:94,&quot;width&quot;:283.46456692913387}"/>
</p:tagLst>
</file>

<file path=ppt/tags/tag58.xml><?xml version="1.0" encoding="utf-8"?>
<p:tagLst xmlns:p="http://schemas.openxmlformats.org/presentationml/2006/main">
  <p:tag name="KSO_WM_DIAGRAM_VIRTUALLY_FRAME" val="{&quot;height&quot;:409.9212598425197,&quot;left&quot;:36,&quot;top&quot;:94,&quot;width&quot;:283.46456692913387}"/>
</p:tagLst>
</file>

<file path=ppt/tags/tag59.xml><?xml version="1.0" encoding="utf-8"?>
<p:tagLst xmlns:p="http://schemas.openxmlformats.org/presentationml/2006/main">
  <p:tag name="KSO_WM_DIAGRAM_VIRTUALLY_FRAME" val="{&quot;height&quot;:409.9212598425197,&quot;left&quot;:36,&quot;top&quot;:94,&quot;width&quot;:283.46456692913387}"/>
</p:tagLst>
</file>

<file path=ppt/tags/tag60.xml><?xml version="1.0" encoding="utf-8"?>
<p:tagLst xmlns:p="http://schemas.openxmlformats.org/presentationml/2006/main">
  <p:tag name="KSO_WM_DIAGRAM_VIRTUALLY_FRAME" val="{&quot;height&quot;:409.9212598425197,&quot;left&quot;:36,&quot;top&quot;:94,&quot;width&quot;:283.46456692913387}"/>
</p:tagLst>
</file>

<file path=ppt/tags/tag61.xml><?xml version="1.0" encoding="utf-8"?>
<p:tagLst xmlns:p="http://schemas.openxmlformats.org/presentationml/2006/main">
  <p:tag name="KSO_WM_DIAGRAM_VIRTUALLY_FRAME" val="{&quot;height&quot;:409.9212598425197,&quot;left&quot;:36,&quot;top&quot;:94,&quot;width&quot;:283.46456692913387}"/>
</p:tagLst>
</file>

<file path=ppt/tags/tag62.xml><?xml version="1.0" encoding="utf-8"?>
<p:tagLst xmlns:p="http://schemas.openxmlformats.org/presentationml/2006/main">
  <p:tag name="KSO_WM_DIAGRAM_VIRTUALLY_FRAME" val="{&quot;height&quot;:409.9212598425197,&quot;left&quot;:36,&quot;top&quot;:94,&quot;width&quot;:283.46456692913387}"/>
</p:tagLst>
</file>

<file path=ppt/tags/tag63.xml><?xml version="1.0" encoding="utf-8"?>
<p:tagLst xmlns:p="http://schemas.openxmlformats.org/presentationml/2006/main">
  <p:tag name="KSO_WM_DIAGRAM_VIRTUALLY_FRAME" val="{&quot;height&quot;:409.9212598425197,&quot;left&quot;:36,&quot;top&quot;:94,&quot;width&quot;:283.46456692913387}"/>
</p:tagLst>
</file>

<file path=ppt/tags/tag64.xml><?xml version="1.0" encoding="utf-8"?>
<p:tagLst xmlns:p="http://schemas.openxmlformats.org/presentationml/2006/main">
  <p:tag name="KSO_WM_DIAGRAM_VIRTUALLY_FRAME" val="{&quot;height&quot;:409.9212598425197,&quot;left&quot;:36,&quot;top&quot;:94,&quot;width&quot;:283.46456692913387}"/>
</p:tagLst>
</file>

<file path=ppt/tags/tag65.xml><?xml version="1.0" encoding="utf-8"?>
<p:tagLst xmlns:p="http://schemas.openxmlformats.org/presentationml/2006/main">
  <p:tag name="KSO_WM_DIAGRAM_VIRTUALLY_FRAME" val="{&quot;height&quot;:275.65,&quot;left&quot;:17.5,&quot;top&quot;:193.7,&quot;width&quot;:687.2}"/>
</p:tagLst>
</file>

<file path=ppt/tags/tag66.xml><?xml version="1.0" encoding="utf-8"?>
<p:tagLst xmlns:p="http://schemas.openxmlformats.org/presentationml/2006/main">
  <p:tag name="KSO_WM_DIAGRAM_VIRTUALLY_FRAME" val="{&quot;height&quot;:275.65,&quot;left&quot;:17.5,&quot;top&quot;:193.7,&quot;width&quot;:687.2}"/>
</p:tagLst>
</file>

<file path=ppt/tags/tag67.xml><?xml version="1.0" encoding="utf-8"?>
<p:tagLst xmlns:p="http://schemas.openxmlformats.org/presentationml/2006/main">
  <p:tag name="KSO_WM_DIAGRAM_VIRTUALLY_FRAME" val="{&quot;height&quot;:275.65,&quot;left&quot;:17.5,&quot;top&quot;:193.7,&quot;width&quot;:687.2}"/>
</p:tagLst>
</file>

<file path=ppt/tags/tag68.xml><?xml version="1.0" encoding="utf-8"?>
<p:tagLst xmlns:p="http://schemas.openxmlformats.org/presentationml/2006/main">
  <p:tag name="KSO_WM_DIAGRAM_VIRTUALLY_FRAME" val="{&quot;height&quot;:275.65,&quot;left&quot;:17.5,&quot;top&quot;:193.7,&quot;width&quot;:687.2}"/>
</p:tagLst>
</file>

<file path=ppt/tags/tag69.xml><?xml version="1.0" encoding="utf-8"?>
<p:tagLst xmlns:p="http://schemas.openxmlformats.org/presentationml/2006/main">
  <p:tag name="KSO_WM_DIAGRAM_VIRTUALLY_FRAME" val="{&quot;height&quot;:275.65,&quot;left&quot;:17.5,&quot;top&quot;:193.7,&quot;width&quot;:687.2}"/>
</p:tagLst>
</file>

<file path=ppt/tags/tag70.xml><?xml version="1.0" encoding="utf-8"?>
<p:tagLst xmlns:p="http://schemas.openxmlformats.org/presentationml/2006/main">
  <p:tag name="KSO_WM_DIAGRAM_VIRTUALLY_FRAME" val="{&quot;height&quot;:275.65,&quot;left&quot;:17.5,&quot;top&quot;:193.7,&quot;width&quot;:687.2}"/>
</p:tagLst>
</file>

<file path=ppt/tags/tag71.xml><?xml version="1.0" encoding="utf-8"?>
<p:tagLst xmlns:p="http://schemas.openxmlformats.org/presentationml/2006/main">
  <p:tag name="KSO_WM_DIAGRAM_VIRTUALLY_FRAME" val="{&quot;height&quot;:275.65,&quot;left&quot;:17.5,&quot;top&quot;:193.7,&quot;width&quot;:687.2}"/>
</p:tagLst>
</file>

<file path=ppt/tags/tag72.xml><?xml version="1.0" encoding="utf-8"?>
<p:tagLst xmlns:p="http://schemas.openxmlformats.org/presentationml/2006/main">
  <p:tag name="KSO_WM_DIAGRAM_VIRTUALLY_FRAME" val="{&quot;height&quot;:275.65,&quot;left&quot;:17.5,&quot;top&quot;:193.7,&quot;width&quot;:687.2}"/>
</p:tagLst>
</file>

<file path=ppt/tags/tag73.xml><?xml version="1.0" encoding="utf-8"?>
<p:tagLst xmlns:p="http://schemas.openxmlformats.org/presentationml/2006/main">
  <p:tag name="KSO_WM_DIAGRAM_VIRTUALLY_FRAME" val="{&quot;height&quot;:275.65,&quot;left&quot;:17.5,&quot;top&quot;:193.7,&quot;width&quot;:687.2}"/>
</p:tagLst>
</file>

<file path=ppt/tags/tag74.xml><?xml version="1.0" encoding="utf-8"?>
<p:tagLst xmlns:p="http://schemas.openxmlformats.org/presentationml/2006/main">
  <p:tag name="KSO_WM_DIAGRAM_VIRTUALLY_FRAME" val="{&quot;height&quot;:275.65,&quot;left&quot;:17.5,&quot;top&quot;:193.7,&quot;width&quot;:687.2}"/>
</p:tagLst>
</file>

<file path=ppt/tags/tag75.xml><?xml version="1.0" encoding="utf-8"?>
<p:tagLst xmlns:p="http://schemas.openxmlformats.org/presentationml/2006/main">
  <p:tag name="KSO_WM_DIAGRAM_VIRTUALLY_FRAME" val="{&quot;height&quot;:294.05,&quot;left&quot;:382.85,&quot;top&quot;:206.6,&quot;width&quot;:321.5}"/>
</p:tagLst>
</file>

<file path=ppt/tags/tag76.xml><?xml version="1.0" encoding="utf-8"?>
<p:tagLst xmlns:p="http://schemas.openxmlformats.org/presentationml/2006/main">
  <p:tag name="KSO_WM_DIAGRAM_VIRTUALLY_FRAME" val="{&quot;height&quot;:294.05,&quot;left&quot;:382.85,&quot;top&quot;:206.6,&quot;width&quot;:321.5}"/>
</p:tagLst>
</file>

<file path=ppt/tags/tag77.xml><?xml version="1.0" encoding="utf-8"?>
<p:tagLst xmlns:p="http://schemas.openxmlformats.org/presentationml/2006/main">
  <p:tag name="KSO_WM_DIAGRAM_VIRTUALLY_FRAME" val="{&quot;height&quot;:409.9212598425197,&quot;left&quot;:36,&quot;top&quot;:94,&quot;width&quot;:283.46456692913387}"/>
</p:tagLst>
</file>

<file path=ppt/tags/tag78.xml><?xml version="1.0" encoding="utf-8"?>
<p:tagLst xmlns:p="http://schemas.openxmlformats.org/presentationml/2006/main">
  <p:tag name="KSO_WM_DIAGRAM_VIRTUALLY_FRAME" val="{&quot;height&quot;:409.9212598425197,&quot;left&quot;:36,&quot;top&quot;:94,&quot;width&quot;:283.46456692913387}"/>
</p:tagLst>
</file>

<file path=ppt/tags/tag79.xml><?xml version="1.0" encoding="utf-8"?>
<p:tagLst xmlns:p="http://schemas.openxmlformats.org/presentationml/2006/main">
  <p:tag name="KSO_WM_DIAGRAM_VIRTUALLY_FRAME" val="{&quot;height&quot;:409.9212598425197,&quot;left&quot;:36,&quot;top&quot;:94,&quot;width&quot;:283.46456692913387}"/>
</p:tagLst>
</file>

<file path=ppt/tags/tag80.xml><?xml version="1.0" encoding="utf-8"?>
<p:tagLst xmlns:p="http://schemas.openxmlformats.org/presentationml/2006/main">
  <p:tag name="KSO_WM_DIAGRAM_VIRTUALLY_FRAME" val="{&quot;height&quot;:409.9212598425197,&quot;left&quot;:36,&quot;top&quot;:94,&quot;width&quot;:283.46456692913387}"/>
</p:tagLst>
</file>

<file path=ppt/tags/tag81.xml><?xml version="1.0" encoding="utf-8"?>
<p:tagLst xmlns:p="http://schemas.openxmlformats.org/presentationml/2006/main">
  <p:tag name="KSO_WM_DIAGRAM_VIRTUALLY_FRAME" val="{&quot;height&quot;:409.9212598425197,&quot;left&quot;:36,&quot;top&quot;:94,&quot;width&quot;:283.46456692913387}"/>
</p:tagLst>
</file>

<file path=ppt/tags/tag82.xml><?xml version="1.0" encoding="utf-8"?>
<p:tagLst xmlns:p="http://schemas.openxmlformats.org/presentationml/2006/main">
  <p:tag name="KSO_WM_DIAGRAM_VIRTUALLY_FRAME" val="{&quot;height&quot;:409.9212598425197,&quot;left&quot;:36,&quot;top&quot;:94,&quot;width&quot;:283.46456692913387}"/>
</p:tagLst>
</file>

<file path=ppt/tags/tag83.xml><?xml version="1.0" encoding="utf-8"?>
<p:tagLst xmlns:p="http://schemas.openxmlformats.org/presentationml/2006/main">
  <p:tag name="KSO_WM_DIAGRAM_VIRTUALLY_FRAME" val="{&quot;height&quot;:275.65,&quot;left&quot;:17.5,&quot;top&quot;:193.7,&quot;width&quot;:687.2}"/>
</p:tagLst>
</file>

<file path=ppt/tags/tag84.xml><?xml version="1.0" encoding="utf-8"?>
<p:tagLst xmlns:p="http://schemas.openxmlformats.org/presentationml/2006/main">
  <p:tag name="KSO_WM_DIAGRAM_VIRTUALLY_FRAME" val="{&quot;height&quot;:275.65,&quot;left&quot;:17.5,&quot;top&quot;:193.7,&quot;width&quot;:687.2}"/>
</p:tagLst>
</file>

<file path=ppt/tags/tag85.xml><?xml version="1.0" encoding="utf-8"?>
<p:tagLst xmlns:p="http://schemas.openxmlformats.org/presentationml/2006/main">
  <p:tag name="KSO_WM_DIAGRAM_VIRTUALLY_FRAME" val="{&quot;height&quot;:275.65,&quot;left&quot;:17.5,&quot;top&quot;:193.7,&quot;width&quot;:687.2}"/>
</p:tagLst>
</file>

<file path=ppt/tags/tag86.xml><?xml version="1.0" encoding="utf-8"?>
<p:tagLst xmlns:p="http://schemas.openxmlformats.org/presentationml/2006/main">
  <p:tag name="KSO_WM_DIAGRAM_VIRTUALLY_FRAME" val="{&quot;height&quot;:275.65,&quot;left&quot;:17.5,&quot;top&quot;:193.7,&quot;width&quot;:687.2}"/>
</p:tagLst>
</file>

<file path=ppt/tags/tag87.xml><?xml version="1.0" encoding="utf-8"?>
<p:tagLst xmlns:p="http://schemas.openxmlformats.org/presentationml/2006/main">
  <p:tag name="KSO_WM_DIAGRAM_VIRTUALLY_FRAME" val="{&quot;height&quot;:275.65,&quot;left&quot;:17.5,&quot;top&quot;:193.7,&quot;width&quot;:687.2}"/>
</p:tagLst>
</file>

<file path=ppt/tags/tag88.xml><?xml version="1.0" encoding="utf-8"?>
<p:tagLst xmlns:p="http://schemas.openxmlformats.org/presentationml/2006/main">
  <p:tag name="KSO_WM_DIAGRAM_VIRTUALLY_FRAME" val="{&quot;height&quot;:275.65,&quot;left&quot;:17.5,&quot;top&quot;:193.7,&quot;width&quot;:687.2}"/>
</p:tagLst>
</file>

<file path=ppt/tags/tag89.xml><?xml version="1.0" encoding="utf-8"?>
<p:tagLst xmlns:p="http://schemas.openxmlformats.org/presentationml/2006/main">
  <p:tag name="KSO_WM_DIAGRAM_VIRTUALLY_FRAME" val="{&quot;height&quot;:409.9212598425197,&quot;left&quot;:36,&quot;top&quot;:94,&quot;width&quot;:283.46456692913387}"/>
</p:tagLst>
</file>

<file path=ppt/tags/tag90.xml><?xml version="1.0" encoding="utf-8"?>
<p:tagLst xmlns:p="http://schemas.openxmlformats.org/presentationml/2006/main">
  <p:tag name="KSO_WM_DIAGRAM_VIRTUALLY_FRAME" val="{&quot;height&quot;:409.9212598425197,&quot;left&quot;:36,&quot;top&quot;:94,&quot;width&quot;:283.46456692913387}"/>
</p:tagLst>
</file>

<file path=ppt/tags/tag91.xml><?xml version="1.0" encoding="utf-8"?>
<p:tagLst xmlns:p="http://schemas.openxmlformats.org/presentationml/2006/main">
  <p:tag name="KSO_WM_DIAGRAM_VIRTUALLY_FRAME" val="{&quot;height&quot;:409.9212598425197,&quot;left&quot;:36,&quot;top&quot;:94,&quot;width&quot;:283.46456692913387}"/>
</p:tagLst>
</file>

<file path=ppt/tags/tag92.xml><?xml version="1.0" encoding="utf-8"?>
<p:tagLst xmlns:p="http://schemas.openxmlformats.org/presentationml/2006/main">
  <p:tag name="KSO_WM_DIAGRAM_VIRTUALLY_FRAME" val="{&quot;height&quot;:409.9212598425197,&quot;left&quot;:36,&quot;top&quot;:94,&quot;width&quot;:283.46456692913387}"/>
</p:tagLst>
</file>

<file path=ppt/tags/tag93.xml><?xml version="1.0" encoding="utf-8"?>
<p:tagLst xmlns:p="http://schemas.openxmlformats.org/presentationml/2006/main">
  <p:tag name="KSO_WM_DIAGRAM_VIRTUALLY_FRAME" val="{&quot;height&quot;:409.9212598425197,&quot;left&quot;:36,&quot;top&quot;:94,&quot;width&quot;:283.46456692913387}"/>
</p:tagLst>
</file>

<file path=ppt/tags/tag94.xml><?xml version="1.0" encoding="utf-8"?>
<p:tagLst xmlns:p="http://schemas.openxmlformats.org/presentationml/2006/main">
  <p:tag name="KSO_WM_DIAGRAM_VIRTUALLY_FRAME" val="{&quot;height&quot;:409.9212598425197,&quot;left&quot;:36,&quot;top&quot;:94,&quot;width&quot;:283.46456692913387}"/>
</p:tagLst>
</file>

<file path=ppt/tags/tag95.xml><?xml version="1.0" encoding="utf-8"?>
<p:tagLst xmlns:p="http://schemas.openxmlformats.org/presentationml/2006/main">
  <p:tag name="KSO_WM_DIAGRAM_VIRTUALLY_FRAME" val="{&quot;height&quot;:409.9212598425197,&quot;left&quot;:36,&quot;top&quot;:94,&quot;width&quot;:283.46456692913387}"/>
</p:tagLst>
</file>

<file path=ppt/tags/tag96.xml><?xml version="1.0" encoding="utf-8"?>
<p:tagLst xmlns:p="http://schemas.openxmlformats.org/presentationml/2006/main">
  <p:tag name="KSO_WM_DIAGRAM_VIRTUALLY_FRAME" val="{&quot;height&quot;:409.9212598425197,&quot;left&quot;:36,&quot;top&quot;:94,&quot;width&quot;:283.46456692913387}"/>
</p:tagLst>
</file>

<file path=ppt/tags/tag97.xml><?xml version="1.0" encoding="utf-8"?>
<p:tagLst xmlns:p="http://schemas.openxmlformats.org/presentationml/2006/main">
  <p:tag name="KSO_WM_DIAGRAM_VIRTUALLY_FRAME" val="{&quot;height&quot;:409.9212598425197,&quot;left&quot;:36,&quot;top&quot;:94,&quot;width&quot;:283.46456692913387}"/>
</p:tagLst>
</file>

<file path=ppt/tags/tag98.xml><?xml version="1.0" encoding="utf-8"?>
<p:tagLst xmlns:p="http://schemas.openxmlformats.org/presentationml/2006/main">
  <p:tag name="KSO_WM_DIAGRAM_VIRTUALLY_FRAME" val="{&quot;height&quot;:409.9212598425197,&quot;left&quot;:36,&quot;top&quot;:94,&quot;width&quot;:283.46456692913387}"/>
</p:tagLst>
</file>

<file path=ppt/tags/tag99.xml><?xml version="1.0" encoding="utf-8"?>
<p:tagLst xmlns:p="http://schemas.openxmlformats.org/presentationml/2006/main">
  <p:tag name="KSO_WM_DIAGRAM_VIRTUALLY_FRAME" val="{&quot;height&quot;:409.9212598425197,&quot;left&quot;:36,&quot;top&quot;:94,&quot;width&quot;:283.46456692913387}"/>
</p:tagLst>
</file>

<file path=ppt/tags/tag100.xml><?xml version="1.0" encoding="utf-8"?>
<p:tagLst xmlns:p="http://schemas.openxmlformats.org/presentationml/2006/main">
  <p:tag name="KSO_WM_DIAGRAM_VIRTUALLY_FRAME" val="{&quot;height&quot;:409.9212598425197,&quot;left&quot;:36,&quot;top&quot;:94,&quot;width&quot;:283.46456692913387}"/>
</p:tagLst>
</file>

<file path=ppt/tags/tag101.xml><?xml version="1.0" encoding="utf-8"?>
<p:tagLst xmlns:p="http://schemas.openxmlformats.org/presentationml/2006/main">
  <p:tag name="KSO_WM_DIAGRAM_VIRTUALLY_FRAME" val="{&quot;height&quot;:409.9212598425197,&quot;left&quot;:36,&quot;top&quot;:94,&quot;width&quot;:283.46456692913387}"/>
</p:tagLst>
</file>

<file path=ppt/tags/tag102.xml><?xml version="1.0" encoding="utf-8"?>
<p:tagLst xmlns:p="http://schemas.openxmlformats.org/presentationml/2006/main">
  <p:tag name="KSO_WM_DIAGRAM_VIRTUALLY_FRAME" val="{&quot;height&quot;:409.9212598425197,&quot;left&quot;:36,&quot;top&quot;:94,&quot;width&quot;:283.46456692913387}"/>
</p:tagLst>
</file>

<file path=ppt/tags/tag103.xml><?xml version="1.0" encoding="utf-8"?>
<p:tagLst xmlns:p="http://schemas.openxmlformats.org/presentationml/2006/main">
  <p:tag name="KSO_WM_DIAGRAM_VIRTUALLY_FRAME" val="{&quot;height&quot;:409.9212598425197,&quot;left&quot;:36,&quot;top&quot;:94,&quot;width&quot;:283.46456692913387}"/>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14B8A6"/>
          </a:solidFill>
          <a:tailEnd type="triangle"/>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lnDef>
      <a:spPr>
        <a:noFill/>
        <a:ln w="12700" cmpd="sng">
          <a:solidFill>
            <a:srgbClr val="F20000"/>
          </a:solidFill>
          <a:prstDash val="solid"/>
          <a:tailEnd type="arrow"/>
        </a:ln>
      </a:spPr>
      <a:body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106.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a3c59a-3bb1-4ac4-8580-9b2ba74cfe5b">
      <Terms xmlns="http://schemas.microsoft.com/office/infopath/2007/PartnerControls"/>
    </lcf76f155ced4ddcb4097134ff3c332f>
    <TaxCatchAll xmlns="56bf2a1e-b0f5-401e-a825-4d0cd333482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EEA4EB4B1C87045B2C7B9E34AE6DFF4" ma:contentTypeVersion="19" ma:contentTypeDescription="新しいドキュメントを作成します。" ma:contentTypeScope="" ma:versionID="195f4af887e8b02337b1b142d1f847de">
  <xsd:schema xmlns:xsd="http://www.w3.org/2001/XMLSchema" xmlns:xs="http://www.w3.org/2001/XMLSchema" xmlns:p="http://schemas.microsoft.com/office/2006/metadata/properties" xmlns:ns2="c8a3c59a-3bb1-4ac4-8580-9b2ba74cfe5b" xmlns:ns3="56bf2a1e-b0f5-401e-a825-4d0cd333482d" targetNamespace="http://schemas.microsoft.com/office/2006/metadata/properties" ma:root="true" ma:fieldsID="81e6449237d2fc142489e0904e1e7166" ns2:_="" ns3:_="">
    <xsd:import namespace="c8a3c59a-3bb1-4ac4-8580-9b2ba74cfe5b"/>
    <xsd:import namespace="56bf2a1e-b0f5-401e-a825-4d0cd333482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a3c59a-3bb1-4ac4-8580-9b2ba74cfe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60da577d-8c11-42e1-9807-59d1f71190c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bf2a1e-b0f5-401e-a825-4d0cd333482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afb7adad-3fb7-4e7a-8b83-8b41f07d25c8}" ma:internalName="TaxCatchAll" ma:showField="CatchAllData" ma:web="56bf2a1e-b0f5-401e-a825-4d0cd33348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04.xml><?xml version="1.0" encoding="utf-8"?>
<ds:datastoreItem xmlns:ds="http://schemas.openxmlformats.org/officeDocument/2006/customXml" ds:itemID="{D3FA7E84-7FC5-4C41-A4F9-8872414BB2F4}">
  <ds:schemaRefs/>
</ds:datastoreItem>
</file>

<file path=customXml/itemProps105.xml><?xml version="1.0" encoding="utf-8"?>
<ds:datastoreItem xmlns:ds="http://schemas.openxmlformats.org/officeDocument/2006/customXml" ds:itemID="{0E5148B6-4531-42C7-8EF9-49C77F467C6E}">
  <ds:schemaRefs/>
</ds:datastoreItem>
</file>

<file path=customXml/itemProps106.xml><?xml version="1.0" encoding="utf-8"?>
<ds:datastoreItem xmlns:ds="http://schemas.openxmlformats.org/officeDocument/2006/customXml" ds:itemID="{9FF3F963-4824-4617-9390-F81F48A450C9}">
  <ds:schemaRefs/>
</ds:datastoreItem>
</file>

<file path=docProps/app.xml><?xml version="1.0" encoding="utf-8"?>
<Properties xmlns="http://schemas.openxmlformats.org/officeDocument/2006/extended-properties" xmlns:vt="http://schemas.openxmlformats.org/officeDocument/2006/docPropsVTypes">
  <TotalTime>0</TotalTime>
  <Words>4536</Words>
  <Application>WPS 演示</Application>
  <PresentationFormat>画面に合わせる (4:3)</PresentationFormat>
  <Paragraphs>275</Paragraphs>
  <Slides>15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SimSun</vt:lpstr>
      <vt:lpstr>Wingdings</vt:lpstr>
      <vt:lpstr>Times New Roman</vt:lpstr>
      <vt:lpstr>Source Han Sans JP Bold</vt:lpstr>
      <vt:lpstr>Source Han Sans JP</vt:lpstr>
      <vt:lpstr>Times New Roman</vt:lpstr>
      <vt:lpstr>Calibri</vt:lpstr>
      <vt:lpstr>Wingdings</vt:lpstr>
      <vt:lpstr>MS PGothic</vt:lpstr>
      <vt:lpstr>Arial</vt:lpstr>
      <vt:lpstr>Microsoft YaHei</vt:lpstr>
      <vt:lpstr>Arial Unicode MS</vt:lpstr>
      <vt:lpstr>Calibri</vt:lpstr>
      <vt:lpstr>Office テーマ</vt:lpstr>
      <vt:lpstr>End-to-End Multimodal Learning for Continuous Prosthetic Hand Control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24742101 石津七海</dc:creator>
  <cp:lastModifiedBy>down down down down down</cp:lastModifiedBy>
  <cp:revision>307</cp:revision>
  <dcterms:created xsi:type="dcterms:W3CDTF">2025-10-02T04:01:00Z</dcterms:created>
  <dcterms:modified xsi:type="dcterms:W3CDTF">2026-07-15T05:23:11Z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0x010100EEEA4EB4B1C87045B2C7B9E34AE6DFF4</vt:lpwstr>
  </property>
  <property fmtid="{D5CDD505-2E9C-101B-9397-08002B2CF9AE}" pid="3" name="ICV">
    <vt:lpwstr>B70015103C7249FE8210DA285DD4FDE3_12</vt:lpwstr>
  </property>
  <property fmtid="{D5CDD505-2E9C-101B-9397-08002B2CF9AE}" pid="4" name="KSOProductBuildVer">
    <vt:lpwstr>2052-12.1.0.26895</vt:lpwstr>
  </property>
</Properties>
</file>