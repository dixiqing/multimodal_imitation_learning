
<file path=[Content_Types].xml><?xml version="1.0" encoding="utf-8"?>
<Types xmlns="http://schemas.openxmlformats.org/package/2006/content-types"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304" r:id="rId3"/>
    <p:sldId id="305" r:id="rId5"/>
    <p:sldId id="301" r:id="rId6"/>
    <p:sldId id="306" r:id="rId7"/>
    <p:sldId id="300" r:id="rId8"/>
    <p:sldId id="314" r:id="rId9"/>
    <p:sldId id="315" r:id="rId10"/>
    <p:sldId id="317" r:id="rId11"/>
    <p:sldId id="316" r:id="rId12"/>
    <p:sldId id="318" r:id="rId13"/>
    <p:sldId id="319" r:id="rId14"/>
    <p:sldId id="320" r:id="rId15"/>
    <p:sldId id="321" r:id="rId16"/>
    <p:sldId id="322" r:id="rId17"/>
  </p:sld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6E6E"/>
    <a:srgbClr val="F59E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buNone/>
              <a:defRPr sz="45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45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フッター プレースホルダー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スライド番号プレースホルダー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05954" y="94797"/>
            <a:ext cx="7886700" cy="488889"/>
          </a:xfr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フッター プレースホルダー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直線コネクタ 6"/>
          <p:cNvSpPr>
            <a:spLocks noGrp="1"/>
          </p:cNvSpPr>
          <p:nvPr/>
        </p:nvSpPr>
        <p:spPr>
          <a:xfrm>
            <a:off x="171450" y="94086"/>
            <a:ext cx="0" cy="48960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5" name="スライド番号プレースホルダー 4"/>
          <p:cNvSpPr>
            <a:spLocks noGrp="1"/>
          </p:cNvSpPr>
          <p:nvPr>
            <p:ph type="sldNum" idx="12"/>
          </p:nvPr>
        </p:nvSpPr>
        <p:spPr>
          <a:xfrm>
            <a:off x="7063954" y="6574305"/>
            <a:ext cx="2057400" cy="365125"/>
          </a:xfrm>
        </p:spPr>
        <p:txBody>
          <a:bodyPr/>
          <a:lstStyle>
            <a:lvl1pPr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/>
      <p:sp>
        <p:nvSpPr>
          <p:cNvPr id="2" name="日付プレースホルダー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フッター プレースホルダー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スライド番号プレースホルダー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24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100"/>
            </a:lvl2pPr>
            <a:lvl3pPr>
              <a:buNone/>
              <a:defRPr sz="1800"/>
            </a:lvl3pPr>
            <a:lvl4pPr>
              <a:buNone/>
              <a:defRPr sz="1500"/>
            </a:lvl4pPr>
            <a:lvl5pPr>
              <a:buNone/>
              <a:defRPr sz="1500"/>
            </a:lvl5pPr>
            <a:lvl6pPr>
              <a:buNone/>
              <a:defRPr sz="1500"/>
            </a:lvl6pPr>
            <a:lvl7pPr>
              <a:buNone/>
              <a:defRPr sz="1500"/>
            </a:lvl7pPr>
            <a:lvl8pPr>
              <a:buNone/>
              <a:defRPr sz="1500"/>
            </a:lvl8pPr>
            <a:lvl9pPr>
              <a:buNone/>
              <a:defRPr sz="1500"/>
            </a:lvl9pPr>
          </a:lstStyle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24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/>
        </p:txBody>
      </p:sp>
      <p:sp>
        <p:nvSpPr>
          <p:cNvPr id="4" name="テキスト プレースホルダー 3"/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/>
      <p:sp>
        <p:nvSpPr>
          <p:cNvPr id="2" name="縦書きタイトル 1"/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171450" indent="-171450" algn="l" defTabSz="685800">
        <a:lnSpc>
          <a:spcPct val="90000"/>
        </a:lnSpc>
        <a:spcBef>
          <a:spcPts val="750"/>
        </a:spcBef>
        <a:buFont typeface="Arial" panose="020B0604020202020204"/>
        <a:buChar char="•"/>
        <a:defRPr sz="2100" kern="1200">
          <a:solidFill>
            <a:schemeClr val="tx1"/>
          </a:solidFill>
          <a:latin typeface="+mn-lt"/>
          <a:ea typeface="+mn-lt"/>
          <a:cs typeface="+mn-lt"/>
        </a:defRPr>
      </a:lvl1pPr>
      <a:lvl2pPr marL="5143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8572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lt"/>
          <a:cs typeface="+mn-lt"/>
        </a:defRPr>
      </a:lvl3pPr>
      <a:lvl4pPr marL="12001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5430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.png"/><Relationship Id="rId2" Type="http://schemas.microsoft.com/office/2007/relationships/media" Target="../media/media1.mp4"/><Relationship Id="rId1" Type="http://schemas.openxmlformats.org/officeDocument/2006/relationships/video" Target="../media/media1.mp4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Experimental Setup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rcRect l="2579" t="15949" b="21628"/>
          <a:stretch>
            <a:fillRect/>
          </a:stretch>
        </p:blipFill>
        <p:spPr>
          <a:xfrm>
            <a:off x="1751965" y="1661160"/>
            <a:ext cx="4189095" cy="4771390"/>
          </a:xfrm>
          <a:prstGeom prst="rect">
            <a:avLst/>
          </a:prstGeom>
        </p:spPr>
      </p:pic>
      <p:sp>
        <p:nvSpPr>
          <p:cNvPr id="8" name="任意多边形 7"/>
          <p:cNvSpPr/>
          <p:nvPr/>
        </p:nvSpPr>
        <p:spPr>
          <a:xfrm>
            <a:off x="972000" y="5724000"/>
            <a:ext cx="1044000" cy="10795"/>
          </a:xfrm>
          <a:custGeom>
            <a:avLst/>
            <a:gdLst>
              <a:gd name="connisteX0" fmla="*/ 2532380 w 2532380"/>
              <a:gd name="connsiteY0" fmla="*/ 0 h 10795"/>
              <a:gd name="connisteX1" fmla="*/ 0 w 2532380"/>
              <a:gd name="connsiteY1" fmla="*/ 10795 h 107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w="2532380" h="10795">
                <a:moveTo>
                  <a:pt x="2532380" y="0"/>
                </a:moveTo>
                <a:lnTo>
                  <a:pt x="0" y="10795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任意多边形 8"/>
          <p:cNvSpPr/>
          <p:nvPr/>
        </p:nvSpPr>
        <p:spPr>
          <a:xfrm>
            <a:off x="972000" y="1836000"/>
            <a:ext cx="1044000" cy="10795"/>
          </a:xfrm>
          <a:custGeom>
            <a:avLst/>
            <a:gdLst>
              <a:gd name="connisteX0" fmla="*/ 2532380 w 2532380"/>
              <a:gd name="connsiteY0" fmla="*/ 0 h 10795"/>
              <a:gd name="connisteX1" fmla="*/ 0 w 2532380"/>
              <a:gd name="connsiteY1" fmla="*/ 10795 h 107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w="2532380" h="10795">
                <a:moveTo>
                  <a:pt x="2532380" y="0"/>
                </a:moveTo>
                <a:lnTo>
                  <a:pt x="0" y="10795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任意多边形 9"/>
          <p:cNvSpPr/>
          <p:nvPr/>
        </p:nvSpPr>
        <p:spPr>
          <a:xfrm>
            <a:off x="948690" y="1846580"/>
            <a:ext cx="22225" cy="3852000"/>
          </a:xfrm>
          <a:custGeom>
            <a:avLst/>
            <a:gdLst>
              <a:gd name="connisteX0" fmla="*/ 0 w 22225"/>
              <a:gd name="connsiteY0" fmla="*/ 0 h 2347595"/>
              <a:gd name="connisteX1" fmla="*/ 22225 w 22225"/>
              <a:gd name="connsiteY1" fmla="*/ 2347595 h 234759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w="22225" h="2347595">
                <a:moveTo>
                  <a:pt x="0" y="0"/>
                </a:moveTo>
                <a:lnTo>
                  <a:pt x="22225" y="2347595"/>
                </a:lnTo>
              </a:path>
            </a:pathLst>
          </a:custGeom>
          <a:noFill/>
          <a:ln w="12700" cmpd="sng">
            <a:solidFill>
              <a:schemeClr val="accent1">
                <a:shade val="50000"/>
              </a:schemeClr>
            </a:solidFill>
            <a:prstDash val="lgDash"/>
            <a:tailEnd type="non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115570" y="3473450"/>
            <a:ext cx="1341755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750mm</a:t>
            </a:r>
            <a:endParaRPr lang="en-US" altLang="zh-CN"/>
          </a:p>
        </p:txBody>
      </p:sp>
      <p:sp>
        <p:nvSpPr>
          <p:cNvPr id="16" name="文本框 15"/>
          <p:cNvSpPr txBox="1"/>
          <p:nvPr/>
        </p:nvSpPr>
        <p:spPr>
          <a:xfrm>
            <a:off x="316865" y="810260"/>
            <a:ext cx="8481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An overhead web camera</a:t>
            </a:r>
            <a:r>
              <a:rPr lang="en-US" altLang="zh-CN"/>
              <a:t> captures visual data.</a:t>
            </a:r>
            <a:endParaRPr lang="en-US" altLang="zh-CN"/>
          </a:p>
        </p:txBody>
      </p:sp>
      <p:sp>
        <p:nvSpPr>
          <p:cNvPr id="18" name="任意多边形 17"/>
          <p:cNvSpPr/>
          <p:nvPr/>
        </p:nvSpPr>
        <p:spPr>
          <a:xfrm>
            <a:off x="3582035" y="5965825"/>
            <a:ext cx="3060000" cy="21590"/>
          </a:xfrm>
          <a:custGeom>
            <a:avLst/>
            <a:gdLst>
              <a:gd name="connisteX0" fmla="*/ 0 w 3412490"/>
              <a:gd name="connsiteY0" fmla="*/ 0 h 21590"/>
              <a:gd name="connisteX1" fmla="*/ 3412490 w 3412490"/>
              <a:gd name="connsiteY1" fmla="*/ 21590 h 2159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w="3412490" h="21590">
                <a:moveTo>
                  <a:pt x="0" y="0"/>
                </a:moveTo>
                <a:lnTo>
                  <a:pt x="3412490" y="21590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6772910" y="5654040"/>
            <a:ext cx="21570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ea typeface="SimSun" panose="02010600030101010101" pitchFamily="2" charset="-122"/>
              </a:rPr>
              <a:t>Initial hand-to-object distance: 30 mm</a:t>
            </a:r>
            <a:endParaRPr lang="en-US" altLang="zh-CN">
              <a:ea typeface="SimSun" panose="02010600030101010101" pitchFamily="2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3309620" y="5498465"/>
            <a:ext cx="2986405" cy="4108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30mm</a:t>
            </a:r>
            <a:endParaRPr lang="en-US" altLang="zh-CN"/>
          </a:p>
        </p:txBody>
      </p:sp>
      <p:cxnSp>
        <p:nvCxnSpPr>
          <p:cNvPr id="2" name="直接箭头连接符 1"/>
          <p:cNvCxnSpPr/>
          <p:nvPr/>
        </p:nvCxnSpPr>
        <p:spPr>
          <a:xfrm flipV="1">
            <a:off x="3223260" y="5498465"/>
            <a:ext cx="144780" cy="344170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prstDash val="dash"/>
            <a:headEnd type="arrow"/>
            <a:tailEnd type="arrow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" name="任意多边形 2"/>
          <p:cNvSpPr/>
          <p:nvPr/>
        </p:nvSpPr>
        <p:spPr>
          <a:xfrm>
            <a:off x="2181225" y="1206500"/>
            <a:ext cx="11430" cy="576000"/>
          </a:xfrm>
          <a:custGeom>
            <a:avLst/>
            <a:gdLst>
              <a:gd name="connisteX0" fmla="*/ 11430 w 11430"/>
              <a:gd name="connsiteY0" fmla="*/ 427355 h 427355"/>
              <a:gd name="connisteX1" fmla="*/ 0 w 11430"/>
              <a:gd name="connsiteY1" fmla="*/ 0 h 42735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</a:cxnLst>
            <a:rect l="l" t="t" r="r" b="b"/>
            <a:pathLst>
              <a:path w="11430" h="427355">
                <a:moveTo>
                  <a:pt x="11430" y="427355"/>
                </a:moveTo>
                <a:lnTo>
                  <a:pt x="0" y="0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SimSun" panose="02010600030101010101" pitchFamily="2" charset="-122"/>
                <a:cs typeface="Times New Roman" panose="02020603050405020304"/>
                <a:sym typeface="+mn-ea"/>
              </a:rPr>
              <a:t>Experimental Sample</a:t>
            </a:r>
            <a:endParaRPr lang="en-US" altLang="zh-CN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  <a:sym typeface="+mn-ea"/>
            </a:endParaRPr>
          </a:p>
        </p:txBody>
      </p:sp>
      <p:pic>
        <p:nvPicPr>
          <p:cNvPr id="13" name="grasp_video">
            <a:hlinkClick r:id="" action="ppaction://media"/>
          </p:cNvPr>
          <p:cNvPicPr/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163955" y="2115185"/>
            <a:ext cx="6745605" cy="461391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1163955" y="176974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Camera View:</a:t>
            </a:r>
            <a:endParaRPr lang="en-US" altLang="zh-CN"/>
          </a:p>
        </p:txBody>
      </p:sp>
      <p:sp>
        <p:nvSpPr>
          <p:cNvPr id="3" name="文本框 2"/>
          <p:cNvSpPr txBox="1"/>
          <p:nvPr/>
        </p:nvSpPr>
        <p:spPr>
          <a:xfrm>
            <a:off x="1046480" y="925830"/>
            <a:ext cx="15043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ea typeface="SimSun" panose="02010600030101010101" pitchFamily="2" charset="-122"/>
              </a:rPr>
              <a:t>Initial Phase</a:t>
            </a:r>
            <a:endParaRPr lang="en-US">
              <a:ea typeface="SimSun" panose="02010600030101010101" pitchFamily="2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51255" y="1294130"/>
            <a:ext cx="1143635" cy="337185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 sz="1600">
                <a:solidFill>
                  <a:srgbClr val="6E6E6E"/>
                </a:solidFill>
              </a:rPr>
              <a:t>10 frames</a:t>
            </a:r>
            <a:endParaRPr lang="en-US" altLang="zh-CN" sz="1600">
              <a:solidFill>
                <a:srgbClr val="6E6E6E"/>
              </a:solidFill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2667000" y="1160145"/>
            <a:ext cx="658495" cy="253365"/>
          </a:xfrm>
          <a:prstGeom prst="rightArrow">
            <a:avLst>
              <a:gd name="adj1" fmla="val 50000"/>
              <a:gd name="adj2" fmla="val 86215"/>
            </a:avLst>
          </a:prstGeom>
          <a:solidFill>
            <a:srgbClr val="00B050"/>
          </a:solidFill>
          <a:ln>
            <a:noFill/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3441700" y="925830"/>
            <a:ext cx="1919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ea typeface="SimSun" panose="02010600030101010101" pitchFamily="2" charset="-122"/>
              </a:rPr>
              <a:t>Grasping Phase</a:t>
            </a:r>
            <a:endParaRPr lang="en-US" altLang="zh-CN">
              <a:ea typeface="SimSun" panose="02010600030101010101" pitchFamily="2" charset="-122"/>
            </a:endParaRPr>
          </a:p>
        </p:txBody>
      </p:sp>
      <p:sp>
        <p:nvSpPr>
          <p:cNvPr id="9" name="右箭头 8"/>
          <p:cNvSpPr/>
          <p:nvPr/>
        </p:nvSpPr>
        <p:spPr>
          <a:xfrm>
            <a:off x="5588000" y="1160145"/>
            <a:ext cx="658495" cy="253365"/>
          </a:xfrm>
          <a:prstGeom prst="rightArrow">
            <a:avLst>
              <a:gd name="adj1" fmla="val 50000"/>
              <a:gd name="adj2" fmla="val 86215"/>
            </a:avLst>
          </a:prstGeom>
          <a:solidFill>
            <a:srgbClr val="00B050"/>
          </a:solidFill>
          <a:ln>
            <a:noFill/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3634105" y="1288415"/>
            <a:ext cx="1612900" cy="337185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buClrTx/>
              <a:buSzTx/>
              <a:buFontTx/>
            </a:pPr>
            <a:r>
              <a:rPr lang="en-US" altLang="zh-CN" sz="1600">
                <a:solidFill>
                  <a:srgbClr val="6E6E6E"/>
                </a:solidFill>
              </a:rPr>
              <a:t>Variable duration</a:t>
            </a:r>
            <a:endParaRPr lang="en-US" altLang="zh-CN" sz="1600">
              <a:solidFill>
                <a:srgbClr val="6E6E6E"/>
              </a:solidFill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137910" y="925830"/>
            <a:ext cx="1919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ea typeface="SimSun" panose="02010600030101010101" pitchFamily="2" charset="-122"/>
              </a:rPr>
              <a:t>Hold Phase</a:t>
            </a:r>
            <a:endParaRPr lang="en-US" altLang="zh-CN">
              <a:ea typeface="SimSun" panose="02010600030101010101" pitchFamily="2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330315" y="1288415"/>
            <a:ext cx="1612900" cy="337185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buClrTx/>
              <a:buSzTx/>
              <a:buFontTx/>
            </a:pPr>
            <a:r>
              <a:rPr lang="en-US" altLang="zh-CN" sz="1600">
                <a:solidFill>
                  <a:srgbClr val="6E6E6E"/>
                </a:solidFill>
                <a:sym typeface="+mn-ea"/>
              </a:rPr>
              <a:t>20 frames</a:t>
            </a:r>
            <a:endParaRPr lang="en-US" altLang="zh-CN" sz="1600">
              <a:solidFill>
                <a:srgbClr val="6E6E6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848360" y="1447800"/>
            <a:ext cx="7447915" cy="3125470"/>
            <a:chOff x="1849" y="1531"/>
            <a:chExt cx="10159" cy="4017"/>
          </a:xfrm>
        </p:grpSpPr>
        <p:grpSp>
          <p:nvGrpSpPr>
            <p:cNvPr id="4" name="组合 3"/>
            <p:cNvGrpSpPr/>
            <p:nvPr/>
          </p:nvGrpSpPr>
          <p:grpSpPr>
            <a:xfrm>
              <a:off x="1922" y="2415"/>
              <a:ext cx="2942" cy="1826"/>
              <a:chOff x="4230" y="2456"/>
              <a:chExt cx="2942" cy="1826"/>
            </a:xfrm>
          </p:grpSpPr>
          <p:sp>
            <p:nvSpPr>
              <p:cNvPr id="5" name="Google Shape;4859;p44"/>
              <p:cNvSpPr/>
              <p:nvPr/>
            </p:nvSpPr>
            <p:spPr>
              <a:xfrm>
                <a:off x="4230" y="2456"/>
                <a:ext cx="2107" cy="1826"/>
              </a:xfrm>
              <a:prstGeom prst="cube">
                <a:avLst>
                  <a:gd name="adj" fmla="val 8683"/>
                </a:avLst>
              </a:prstGeom>
              <a:solidFill>
                <a:schemeClr val="accent6">
                  <a:lumMod val="60000"/>
                  <a:lumOff val="40000"/>
                </a:schemeClr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8" name="直接箭头连接符 7"/>
              <p:cNvCxnSpPr>
                <a:stCxn id="5" idx="4"/>
              </p:cNvCxnSpPr>
              <p:nvPr/>
            </p:nvCxnSpPr>
            <p:spPr>
              <a:xfrm flipV="1">
                <a:off x="6265" y="3436"/>
                <a:ext cx="907" cy="12"/>
              </a:xfrm>
              <a:prstGeom prst="straightConnector1">
                <a:avLst/>
              </a:prstGeom>
              <a:ln>
                <a:solidFill>
                  <a:srgbClr val="0E2841"/>
                </a:solidFill>
                <a:tailEnd type="arrow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4" name="直接箭头连接符 23"/>
            <p:cNvCxnSpPr/>
            <p:nvPr/>
          </p:nvCxnSpPr>
          <p:spPr>
            <a:xfrm flipV="1">
              <a:off x="8577" y="3385"/>
              <a:ext cx="1077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/>
            <p:cNvSpPr txBox="1"/>
            <p:nvPr/>
          </p:nvSpPr>
          <p:spPr>
            <a:xfrm>
              <a:off x="1849" y="2676"/>
              <a:ext cx="2108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>
                  <a:latin typeface="Times New Roman" panose="02020603050405020304" charset="0"/>
                  <a:cs typeface="Times New Roman" panose="02020603050405020304" charset="0"/>
                  <a:sym typeface="+mn-ea"/>
                </a:rPr>
                <a:t>Distance</a:t>
              </a:r>
              <a:endPara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endParaRPr>
            </a:p>
          </p:txBody>
        </p:sp>
        <p:grpSp>
          <p:nvGrpSpPr>
            <p:cNvPr id="29" name="组合 28"/>
            <p:cNvGrpSpPr/>
            <p:nvPr/>
          </p:nvGrpSpPr>
          <p:grpSpPr>
            <a:xfrm>
              <a:off x="9766" y="2560"/>
              <a:ext cx="2242" cy="1344"/>
              <a:chOff x="9310" y="4361"/>
              <a:chExt cx="2242" cy="1344"/>
            </a:xfrm>
          </p:grpSpPr>
          <p:sp>
            <p:nvSpPr>
              <p:cNvPr id="4861" name="Google Shape;4861;p44"/>
              <p:cNvSpPr/>
              <p:nvPr/>
            </p:nvSpPr>
            <p:spPr>
              <a:xfrm>
                <a:off x="9310" y="4361"/>
                <a:ext cx="2192" cy="1344"/>
              </a:xfrm>
              <a:prstGeom prst="cube">
                <a:avLst>
                  <a:gd name="adj" fmla="val 21848"/>
                </a:avLst>
              </a:prstGeom>
              <a:solidFill>
                <a:srgbClr val="09CDA6"/>
              </a:solidFill>
              <a:ln w="9525" cap="flat" cmpd="sng">
                <a:noFill/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8" name="文本框 27"/>
              <p:cNvSpPr txBox="1"/>
              <p:nvPr/>
            </p:nvSpPr>
            <p:spPr>
              <a:xfrm>
                <a:off x="9310" y="4688"/>
                <a:ext cx="2242" cy="8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Fingertip </a:t>
                </a:r>
                <a:endParaRPr lang="en-US" altLang="zh-CN" sz="1800" b="1">
                  <a:latin typeface="Times New Roman" panose="02020603050405020304" charset="0"/>
                  <a:cs typeface="Times New Roman" panose="02020603050405020304" charset="0"/>
                </a:endParaRPr>
              </a:p>
              <a:p>
                <a:r>
                  <a:rPr lang="en-US" altLang="zh-CN" sz="1800" b="1">
                    <a:latin typeface="Times New Roman" panose="02020603050405020304" charset="0"/>
                    <a:cs typeface="Times New Roman" panose="02020603050405020304" charset="0"/>
                  </a:rPr>
                  <a:t>Aperture</a:t>
                </a:r>
                <a:endParaRPr lang="en-US" altLang="ja-JP" sz="1600"/>
              </a:p>
            </p:txBody>
          </p:sp>
        </p:grpSp>
        <p:grpSp>
          <p:nvGrpSpPr>
            <p:cNvPr id="155" name="组合 154"/>
            <p:cNvGrpSpPr/>
            <p:nvPr/>
          </p:nvGrpSpPr>
          <p:grpSpPr>
            <a:xfrm>
              <a:off x="5098" y="2147"/>
              <a:ext cx="3378" cy="2967"/>
              <a:chOff x="2243" y="1465"/>
              <a:chExt cx="8060" cy="5346"/>
            </a:xfrm>
          </p:grpSpPr>
          <p:sp>
            <p:nvSpPr>
              <p:cNvPr id="114" name="Google Shape;500;p25"/>
              <p:cNvSpPr/>
              <p:nvPr/>
            </p:nvSpPr>
            <p:spPr>
              <a:xfrm>
                <a:off x="2243" y="2689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115" name="Google Shape;503;p25"/>
              <p:cNvSpPr/>
              <p:nvPr/>
            </p:nvSpPr>
            <p:spPr>
              <a:xfrm>
                <a:off x="9455" y="3359"/>
                <a:ext cx="849" cy="878"/>
              </a:xfrm>
              <a:prstGeom prst="ellipse">
                <a:avLst/>
              </a:prstGeom>
              <a:solidFill>
                <a:srgbClr val="F4CCCC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16" name="Google Shape;510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250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7" name="Google Shape;512;p25"/>
              <p:cNvCxnSpPr>
                <a:endCxn id="115" idx="2"/>
              </p:cNvCxnSpPr>
              <p:nvPr/>
            </p:nvCxnSpPr>
            <p:spPr>
              <a:xfrm>
                <a:off x="7887" y="3166"/>
                <a:ext cx="1568" cy="63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8" name="Google Shape;514;p25"/>
              <p:cNvCxnSpPr>
                <a:endCxn id="115" idx="2"/>
              </p:cNvCxnSpPr>
              <p:nvPr/>
            </p:nvCxnSpPr>
            <p:spPr>
              <a:xfrm>
                <a:off x="7887" y="1947"/>
                <a:ext cx="1568" cy="185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19" name="Google Shape;516;p25"/>
              <p:cNvCxnSpPr>
                <a:stCxn id="120" idx="6"/>
                <a:endCxn id="124" idx="2"/>
              </p:cNvCxnSpPr>
              <p:nvPr/>
            </p:nvCxnSpPr>
            <p:spPr>
              <a:xfrm>
                <a:off x="5658" y="1947"/>
                <a:ext cx="1182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sp>
            <p:nvSpPr>
              <p:cNvPr id="120" name="Google Shape;517;p25"/>
              <p:cNvSpPr/>
              <p:nvPr/>
            </p:nvSpPr>
            <p:spPr>
              <a:xfrm>
                <a:off x="4724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200" baseline="-25000"/>
              </a:p>
            </p:txBody>
          </p:sp>
          <p:sp>
            <p:nvSpPr>
              <p:cNvPr id="121" name="Google Shape;519;p25"/>
              <p:cNvSpPr/>
              <p:nvPr/>
            </p:nvSpPr>
            <p:spPr>
              <a:xfrm>
                <a:off x="4714" y="2684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2" name="Google Shape;520;p25"/>
              <p:cNvSpPr/>
              <p:nvPr/>
            </p:nvSpPr>
            <p:spPr>
              <a:xfrm>
                <a:off x="4724" y="390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r>
                  <a:rPr lang="en-GB" sz="1100"/>
                  <a:t> </a:t>
                </a: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3" name="Google Shape;521;p25"/>
              <p:cNvSpPr/>
              <p:nvPr/>
            </p:nvSpPr>
            <p:spPr>
              <a:xfrm>
                <a:off x="4724" y="5849"/>
                <a:ext cx="925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1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4" name="Google Shape;518;p25"/>
              <p:cNvSpPr/>
              <p:nvPr/>
            </p:nvSpPr>
            <p:spPr>
              <a:xfrm>
                <a:off x="6840" y="1465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200" baseline="-25000"/>
              </a:p>
            </p:txBody>
          </p:sp>
          <p:sp>
            <p:nvSpPr>
              <p:cNvPr id="125" name="Google Shape;522;p25"/>
              <p:cNvSpPr/>
              <p:nvPr/>
            </p:nvSpPr>
            <p:spPr>
              <a:xfrm>
                <a:off x="6840" y="2743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6" name="Google Shape;523;p25"/>
              <p:cNvSpPr/>
              <p:nvPr/>
            </p:nvSpPr>
            <p:spPr>
              <a:xfrm>
                <a:off x="6840" y="3946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sp>
            <p:nvSpPr>
              <p:cNvPr id="127" name="Google Shape;524;p25"/>
              <p:cNvSpPr/>
              <p:nvPr/>
            </p:nvSpPr>
            <p:spPr>
              <a:xfrm>
                <a:off x="6840" y="5849"/>
                <a:ext cx="934" cy="963"/>
              </a:xfrm>
              <a:prstGeom prst="ellipse">
                <a:avLst/>
              </a:prstGeom>
              <a:gradFill>
                <a:gsLst>
                  <a:gs pos="0">
                    <a:srgbClr val="E0EDBA">
                      <a:alpha val="79216"/>
                    </a:srgbClr>
                  </a:gs>
                  <a:gs pos="100000">
                    <a:srgbClr val="DE87F1">
                      <a:alpha val="48235"/>
                    </a:srgbClr>
                  </a:gs>
                </a:gsLst>
                <a:lin ang="13500032" scaled="0"/>
              </a:gra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 panose="020B0604020202020204"/>
                  <a:buNone/>
                </a:pPr>
                <a:endParaRPr sz="1600">
                  <a:solidFill>
                    <a:srgbClr val="000000"/>
                  </a:solidFill>
                </a:endParaRPr>
              </a:p>
            </p:txBody>
          </p:sp>
          <p:cxnSp>
            <p:nvCxnSpPr>
              <p:cNvPr id="128" name="Google Shape;526;p25"/>
              <p:cNvCxnSpPr/>
              <p:nvPr/>
            </p:nvCxnSpPr>
            <p:spPr>
              <a:xfrm flipH="1">
                <a:off x="5186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29" name="Google Shape;530;p25"/>
              <p:cNvSpPr/>
              <p:nvPr/>
            </p:nvSpPr>
            <p:spPr>
              <a:xfrm>
                <a:off x="2243" y="5113"/>
                <a:ext cx="125" cy="108"/>
              </a:xfrm>
              <a:prstGeom prst="flowChartConnector">
                <a:avLst/>
              </a:prstGeom>
              <a:solidFill>
                <a:srgbClr val="B7B7B7"/>
              </a:solidFill>
              <a:ln w="9525" cap="flat" cmpd="sng">
                <a:solidFill>
                  <a:srgbClr val="59595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cxnSp>
            <p:nvCxnSpPr>
              <p:cNvPr id="130" name="Google Shape;531;p25"/>
              <p:cNvCxnSpPr>
                <a:endCxn id="120" idx="2"/>
              </p:cNvCxnSpPr>
              <p:nvPr/>
            </p:nvCxnSpPr>
            <p:spPr>
              <a:xfrm rot="10800000" flipH="1">
                <a:off x="2378" y="1947"/>
                <a:ext cx="2346" cy="8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1" name="Google Shape;532;p25"/>
              <p:cNvCxnSpPr>
                <a:stCxn id="114" idx="5"/>
                <a:endCxn id="121" idx="2"/>
              </p:cNvCxnSpPr>
              <p:nvPr/>
            </p:nvCxnSpPr>
            <p:spPr>
              <a:xfrm>
                <a:off x="2350" y="2781"/>
                <a:ext cx="2365" cy="38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2" name="Google Shape;533;p25"/>
              <p:cNvCxnSpPr>
                <a:stCxn id="114" idx="5"/>
                <a:endCxn id="122" idx="2"/>
              </p:cNvCxnSpPr>
              <p:nvPr/>
            </p:nvCxnSpPr>
            <p:spPr>
              <a:xfrm>
                <a:off x="2350" y="2781"/>
                <a:ext cx="2374" cy="160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3" name="Google Shape;534;p25"/>
              <p:cNvCxnSpPr>
                <a:stCxn id="114" idx="5"/>
                <a:endCxn id="123" idx="2"/>
              </p:cNvCxnSpPr>
              <p:nvPr/>
            </p:nvCxnSpPr>
            <p:spPr>
              <a:xfrm>
                <a:off x="2350" y="2781"/>
                <a:ext cx="2374" cy="355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4" name="Google Shape;555;p25"/>
              <p:cNvCxnSpPr>
                <a:stCxn id="129" idx="5"/>
                <a:endCxn id="120" idx="2"/>
              </p:cNvCxnSpPr>
              <p:nvPr/>
            </p:nvCxnSpPr>
            <p:spPr>
              <a:xfrm rot="10800000" flipH="1">
                <a:off x="2350" y="1947"/>
                <a:ext cx="2374" cy="325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5" name="Google Shape;556;p25"/>
              <p:cNvCxnSpPr>
                <a:stCxn id="129" idx="5"/>
                <a:endCxn id="121" idx="2"/>
              </p:cNvCxnSpPr>
              <p:nvPr/>
            </p:nvCxnSpPr>
            <p:spPr>
              <a:xfrm rot="10800000" flipH="1">
                <a:off x="2350" y="3166"/>
                <a:ext cx="2365" cy="203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6" name="Google Shape;557;p25"/>
              <p:cNvCxnSpPr>
                <a:stCxn id="129" idx="5"/>
                <a:endCxn id="122" idx="2"/>
              </p:cNvCxnSpPr>
              <p:nvPr/>
            </p:nvCxnSpPr>
            <p:spPr>
              <a:xfrm rot="10800000" flipH="1">
                <a:off x="2350" y="4385"/>
                <a:ext cx="2374" cy="82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7" name="Google Shape;558;p25"/>
              <p:cNvCxnSpPr>
                <a:stCxn id="129" idx="5"/>
                <a:endCxn id="123" idx="2"/>
              </p:cNvCxnSpPr>
              <p:nvPr/>
            </p:nvCxnSpPr>
            <p:spPr>
              <a:xfrm>
                <a:off x="2350" y="5205"/>
                <a:ext cx="2374" cy="112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8" name="Google Shape;559;p25"/>
              <p:cNvCxnSpPr>
                <a:stCxn id="120" idx="6"/>
                <a:endCxn id="125" idx="2"/>
              </p:cNvCxnSpPr>
              <p:nvPr/>
            </p:nvCxnSpPr>
            <p:spPr>
              <a:xfrm>
                <a:off x="5658" y="1947"/>
                <a:ext cx="1182" cy="127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39" name="Google Shape;560;p25"/>
              <p:cNvCxnSpPr>
                <a:stCxn id="120" idx="6"/>
                <a:endCxn id="126" idx="2"/>
              </p:cNvCxnSpPr>
              <p:nvPr/>
            </p:nvCxnSpPr>
            <p:spPr>
              <a:xfrm>
                <a:off x="5658" y="1947"/>
                <a:ext cx="1182" cy="248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0" name="Google Shape;561;p25"/>
              <p:cNvCxnSpPr>
                <a:stCxn id="120" idx="6"/>
                <a:endCxn id="127" idx="2"/>
              </p:cNvCxnSpPr>
              <p:nvPr/>
            </p:nvCxnSpPr>
            <p:spPr>
              <a:xfrm>
                <a:off x="5658" y="1947"/>
                <a:ext cx="1182" cy="4384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1" name="Google Shape;562;p25"/>
              <p:cNvCxnSpPr>
                <a:stCxn id="121" idx="6"/>
                <a:endCxn id="124" idx="2"/>
              </p:cNvCxnSpPr>
              <p:nvPr/>
            </p:nvCxnSpPr>
            <p:spPr>
              <a:xfrm rot="10800000" flipH="1">
                <a:off x="5648" y="1946"/>
                <a:ext cx="1191" cy="121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2" name="Google Shape;563;p25"/>
              <p:cNvCxnSpPr>
                <a:stCxn id="121" idx="6"/>
                <a:endCxn id="125" idx="2"/>
              </p:cNvCxnSpPr>
              <p:nvPr/>
            </p:nvCxnSpPr>
            <p:spPr>
              <a:xfrm>
                <a:off x="5648" y="3166"/>
                <a:ext cx="1191" cy="59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3" name="Google Shape;564;p25"/>
              <p:cNvCxnSpPr>
                <a:stCxn id="121" idx="6"/>
                <a:endCxn id="126" idx="2"/>
              </p:cNvCxnSpPr>
              <p:nvPr/>
            </p:nvCxnSpPr>
            <p:spPr>
              <a:xfrm>
                <a:off x="5648" y="3166"/>
                <a:ext cx="1191" cy="1262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4" name="Google Shape;565;p25"/>
              <p:cNvCxnSpPr>
                <a:stCxn id="121" idx="6"/>
                <a:endCxn id="127" idx="2"/>
              </p:cNvCxnSpPr>
              <p:nvPr/>
            </p:nvCxnSpPr>
            <p:spPr>
              <a:xfrm>
                <a:off x="5648" y="3166"/>
                <a:ext cx="1191" cy="316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5" name="Google Shape;566;p25"/>
              <p:cNvCxnSpPr>
                <a:stCxn id="122" idx="6"/>
                <a:endCxn id="124" idx="2"/>
              </p:cNvCxnSpPr>
              <p:nvPr/>
            </p:nvCxnSpPr>
            <p:spPr>
              <a:xfrm rot="10800000" flipH="1">
                <a:off x="5658" y="1947"/>
                <a:ext cx="1182" cy="2438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6" name="Google Shape;567;p25"/>
              <p:cNvCxnSpPr>
                <a:stCxn id="122" idx="6"/>
                <a:endCxn id="125" idx="2"/>
              </p:cNvCxnSpPr>
              <p:nvPr/>
            </p:nvCxnSpPr>
            <p:spPr>
              <a:xfrm rot="10800000" flipH="1">
                <a:off x="5658" y="3224"/>
                <a:ext cx="1182" cy="1161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7" name="Google Shape;568;p25"/>
              <p:cNvCxnSpPr>
                <a:stCxn id="122" idx="6"/>
                <a:endCxn id="126" idx="2"/>
              </p:cNvCxnSpPr>
              <p:nvPr/>
            </p:nvCxnSpPr>
            <p:spPr>
              <a:xfrm>
                <a:off x="5658" y="4385"/>
                <a:ext cx="1182" cy="4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8" name="Google Shape;569;p25"/>
              <p:cNvCxnSpPr>
                <a:stCxn id="122" idx="6"/>
                <a:endCxn id="127" idx="2"/>
              </p:cNvCxnSpPr>
              <p:nvPr/>
            </p:nvCxnSpPr>
            <p:spPr>
              <a:xfrm>
                <a:off x="5658" y="4385"/>
                <a:ext cx="1182" cy="1946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49" name="Google Shape;570;p25"/>
              <p:cNvCxnSpPr>
                <a:endCxn id="124" idx="2"/>
              </p:cNvCxnSpPr>
              <p:nvPr/>
            </p:nvCxnSpPr>
            <p:spPr>
              <a:xfrm rot="10800000" flipH="1">
                <a:off x="5658" y="1947"/>
                <a:ext cx="1182" cy="444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0" name="Google Shape;571;p25"/>
              <p:cNvCxnSpPr>
                <a:stCxn id="123" idx="6"/>
                <a:endCxn id="125" idx="2"/>
              </p:cNvCxnSpPr>
              <p:nvPr/>
            </p:nvCxnSpPr>
            <p:spPr>
              <a:xfrm rot="10800000" flipH="1">
                <a:off x="5649" y="3224"/>
                <a:ext cx="1191" cy="310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1" name="Google Shape;572;p25"/>
              <p:cNvCxnSpPr>
                <a:stCxn id="123" idx="6"/>
                <a:endCxn id="126" idx="2"/>
              </p:cNvCxnSpPr>
              <p:nvPr/>
            </p:nvCxnSpPr>
            <p:spPr>
              <a:xfrm rot="10800000" flipH="1">
                <a:off x="5649" y="4428"/>
                <a:ext cx="1191" cy="1903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2" name="Google Shape;573;p25"/>
              <p:cNvCxnSpPr>
                <a:stCxn id="123" idx="6"/>
                <a:endCxn id="127" idx="2"/>
              </p:cNvCxnSpPr>
              <p:nvPr/>
            </p:nvCxnSpPr>
            <p:spPr>
              <a:xfrm>
                <a:off x="5649" y="6331"/>
                <a:ext cx="1191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3" name="Google Shape;591;p25"/>
              <p:cNvCxnSpPr>
                <a:endCxn id="115" idx="2"/>
              </p:cNvCxnSpPr>
              <p:nvPr/>
            </p:nvCxnSpPr>
            <p:spPr>
              <a:xfrm rot="10800000" flipH="1">
                <a:off x="7887" y="3798"/>
                <a:ext cx="1568" cy="587"/>
              </a:xfrm>
              <a:prstGeom prst="straightConnector1">
                <a:avLst/>
              </a:prstGeom>
              <a:noFill/>
              <a:ln w="9525" cap="flat" cmpd="sng">
                <a:solidFill>
                  <a:srgbClr val="595959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  <p:cxnSp>
            <p:nvCxnSpPr>
              <p:cNvPr id="154" name="Google Shape;593;p25"/>
              <p:cNvCxnSpPr/>
              <p:nvPr/>
            </p:nvCxnSpPr>
            <p:spPr>
              <a:xfrm flipH="1">
                <a:off x="7302" y="5064"/>
                <a:ext cx="9" cy="709"/>
              </a:xfrm>
              <a:prstGeom prst="straightConnector1">
                <a:avLst/>
              </a:prstGeom>
              <a:noFill/>
              <a:ln w="28575" cap="flat" cmpd="sng">
                <a:solidFill>
                  <a:srgbClr val="595959"/>
                </a:solidFill>
                <a:prstDash val="dot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56" name="文本框 155"/>
            <p:cNvSpPr txBox="1"/>
            <p:nvPr/>
          </p:nvSpPr>
          <p:spPr>
            <a:xfrm>
              <a:off x="4864" y="1531"/>
              <a:ext cx="3800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5-frame window MLP</a:t>
              </a:r>
              <a:endParaRPr lang="en-US" altLang="zh-CN" sz="1600" b="1">
                <a:sym typeface="+mn-ea"/>
              </a:endParaRPr>
            </a:p>
          </p:txBody>
        </p:sp>
        <p:sp>
          <p:nvSpPr>
            <p:cNvPr id="157" name="文本框 156"/>
            <p:cNvSpPr txBox="1"/>
            <p:nvPr/>
          </p:nvSpPr>
          <p:spPr>
            <a:xfrm>
              <a:off x="3776" y="5115"/>
              <a:ext cx="6411" cy="4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600" b="1"/>
                <a:t>2 hidden layer, each with 32 neurons.</a:t>
              </a:r>
              <a:endParaRPr lang="en-US" altLang="zh-CN" sz="1600" b="1"/>
            </a:p>
          </p:txBody>
        </p:sp>
      </p:grpSp>
      <p:sp>
        <p:nvSpPr>
          <p:cNvPr id="9" name="文本框 8"/>
          <p:cNvSpPr txBox="1"/>
          <p:nvPr/>
        </p:nvSpPr>
        <p:spPr>
          <a:xfrm>
            <a:off x="901700" y="4872355"/>
            <a:ext cx="535686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20000"/>
              </a:lnSpc>
            </a:pPr>
            <a:r>
              <a:rPr lang="en-US" altLang="zh-CN" sz="2000"/>
              <a:t>Loss Function: MAE</a:t>
            </a:r>
            <a:br>
              <a:rPr lang="en-US" altLang="zh-CN" sz="2000"/>
            </a:br>
            <a:r>
              <a:rPr lang="en-US" altLang="zh-CN" sz="2000"/>
              <a:t>Input Preprocessing: Input normalization</a:t>
            </a:r>
            <a:endParaRPr lang="en-US" altLang="zh-CN" sz="2000"/>
          </a:p>
          <a:p>
            <a:pPr>
              <a:lnSpc>
                <a:spcPct val="120000"/>
              </a:lnSpc>
            </a:pPr>
            <a:r>
              <a:rPr lang="en-US" altLang="zh-CN" sz="2000"/>
              <a:t>Training Data: 30 trials</a:t>
            </a:r>
            <a:endParaRPr lang="en-US" altLang="zh-CN" sz="200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75590" y="810260"/>
            <a:ext cx="8523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Reasons for selecting a temporal window.</a:t>
            </a:r>
            <a:endParaRPr lang="zh-CN" altLang="en-US">
              <a:ea typeface="SimSun" panose="02010600030101010101" pitchFamily="2" charset="-122"/>
            </a:endParaRPr>
          </a:p>
        </p:txBody>
      </p:sp>
      <p:sp>
        <p:nvSpPr>
          <p:cNvPr id="31" name="文本框 30"/>
          <p:cNvSpPr txBox="1"/>
          <p:nvPr/>
        </p:nvSpPr>
        <p:spPr>
          <a:xfrm>
            <a:off x="240665" y="6157595"/>
            <a:ext cx="855662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/>
              <a:t>Comparison between predicted and ground-truth curves, In the red-highlighted region, the model without a temporal window shows poor prediction performance.</a:t>
            </a:r>
            <a:endParaRPr lang="en-US" altLang="zh-CN" sz="1400"/>
          </a:p>
        </p:txBody>
      </p:sp>
      <p:sp>
        <p:nvSpPr>
          <p:cNvPr id="33" name="文本框 32"/>
          <p:cNvSpPr txBox="1"/>
          <p:nvPr/>
        </p:nvSpPr>
        <p:spPr>
          <a:xfrm>
            <a:off x="275590" y="1266825"/>
            <a:ext cx="8522970" cy="1476375"/>
          </a:xfrm>
          <a:prstGeom prst="rect">
            <a:avLst/>
          </a:prstGeom>
        </p:spPr>
        <p:txBody>
          <a:bodyPr wrap="square">
            <a:spAutoFit/>
          </a:bodyPr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Without a temporal window : The model learns only the mapping between distance and fingertip aperture, resulting in larger errors during rapid changes.</a:t>
            </a: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endParaRPr lang="en-US" altLang="zh-CN"/>
          </a:p>
          <a:p>
            <a:pPr marL="285750" indent="-285750">
              <a:buFont typeface="Wingdings" panose="05000000000000000000" charset="0"/>
              <a:buChar char="l"/>
            </a:pPr>
            <a:r>
              <a:rPr lang="en-US" altLang="zh-CN"/>
              <a:t>With a temporal window:The model can utilize short-term motion context to learn temporal trends, improving prediction accuracy.</a:t>
            </a:r>
            <a:endParaRPr lang="en-US" altLang="zh-CN"/>
          </a:p>
        </p:txBody>
      </p:sp>
      <p:pic>
        <p:nvPicPr>
          <p:cNvPr id="34" name="图片 33" descr="downloa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5590" y="3016250"/>
            <a:ext cx="2640965" cy="3215640"/>
          </a:xfrm>
          <a:prstGeom prst="rect">
            <a:avLst/>
          </a:prstGeom>
        </p:spPr>
      </p:pic>
      <p:pic>
        <p:nvPicPr>
          <p:cNvPr id="36" name="图片 35" descr="C:/Users/Di/Downloads/download (1).pngdownload (1)"/>
          <p:cNvPicPr>
            <a:picLocks noChangeAspect="1"/>
          </p:cNvPicPr>
          <p:nvPr/>
        </p:nvPicPr>
        <p:blipFill>
          <a:blip r:embed="rId2"/>
          <a:srcRect r="20"/>
          <a:stretch>
            <a:fillRect/>
          </a:stretch>
        </p:blipFill>
        <p:spPr>
          <a:xfrm>
            <a:off x="3216275" y="3016250"/>
            <a:ext cx="2640965" cy="3215640"/>
          </a:xfrm>
          <a:prstGeom prst="rect">
            <a:avLst/>
          </a:prstGeom>
        </p:spPr>
      </p:pic>
      <p:pic>
        <p:nvPicPr>
          <p:cNvPr id="37" name="图片 36" descr="C:/Users/Di/Downloads/download (2).pngdownload (2)"/>
          <p:cNvPicPr>
            <a:picLocks noChangeAspect="1"/>
          </p:cNvPicPr>
          <p:nvPr/>
        </p:nvPicPr>
        <p:blipFill>
          <a:blip r:embed="rId3"/>
          <a:srcRect r="20"/>
          <a:stretch>
            <a:fillRect/>
          </a:stretch>
        </p:blipFill>
        <p:spPr>
          <a:xfrm>
            <a:off x="6156960" y="3016250"/>
            <a:ext cx="2640965" cy="32156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75590" y="810260"/>
            <a:ext cx="85236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9 trials were used to validation each cube size. Overall validation across 27 trials for three cube sizes.</a:t>
            </a:r>
            <a:endParaRPr lang="en-US" altLang="zh-CN"/>
          </a:p>
        </p:txBody>
      </p:sp>
      <p:grpSp>
        <p:nvGrpSpPr>
          <p:cNvPr id="19" name="组合 18"/>
          <p:cNvGrpSpPr/>
          <p:nvPr/>
        </p:nvGrpSpPr>
        <p:grpSpPr>
          <a:xfrm>
            <a:off x="0" y="2799080"/>
            <a:ext cx="9144000" cy="3797300"/>
            <a:chOff x="0" y="3354"/>
            <a:chExt cx="14400" cy="5980"/>
          </a:xfrm>
        </p:grpSpPr>
        <p:pic>
          <p:nvPicPr>
            <p:cNvPr id="17" name="图片 16" descr="01_overall_model_comparison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0" y="3354"/>
              <a:ext cx="14400" cy="5400"/>
            </a:xfrm>
            <a:prstGeom prst="rect">
              <a:avLst/>
            </a:prstGeom>
          </p:spPr>
        </p:pic>
        <p:sp>
          <p:nvSpPr>
            <p:cNvPr id="18" name="文本框 17"/>
            <p:cNvSpPr txBox="1"/>
            <p:nvPr/>
          </p:nvSpPr>
          <p:spPr>
            <a:xfrm>
              <a:off x="3600" y="8754"/>
              <a:ext cx="7200" cy="58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en-US" altLang="zh-CN"/>
                <a:t>Overall validation performance</a:t>
              </a:r>
              <a:endParaRPr lang="en-US" altLang="zh-CN"/>
            </a:p>
          </p:txBody>
        </p:sp>
      </p:grpSp>
      <p:sp>
        <p:nvSpPr>
          <p:cNvPr id="20" name="文本框 19"/>
          <p:cNvSpPr txBox="1"/>
          <p:nvPr/>
        </p:nvSpPr>
        <p:spPr>
          <a:xfrm>
            <a:off x="633730" y="1455420"/>
            <a:ext cx="4572000" cy="11703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indent="-285750">
              <a:lnSpc>
                <a:spcPct val="130000"/>
              </a:lnSpc>
              <a:buFont typeface="Wingdings" panose="05000000000000000000" charset="0"/>
              <a:buChar char="l"/>
            </a:pPr>
            <a:r>
              <a:rPr lang="en-US" altLang="zh-CN">
                <a:sym typeface="+mn-ea"/>
              </a:rPr>
              <a:t>MAE : 3.87</a:t>
            </a:r>
            <a:endParaRPr lang="en-US" altLang="zh-CN">
              <a:sym typeface="+mn-ea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l"/>
            </a:pPr>
            <a:r>
              <a:rPr lang="en-US" altLang="zh-CN">
                <a:sym typeface="+mn-ea"/>
              </a:rPr>
              <a:t>RMSE : 5.91</a:t>
            </a:r>
            <a:endParaRPr lang="en-US" altLang="zh-CN">
              <a:sym typeface="+mn-ea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l"/>
            </a:pPr>
            <a:r>
              <a:rPr lang="en-US" altLang="zh-CN">
                <a:sym typeface="+mn-ea"/>
              </a:rPr>
              <a:t>R² : 0.958</a:t>
            </a:r>
            <a:endParaRPr lang="en-US" altLang="zh-CN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/Users/Di/Downloads/download (4).pngdownload (4)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41400" y="1819275"/>
            <a:ext cx="7061200" cy="4854575"/>
          </a:xfrm>
          <a:prstGeom prst="rect">
            <a:avLst/>
          </a:prstGeom>
        </p:spPr>
      </p:pic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75590" y="810260"/>
            <a:ext cx="762000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The movement is divided into three phases, initial, grasping, and hold.</a:t>
            </a:r>
            <a:br>
              <a:rPr lang="en-US" altLang="zh-CN"/>
            </a:br>
            <a:r>
              <a:rPr lang="en-US" altLang="zh-CN"/>
              <a:t>The grasping</a:t>
            </a:r>
            <a:r>
              <a:rPr lang="en-US" altLang="zh-CN"/>
              <a:t> phase is the most challenging to predict. However, the current model can reduce prediction errors during this phase.</a:t>
            </a:r>
            <a:br>
              <a:rPr lang="en-US" altLang="zh-CN"/>
            </a:b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810260"/>
            <a:ext cx="886777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ea typeface="SimSun" panose="02010600030101010101" pitchFamily="2" charset="-122"/>
              </a:rPr>
              <a:t>Three cubes of different sizes are each grasped three times in a random order. The system identifies each cube by its color and loads the corresponding model with a temporal window.</a:t>
            </a:r>
            <a:endParaRPr lang="en-US" altLang="zh-CN">
              <a:ea typeface="SimSun" panose="02010600030101010101" pitchFamily="2" charset="-122"/>
            </a:endParaRPr>
          </a:p>
        </p:txBody>
      </p:sp>
      <p:pic>
        <p:nvPicPr>
          <p:cNvPr id="3" name="图片 2" descr="overall_model_comparis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823210"/>
            <a:ext cx="9144000" cy="3429000"/>
          </a:xfrm>
          <a:prstGeom prst="rect">
            <a:avLst/>
          </a:prstGeom>
        </p:spPr>
      </p:pic>
      <p:sp>
        <p:nvSpPr>
          <p:cNvPr id="18" name="文本框 17"/>
          <p:cNvSpPr txBox="1"/>
          <p:nvPr/>
        </p:nvSpPr>
        <p:spPr>
          <a:xfrm>
            <a:off x="2251075" y="6148070"/>
            <a:ext cx="4572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/>
              <a:t>Overall validation performance</a:t>
            </a:r>
            <a:endParaRPr lang="en-US" altLang="zh-CN"/>
          </a:p>
        </p:txBody>
      </p:sp>
      <p:sp>
        <p:nvSpPr>
          <p:cNvPr id="20" name="文本框 19"/>
          <p:cNvSpPr txBox="1"/>
          <p:nvPr/>
        </p:nvSpPr>
        <p:spPr>
          <a:xfrm>
            <a:off x="633730" y="1455420"/>
            <a:ext cx="4572000" cy="11703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indent="-285750">
              <a:lnSpc>
                <a:spcPct val="130000"/>
              </a:lnSpc>
              <a:buFont typeface="Wingdings" panose="05000000000000000000" charset="0"/>
              <a:buChar char="l"/>
            </a:pPr>
            <a:r>
              <a:rPr lang="en-US" altLang="zh-CN">
                <a:sym typeface="+mn-ea"/>
              </a:rPr>
              <a:t>MAE :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4.18</a:t>
            </a:r>
            <a:endParaRPr lang="en-US" altLang="zh-CN">
              <a:sym typeface="+mn-ea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l"/>
            </a:pPr>
            <a:r>
              <a:rPr lang="en-US" altLang="zh-CN">
                <a:sym typeface="+mn-ea"/>
              </a:rPr>
              <a:t>RMSE :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6.91</a:t>
            </a:r>
            <a:endParaRPr lang="en-US" altLang="zh-CN">
              <a:sym typeface="+mn-ea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l"/>
            </a:pPr>
            <a:r>
              <a:rPr lang="en-US" altLang="zh-CN">
                <a:sym typeface="+mn-ea"/>
              </a:rPr>
              <a:t>R² :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0.929</a:t>
            </a:r>
            <a:endParaRPr lang="en-US" altLang="zh-CN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5" name="图片 4" descr="02_trial_metric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101340"/>
            <a:ext cx="9144000" cy="304800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75590" y="929005"/>
            <a:ext cx="8523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ea typeface="SimSun" panose="02010600030101010101" pitchFamily="2" charset="-122"/>
              </a:rPr>
              <a:t>Performance </a:t>
            </a:r>
            <a:r>
              <a:rPr lang="en-US" altLang="zh-CN"/>
              <a:t>comparison </a:t>
            </a:r>
            <a:r>
              <a:rPr lang="en-US" altLang="zh-CN">
                <a:ea typeface="SimSun" panose="02010600030101010101" pitchFamily="2" charset="-122"/>
              </a:rPr>
              <a:t>across 9 real-time </a:t>
            </a:r>
            <a:r>
              <a:rPr lang="en-US" altLang="zh-CN"/>
              <a:t>e</a:t>
            </a:r>
            <a:r>
              <a:rPr lang="en-US" altLang="zh-CN"/>
              <a:t>xperiments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75590" y="94107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ea typeface="SimSun" panose="02010600030101010101" pitchFamily="2" charset="-122"/>
              </a:rPr>
              <a:t>Three phase comparison</a:t>
            </a:r>
            <a:endParaRPr lang="en-US" altLang="zh-CN">
              <a:ea typeface="SimSun" panose="02010600030101010101" pitchFamily="2" charset="-122"/>
            </a:endParaRPr>
          </a:p>
        </p:txBody>
      </p:sp>
      <p:pic>
        <p:nvPicPr>
          <p:cNvPr id="4" name="图片 3" descr="C:/Users/Di/Downloads/download (3).pngdownload (3)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79475" y="1828800"/>
            <a:ext cx="7315200" cy="5029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0" y="279083"/>
            <a:ext cx="5080000" cy="521970"/>
          </a:xfrm>
          <a:prstGeom prst="rect">
            <a:avLst/>
          </a:prstGeom>
        </p:spPr>
        <p:txBody>
          <a:bodyPr>
            <a:spAutoFit/>
          </a:bodyPr>
          <a:p>
            <a:pPr algn="ctr"/>
            <a:r>
              <a:rPr lang="en-US" altLang="zh-CN" sz="2800" b="1"/>
              <a:t>Experimental Participant 2</a:t>
            </a:r>
            <a:endParaRPr lang="en-US" altLang="zh-CN" sz="2800" b="1"/>
          </a:p>
        </p:txBody>
      </p:sp>
      <p:sp>
        <p:nvSpPr>
          <p:cNvPr id="5" name="文本框 4"/>
          <p:cNvSpPr txBox="1"/>
          <p:nvPr/>
        </p:nvSpPr>
        <p:spPr>
          <a:xfrm>
            <a:off x="450215" y="966470"/>
            <a:ext cx="8335010" cy="119888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/>
              <a:t>To evaluate the system's performance on other participants, I recruited additional participants for testing.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Due to the program issue during the experiment, only two cube sizes were tested.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275590" y="810260"/>
            <a:ext cx="85236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9 trials were used to validation 2 type of cube size. Overall validation across 18 trials for three cube sizes.</a:t>
            </a:r>
            <a:endParaRPr lang="en-US" altLang="zh-CN"/>
          </a:p>
        </p:txBody>
      </p:sp>
      <p:grpSp>
        <p:nvGrpSpPr>
          <p:cNvPr id="19" name="组合 18"/>
          <p:cNvGrpSpPr/>
          <p:nvPr/>
        </p:nvGrpSpPr>
        <p:grpSpPr>
          <a:xfrm>
            <a:off x="0" y="2799080"/>
            <a:ext cx="9144000" cy="3797300"/>
            <a:chOff x="0" y="3354"/>
            <a:chExt cx="14400" cy="5980"/>
          </a:xfrm>
        </p:grpSpPr>
        <p:pic>
          <p:nvPicPr>
            <p:cNvPr id="17" name="图片 16" descr="C:/Users/Di/Desktop/ChatGPT 图像 2026年10月19日 13_41_40.pngChatGPT 图像 2026年10月19日 13_41_40"/>
            <p:cNvPicPr>
              <a:picLocks noChangeAspect="1"/>
            </p:cNvPicPr>
            <p:nvPr/>
          </p:nvPicPr>
          <p:blipFill>
            <a:blip r:embed="rId1"/>
            <a:srcRect t="7"/>
            <a:stretch>
              <a:fillRect/>
            </a:stretch>
          </p:blipFill>
          <p:spPr>
            <a:xfrm>
              <a:off x="0" y="3354"/>
              <a:ext cx="14400" cy="5400"/>
            </a:xfrm>
            <a:prstGeom prst="rect">
              <a:avLst/>
            </a:prstGeom>
          </p:spPr>
        </p:pic>
        <p:sp>
          <p:nvSpPr>
            <p:cNvPr id="18" name="文本框 17"/>
            <p:cNvSpPr txBox="1"/>
            <p:nvPr/>
          </p:nvSpPr>
          <p:spPr>
            <a:xfrm>
              <a:off x="3600" y="8754"/>
              <a:ext cx="7200" cy="58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en-US" altLang="zh-CN"/>
                <a:t>Overall validation performance</a:t>
              </a:r>
              <a:endParaRPr lang="en-US" altLang="zh-CN"/>
            </a:p>
          </p:txBody>
        </p:sp>
      </p:grpSp>
      <p:sp>
        <p:nvSpPr>
          <p:cNvPr id="20" name="文本框 19"/>
          <p:cNvSpPr txBox="1"/>
          <p:nvPr/>
        </p:nvSpPr>
        <p:spPr>
          <a:xfrm>
            <a:off x="633730" y="1455420"/>
            <a:ext cx="4572000" cy="11703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indent="-285750">
              <a:lnSpc>
                <a:spcPct val="130000"/>
              </a:lnSpc>
              <a:buFont typeface="Wingdings" panose="05000000000000000000" charset="0"/>
              <a:buChar char="l"/>
            </a:pPr>
            <a:r>
              <a:rPr lang="en-US" altLang="zh-CN">
                <a:sym typeface="+mn-ea"/>
              </a:rPr>
              <a:t>MAE : 2.89</a:t>
            </a:r>
            <a:endParaRPr lang="en-US" altLang="zh-CN">
              <a:sym typeface="+mn-ea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l"/>
            </a:pPr>
            <a:r>
              <a:rPr lang="en-US" altLang="zh-CN">
                <a:sym typeface="+mn-ea"/>
              </a:rPr>
              <a:t>RMSE : 4.17</a:t>
            </a:r>
            <a:endParaRPr lang="en-US" altLang="zh-CN">
              <a:sym typeface="+mn-ea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l"/>
            </a:pPr>
            <a:r>
              <a:rPr lang="en-US" altLang="zh-CN">
                <a:sym typeface="+mn-ea"/>
              </a:rPr>
              <a:t>R² : 0.928</a:t>
            </a:r>
            <a:endParaRPr lang="en-US" altLang="zh-CN"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C:/Users/Di/Desktop/03_overall_phase_comparison.png03_overall_phase_comparison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1041400" y="1819275"/>
            <a:ext cx="7061200" cy="4854575"/>
          </a:xfrm>
          <a:prstGeom prst="rect">
            <a:avLst/>
          </a:prstGeom>
        </p:spPr>
      </p:pic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Offline Validation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5" name="图片 4" descr="C:/Users/Di/Desktop/05_per_grasp_window5_metrics.png05_per_grasp_window5_metrics"/>
          <p:cNvPicPr>
            <a:picLocks noChangeAspect="1"/>
          </p:cNvPicPr>
          <p:nvPr/>
        </p:nvPicPr>
        <p:blipFill>
          <a:blip r:embed="rId1"/>
          <a:srcRect b="7"/>
          <a:stretch>
            <a:fillRect/>
          </a:stretch>
        </p:blipFill>
        <p:spPr>
          <a:xfrm>
            <a:off x="0" y="3101340"/>
            <a:ext cx="9144000" cy="3048000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75590" y="929005"/>
            <a:ext cx="8523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ea typeface="SimSun" panose="02010600030101010101" pitchFamily="2" charset="-122"/>
              </a:rPr>
              <a:t>Performance </a:t>
            </a:r>
            <a:r>
              <a:rPr lang="en-US" altLang="zh-CN"/>
              <a:t>comparison </a:t>
            </a:r>
            <a:r>
              <a:rPr lang="en-US" altLang="zh-CN">
                <a:ea typeface="SimSun" panose="02010600030101010101" pitchFamily="2" charset="-122"/>
              </a:rPr>
              <a:t>across 6 real-time </a:t>
            </a:r>
            <a:r>
              <a:rPr lang="en-US" altLang="zh-CN"/>
              <a:t>e</a:t>
            </a:r>
            <a:r>
              <a:rPr lang="en-US" altLang="zh-CN"/>
              <a:t>xperiments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Real-Time Experiment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75590" y="94107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ea typeface="SimSun" panose="02010600030101010101" pitchFamily="2" charset="-122"/>
              </a:rPr>
              <a:t>Three phase comparison</a:t>
            </a:r>
            <a:endParaRPr lang="en-US" altLang="zh-CN">
              <a:ea typeface="SimSun" panose="02010600030101010101" pitchFamily="2" charset="-122"/>
            </a:endParaRPr>
          </a:p>
        </p:txBody>
      </p:sp>
      <p:pic>
        <p:nvPicPr>
          <p:cNvPr id="4" name="图片 3" descr="C:/Users/Di/Desktop/ChatGPT 图像 2026年10月19日 14_44_24.pngChatGPT 图像 2026年10月19日 14_44_2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79475" y="1828800"/>
            <a:ext cx="7315200" cy="5029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>
              <a:lumMod val="85000"/>
              <a:lumOff val="15000"/>
            </a:schemeClr>
          </a:solidFill>
          <a:tailEnd type="oval"/>
        </a:ln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>
        <a:ln w="12700">
          <a:solidFill>
            <a:schemeClr val="tx1">
              <a:lumMod val="95000"/>
              <a:lumOff val="5000"/>
            </a:schemeClr>
          </a:solidFill>
          <a:prstDash val="dash"/>
        </a:ln>
      </a:spPr>
      <a:bodyPr/>
      <a:lstStyle/>
      <a:style>
        <a:lnRef idx="0">
          <a:schemeClr val="accent1"/>
        </a:lnRef>
        <a:fillRef idx="0">
          <a:srgbClr val="FFFFFF"/>
        </a:fillRef>
        <a:effectRef idx="0">
          <a:srgbClr val="FFFFFF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2181</Words>
  <Application>WPS 演示</Application>
  <PresentationFormat>Converted Presentation</PresentationFormat>
  <Paragraphs>114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5" baseType="lpstr">
      <vt:lpstr>Arial</vt:lpstr>
      <vt:lpstr>SimSun</vt:lpstr>
      <vt:lpstr>Wingdings</vt:lpstr>
      <vt:lpstr>Arial</vt:lpstr>
      <vt:lpstr>Times New Roman</vt:lpstr>
      <vt:lpstr>Times New Roman</vt:lpstr>
      <vt:lpstr>MS PGothic</vt:lpstr>
      <vt:lpstr>Microsoft YaHei</vt:lpstr>
      <vt:lpstr>Arial Unicode MS</vt:lpstr>
      <vt:lpstr>Wingdings</vt:lpstr>
      <vt:lpstr>Office テーマ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down down down down down</cp:lastModifiedBy>
  <cp:revision>44</cp:revision>
  <dcterms:created xsi:type="dcterms:W3CDTF">2026-09-29T07:20:00Z</dcterms:created>
  <dcterms:modified xsi:type="dcterms:W3CDTF">2026-10-19T05:56:00Z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FB3ACDAA4AF54148BE5074B4117C330D_12</vt:lpwstr>
  </property>
</Properties>
</file>