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88" r:id="rId3"/>
    <p:sldId id="289" r:id="rId5"/>
    <p:sldId id="291" r:id="rId6"/>
    <p:sldId id="292" r:id="rId7"/>
    <p:sldId id="293" r:id="rId8"/>
  </p:sld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9E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presProps" Target="presProps.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tableStyles" Target="tableStyles.xml"/><Relationship Id="rId10" Type="http://schemas.openxmlformats.org/officeDocument/2006/relationships/viewProps" Target="viewProps.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p:sp>
        <p:nvSpPr>
          <p:cNvPr id="2" name="タイトル 1"/>
          <p:cNvSpPr>
            <a:spLocks noGrp="1"/>
          </p:cNvSpPr>
          <p:nvPr>
            <p:ph type="ctrTitle"/>
          </p:nvPr>
        </p:nvSpPr>
        <p:spPr>
          <a:xfrm>
            <a:off x="1143000" y="1122363"/>
            <a:ext cx="6858000" cy="2387600"/>
          </a:xfrm>
        </p:spPr>
        <p:txBody>
          <a:bodyPr anchor="b"/>
          <a:lstStyle>
            <a:lvl1pPr algn="ctr">
              <a:buNone/>
              <a:defRPr sz="4500"/>
            </a:lvl1pPr>
          </a:lstStyle>
          <a:p>
            <a:r>
              <a:t>マスター タイトルの書式設定</a:t>
            </a:r>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t>マスター サブタイトルの書式設定</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p:sp>
        <p:nvSpPr>
          <p:cNvPr id="2" name="タイトル 1"/>
          <p:cNvSpPr>
            <a:spLocks noGrp="1"/>
          </p:cNvSpPr>
          <p:nvPr>
            <p:ph type="title"/>
          </p:nvPr>
        </p:nvSpPr>
        <p:spPr/>
        <p:txBody>
          <a:bodyPr/>
          <a:lstStyle/>
          <a:p>
            <a:r>
              <a:t>マスター タイトルの書式設定</a:t>
            </a:r>
          </a:p>
        </p:txBody>
      </p:sp>
      <p:sp>
        <p:nvSpPr>
          <p:cNvPr id="3" name="コンテンツ プレースホルダー 2"/>
          <p:cNvSpPr>
            <a:spLocks noGrp="1"/>
          </p:cNvSpPr>
          <p:nvPr>
            <p:ph idx="1"/>
          </p:nvPr>
        </p:nvSpPr>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p:sp>
        <p:nvSpPr>
          <p:cNvPr id="2" name="タイトル 1"/>
          <p:cNvSpPr>
            <a:spLocks noGrp="1"/>
          </p:cNvSpPr>
          <p:nvPr>
            <p:ph type="title"/>
          </p:nvPr>
        </p:nvSpPr>
        <p:spPr>
          <a:xfrm>
            <a:off x="623888" y="1709739"/>
            <a:ext cx="7886700" cy="2852737"/>
          </a:xfrm>
        </p:spPr>
        <p:txBody>
          <a:bodyPr anchor="b"/>
          <a:lstStyle>
            <a:lvl1pPr>
              <a:buNone/>
              <a:defRPr sz="4500"/>
            </a:lvl1pPr>
          </a:lstStyle>
          <a:p>
            <a:r>
              <a:t>マスター タイトルの書式設定</a:t>
            </a:r>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buNone/>
            </a:pPr>
            <a:r>
              <a:t>マスター テキストの書式設定</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p:sp>
        <p:nvSpPr>
          <p:cNvPr id="2" name="タイトル 1"/>
          <p:cNvSpPr>
            <a:spLocks noGrp="1"/>
          </p:cNvSpPr>
          <p:nvPr>
            <p:ph type="title"/>
          </p:nvPr>
        </p:nvSpPr>
        <p:spPr/>
        <p:txBody>
          <a:bodyPr/>
          <a:lstStyle/>
          <a:p>
            <a:r>
              <a:t>マスター タイトルの書式設定</a:t>
            </a:r>
          </a:p>
        </p:txBody>
      </p:sp>
      <p:sp>
        <p:nvSpPr>
          <p:cNvPr id="3" name="コンテンツ プレースホルダー 2"/>
          <p:cNvSpPr>
            <a:spLocks noGrp="1"/>
          </p:cNvSpPr>
          <p:nvPr>
            <p:ph idx="1"/>
          </p:nvPr>
        </p:nvSpPr>
        <p:spPr>
          <a:xfrm>
            <a:off x="628650" y="1825625"/>
            <a:ext cx="3886200" cy="435133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コンテンツ プレースホルダー 3"/>
          <p:cNvSpPr>
            <a:spLocks noGrp="1"/>
          </p:cNvSpPr>
          <p:nvPr>
            <p:ph idx="2"/>
          </p:nvPr>
        </p:nvSpPr>
        <p:spPr>
          <a:xfrm>
            <a:off x="4629150" y="1825625"/>
            <a:ext cx="3886200" cy="435133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5" name="日付プレースホルダー 4"/>
          <p:cNvSpPr>
            <a:spLocks noGrp="1"/>
          </p:cNvSpPr>
          <p:nvPr>
            <p:ph type="dt" idx="10"/>
          </p:nvPr>
        </p:nvSpPr>
        <p:spPr/>
        <p:txBody>
          <a:bodyPr/>
          <a:lstStyle/>
          <a:p/>
        </p:txBody>
      </p:sp>
      <p:sp>
        <p:nvSpPr>
          <p:cNvPr id="6" name="フッター プレースホルダー 5"/>
          <p:cNvSpPr>
            <a:spLocks noGrp="1"/>
          </p:cNvSpPr>
          <p:nvPr>
            <p:ph type="ftr" idx="11"/>
          </p:nvPr>
        </p:nvSpPr>
        <p:spPr/>
        <p:txBody>
          <a:bodyPr/>
          <a:lstStyle/>
          <a:p/>
        </p:txBody>
      </p:sp>
      <p:sp>
        <p:nvSpPr>
          <p:cNvPr id="7" name="スライド番号プレースホルダー 6"/>
          <p:cNvSpPr>
            <a:spLocks noGrp="1"/>
          </p:cNvSpPr>
          <p:nvPr>
            <p:ph type="sldNum" idx="12"/>
          </p:nvPr>
        </p:nvSpPr>
        <p:spPr/>
        <p:txBody>
          <a:body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p:sp>
        <p:nvSpPr>
          <p:cNvPr id="2" name="タイトル 1"/>
          <p:cNvSpPr>
            <a:spLocks noGrp="1"/>
          </p:cNvSpPr>
          <p:nvPr>
            <p:ph type="title"/>
          </p:nvPr>
        </p:nvSpPr>
        <p:spPr>
          <a:xfrm>
            <a:off x="629841" y="365126"/>
            <a:ext cx="7886700" cy="1325563"/>
          </a:xfrm>
        </p:spPr>
        <p:txBody>
          <a:bodyPr/>
          <a:lstStyle/>
          <a:p>
            <a:r>
              <a:t>マスター タイトルの書式設定</a:t>
            </a:r>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マスター テキストの書式設定</a:t>
            </a:r>
          </a:p>
        </p:txBody>
      </p:sp>
      <p:sp>
        <p:nvSpPr>
          <p:cNvPr id="4" name="コンテンツ プレースホルダー 3"/>
          <p:cNvSpPr>
            <a:spLocks noGrp="1"/>
          </p:cNvSpPr>
          <p:nvPr>
            <p:ph idx="2"/>
          </p:nvPr>
        </p:nvSpPr>
        <p:spPr>
          <a:xfrm>
            <a:off x="629842" y="2505075"/>
            <a:ext cx="3868340" cy="368458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5" name="テキスト プレースホルダー 4"/>
          <p:cNvSpPr>
            <a:spLocks noGrp="1"/>
          </p:cNvSpPr>
          <p:nvPr>
            <p:ph type="body"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マスター テキストの書式設定</a:t>
            </a:r>
          </a:p>
        </p:txBody>
      </p:sp>
      <p:sp>
        <p:nvSpPr>
          <p:cNvPr id="6" name="コンテンツ プレースホルダー 5"/>
          <p:cNvSpPr>
            <a:spLocks noGrp="1"/>
          </p:cNvSpPr>
          <p:nvPr>
            <p:ph idx="4"/>
          </p:nvPr>
        </p:nvSpPr>
        <p:spPr>
          <a:xfrm>
            <a:off x="4629150" y="2505075"/>
            <a:ext cx="3887391" cy="368458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7" name="日付プレースホルダー 6"/>
          <p:cNvSpPr>
            <a:spLocks noGrp="1"/>
          </p:cNvSpPr>
          <p:nvPr>
            <p:ph type="dt" idx="10"/>
          </p:nvPr>
        </p:nvSpPr>
        <p:spPr/>
        <p:txBody>
          <a:bodyPr/>
          <a:lstStyle/>
          <a:p/>
        </p:txBody>
      </p:sp>
      <p:sp>
        <p:nvSpPr>
          <p:cNvPr id="8" name="フッター プレースホルダー 7"/>
          <p:cNvSpPr>
            <a:spLocks noGrp="1"/>
          </p:cNvSpPr>
          <p:nvPr>
            <p:ph type="ftr" idx="11"/>
          </p:nvPr>
        </p:nvSpPr>
        <p:spPr/>
        <p:txBody>
          <a:bodyPr/>
          <a:lstStyle/>
          <a:p/>
        </p:txBody>
      </p:sp>
      <p:sp>
        <p:nvSpPr>
          <p:cNvPr id="9" name="スライド番号プレースホルダー 8"/>
          <p:cNvSpPr>
            <a:spLocks noGrp="1"/>
          </p:cNvSpPr>
          <p:nvPr>
            <p:ph type="sldNum" idx="12"/>
          </p:nvPr>
        </p:nvSpPr>
        <p:spPr/>
        <p:txBody>
          <a:body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p:sp>
        <p:nvSpPr>
          <p:cNvPr id="2" name="タイトル 1"/>
          <p:cNvSpPr>
            <a:spLocks noGrp="1"/>
          </p:cNvSpPr>
          <p:nvPr>
            <p:ph type="title"/>
          </p:nvPr>
        </p:nvSpPr>
        <p:spPr>
          <a:xfrm>
            <a:off x="205954" y="94797"/>
            <a:ext cx="7886700" cy="488889"/>
          </a:xfrm>
        </p:spPr>
        <p:txBody>
          <a:bodyPr>
            <a:normAutofit/>
          </a:bodyPr>
          <a:lstStyle>
            <a:lvl1pPr>
              <a:buNone/>
              <a:defRPr sz="2800"/>
            </a:lvl1pPr>
          </a:lstStyle>
          <a:p>
            <a:r>
              <a:t>マスター タイトルの書式設定</a:t>
            </a:r>
          </a:p>
        </p:txBody>
      </p:sp>
      <p:sp>
        <p:nvSpPr>
          <p:cNvPr id="3" name="日付プレースホルダー 2"/>
          <p:cNvSpPr>
            <a:spLocks noGrp="1"/>
          </p:cNvSpPr>
          <p:nvPr>
            <p:ph type="dt" idx="10"/>
          </p:nvPr>
        </p:nvSpPr>
        <p:spPr/>
        <p:txBody>
          <a:bodyPr/>
          <a:lstStyle/>
          <a:p/>
        </p:txBody>
      </p:sp>
      <p:sp>
        <p:nvSpPr>
          <p:cNvPr id="4" name="フッター プレースホルダー 3"/>
          <p:cNvSpPr>
            <a:spLocks noGrp="1"/>
          </p:cNvSpPr>
          <p:nvPr>
            <p:ph type="ftr" idx="11"/>
          </p:nvPr>
        </p:nvSpPr>
        <p:spPr/>
        <p:txBody>
          <a:bodyPr/>
          <a:lstStyle/>
          <a:p/>
        </p:txBody>
      </p:sp>
      <p:sp>
        <p:nvSpPr>
          <p:cNvPr id="7" name="直線コネクタ 6"/>
          <p:cNvSpPr>
            <a:spLocks noGrp="1"/>
          </p:cNvSpPr>
          <p:nvPr/>
        </p:nv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sp>
      <p:sp>
        <p:nvSpPr>
          <p:cNvPr id="5" name="スライド番号プレースホルダー 4"/>
          <p:cNvSpPr>
            <a:spLocks noGrp="1"/>
          </p:cNvSpPr>
          <p:nvPr>
            <p:ph type="sldNum" idx="12"/>
          </p:nvPr>
        </p:nvSpPr>
        <p:spPr>
          <a:xfrm>
            <a:off x="7063954" y="6574305"/>
            <a:ext cx="2057400" cy="365125"/>
          </a:xfrm>
        </p:spPr>
        <p:txBody>
          <a:bodyPr/>
          <a:lstStyle>
            <a:lvl1pPr>
              <a:buNone/>
              <a:defRPr sz="1400">
                <a:solidFill>
                  <a:schemeClr val="accent1">
                    <a:lumMod val="75000"/>
                  </a:schemeClr>
                </a:solidFill>
              </a:defRPr>
            </a:lvl1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p:sp>
        <p:nvSpPr>
          <p:cNvPr id="2" name="日付プレースホルダー 1"/>
          <p:cNvSpPr>
            <a:spLocks noGrp="1"/>
          </p:cNvSpPr>
          <p:nvPr>
            <p:ph type="dt" idx="10"/>
          </p:nvPr>
        </p:nvSpPr>
        <p:spPr/>
        <p:txBody>
          <a:bodyPr/>
          <a:lstStyle/>
          <a:p/>
        </p:txBody>
      </p:sp>
      <p:sp>
        <p:nvSpPr>
          <p:cNvPr id="3" name="フッター プレースホルダー 2"/>
          <p:cNvSpPr>
            <a:spLocks noGrp="1"/>
          </p:cNvSpPr>
          <p:nvPr>
            <p:ph type="ftr" idx="11"/>
          </p:nvPr>
        </p:nvSpPr>
        <p:spPr/>
        <p:txBody>
          <a:bodyPr/>
          <a:lstStyle/>
          <a:p/>
        </p:txBody>
      </p:sp>
      <p:sp>
        <p:nvSpPr>
          <p:cNvPr id="4" name="スライド番号プレースホルダー 3"/>
          <p:cNvSpPr>
            <a:spLocks noGrp="1"/>
          </p:cNvSpPr>
          <p:nvPr>
            <p:ph type="sldNum" idx="12"/>
          </p:nvPr>
        </p:nvSpPr>
        <p:spPr/>
        <p:txBody>
          <a:body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p:sp>
        <p:nvSpPr>
          <p:cNvPr id="2" name="タイトル 1"/>
          <p:cNvSpPr>
            <a:spLocks noGrp="1"/>
          </p:cNvSpPr>
          <p:nvPr>
            <p:ph type="title"/>
          </p:nvPr>
        </p:nvSpPr>
        <p:spPr>
          <a:xfrm>
            <a:off x="629841" y="457200"/>
            <a:ext cx="2949178" cy="1600200"/>
          </a:xfrm>
        </p:spPr>
        <p:txBody>
          <a:bodyPr anchor="b"/>
          <a:lstStyle>
            <a:lvl1pPr>
              <a:buNone/>
              <a:defRPr sz="2400"/>
            </a:lvl1pPr>
          </a:lstStyle>
          <a:p>
            <a:r>
              <a:t>マスター タイトルの書式設定</a:t>
            </a:r>
          </a:p>
        </p:txBody>
      </p:sp>
      <p:sp>
        <p:nvSpPr>
          <p:cNvPr id="3" name="コンテンツ プレースホルダー 2"/>
          <p:cNvSpPr>
            <a:spLocks noGrp="1"/>
          </p:cNvSpPr>
          <p:nvPr>
            <p:ph idx="1"/>
          </p:nvPr>
        </p:nvSpPr>
        <p:spPr>
          <a:xfrm>
            <a:off x="3887391" y="987426"/>
            <a:ext cx="4629150" cy="4873625"/>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テキスト プレースホルダー 3"/>
          <p:cNvSpPr>
            <a:spLocks noGrp="1"/>
          </p:cNvSpPr>
          <p:nvPr>
            <p:ph type="body"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マスター テキストの書式設定</a:t>
            </a:r>
          </a:p>
        </p:txBody>
      </p:sp>
      <p:sp>
        <p:nvSpPr>
          <p:cNvPr id="5" name="日付プレースホルダー 4"/>
          <p:cNvSpPr>
            <a:spLocks noGrp="1"/>
          </p:cNvSpPr>
          <p:nvPr>
            <p:ph type="dt" idx="10"/>
          </p:nvPr>
        </p:nvSpPr>
        <p:spPr/>
        <p:txBody>
          <a:bodyPr/>
          <a:lstStyle/>
          <a:p/>
        </p:txBody>
      </p:sp>
      <p:sp>
        <p:nvSpPr>
          <p:cNvPr id="6" name="フッター プレースホルダー 5"/>
          <p:cNvSpPr>
            <a:spLocks noGrp="1"/>
          </p:cNvSpPr>
          <p:nvPr>
            <p:ph type="ftr" idx="11"/>
          </p:nvPr>
        </p:nvSpPr>
        <p:spPr/>
        <p:txBody>
          <a:bodyPr/>
          <a:lstStyle/>
          <a:p/>
        </p:txBody>
      </p:sp>
      <p:sp>
        <p:nvSpPr>
          <p:cNvPr id="7" name="スライド番号プレースホルダー 6"/>
          <p:cNvSpPr>
            <a:spLocks noGrp="1"/>
          </p:cNvSpPr>
          <p:nvPr>
            <p:ph type="sldNum" idx="12"/>
          </p:nvPr>
        </p:nvSpPr>
        <p:spPr/>
        <p:txBody>
          <a:body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p:sp>
        <p:nvSpPr>
          <p:cNvPr id="2" name="タイトル 1"/>
          <p:cNvSpPr>
            <a:spLocks noGrp="1"/>
          </p:cNvSpPr>
          <p:nvPr>
            <p:ph type="title"/>
          </p:nvPr>
        </p:nvSpPr>
        <p:spPr>
          <a:xfrm>
            <a:off x="629841" y="457200"/>
            <a:ext cx="2949178" cy="1600200"/>
          </a:xfrm>
        </p:spPr>
        <p:txBody>
          <a:bodyPr anchor="b"/>
          <a:lstStyle>
            <a:lvl1pPr>
              <a:buNone/>
              <a:defRPr sz="2400"/>
            </a:lvl1pPr>
          </a:lstStyle>
          <a:p>
            <a:r>
              <a:t>マスター タイトルの書式設定</a:t>
            </a:r>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p:txBody>
      </p:sp>
      <p:sp>
        <p:nvSpPr>
          <p:cNvPr id="4" name="テキスト プレースホルダー 3"/>
          <p:cNvSpPr>
            <a:spLocks noGrp="1"/>
          </p:cNvSpPr>
          <p:nvPr>
            <p:ph type="body"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マスター テキストの書式設定</a:t>
            </a:r>
          </a:p>
        </p:txBody>
      </p:sp>
      <p:sp>
        <p:nvSpPr>
          <p:cNvPr id="5" name="日付プレースホルダー 4"/>
          <p:cNvSpPr>
            <a:spLocks noGrp="1"/>
          </p:cNvSpPr>
          <p:nvPr>
            <p:ph type="dt" idx="10"/>
          </p:nvPr>
        </p:nvSpPr>
        <p:spPr/>
        <p:txBody>
          <a:bodyPr/>
          <a:lstStyle/>
          <a:p/>
        </p:txBody>
      </p:sp>
      <p:sp>
        <p:nvSpPr>
          <p:cNvPr id="6" name="フッター プレースホルダー 5"/>
          <p:cNvSpPr>
            <a:spLocks noGrp="1"/>
          </p:cNvSpPr>
          <p:nvPr>
            <p:ph type="ftr" idx="11"/>
          </p:nvPr>
        </p:nvSpPr>
        <p:spPr/>
        <p:txBody>
          <a:bodyPr/>
          <a:lstStyle/>
          <a:p/>
        </p:txBody>
      </p:sp>
      <p:sp>
        <p:nvSpPr>
          <p:cNvPr id="7" name="スライド番号プレースホルダー 6"/>
          <p:cNvSpPr>
            <a:spLocks noGrp="1"/>
          </p:cNvSpPr>
          <p:nvPr>
            <p:ph type="sldNum" idx="12"/>
          </p:nvPr>
        </p:nvSpPr>
        <p:spPr/>
        <p:txBody>
          <a:body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p:sp>
        <p:nvSpPr>
          <p:cNvPr id="2" name="タイトル 1"/>
          <p:cNvSpPr>
            <a:spLocks noGrp="1"/>
          </p:cNvSpPr>
          <p:nvPr>
            <p:ph type="title"/>
          </p:nvPr>
        </p:nvSpPr>
        <p:spPr/>
        <p:txBody>
          <a:bodyPr/>
          <a:lstStyle/>
          <a:p>
            <a:r>
              <a:t>マスター タイトルの書式設定</a:t>
            </a:r>
          </a:p>
        </p:txBody>
      </p:sp>
      <p:sp>
        <p:nvSpPr>
          <p:cNvPr id="3" name="縦書きテキスト プレースホルダー 2"/>
          <p:cNvSpPr>
            <a:spLocks noGrp="1"/>
          </p:cNvSpPr>
          <p:nvPr>
            <p:ph type="body" idx="1"/>
          </p:nvPr>
        </p:nvSpPr>
        <p:spPr/>
        <p:txBody>
          <a:bodyPr vert="eaVert"/>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p:sp>
        <p:nvSpPr>
          <p:cNvPr id="2" name="縦書きタイトル 1"/>
          <p:cNvSpPr>
            <a:spLocks noGrp="1"/>
          </p:cNvSpPr>
          <p:nvPr>
            <p:ph type="title"/>
          </p:nvPr>
        </p:nvSpPr>
        <p:spPr>
          <a:xfrm>
            <a:off x="6543675" y="365125"/>
            <a:ext cx="1971675" cy="5811838"/>
          </a:xfrm>
        </p:spPr>
        <p:txBody>
          <a:bodyPr vert="eaVert"/>
          <a:lstStyle/>
          <a:p>
            <a:r>
              <a:t>マスター タイトルの書式設定</a:t>
            </a:r>
          </a:p>
        </p:txBody>
      </p:sp>
      <p:sp>
        <p:nvSpPr>
          <p:cNvPr id="3" name="縦書きテキスト プレースホルダー 2"/>
          <p:cNvSpPr>
            <a:spLocks noGrp="1"/>
          </p:cNvSpPr>
          <p:nvPr>
            <p:ph type="body" idx="1"/>
          </p:nvPr>
        </p:nvSpPr>
        <p:spPr>
          <a:xfrm>
            <a:off x="628650" y="365125"/>
            <a:ext cx="5800725" cy="5811838"/>
          </a:xfrm>
        </p:spPr>
        <p:txBody>
          <a:bodyPr vert="eaVert"/>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anchor="ctr">
            <a:normAutofit/>
          </a:bodyPr>
          <a:lstStyle/>
          <a:p>
            <a:r>
              <a:t>マスター タイトルの書式設定</a:t>
            </a:r>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a:normAutofit/>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2"/>
          </p:nvPr>
        </p:nvSpPr>
        <p:spPr>
          <a:xfrm>
            <a:off x="628650" y="6356351"/>
            <a:ext cx="2057400" cy="365125"/>
          </a:xfrm>
          <a:prstGeom prst="rect">
            <a:avLst/>
          </a:prstGeom>
        </p:spPr>
        <p:txBody>
          <a:bodyPr vert="horz" lIns="91440" tIns="45720" rIns="91440" bIns="45720" anchor="ctr"/>
          <a:lstStyle>
            <a:lvl1pPr algn="l">
              <a:buNone/>
              <a:defRPr sz="900">
                <a:solidFill>
                  <a:schemeClr val="tx1">
                    <a:tint val="82000"/>
                  </a:schemeClr>
                </a:solidFill>
              </a:defRPr>
            </a:lvl1pPr>
          </a:lstStyle>
          <a:p/>
        </p:txBody>
      </p:sp>
      <p:sp>
        <p:nvSpPr>
          <p:cNvPr id="5" name="フッター プレースホルダー 4"/>
          <p:cNvSpPr>
            <a:spLocks noGrp="1"/>
          </p:cNvSpPr>
          <p:nvPr>
            <p:ph type="ftr" idx="3"/>
          </p:nvPr>
        </p:nvSpPr>
        <p:spPr>
          <a:xfrm>
            <a:off x="3028950" y="6356351"/>
            <a:ext cx="3086100" cy="365125"/>
          </a:xfrm>
          <a:prstGeom prst="rect">
            <a:avLst/>
          </a:prstGeom>
        </p:spPr>
        <p:txBody>
          <a:bodyPr vert="horz" lIns="91440" tIns="45720" rIns="91440" bIns="45720" anchor="ctr"/>
          <a:lstStyle>
            <a:lvl1pPr algn="ctr">
              <a:buNone/>
              <a:defRPr sz="900">
                <a:solidFill>
                  <a:schemeClr val="tx1">
                    <a:tint val="82000"/>
                  </a:schemeClr>
                </a:solidFill>
              </a:defRPr>
            </a:lvl1pPr>
          </a:lstStyle>
          <a:p/>
        </p:txBody>
      </p:sp>
      <p:sp>
        <p:nvSpPr>
          <p:cNvPr id="6" name="スライド番号プレースホルダー 5"/>
          <p:cNvSpPr>
            <a:spLocks noGrp="1"/>
          </p:cNvSpPr>
          <p:nvPr>
            <p:ph type="sldNum" idx="4"/>
          </p:nvPr>
        </p:nvSpPr>
        <p:spPr>
          <a:xfrm>
            <a:off x="6457950" y="6356351"/>
            <a:ext cx="2057400" cy="365125"/>
          </a:xfrm>
          <a:prstGeom prst="rect">
            <a:avLst/>
          </a:prstGeom>
        </p:spPr>
        <p:txBody>
          <a:bodyPr vert="horz" lIns="91440" tIns="45720" rIns="91440" bIns="45720" anchor="ctr"/>
          <a:lstStyle>
            <a:lvl1pPr algn="r">
              <a:buNone/>
              <a:defRPr sz="900">
                <a:solidFill>
                  <a:schemeClr val="tx1">
                    <a:tint val="82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a:lnSpc>
          <a:spcPct val="90000"/>
        </a:lnSpc>
        <a:spcBef>
          <a:spcPct val="0"/>
        </a:spcBef>
        <a:buNone/>
        <a:defRPr sz="3300" kern="1200">
          <a:solidFill>
            <a:schemeClr val="tx1"/>
          </a:solidFill>
          <a:latin typeface="+mj-lt"/>
          <a:ea typeface="+mj-lt"/>
          <a:cs typeface="+mj-lt"/>
        </a:defRPr>
      </a:lvl1pPr>
    </p:titleStyle>
    <p:bodyStyle>
      <a:lvl1pPr marL="171450" indent="-171450" algn="l" defTabSz="685800">
        <a:lnSpc>
          <a:spcPct val="90000"/>
        </a:lnSpc>
        <a:spcBef>
          <a:spcPts val="750"/>
        </a:spcBef>
        <a:buFont typeface="Arial" panose="020B0604020202020204"/>
        <a:buChar char="•"/>
        <a:defRPr sz="2100" kern="1200">
          <a:solidFill>
            <a:schemeClr val="tx1"/>
          </a:solidFill>
          <a:latin typeface="+mn-lt"/>
          <a:ea typeface="+mn-lt"/>
          <a:cs typeface="+mn-lt"/>
        </a:defRPr>
      </a:lvl1pPr>
      <a:lvl2pPr marL="514350" indent="-171450" algn="l" defTabSz="685800">
        <a:lnSpc>
          <a:spcPct val="90000"/>
        </a:lnSpc>
        <a:spcBef>
          <a:spcPts val="375"/>
        </a:spcBef>
        <a:buFont typeface="Arial" panose="020B0604020202020204"/>
        <a:buChar char="•"/>
        <a:defRPr sz="1800" kern="1200">
          <a:solidFill>
            <a:schemeClr val="tx1"/>
          </a:solidFill>
          <a:latin typeface="+mn-lt"/>
          <a:ea typeface="+mn-lt"/>
          <a:cs typeface="+mn-lt"/>
        </a:defRPr>
      </a:lvl2pPr>
      <a:lvl3pPr marL="857250" indent="-171450" algn="l" defTabSz="685800">
        <a:lnSpc>
          <a:spcPct val="90000"/>
        </a:lnSpc>
        <a:spcBef>
          <a:spcPts val="375"/>
        </a:spcBef>
        <a:buFont typeface="Arial" panose="020B0604020202020204"/>
        <a:buChar char="•"/>
        <a:defRPr sz="1500" kern="1200">
          <a:solidFill>
            <a:schemeClr val="tx1"/>
          </a:solidFill>
          <a:latin typeface="+mn-lt"/>
          <a:ea typeface="+mn-lt"/>
          <a:cs typeface="+mn-lt"/>
        </a:defRPr>
      </a:lvl3pPr>
      <a:lvl4pPr marL="12001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4pPr>
      <a:lvl5pPr marL="15430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5pPr>
      <a:lvl6pPr marL="18859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6pPr>
      <a:lvl7pPr marL="22288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7pPr>
      <a:lvl8pPr marL="25717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8pPr>
      <a:lvl9pPr marL="29146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2.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2.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en-US" altLang="zh-CN" sz="3200" b="1">
                <a:latin typeface="Times New Roman" panose="02020603050405020304"/>
                <a:ea typeface="Times New Roman" panose="02020603050405020304"/>
                <a:cs typeface="Times New Roman" panose="02020603050405020304"/>
              </a:rPr>
              <a:t>Acceleration Data Processing</a:t>
            </a:r>
            <a:endParaRPr lang="en-US" altLang="zh-CN" sz="3200" b="1">
              <a:latin typeface="Times New Roman" panose="02020603050405020304"/>
              <a:ea typeface="Times New Roman" panose="02020603050405020304"/>
              <a:cs typeface="Times New Roman" panose="02020603050405020304"/>
            </a:endParaRPr>
          </a:p>
        </p:txBody>
      </p:sp>
      <p:pic>
        <p:nvPicPr>
          <p:cNvPr id="5" name="图片 4" descr="size_4cm_three_signals_horizontal_overlay"/>
          <p:cNvPicPr>
            <a:picLocks noChangeAspect="1"/>
          </p:cNvPicPr>
          <p:nvPr/>
        </p:nvPicPr>
        <p:blipFill>
          <a:blip r:embed="rId1"/>
          <a:srcRect l="67278"/>
          <a:stretch>
            <a:fillRect/>
          </a:stretch>
        </p:blipFill>
        <p:spPr>
          <a:xfrm>
            <a:off x="275590" y="1044575"/>
            <a:ext cx="3540125" cy="2524760"/>
          </a:xfrm>
          <a:prstGeom prst="rect">
            <a:avLst/>
          </a:prstGeom>
        </p:spPr>
      </p:pic>
      <p:sp>
        <p:nvSpPr>
          <p:cNvPr id="2" name="任意多边形 1"/>
          <p:cNvSpPr/>
          <p:nvPr/>
        </p:nvSpPr>
        <p:spPr>
          <a:xfrm flipV="1">
            <a:off x="3620770" y="1657350"/>
            <a:ext cx="1205230" cy="76200"/>
          </a:xfrm>
          <a:custGeom>
            <a:avLst/>
            <a:gdLst>
              <a:gd name="connisteX0" fmla="*/ 0 w 1684655"/>
              <a:gd name="connsiteY0" fmla="*/ 0 h 0"/>
              <a:gd name="connisteX1" fmla="*/ 1684655 w 1684655"/>
              <a:gd name="connsiteY1" fmla="*/ 0 h 0"/>
            </a:gdLst>
            <a:ahLst/>
            <a:cxnLst>
              <a:cxn ang="0">
                <a:pos x="connisteX0" y="connsiteY0"/>
              </a:cxn>
              <a:cxn ang="0">
                <a:pos x="connisteX1" y="connsiteY1"/>
              </a:cxn>
            </a:cxnLst>
            <a:rect l="l" t="t" r="r" b="b"/>
            <a:pathLst>
              <a:path w="1684655">
                <a:moveTo>
                  <a:pt x="0" y="0"/>
                </a:moveTo>
                <a:lnTo>
                  <a:pt x="1684655" y="0"/>
                </a:lnTo>
              </a:path>
            </a:pathLst>
          </a:custGeom>
          <a:noFill/>
          <a:ln>
            <a:solidFill>
              <a:schemeClr val="tx1">
                <a:lumMod val="85000"/>
                <a:lumOff val="15000"/>
              </a:schemeClr>
            </a:solidFill>
            <a:tailEnd type="ova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文本框 2"/>
          <p:cNvSpPr txBox="1"/>
          <p:nvPr/>
        </p:nvSpPr>
        <p:spPr>
          <a:xfrm>
            <a:off x="4933315" y="1383665"/>
            <a:ext cx="4043045" cy="922020"/>
          </a:xfrm>
          <a:prstGeom prst="rect">
            <a:avLst/>
          </a:prstGeom>
          <a:noFill/>
        </p:spPr>
        <p:txBody>
          <a:bodyPr wrap="square" rtlCol="0">
            <a:spAutoFit/>
          </a:bodyPr>
          <a:p>
            <a:r>
              <a:rPr lang="en-US" altLang="zh-CN">
                <a:ea typeface="SimSun" panose="02010600030101010101" pitchFamily="2" charset="-122"/>
              </a:rPr>
              <a:t>The acceleration from before, did not return to zero at the end, which didn’t make sense.</a:t>
            </a:r>
            <a:endParaRPr lang="en-US" altLang="zh-CN">
              <a:ea typeface="SimSun" panose="02010600030101010101" pitchFamily="2" charset="-122"/>
            </a:endParaRPr>
          </a:p>
        </p:txBody>
      </p:sp>
      <p:sp>
        <p:nvSpPr>
          <p:cNvPr id="8" name="文本框 7"/>
          <p:cNvSpPr txBox="1"/>
          <p:nvPr/>
        </p:nvSpPr>
        <p:spPr>
          <a:xfrm>
            <a:off x="275590" y="3730625"/>
            <a:ext cx="8522970" cy="2306955"/>
          </a:xfrm>
          <a:prstGeom prst="rect">
            <a:avLst/>
          </a:prstGeom>
          <a:noFill/>
        </p:spPr>
        <p:txBody>
          <a:bodyPr wrap="square" rtlCol="0">
            <a:spAutoFit/>
          </a:bodyPr>
          <a:p>
            <a:r>
              <a:rPr lang="en-US" altLang="zh-CN">
                <a:ea typeface="SimSun" panose="02010600030101010101" pitchFamily="2" charset="-122"/>
              </a:rPr>
              <a:t>Analysis of the cause: </a:t>
            </a:r>
            <a:endParaRPr lang="en-US" altLang="zh-CN">
              <a:ea typeface="SimSun" panose="02010600030101010101" pitchFamily="2" charset="-122"/>
            </a:endParaRPr>
          </a:p>
          <a:p>
            <a:endParaRPr lang="en-US" altLang="zh-CN">
              <a:ea typeface="SimSun" panose="02010600030101010101" pitchFamily="2" charset="-122"/>
            </a:endParaRPr>
          </a:p>
          <a:p>
            <a:r>
              <a:rPr lang="en-US" altLang="zh-CN">
                <a:ea typeface="SimSun" panose="02010600030101010101" pitchFamily="2" charset="-122"/>
              </a:rPr>
              <a:t>Previously, gravity compensation for the IMU was based only on the gravitational components measured along the three axes while the device was stationary.</a:t>
            </a:r>
            <a:br>
              <a:rPr lang="en-US" altLang="zh-CN">
                <a:ea typeface="SimSun" panose="02010600030101010101" pitchFamily="2" charset="-122"/>
              </a:rPr>
            </a:br>
            <a:endParaRPr lang="en-US" altLang="zh-CN">
              <a:ea typeface="SimSun" panose="02010600030101010101" pitchFamily="2" charset="-122"/>
            </a:endParaRPr>
          </a:p>
          <a:p>
            <a:r>
              <a:rPr lang="en-US" altLang="zh-CN">
                <a:ea typeface="SimSun" panose="02010600030101010101" pitchFamily="2" charset="-122"/>
              </a:rPr>
              <a:t>However, during grasping, the hand rotates slightly as it moves forward toward the object. This changes the gravitational components along the three axes, resulting in nonzero readings even when the hand stops moving.</a:t>
            </a:r>
            <a:endParaRPr lang="en-US" altLang="zh-CN">
              <a:ea typeface="SimSun" panose="02010600030101010101"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en-US" altLang="zh-CN" sz="3200" b="1">
                <a:latin typeface="Times New Roman" panose="02020603050405020304"/>
                <a:ea typeface="Times New Roman" panose="02020603050405020304"/>
                <a:cs typeface="Times New Roman" panose="02020603050405020304"/>
              </a:rPr>
              <a:t>Acceleration Data Processing</a:t>
            </a:r>
            <a:endParaRPr lang="en-US" altLang="zh-CN" sz="3200" b="1">
              <a:latin typeface="Times New Roman" panose="02020603050405020304"/>
              <a:ea typeface="Times New Roman" panose="02020603050405020304"/>
              <a:cs typeface="Times New Roman" panose="02020603050405020304"/>
            </a:endParaRPr>
          </a:p>
        </p:txBody>
      </p:sp>
      <p:pic>
        <p:nvPicPr>
          <p:cNvPr id="9" name="图片 8" descr="3.5cm_smooth_combined_acceleration_overlay"/>
          <p:cNvPicPr>
            <a:picLocks noChangeAspect="1"/>
          </p:cNvPicPr>
          <p:nvPr/>
        </p:nvPicPr>
        <p:blipFill>
          <a:blip r:embed="rId1"/>
          <a:srcRect t="49139" r="50632"/>
          <a:stretch>
            <a:fillRect/>
          </a:stretch>
        </p:blipFill>
        <p:spPr>
          <a:xfrm>
            <a:off x="217805" y="810260"/>
            <a:ext cx="4161155" cy="2143760"/>
          </a:xfrm>
          <a:prstGeom prst="rect">
            <a:avLst/>
          </a:prstGeom>
        </p:spPr>
      </p:pic>
      <p:sp>
        <p:nvSpPr>
          <p:cNvPr id="10" name="文本框 9"/>
          <p:cNvSpPr txBox="1"/>
          <p:nvPr/>
        </p:nvSpPr>
        <p:spPr>
          <a:xfrm>
            <a:off x="4572000" y="929005"/>
            <a:ext cx="4225925" cy="922020"/>
          </a:xfrm>
          <a:prstGeom prst="rect">
            <a:avLst/>
          </a:prstGeom>
          <a:noFill/>
        </p:spPr>
        <p:txBody>
          <a:bodyPr wrap="square" rtlCol="0">
            <a:spAutoFit/>
          </a:bodyPr>
          <a:p>
            <a:r>
              <a:rPr lang="en-US" altLang="zh-CN"/>
              <a:t>Then, I use the orientation angles to calculate the gravitational components along all three axes at each sampling point.</a:t>
            </a:r>
            <a:endParaRPr lang="en-US" altLang="zh-CN"/>
          </a:p>
        </p:txBody>
      </p:sp>
      <p:sp>
        <p:nvSpPr>
          <p:cNvPr id="11" name="文本框 10"/>
          <p:cNvSpPr txBox="1"/>
          <p:nvPr/>
        </p:nvSpPr>
        <p:spPr>
          <a:xfrm>
            <a:off x="4613275" y="2045970"/>
            <a:ext cx="4184650" cy="645160"/>
          </a:xfrm>
          <a:prstGeom prst="rect">
            <a:avLst/>
          </a:prstGeom>
          <a:noFill/>
        </p:spPr>
        <p:txBody>
          <a:bodyPr wrap="square" rtlCol="0">
            <a:spAutoFit/>
          </a:bodyPr>
          <a:p>
            <a:r>
              <a:rPr lang="en-US" altLang="zh-CN">
                <a:sym typeface="+mn-ea"/>
              </a:rPr>
              <a:t>Then</a:t>
            </a:r>
            <a:r>
              <a:rPr lang="en-US" altLang="zh-CN"/>
              <a:t>, at the final position, the acceleration returns to its initial resting value.</a:t>
            </a:r>
            <a:endParaRPr lang="en-US" altLang="zh-CN"/>
          </a:p>
        </p:txBody>
      </p:sp>
      <p:sp>
        <p:nvSpPr>
          <p:cNvPr id="12" name="下箭头 11"/>
          <p:cNvSpPr/>
          <p:nvPr/>
        </p:nvSpPr>
        <p:spPr>
          <a:xfrm>
            <a:off x="4124960" y="2952750"/>
            <a:ext cx="824230" cy="922020"/>
          </a:xfrm>
          <a:prstGeom prst="downArrow">
            <a:avLst/>
          </a:prstGeom>
          <a:solidFill>
            <a:srgbClr val="F59E0B"/>
          </a:solidFill>
          <a:ln>
            <a:noFill/>
            <a:tailEnd type="ova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4" name="文本框 13"/>
          <p:cNvSpPr txBox="1"/>
          <p:nvPr/>
        </p:nvSpPr>
        <p:spPr>
          <a:xfrm>
            <a:off x="3121025" y="3901440"/>
            <a:ext cx="4090035" cy="368300"/>
          </a:xfrm>
          <a:prstGeom prst="rect">
            <a:avLst/>
          </a:prstGeom>
          <a:noFill/>
        </p:spPr>
        <p:txBody>
          <a:bodyPr wrap="square" rtlCol="0">
            <a:spAutoFit/>
          </a:bodyPr>
          <a:p>
            <a:r>
              <a:rPr lang="en-US" altLang="zh-CN">
                <a:ea typeface="SimSun" panose="02010600030101010101" pitchFamily="2" charset="-122"/>
              </a:rPr>
              <a:t>But, the results have gotten worse</a:t>
            </a:r>
            <a:endParaRPr lang="en-US" altLang="zh-CN">
              <a:ea typeface="SimSun" panose="02010600030101010101" pitchFamily="2" charset="-122"/>
            </a:endParaRPr>
          </a:p>
        </p:txBody>
      </p:sp>
      <p:pic>
        <p:nvPicPr>
          <p:cNvPr id="15" name="图片 14" descr="TRIAL_Size_2.5cm_20261014_093710"/>
          <p:cNvPicPr>
            <a:picLocks noChangeAspect="1"/>
          </p:cNvPicPr>
          <p:nvPr/>
        </p:nvPicPr>
        <p:blipFill>
          <a:blip r:embed="rId2"/>
          <a:stretch>
            <a:fillRect/>
          </a:stretch>
        </p:blipFill>
        <p:spPr>
          <a:xfrm>
            <a:off x="4010660" y="4295775"/>
            <a:ext cx="5046980" cy="2163445"/>
          </a:xfrm>
          <a:prstGeom prst="rect">
            <a:avLst/>
          </a:prstGeom>
        </p:spPr>
      </p:pic>
      <p:pic>
        <p:nvPicPr>
          <p:cNvPr id="17" name="图片 16" descr="overall_model_comparison"/>
          <p:cNvPicPr>
            <a:picLocks noChangeAspect="1"/>
          </p:cNvPicPr>
          <p:nvPr/>
        </p:nvPicPr>
        <p:blipFill>
          <a:blip r:embed="rId3"/>
          <a:stretch>
            <a:fillRect/>
          </a:stretch>
        </p:blipFill>
        <p:spPr>
          <a:xfrm>
            <a:off x="0" y="4257675"/>
            <a:ext cx="3898900" cy="2274570"/>
          </a:xfrm>
          <a:prstGeom prst="rect">
            <a:avLst/>
          </a:prstGeom>
        </p:spPr>
      </p:pic>
      <p:sp>
        <p:nvSpPr>
          <p:cNvPr id="18" name="文本框 17"/>
          <p:cNvSpPr txBox="1"/>
          <p:nvPr/>
        </p:nvSpPr>
        <p:spPr>
          <a:xfrm>
            <a:off x="0" y="6459220"/>
            <a:ext cx="4021455" cy="275590"/>
          </a:xfrm>
          <a:prstGeom prst="rect">
            <a:avLst/>
          </a:prstGeom>
        </p:spPr>
        <p:txBody>
          <a:bodyPr wrap="square">
            <a:spAutoFit/>
          </a:bodyPr>
          <a:p>
            <a:pPr algn="ctr"/>
            <a:r>
              <a:rPr lang="en-US" altLang="zh-CN" sz="1200"/>
              <a:t>Overall Generalization Performance Comparison</a:t>
            </a:r>
            <a:endParaRPr lang="en-US" altLang="zh-CN" sz="1200"/>
          </a:p>
        </p:txBody>
      </p:sp>
      <p:sp>
        <p:nvSpPr>
          <p:cNvPr id="19" name="文本框 18"/>
          <p:cNvSpPr txBox="1"/>
          <p:nvPr/>
        </p:nvSpPr>
        <p:spPr>
          <a:xfrm>
            <a:off x="5014595" y="6459220"/>
            <a:ext cx="3340735" cy="275590"/>
          </a:xfrm>
          <a:prstGeom prst="rect">
            <a:avLst/>
          </a:prstGeom>
        </p:spPr>
        <p:txBody>
          <a:bodyPr wrap="square">
            <a:spAutoFit/>
          </a:bodyPr>
          <a:p>
            <a:r>
              <a:rPr lang="en-US" altLang="zh-CN" sz="1200"/>
              <a:t>Generalization Prediction Example: 25 mm Object</a:t>
            </a:r>
            <a:endParaRPr lang="en-US" altLang="zh-CN" sz="120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en-US" altLang="zh-CN" sz="3200" b="1">
                <a:latin typeface="Times New Roman" panose="02020603050405020304"/>
                <a:ea typeface="Times New Roman" panose="02020603050405020304"/>
                <a:cs typeface="Times New Roman" panose="02020603050405020304"/>
              </a:rPr>
              <a:t>Acceleration Data Processing</a:t>
            </a:r>
            <a:endParaRPr lang="en-US" altLang="zh-CN" sz="3200" b="1">
              <a:latin typeface="Times New Roman" panose="02020603050405020304"/>
              <a:ea typeface="Times New Roman" panose="02020603050405020304"/>
              <a:cs typeface="Times New Roman" panose="02020603050405020304"/>
            </a:endParaRPr>
          </a:p>
        </p:txBody>
      </p:sp>
      <p:pic>
        <p:nvPicPr>
          <p:cNvPr id="2" name="图片 1" descr="TRIAL_Size_4.5cm_20261013_105718"/>
          <p:cNvPicPr>
            <a:picLocks noChangeAspect="1"/>
          </p:cNvPicPr>
          <p:nvPr/>
        </p:nvPicPr>
        <p:blipFill>
          <a:blip r:embed="rId1"/>
          <a:stretch>
            <a:fillRect/>
          </a:stretch>
        </p:blipFill>
        <p:spPr>
          <a:xfrm>
            <a:off x="0" y="997585"/>
            <a:ext cx="5639435" cy="2416810"/>
          </a:xfrm>
          <a:prstGeom prst="rect">
            <a:avLst/>
          </a:prstGeom>
        </p:spPr>
      </p:pic>
      <p:pic>
        <p:nvPicPr>
          <p:cNvPr id="4" name="图片 3" descr="TRIAL_Size_3.5cm_20261013_131353"/>
          <p:cNvPicPr>
            <a:picLocks noChangeAspect="1"/>
          </p:cNvPicPr>
          <p:nvPr/>
        </p:nvPicPr>
        <p:blipFill>
          <a:blip r:embed="rId2"/>
          <a:stretch>
            <a:fillRect/>
          </a:stretch>
        </p:blipFill>
        <p:spPr>
          <a:xfrm>
            <a:off x="0" y="3514090"/>
            <a:ext cx="5639435" cy="2417445"/>
          </a:xfrm>
          <a:prstGeom prst="rect">
            <a:avLst/>
          </a:prstGeom>
        </p:spPr>
      </p:pic>
      <p:sp>
        <p:nvSpPr>
          <p:cNvPr id="7" name="任意多边形 6"/>
          <p:cNvSpPr/>
          <p:nvPr/>
        </p:nvSpPr>
        <p:spPr>
          <a:xfrm>
            <a:off x="3630930" y="1584960"/>
            <a:ext cx="2229485" cy="85090"/>
          </a:xfrm>
          <a:custGeom>
            <a:avLst/>
            <a:gdLst>
              <a:gd name="connisteX0" fmla="*/ 0 w 2690495"/>
              <a:gd name="connsiteY0" fmla="*/ 0 h 0"/>
              <a:gd name="connisteX1" fmla="*/ 2690495 w 2690495"/>
              <a:gd name="connsiteY1" fmla="*/ 0 h 0"/>
            </a:gdLst>
            <a:ahLst/>
            <a:cxnLst>
              <a:cxn ang="0">
                <a:pos x="connisteX0" y="connsiteY0"/>
              </a:cxn>
              <a:cxn ang="0">
                <a:pos x="connisteX1" y="connsiteY1"/>
              </a:cxn>
            </a:cxnLst>
            <a:rect l="l" t="t" r="r" b="b"/>
            <a:pathLst>
              <a:path w="2690495">
                <a:moveTo>
                  <a:pt x="0" y="0"/>
                </a:moveTo>
                <a:lnTo>
                  <a:pt x="2690495" y="0"/>
                </a:lnTo>
              </a:path>
            </a:pathLst>
          </a:custGeom>
          <a:noFill/>
          <a:ln>
            <a:solidFill>
              <a:schemeClr val="tx1">
                <a:lumMod val="85000"/>
                <a:lumOff val="15000"/>
              </a:schemeClr>
            </a:solidFill>
            <a:tailEnd type="ova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 name="任意多边形 7"/>
          <p:cNvSpPr/>
          <p:nvPr/>
        </p:nvSpPr>
        <p:spPr>
          <a:xfrm>
            <a:off x="3630930" y="4131310"/>
            <a:ext cx="2229485" cy="85090"/>
          </a:xfrm>
          <a:custGeom>
            <a:avLst/>
            <a:gdLst>
              <a:gd name="connisteX0" fmla="*/ 0 w 2690495"/>
              <a:gd name="connsiteY0" fmla="*/ 0 h 0"/>
              <a:gd name="connisteX1" fmla="*/ 2690495 w 2690495"/>
              <a:gd name="connsiteY1" fmla="*/ 0 h 0"/>
            </a:gdLst>
            <a:ahLst/>
            <a:cxnLst>
              <a:cxn ang="0">
                <a:pos x="connisteX0" y="connsiteY0"/>
              </a:cxn>
              <a:cxn ang="0">
                <a:pos x="connisteX1" y="connsiteY1"/>
              </a:cxn>
            </a:cxnLst>
            <a:rect l="l" t="t" r="r" b="b"/>
            <a:pathLst>
              <a:path w="2690495">
                <a:moveTo>
                  <a:pt x="0" y="0"/>
                </a:moveTo>
                <a:lnTo>
                  <a:pt x="2690495" y="0"/>
                </a:lnTo>
              </a:path>
            </a:pathLst>
          </a:custGeom>
          <a:noFill/>
          <a:ln>
            <a:solidFill>
              <a:schemeClr val="tx1">
                <a:lumMod val="85000"/>
                <a:lumOff val="15000"/>
              </a:schemeClr>
            </a:solidFill>
            <a:tailEnd type="ova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3" name="文本框 12"/>
          <p:cNvSpPr txBox="1"/>
          <p:nvPr/>
        </p:nvSpPr>
        <p:spPr>
          <a:xfrm>
            <a:off x="5959475" y="1166495"/>
            <a:ext cx="3048000" cy="5354320"/>
          </a:xfrm>
          <a:prstGeom prst="rect">
            <a:avLst/>
          </a:prstGeom>
          <a:noFill/>
        </p:spPr>
        <p:txBody>
          <a:bodyPr wrap="square" rtlCol="0">
            <a:spAutoFit/>
          </a:bodyPr>
          <a:p>
            <a:r>
              <a:rPr lang="en-US" altLang="zh-CN"/>
              <a:t>Analysis of the cause:</a:t>
            </a:r>
            <a:endParaRPr lang="en-US" altLang="zh-CN"/>
          </a:p>
          <a:p>
            <a:br>
              <a:rPr lang="zh-CN" altLang="en-US"/>
            </a:br>
            <a:r>
              <a:rPr lang="en-US" altLang="zh-CN"/>
              <a:t>Most predictions show multiple peaks,</a:t>
            </a:r>
            <a:endParaRPr lang="en-US" altLang="zh-CN"/>
          </a:p>
          <a:p>
            <a:r>
              <a:rPr lang="en-US" altLang="zh-CN"/>
              <a:t>during the opening and closing phases.</a:t>
            </a:r>
            <a:br>
              <a:rPr lang="zh-CN" altLang="en-US"/>
            </a:br>
            <a:endParaRPr lang="zh-CN" altLang="en-US"/>
          </a:p>
          <a:p>
            <a:endParaRPr lang="zh-CN" altLang="en-US"/>
          </a:p>
          <a:p>
            <a:r>
              <a:rPr lang="en-US" altLang="zh-CN"/>
              <a:t>The current acceleration pattern has two peaks: one during acceleration and one during deceleration. However, the MLP’s 15-frame temporal window only takes the values from the preceding 14 frames as input. I suspect that these successive acceleration peaks may be causing this prediction pattern.</a:t>
            </a:r>
            <a:endParaRPr lang="en-US" altLang="zh-CN"/>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en-US" altLang="zh-CN" sz="3200" b="1">
                <a:latin typeface="Times New Roman" panose="02020603050405020304"/>
                <a:ea typeface="Times New Roman" panose="02020603050405020304"/>
                <a:cs typeface="Times New Roman" panose="02020603050405020304"/>
              </a:rPr>
              <a:t>Acceleration Data Processing</a:t>
            </a:r>
            <a:endParaRPr lang="en-US" altLang="zh-CN" sz="3200" b="1">
              <a:latin typeface="Times New Roman" panose="02020603050405020304"/>
              <a:ea typeface="Times New Roman" panose="02020603050405020304"/>
              <a:cs typeface="Times New Roman" panose="02020603050405020304"/>
            </a:endParaRPr>
          </a:p>
        </p:txBody>
      </p:sp>
      <p:pic>
        <p:nvPicPr>
          <p:cNvPr id="3" name="图片 2" descr="overlay"/>
          <p:cNvPicPr>
            <a:picLocks noChangeAspect="1"/>
          </p:cNvPicPr>
          <p:nvPr/>
        </p:nvPicPr>
        <p:blipFill>
          <a:blip r:embed="rId1"/>
          <a:srcRect t="50007" r="50000"/>
          <a:stretch>
            <a:fillRect/>
          </a:stretch>
        </p:blipFill>
        <p:spPr>
          <a:xfrm>
            <a:off x="275590" y="1160780"/>
            <a:ext cx="4572000" cy="2268220"/>
          </a:xfrm>
          <a:prstGeom prst="rect">
            <a:avLst/>
          </a:prstGeom>
        </p:spPr>
      </p:pic>
      <p:sp>
        <p:nvSpPr>
          <p:cNvPr id="9" name="文本框 8"/>
          <p:cNvSpPr txBox="1"/>
          <p:nvPr/>
        </p:nvSpPr>
        <p:spPr>
          <a:xfrm>
            <a:off x="5175885" y="946785"/>
            <a:ext cx="3786505" cy="2061210"/>
          </a:xfrm>
          <a:prstGeom prst="rect">
            <a:avLst/>
          </a:prstGeom>
          <a:noFill/>
        </p:spPr>
        <p:txBody>
          <a:bodyPr wrap="square" rtlCol="0">
            <a:spAutoFit/>
          </a:bodyPr>
          <a:p>
            <a:r>
              <a:rPr lang="en-US" altLang="zh-CN" sz="1600">
                <a:ea typeface="SimSun" panose="02010600030101010101" pitchFamily="2" charset="-122"/>
              </a:rPr>
              <a:t>Proposed solution: Add directional information to the acceleration to distinguish acceleration from deceleration.</a:t>
            </a:r>
            <a:endParaRPr lang="en-US" altLang="zh-CN" sz="1600">
              <a:ea typeface="SimSun" panose="02010600030101010101" pitchFamily="2" charset="-122"/>
            </a:endParaRPr>
          </a:p>
          <a:p>
            <a:endParaRPr lang="en-US" altLang="zh-CN" sz="1600">
              <a:ea typeface="SimSun" panose="02010600030101010101" pitchFamily="2" charset="-122"/>
            </a:endParaRPr>
          </a:p>
          <a:p>
            <a:r>
              <a:rPr lang="en-US" altLang="zh-CN" sz="1600">
                <a:ea typeface="SimSun" panose="02010600030101010101" pitchFamily="2" charset="-122"/>
              </a:rPr>
              <a:t>Implementation: Similar to the IMU calibration during the initial phase, record one hand movement toward the object </a:t>
            </a:r>
            <a:r>
              <a:rPr lang="en-US" altLang="zh-CN" sz="1600">
                <a:ea typeface="SimSun" panose="02010600030101010101" pitchFamily="2" charset="-122"/>
                <a:sym typeface="+mn-ea"/>
              </a:rPr>
              <a:t>during the initial phase</a:t>
            </a:r>
            <a:r>
              <a:rPr lang="en-US" altLang="zh-CN" sz="1600">
                <a:ea typeface="SimSun" panose="02010600030101010101" pitchFamily="2" charset="-122"/>
              </a:rPr>
              <a:t>.</a:t>
            </a:r>
            <a:endParaRPr lang="en-US" altLang="zh-CN" sz="1600">
              <a:ea typeface="SimSun" panose="02010600030101010101" pitchFamily="2" charset="-122"/>
            </a:endParaRPr>
          </a:p>
        </p:txBody>
      </p:sp>
      <p:sp>
        <p:nvSpPr>
          <p:cNvPr id="12" name="下箭头 11"/>
          <p:cNvSpPr/>
          <p:nvPr/>
        </p:nvSpPr>
        <p:spPr>
          <a:xfrm>
            <a:off x="4284345" y="3401060"/>
            <a:ext cx="824230" cy="584200"/>
          </a:xfrm>
          <a:prstGeom prst="downArrow">
            <a:avLst/>
          </a:prstGeom>
          <a:solidFill>
            <a:srgbClr val="F59E0B"/>
          </a:solidFill>
          <a:ln>
            <a:noFill/>
            <a:tailEnd type="ova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10" name="图片 9" descr="generalization_model_comparison"/>
          <p:cNvPicPr>
            <a:picLocks noChangeAspect="1"/>
          </p:cNvPicPr>
          <p:nvPr/>
        </p:nvPicPr>
        <p:blipFill>
          <a:blip r:embed="rId2"/>
          <a:stretch>
            <a:fillRect/>
          </a:stretch>
        </p:blipFill>
        <p:spPr>
          <a:xfrm>
            <a:off x="149225" y="4236085"/>
            <a:ext cx="4009390" cy="2339340"/>
          </a:xfrm>
          <a:prstGeom prst="rect">
            <a:avLst/>
          </a:prstGeom>
        </p:spPr>
      </p:pic>
      <p:sp>
        <p:nvSpPr>
          <p:cNvPr id="18" name="文本框 17"/>
          <p:cNvSpPr txBox="1"/>
          <p:nvPr/>
        </p:nvSpPr>
        <p:spPr>
          <a:xfrm>
            <a:off x="121920" y="6476365"/>
            <a:ext cx="4017010" cy="275590"/>
          </a:xfrm>
          <a:prstGeom prst="rect">
            <a:avLst/>
          </a:prstGeom>
        </p:spPr>
        <p:txBody>
          <a:bodyPr wrap="square">
            <a:spAutoFit/>
          </a:bodyPr>
          <a:p>
            <a:pPr algn="ctr"/>
            <a:r>
              <a:rPr lang="en-US" altLang="zh-CN" sz="1200"/>
              <a:t>Overall Generalization Performance Comparison</a:t>
            </a:r>
            <a:endParaRPr lang="en-US" altLang="zh-CN" sz="1200"/>
          </a:p>
        </p:txBody>
      </p:sp>
      <p:sp>
        <p:nvSpPr>
          <p:cNvPr id="19" name="文本框 18"/>
          <p:cNvSpPr txBox="1"/>
          <p:nvPr/>
        </p:nvSpPr>
        <p:spPr>
          <a:xfrm>
            <a:off x="4639310" y="6540500"/>
            <a:ext cx="3869055" cy="275590"/>
          </a:xfrm>
          <a:prstGeom prst="rect">
            <a:avLst/>
          </a:prstGeom>
        </p:spPr>
        <p:txBody>
          <a:bodyPr wrap="square">
            <a:spAutoFit/>
          </a:bodyPr>
          <a:p>
            <a:pPr algn="ctr"/>
            <a:r>
              <a:rPr lang="en-US" altLang="zh-CN" sz="1200">
                <a:sym typeface="+mn-ea"/>
              </a:rPr>
              <a:t>Overall Training Sample Test Performance Comparison</a:t>
            </a:r>
            <a:endParaRPr lang="en-US" altLang="zh-CN" sz="1200"/>
          </a:p>
        </p:txBody>
      </p:sp>
      <p:sp>
        <p:nvSpPr>
          <p:cNvPr id="14" name="任意多边形 13"/>
          <p:cNvSpPr/>
          <p:nvPr/>
        </p:nvSpPr>
        <p:spPr>
          <a:xfrm>
            <a:off x="3088005" y="1666240"/>
            <a:ext cx="2020570" cy="0"/>
          </a:xfrm>
          <a:custGeom>
            <a:avLst/>
            <a:gdLst>
              <a:gd name="connisteX0" fmla="*/ 0 w 2020570"/>
              <a:gd name="connsiteY0" fmla="*/ 0 h 0"/>
              <a:gd name="connisteX1" fmla="*/ 2020570 w 2020570"/>
              <a:gd name="connsiteY1" fmla="*/ 0 h 0"/>
            </a:gdLst>
            <a:ahLst/>
            <a:cxnLst>
              <a:cxn ang="0">
                <a:pos x="connisteX0" y="connsiteY0"/>
              </a:cxn>
              <a:cxn ang="0">
                <a:pos x="connisteX1" y="connsiteY1"/>
              </a:cxn>
            </a:cxnLst>
            <a:rect l="l" t="t" r="r" b="b"/>
            <a:pathLst>
              <a:path w="2020570">
                <a:moveTo>
                  <a:pt x="0" y="0"/>
                </a:moveTo>
                <a:lnTo>
                  <a:pt x="2020570" y="0"/>
                </a:lnTo>
              </a:path>
            </a:pathLst>
          </a:custGeom>
          <a:noFill/>
          <a:ln>
            <a:solidFill>
              <a:schemeClr val="tx1">
                <a:lumMod val="85000"/>
                <a:lumOff val="15000"/>
              </a:schemeClr>
            </a:solidFill>
            <a:tailEnd type="ova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文本框 14"/>
          <p:cNvSpPr txBox="1"/>
          <p:nvPr/>
        </p:nvSpPr>
        <p:spPr>
          <a:xfrm>
            <a:off x="2296160" y="3943668"/>
            <a:ext cx="5080000" cy="337185"/>
          </a:xfrm>
          <a:prstGeom prst="rect">
            <a:avLst/>
          </a:prstGeom>
        </p:spPr>
        <p:txBody>
          <a:bodyPr>
            <a:spAutoFit/>
          </a:bodyPr>
          <a:p>
            <a:pPr algn="ctr"/>
            <a:r>
              <a:rPr lang="en-US" altLang="zh-CN" sz="1600"/>
              <a:t>The results improved, The predictions became more stable.</a:t>
            </a:r>
            <a:endParaRPr lang="en-US" altLang="zh-CN" sz="1600"/>
          </a:p>
        </p:txBody>
      </p:sp>
      <p:pic>
        <p:nvPicPr>
          <p:cNvPr id="16" name="图片 15" descr="test_model_comparison"/>
          <p:cNvPicPr>
            <a:picLocks noChangeAspect="1"/>
          </p:cNvPicPr>
          <p:nvPr/>
        </p:nvPicPr>
        <p:blipFill>
          <a:blip r:embed="rId3"/>
          <a:stretch>
            <a:fillRect/>
          </a:stretch>
        </p:blipFill>
        <p:spPr>
          <a:xfrm>
            <a:off x="4638675" y="4281170"/>
            <a:ext cx="3869690" cy="2257425"/>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1076325"/>
          </a:xfrm>
          <a:prstGeom prst="rect">
            <a:avLst/>
          </a:prstGeom>
          <a:noFill/>
        </p:spPr>
        <p:txBody>
          <a:bodyPr wrap="square">
            <a:spAutoFit/>
          </a:bodyPr>
          <a:lstStyle/>
          <a:p>
            <a:r>
              <a:rPr lang="en-US" altLang="zh-CN" sz="3200" b="1">
                <a:latin typeface="Times New Roman" panose="02020603050405020304"/>
                <a:ea typeface="Times New Roman" panose="02020603050405020304"/>
                <a:cs typeface="Times New Roman" panose="02020603050405020304"/>
              </a:rPr>
              <a:t>Performance Comparison Before and After Optimization</a:t>
            </a:r>
            <a:endParaRPr lang="en-US" altLang="zh-CN" sz="3200" b="1">
              <a:latin typeface="Times New Roman" panose="02020603050405020304"/>
              <a:ea typeface="Times New Roman" panose="02020603050405020304"/>
              <a:cs typeface="Times New Roman" panose="02020603050405020304"/>
            </a:endParaRPr>
          </a:p>
        </p:txBody>
      </p:sp>
      <p:pic>
        <p:nvPicPr>
          <p:cNvPr id="2" name="图片 1" descr="generalization_model_comparison"/>
          <p:cNvPicPr>
            <a:picLocks noChangeAspect="1"/>
          </p:cNvPicPr>
          <p:nvPr/>
        </p:nvPicPr>
        <p:blipFill>
          <a:blip r:embed="rId1"/>
          <a:stretch>
            <a:fillRect/>
          </a:stretch>
        </p:blipFill>
        <p:spPr>
          <a:xfrm>
            <a:off x="4660265" y="1871980"/>
            <a:ext cx="4399915" cy="3515995"/>
          </a:xfrm>
          <a:prstGeom prst="rect">
            <a:avLst/>
          </a:prstGeom>
        </p:spPr>
      </p:pic>
      <p:pic>
        <p:nvPicPr>
          <p:cNvPr id="5" name="图片 4" descr="generalization_model_comparison"/>
          <p:cNvPicPr>
            <a:picLocks noChangeAspect="1"/>
          </p:cNvPicPr>
          <p:nvPr/>
        </p:nvPicPr>
        <p:blipFill>
          <a:blip r:embed="rId2"/>
          <a:stretch>
            <a:fillRect/>
          </a:stretch>
        </p:blipFill>
        <p:spPr>
          <a:xfrm>
            <a:off x="0" y="1872615"/>
            <a:ext cx="4399915" cy="3515360"/>
          </a:xfrm>
          <a:prstGeom prst="rect">
            <a:avLst/>
          </a:prstGeom>
        </p:spPr>
      </p:pic>
      <p:sp>
        <p:nvSpPr>
          <p:cNvPr id="7" name="文本框 6"/>
          <p:cNvSpPr txBox="1"/>
          <p:nvPr/>
        </p:nvSpPr>
        <p:spPr>
          <a:xfrm>
            <a:off x="-635" y="5298440"/>
            <a:ext cx="4786630" cy="275590"/>
          </a:xfrm>
          <a:prstGeom prst="rect">
            <a:avLst/>
          </a:prstGeom>
        </p:spPr>
        <p:txBody>
          <a:bodyPr wrap="square">
            <a:spAutoFit/>
          </a:bodyPr>
          <a:p>
            <a:pPr algn="ctr"/>
            <a:r>
              <a:rPr lang="en-US" altLang="zh-CN" sz="1200"/>
              <a:t>Overall Generalization Performance Comparison Before Optimization</a:t>
            </a:r>
            <a:endParaRPr lang="en-US" altLang="zh-CN" sz="1200"/>
          </a:p>
        </p:txBody>
      </p:sp>
      <p:sp>
        <p:nvSpPr>
          <p:cNvPr id="8" name="文本框 7"/>
          <p:cNvSpPr txBox="1"/>
          <p:nvPr/>
        </p:nvSpPr>
        <p:spPr>
          <a:xfrm>
            <a:off x="4714240" y="5298440"/>
            <a:ext cx="4511675" cy="275590"/>
          </a:xfrm>
          <a:prstGeom prst="rect">
            <a:avLst/>
          </a:prstGeom>
        </p:spPr>
        <p:txBody>
          <a:bodyPr wrap="square">
            <a:spAutoFit/>
          </a:bodyPr>
          <a:p>
            <a:pPr algn="ctr"/>
            <a:r>
              <a:rPr lang="en-US" altLang="zh-CN" sz="1200">
                <a:sym typeface="+mn-ea"/>
              </a:rPr>
              <a:t>Overall Generalization Performance Co</a:t>
            </a:r>
            <a:r>
              <a:rPr lang="en-US" altLang="zh-CN" sz="1200"/>
              <a:t>mparison After Opt</a:t>
            </a:r>
            <a:r>
              <a:rPr lang="en-US" altLang="zh-CN" sz="1200">
                <a:sym typeface="+mn-ea"/>
              </a:rPr>
              <a:t>imization</a:t>
            </a:r>
            <a:endParaRPr lang="en-US" altLang="zh-CN" sz="120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spDef>
      <a:spPr>
        <a:noFill/>
        <a:ln>
          <a:solidFill>
            <a:schemeClr val="tx1">
              <a:lumMod val="85000"/>
              <a:lumOff val="15000"/>
            </a:schemeClr>
          </a:solidFill>
          <a:tailEnd type="oval"/>
        </a:ln>
      </a:spPr>
      <a:bodyPr rtlCol="0" anchor="ctr"/>
      <a:lstStyle>
        <a:defPPr algn="ctr">
          <a:defRPr lang="zh-CN" altLang="en-US"/>
        </a:defPPr>
      </a:lstStyle>
      <a:style>
        <a:lnRef idx="2">
          <a:schemeClr val="accent1">
            <a:lumMod val="75000"/>
          </a:schemeClr>
        </a:lnRef>
        <a:fillRef idx="1">
          <a:schemeClr val="accent1"/>
        </a:fillRef>
        <a:effectRef idx="0">
          <a:srgbClr val="FFFFFF"/>
        </a:effectRef>
        <a:fontRef idx="minor">
          <a:schemeClr val="lt1"/>
        </a:fontRef>
      </a:style>
    </a:spDef>
    <a:lnDef>
      <a:spPr>
        <a:ln w="12700">
          <a:solidFill>
            <a:schemeClr val="tx1">
              <a:lumMod val="95000"/>
              <a:lumOff val="5000"/>
            </a:schemeClr>
          </a:solidFill>
          <a:prstDash val="dash"/>
        </a:ln>
      </a:spPr>
      <a:bodyPr/>
      <a:lstStyle/>
      <a:style>
        <a:lnRef idx="0">
          <a:schemeClr val="accent1"/>
        </a:lnRef>
        <a:fillRef idx="0">
          <a:srgbClr val="FFFFFF"/>
        </a:fillRef>
        <a:effectRef idx="0">
          <a:srgbClr val="FFFFFF"/>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1909</Words>
  <Application>WPS 演示</Application>
  <PresentationFormat>Converted Presentation</PresentationFormat>
  <Paragraphs>47</Paragraphs>
  <Slides>5</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5</vt:i4>
      </vt:variant>
    </vt:vector>
  </HeadingPairs>
  <TitlesOfParts>
    <vt:vector size="15" baseType="lpstr">
      <vt:lpstr>Arial</vt:lpstr>
      <vt:lpstr>SimSun</vt:lpstr>
      <vt:lpstr>Wingdings</vt:lpstr>
      <vt:lpstr>Arial</vt:lpstr>
      <vt:lpstr>Times New Roman</vt:lpstr>
      <vt:lpstr>Microsoft YaHei</vt:lpstr>
      <vt:lpstr>Arial Unicode MS</vt:lpstr>
      <vt:lpstr>MS PGothic</vt:lpstr>
      <vt:lpstr>Times New Roman</vt:lpstr>
      <vt:lpstr>Office テーマ</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down down down down down</cp:lastModifiedBy>
  <cp:revision>27</cp:revision>
  <dcterms:created xsi:type="dcterms:W3CDTF">2026-09-29T07:20:00Z</dcterms:created>
  <dcterms:modified xsi:type="dcterms:W3CDTF">2026-10-15T05:31:19Z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FB3ACDAA4AF54148BE5074B4117C330D_12</vt:lpwstr>
  </property>
</Properties>
</file>