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6" r:id="rId3"/>
    <p:sldId id="337" r:id="rId5"/>
    <p:sldId id="329" r:id="rId6"/>
    <p:sldId id="339" r:id="rId7"/>
    <p:sldId id="340" r:id="rId8"/>
    <p:sldId id="341" r:id="rId9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MLP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组合 3"/>
          <p:cNvGrpSpPr/>
          <p:nvPr/>
        </p:nvGrpSpPr>
        <p:grpSpPr>
          <a:xfrm rot="0">
            <a:off x="328930" y="1698625"/>
            <a:ext cx="2131695" cy="901065"/>
            <a:chOff x="4196" y="2860"/>
            <a:chExt cx="2908" cy="1158"/>
          </a:xfrm>
        </p:grpSpPr>
        <p:sp>
          <p:nvSpPr>
            <p:cNvPr id="5" name="Google Shape;4859;p44"/>
            <p:cNvSpPr/>
            <p:nvPr/>
          </p:nvSpPr>
          <p:spPr>
            <a:xfrm>
              <a:off x="4196" y="2860"/>
              <a:ext cx="2107" cy="1158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197" y="3478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箭头连接符 23"/>
          <p:cNvCxnSpPr/>
          <p:nvPr/>
        </p:nvCxnSpPr>
        <p:spPr>
          <a:xfrm flipV="1">
            <a:off x="6628765" y="2177415"/>
            <a:ext cx="789305" cy="9525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5590" y="1790065"/>
            <a:ext cx="1545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Hand–Object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Distance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 rot="0">
            <a:off x="7500620" y="1535430"/>
            <a:ext cx="1643380" cy="1045845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82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114" name="Google Shape;500;p25"/>
          <p:cNvSpPr/>
          <p:nvPr/>
        </p:nvSpPr>
        <p:spPr>
          <a:xfrm>
            <a:off x="3338830" y="1680845"/>
            <a:ext cx="38100" cy="46355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503;p25"/>
          <p:cNvSpPr/>
          <p:nvPr/>
        </p:nvSpPr>
        <p:spPr>
          <a:xfrm>
            <a:off x="5554980" y="1970405"/>
            <a:ext cx="260985" cy="379095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600">
              <a:solidFill>
                <a:srgbClr val="000000"/>
              </a:solidFill>
            </a:endParaRPr>
          </a:p>
        </p:txBody>
      </p:sp>
      <p:cxnSp>
        <p:nvCxnSpPr>
          <p:cNvPr id="116" name="Google Shape;510;p25"/>
          <p:cNvCxnSpPr>
            <a:endCxn id="115" idx="2"/>
          </p:cNvCxnSpPr>
          <p:nvPr/>
        </p:nvCxnSpPr>
        <p:spPr>
          <a:xfrm rot="10800000" flipH="1">
            <a:off x="5073015" y="2159635"/>
            <a:ext cx="481965" cy="108140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512;p25"/>
          <p:cNvCxnSpPr>
            <a:endCxn id="115" idx="2"/>
          </p:cNvCxnSpPr>
          <p:nvPr/>
        </p:nvCxnSpPr>
        <p:spPr>
          <a:xfrm>
            <a:off x="5073015" y="1887220"/>
            <a:ext cx="481965" cy="2730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514;p25"/>
          <p:cNvCxnSpPr>
            <a:endCxn id="115" idx="2"/>
          </p:cNvCxnSpPr>
          <p:nvPr/>
        </p:nvCxnSpPr>
        <p:spPr>
          <a:xfrm>
            <a:off x="5073015" y="1360805"/>
            <a:ext cx="481965" cy="79946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516;p25"/>
          <p:cNvCxnSpPr>
            <a:stCxn id="120" idx="6"/>
            <a:endCxn id="124" idx="2"/>
          </p:cNvCxnSpPr>
          <p:nvPr/>
        </p:nvCxnSpPr>
        <p:spPr>
          <a:xfrm>
            <a:off x="4387850" y="1360805"/>
            <a:ext cx="36322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" name="Google Shape;517;p25"/>
          <p:cNvSpPr/>
          <p:nvPr/>
        </p:nvSpPr>
        <p:spPr>
          <a:xfrm>
            <a:off x="4100830" y="1152525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/>
              <a:t> </a:t>
            </a:r>
            <a:endParaRPr sz="1200" baseline="-25000"/>
          </a:p>
        </p:txBody>
      </p:sp>
      <p:sp>
        <p:nvSpPr>
          <p:cNvPr id="121" name="Google Shape;519;p25"/>
          <p:cNvSpPr/>
          <p:nvPr/>
        </p:nvSpPr>
        <p:spPr>
          <a:xfrm>
            <a:off x="4098290" y="1678940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/>
              <a:t>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22" name="Google Shape;520;p25"/>
          <p:cNvSpPr/>
          <p:nvPr/>
        </p:nvSpPr>
        <p:spPr>
          <a:xfrm>
            <a:off x="4100830" y="2205355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100"/>
              <a:t>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23" name="Google Shape;521;p25"/>
          <p:cNvSpPr/>
          <p:nvPr/>
        </p:nvSpPr>
        <p:spPr>
          <a:xfrm>
            <a:off x="4100830" y="3045460"/>
            <a:ext cx="28448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100">
              <a:solidFill>
                <a:srgbClr val="000000"/>
              </a:solidFill>
            </a:endParaRPr>
          </a:p>
        </p:txBody>
      </p:sp>
      <p:sp>
        <p:nvSpPr>
          <p:cNvPr id="124" name="Google Shape;518;p25"/>
          <p:cNvSpPr/>
          <p:nvPr/>
        </p:nvSpPr>
        <p:spPr>
          <a:xfrm>
            <a:off x="4751070" y="1152525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200" baseline="-25000"/>
          </a:p>
        </p:txBody>
      </p:sp>
      <p:sp>
        <p:nvSpPr>
          <p:cNvPr id="125" name="Google Shape;522;p25"/>
          <p:cNvSpPr/>
          <p:nvPr/>
        </p:nvSpPr>
        <p:spPr>
          <a:xfrm>
            <a:off x="4751070" y="1704340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600">
              <a:solidFill>
                <a:srgbClr val="000000"/>
              </a:solidFill>
            </a:endParaRPr>
          </a:p>
        </p:txBody>
      </p:sp>
      <p:sp>
        <p:nvSpPr>
          <p:cNvPr id="126" name="Google Shape;523;p25"/>
          <p:cNvSpPr/>
          <p:nvPr/>
        </p:nvSpPr>
        <p:spPr>
          <a:xfrm>
            <a:off x="4751070" y="2223770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600">
              <a:solidFill>
                <a:srgbClr val="000000"/>
              </a:solidFill>
            </a:endParaRPr>
          </a:p>
        </p:txBody>
      </p:sp>
      <p:sp>
        <p:nvSpPr>
          <p:cNvPr id="127" name="Google Shape;524;p25"/>
          <p:cNvSpPr/>
          <p:nvPr/>
        </p:nvSpPr>
        <p:spPr>
          <a:xfrm>
            <a:off x="4751070" y="3045460"/>
            <a:ext cx="287020" cy="415925"/>
          </a:xfrm>
          <a:prstGeom prst="ellipse">
            <a:avLst/>
          </a:prstGeom>
          <a:gradFill>
            <a:gsLst>
              <a:gs pos="0">
                <a:srgbClr val="E0EDBA">
                  <a:alpha val="79216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600">
              <a:solidFill>
                <a:srgbClr val="000000"/>
              </a:solidFill>
            </a:endParaRPr>
          </a:p>
        </p:txBody>
      </p:sp>
      <p:cxnSp>
        <p:nvCxnSpPr>
          <p:cNvPr id="128" name="Google Shape;526;p25"/>
          <p:cNvCxnSpPr/>
          <p:nvPr/>
        </p:nvCxnSpPr>
        <p:spPr>
          <a:xfrm flipH="1">
            <a:off x="4243070" y="2706370"/>
            <a:ext cx="2540" cy="30607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29" name="Google Shape;530;p25"/>
          <p:cNvSpPr/>
          <p:nvPr/>
        </p:nvSpPr>
        <p:spPr>
          <a:xfrm>
            <a:off x="3338830" y="2727325"/>
            <a:ext cx="38100" cy="46355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30" name="Google Shape;531;p25"/>
          <p:cNvCxnSpPr>
            <a:endCxn id="120" idx="2"/>
          </p:cNvCxnSpPr>
          <p:nvPr/>
        </p:nvCxnSpPr>
        <p:spPr>
          <a:xfrm rot="10800000" flipH="1">
            <a:off x="3380105" y="1360805"/>
            <a:ext cx="720725" cy="34671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532;p25"/>
          <p:cNvCxnSpPr>
            <a:stCxn id="114" idx="5"/>
            <a:endCxn id="121" idx="2"/>
          </p:cNvCxnSpPr>
          <p:nvPr/>
        </p:nvCxnSpPr>
        <p:spPr>
          <a:xfrm>
            <a:off x="3371850" y="1720850"/>
            <a:ext cx="726440" cy="16637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533;p25"/>
          <p:cNvCxnSpPr>
            <a:stCxn id="114" idx="5"/>
            <a:endCxn id="122" idx="2"/>
          </p:cNvCxnSpPr>
          <p:nvPr/>
        </p:nvCxnSpPr>
        <p:spPr>
          <a:xfrm>
            <a:off x="3371850" y="1720850"/>
            <a:ext cx="729615" cy="69278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534;p25"/>
          <p:cNvCxnSpPr>
            <a:stCxn id="114" idx="5"/>
            <a:endCxn id="123" idx="2"/>
          </p:cNvCxnSpPr>
          <p:nvPr/>
        </p:nvCxnSpPr>
        <p:spPr>
          <a:xfrm>
            <a:off x="3371850" y="1720850"/>
            <a:ext cx="729615" cy="153289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555;p25"/>
          <p:cNvCxnSpPr>
            <a:stCxn id="129" idx="5"/>
            <a:endCxn id="120" idx="2"/>
          </p:cNvCxnSpPr>
          <p:nvPr/>
        </p:nvCxnSpPr>
        <p:spPr>
          <a:xfrm rot="10800000" flipH="1">
            <a:off x="3371850" y="1360805"/>
            <a:ext cx="729615" cy="140652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556;p25"/>
          <p:cNvCxnSpPr>
            <a:stCxn id="129" idx="5"/>
            <a:endCxn id="121" idx="2"/>
          </p:cNvCxnSpPr>
          <p:nvPr/>
        </p:nvCxnSpPr>
        <p:spPr>
          <a:xfrm rot="10800000" flipH="1">
            <a:off x="3371850" y="1887220"/>
            <a:ext cx="726440" cy="88011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557;p25"/>
          <p:cNvCxnSpPr>
            <a:stCxn id="129" idx="5"/>
            <a:endCxn id="122" idx="2"/>
          </p:cNvCxnSpPr>
          <p:nvPr/>
        </p:nvCxnSpPr>
        <p:spPr>
          <a:xfrm rot="10800000" flipH="1">
            <a:off x="3371850" y="2413000"/>
            <a:ext cx="729615" cy="35433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" name="Google Shape;558;p25"/>
          <p:cNvCxnSpPr>
            <a:stCxn id="129" idx="5"/>
            <a:endCxn id="123" idx="2"/>
          </p:cNvCxnSpPr>
          <p:nvPr/>
        </p:nvCxnSpPr>
        <p:spPr>
          <a:xfrm>
            <a:off x="3371850" y="2767330"/>
            <a:ext cx="729615" cy="48641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559;p25"/>
          <p:cNvCxnSpPr>
            <a:stCxn id="120" idx="6"/>
            <a:endCxn id="125" idx="2"/>
          </p:cNvCxnSpPr>
          <p:nvPr/>
        </p:nvCxnSpPr>
        <p:spPr>
          <a:xfrm>
            <a:off x="4387850" y="1360805"/>
            <a:ext cx="363220" cy="55118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" name="Google Shape;560;p25"/>
          <p:cNvCxnSpPr>
            <a:stCxn id="120" idx="6"/>
            <a:endCxn id="126" idx="2"/>
          </p:cNvCxnSpPr>
          <p:nvPr/>
        </p:nvCxnSpPr>
        <p:spPr>
          <a:xfrm>
            <a:off x="4387850" y="1360805"/>
            <a:ext cx="363220" cy="107124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" name="Google Shape;561;p25"/>
          <p:cNvCxnSpPr>
            <a:stCxn id="120" idx="6"/>
            <a:endCxn id="127" idx="2"/>
          </p:cNvCxnSpPr>
          <p:nvPr/>
        </p:nvCxnSpPr>
        <p:spPr>
          <a:xfrm>
            <a:off x="4387850" y="1360805"/>
            <a:ext cx="363220" cy="189293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562;p25"/>
          <p:cNvCxnSpPr>
            <a:stCxn id="121" idx="6"/>
            <a:endCxn id="124" idx="2"/>
          </p:cNvCxnSpPr>
          <p:nvPr/>
        </p:nvCxnSpPr>
        <p:spPr>
          <a:xfrm rot="10800000" flipH="1">
            <a:off x="4385310" y="1360170"/>
            <a:ext cx="365760" cy="52641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563;p25"/>
          <p:cNvCxnSpPr>
            <a:stCxn id="121" idx="6"/>
            <a:endCxn id="125" idx="2"/>
          </p:cNvCxnSpPr>
          <p:nvPr/>
        </p:nvCxnSpPr>
        <p:spPr>
          <a:xfrm>
            <a:off x="4385310" y="1887220"/>
            <a:ext cx="365760" cy="25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564;p25"/>
          <p:cNvCxnSpPr>
            <a:stCxn id="121" idx="6"/>
            <a:endCxn id="126" idx="2"/>
          </p:cNvCxnSpPr>
          <p:nvPr/>
        </p:nvCxnSpPr>
        <p:spPr>
          <a:xfrm>
            <a:off x="4385310" y="1887220"/>
            <a:ext cx="365760" cy="54483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565;p25"/>
          <p:cNvCxnSpPr>
            <a:stCxn id="121" idx="6"/>
            <a:endCxn id="127" idx="2"/>
          </p:cNvCxnSpPr>
          <p:nvPr/>
        </p:nvCxnSpPr>
        <p:spPr>
          <a:xfrm>
            <a:off x="4385310" y="1887220"/>
            <a:ext cx="365760" cy="13665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" name="Google Shape;566;p25"/>
          <p:cNvCxnSpPr>
            <a:stCxn id="122" idx="6"/>
            <a:endCxn id="124" idx="2"/>
          </p:cNvCxnSpPr>
          <p:nvPr/>
        </p:nvCxnSpPr>
        <p:spPr>
          <a:xfrm rot="10800000" flipH="1">
            <a:off x="4387850" y="1360805"/>
            <a:ext cx="363220" cy="105283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567;p25"/>
          <p:cNvCxnSpPr>
            <a:stCxn id="122" idx="6"/>
            <a:endCxn id="125" idx="2"/>
          </p:cNvCxnSpPr>
          <p:nvPr/>
        </p:nvCxnSpPr>
        <p:spPr>
          <a:xfrm rot="10800000" flipH="1">
            <a:off x="4387850" y="1911985"/>
            <a:ext cx="363220" cy="50101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568;p25"/>
          <p:cNvCxnSpPr>
            <a:stCxn id="122" idx="6"/>
            <a:endCxn id="126" idx="2"/>
          </p:cNvCxnSpPr>
          <p:nvPr/>
        </p:nvCxnSpPr>
        <p:spPr>
          <a:xfrm>
            <a:off x="4387850" y="2413000"/>
            <a:ext cx="363220" cy="1841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" name="Google Shape;569;p25"/>
          <p:cNvCxnSpPr>
            <a:stCxn id="122" idx="6"/>
            <a:endCxn id="127" idx="2"/>
          </p:cNvCxnSpPr>
          <p:nvPr/>
        </p:nvCxnSpPr>
        <p:spPr>
          <a:xfrm>
            <a:off x="4387850" y="2413000"/>
            <a:ext cx="363220" cy="84010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" name="Google Shape;570;p25"/>
          <p:cNvCxnSpPr>
            <a:endCxn id="124" idx="2"/>
          </p:cNvCxnSpPr>
          <p:nvPr/>
        </p:nvCxnSpPr>
        <p:spPr>
          <a:xfrm rot="10800000" flipH="1">
            <a:off x="4387850" y="1360805"/>
            <a:ext cx="363220" cy="191706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571;p25"/>
          <p:cNvCxnSpPr>
            <a:stCxn id="123" idx="6"/>
            <a:endCxn id="125" idx="2"/>
          </p:cNvCxnSpPr>
          <p:nvPr/>
        </p:nvCxnSpPr>
        <p:spPr>
          <a:xfrm rot="10800000" flipH="1">
            <a:off x="4385310" y="1911985"/>
            <a:ext cx="365760" cy="134175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572;p25"/>
          <p:cNvCxnSpPr>
            <a:stCxn id="123" idx="6"/>
            <a:endCxn id="126" idx="2"/>
          </p:cNvCxnSpPr>
          <p:nvPr/>
        </p:nvCxnSpPr>
        <p:spPr>
          <a:xfrm rot="10800000" flipH="1">
            <a:off x="4385310" y="2432050"/>
            <a:ext cx="365760" cy="82169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573;p25"/>
          <p:cNvCxnSpPr>
            <a:stCxn id="123" idx="6"/>
            <a:endCxn id="127" idx="2"/>
          </p:cNvCxnSpPr>
          <p:nvPr/>
        </p:nvCxnSpPr>
        <p:spPr>
          <a:xfrm>
            <a:off x="4385310" y="3253740"/>
            <a:ext cx="36576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591;p25"/>
          <p:cNvCxnSpPr>
            <a:endCxn id="115" idx="2"/>
          </p:cNvCxnSpPr>
          <p:nvPr/>
        </p:nvCxnSpPr>
        <p:spPr>
          <a:xfrm rot="10800000" flipH="1">
            <a:off x="5073015" y="2159635"/>
            <a:ext cx="481965" cy="25336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" name="Google Shape;593;p25"/>
          <p:cNvCxnSpPr/>
          <p:nvPr/>
        </p:nvCxnSpPr>
        <p:spPr>
          <a:xfrm flipH="1">
            <a:off x="4893310" y="2706370"/>
            <a:ext cx="2540" cy="30607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56" name="文本框 155"/>
          <p:cNvSpPr txBox="1"/>
          <p:nvPr/>
        </p:nvSpPr>
        <p:spPr>
          <a:xfrm>
            <a:off x="3167380" y="673100"/>
            <a:ext cx="2785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5-frame window MLP</a:t>
            </a:r>
            <a:endParaRPr lang="en-US" altLang="zh-CN" sz="1600" b="1"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369820" y="3461385"/>
            <a:ext cx="4700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2 hidden layer, each with 32 neurons.</a:t>
            </a:r>
            <a:endParaRPr lang="en-US" altLang="zh-CN" sz="1600" b="1"/>
          </a:p>
        </p:txBody>
      </p:sp>
      <p:sp>
        <p:nvSpPr>
          <p:cNvPr id="23" name="文本框 5"/>
          <p:cNvSpPr>
            <a:spLocks noGrp="1"/>
          </p:cNvSpPr>
          <p:nvPr/>
        </p:nvSpPr>
        <p:spPr>
          <a:xfrm>
            <a:off x="275590" y="3870960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LSTM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28930" y="4606925"/>
            <a:ext cx="649351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Input: [d</a:t>
            </a:r>
            <a:r>
              <a:rPr lang="en-US" altLang="en-US" sz="1600"/>
              <a:t>ₜ₋₄, </a:t>
            </a:r>
            <a:r>
              <a:rPr lang="en-US" altLang="zh-CN" sz="1600"/>
              <a:t>d</a:t>
            </a:r>
            <a:r>
              <a:rPr lang="en-US" altLang="en-US" sz="1600"/>
              <a:t>ₜ₋₃, </a:t>
            </a:r>
            <a:r>
              <a:rPr lang="en-US" altLang="zh-CN" sz="1600"/>
              <a:t>d</a:t>
            </a:r>
            <a:r>
              <a:rPr lang="en-US" altLang="en-US" sz="1600"/>
              <a:t>ₜ₋₂, </a:t>
            </a:r>
            <a:r>
              <a:rPr lang="en-US" altLang="zh-CN" sz="1600"/>
              <a:t>d</a:t>
            </a:r>
            <a:r>
              <a:rPr lang="en-US" altLang="en-US" sz="1600"/>
              <a:t>ₜ₋₁, </a:t>
            </a:r>
            <a:r>
              <a:rPr lang="en-US" altLang="zh-CN" sz="1600"/>
              <a:t>d</a:t>
            </a:r>
            <a:r>
              <a:rPr lang="en-US" altLang="en-US" sz="1600"/>
              <a:t>ₜ]</a:t>
            </a:r>
            <a:endParaRPr lang="en-US" altLang="en-US" sz="1600"/>
          </a:p>
          <a:p>
            <a:r>
              <a:rPr lang="en-US" altLang="zh-CN" sz="1600"/>
              <a:t>Output: </a:t>
            </a:r>
            <a:r>
              <a:rPr lang="en-US" altLang="en-US" sz="1600"/>
              <a:t>âₜ</a:t>
            </a:r>
            <a:endParaRPr lang="en-US" altLang="en-US" sz="1600"/>
          </a:p>
          <a:p>
            <a:r>
              <a:rPr lang="en-US" altLang="zh-CN" sz="1600">
                <a:sym typeface="+mn-ea"/>
              </a:rPr>
              <a:t>32 hidden units and 5-frame window</a:t>
            </a:r>
            <a:endParaRPr lang="en-US" altLang="zh-CN" sz="1600"/>
          </a:p>
        </p:txBody>
      </p:sp>
      <p:sp>
        <p:nvSpPr>
          <p:cNvPr id="32" name="矩形 31"/>
          <p:cNvSpPr/>
          <p:nvPr/>
        </p:nvSpPr>
        <p:spPr>
          <a:xfrm>
            <a:off x="4836795" y="4185285"/>
            <a:ext cx="3961765" cy="230060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Training set: 21 trials per speed condition (63 trials total).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Test set: 9 trials per speed condition (27 trials total).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9" name="Google Shape;526;p25"/>
          <p:cNvCxnSpPr/>
          <p:nvPr/>
        </p:nvCxnSpPr>
        <p:spPr>
          <a:xfrm flipH="1">
            <a:off x="3369310" y="2094865"/>
            <a:ext cx="2540" cy="30607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1" name="文本框 40"/>
          <p:cNvSpPr txBox="1"/>
          <p:nvPr/>
        </p:nvSpPr>
        <p:spPr>
          <a:xfrm>
            <a:off x="2460625" y="673100"/>
            <a:ext cx="740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2590165" y="1568450"/>
            <a:ext cx="48133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dₜ₋₄</a:t>
            </a:r>
            <a:endParaRPr lang="en-US" altLang="zh-CN" sz="1600"/>
          </a:p>
          <a:p>
            <a:r>
              <a:rPr lang="en-US" altLang="zh-CN" sz="1600"/>
              <a:t>d</a:t>
            </a:r>
            <a:r>
              <a:rPr lang="en-US" altLang="en-US" sz="1600"/>
              <a:t>ₜ₋₃ </a:t>
            </a:r>
            <a:r>
              <a:rPr lang="en-US" altLang="zh-CN" sz="1600"/>
              <a:t>d</a:t>
            </a:r>
            <a:r>
              <a:rPr lang="en-US" altLang="en-US" sz="1600"/>
              <a:t>ₜ₋₂ </a:t>
            </a:r>
            <a:r>
              <a:rPr lang="en-US" altLang="zh-CN" sz="1600"/>
              <a:t>d</a:t>
            </a:r>
            <a:r>
              <a:rPr lang="en-US" altLang="en-US" sz="1600"/>
              <a:t>ₜ₋₁ </a:t>
            </a:r>
            <a:r>
              <a:rPr lang="en-US" altLang="zh-CN" sz="1600"/>
              <a:t>d</a:t>
            </a:r>
            <a:r>
              <a:rPr lang="en-US" altLang="en-US" sz="1600"/>
              <a:t>ₜ</a:t>
            </a:r>
            <a:endParaRPr lang="en-US" altLang="en-US" sz="1600"/>
          </a:p>
        </p:txBody>
      </p:sp>
      <p:sp>
        <p:nvSpPr>
          <p:cNvPr id="45" name="文本框 44"/>
          <p:cNvSpPr txBox="1"/>
          <p:nvPr/>
        </p:nvSpPr>
        <p:spPr>
          <a:xfrm>
            <a:off x="5815965" y="673100"/>
            <a:ext cx="92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Output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6097270" y="1970405"/>
            <a:ext cx="3663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âₜ</a:t>
            </a: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216535" y="361315"/>
            <a:ext cx="837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MLP and LSTM currently show similar performance.</a:t>
            </a:r>
            <a:endParaRPr lang="en-US" altLang="zh-CN"/>
          </a:p>
        </p:txBody>
      </p:sp>
      <p:pic>
        <p:nvPicPr>
          <p:cNvPr id="23" name="图片 22" descr="validation_mode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73705"/>
            <a:ext cx="91440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331845" y="145415"/>
            <a:ext cx="5540375" cy="6466840"/>
            <a:chOff x="3107" y="557"/>
            <a:chExt cx="8725" cy="10184"/>
          </a:xfrm>
        </p:grpSpPr>
        <p:pic>
          <p:nvPicPr>
            <p:cNvPr id="2" name="图片 1" descr="Black_4cm_20261025_1512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07" y="557"/>
              <a:ext cx="8725" cy="3508"/>
            </a:xfrm>
            <a:prstGeom prst="rect">
              <a:avLst/>
            </a:prstGeom>
          </p:spPr>
        </p:pic>
        <p:pic>
          <p:nvPicPr>
            <p:cNvPr id="4" name="图片 3" descr="Black_4cm_20261025_1512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8" y="4065"/>
              <a:ext cx="8724" cy="3338"/>
            </a:xfrm>
            <a:prstGeom prst="rect">
              <a:avLst/>
            </a:prstGeom>
          </p:spPr>
        </p:pic>
        <p:pic>
          <p:nvPicPr>
            <p:cNvPr id="5" name="图片 4" descr="Black_4cm_20261025_1511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8" y="7403"/>
              <a:ext cx="8724" cy="3338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83845" y="379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Slow Example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/MineApp/Code/Multimodal_Imitation_Learning/Data/D3/Result/distance_mlp_lstm_window5_20261025_192900_391049/validation_predictions/Black_4cm_20261025_150340.pngBlack_4cm_20261025_150340"/>
          <p:cNvPicPr>
            <a:picLocks noChangeAspect="1"/>
          </p:cNvPicPr>
          <p:nvPr/>
        </p:nvPicPr>
        <p:blipFill>
          <a:blip r:embed="rId1"/>
          <a:srcRect t="860" b="860"/>
          <a:stretch>
            <a:fillRect/>
          </a:stretch>
        </p:blipFill>
        <p:spPr>
          <a:xfrm>
            <a:off x="3331845" y="145415"/>
            <a:ext cx="5540375" cy="2227580"/>
          </a:xfrm>
          <a:prstGeom prst="rect">
            <a:avLst/>
          </a:prstGeom>
        </p:spPr>
      </p:pic>
      <p:pic>
        <p:nvPicPr>
          <p:cNvPr id="4" name="图片 3" descr="C:/MineApp/Code/Multimodal_Imitation_Learning/Data/D3/Result/distance_mlp_lstm_window5_20261025_192900_391049/validation_predictions/Black_4cm_20261025_150334.pngBlack_4cm_20261025_150334"/>
          <p:cNvPicPr>
            <a:picLocks noChangeAspect="1"/>
          </p:cNvPicPr>
          <p:nvPr/>
        </p:nvPicPr>
        <p:blipFill>
          <a:blip r:embed="rId2"/>
          <a:srcRect t="1710" b="4766"/>
          <a:stretch>
            <a:fillRect/>
          </a:stretch>
        </p:blipFill>
        <p:spPr>
          <a:xfrm>
            <a:off x="3332480" y="2372995"/>
            <a:ext cx="5539740" cy="2119630"/>
          </a:xfrm>
          <a:prstGeom prst="rect">
            <a:avLst/>
          </a:prstGeom>
        </p:spPr>
      </p:pic>
      <p:pic>
        <p:nvPicPr>
          <p:cNvPr id="5" name="图片 4" descr="C:/MineApp/Code/Multimodal_Imitation_Learning/Data/D3/Result/distance_mlp_lstm_window5_20261025_192900_391049/validation_predictions/Black_4cm_20261025_150234.pngBlack_4cm_20261025_150234"/>
          <p:cNvPicPr>
            <a:picLocks noChangeAspect="1"/>
          </p:cNvPicPr>
          <p:nvPr/>
        </p:nvPicPr>
        <p:blipFill>
          <a:blip r:embed="rId3"/>
          <a:srcRect t="1155" b="5322"/>
          <a:stretch>
            <a:fillRect/>
          </a:stretch>
        </p:blipFill>
        <p:spPr>
          <a:xfrm>
            <a:off x="3332480" y="4492625"/>
            <a:ext cx="5539740" cy="21196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83845" y="379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Normal Example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/MineApp/Code/Multimodal_Imitation_Learning/Data/D3/Result/distance_mlp_lstm_window5_20261025_192900_391049/validation_predictions/Black_4cm_20261025_144100.pngBlack_4cm_20261025_144100"/>
          <p:cNvPicPr>
            <a:picLocks noChangeAspect="1"/>
          </p:cNvPicPr>
          <p:nvPr/>
        </p:nvPicPr>
        <p:blipFill>
          <a:blip r:embed="rId1"/>
          <a:srcRect t="860" b="860"/>
          <a:stretch>
            <a:fillRect/>
          </a:stretch>
        </p:blipFill>
        <p:spPr>
          <a:xfrm>
            <a:off x="3331845" y="145415"/>
            <a:ext cx="5540375" cy="2227580"/>
          </a:xfrm>
          <a:prstGeom prst="rect">
            <a:avLst/>
          </a:prstGeom>
        </p:spPr>
      </p:pic>
      <p:pic>
        <p:nvPicPr>
          <p:cNvPr id="4" name="图片 3" descr="C:/MineApp/Code/Multimodal_Imitation_Learning/Data/D3/Result/distance_mlp_lstm_window5_20261025_192900_391049/validation_predictions/Black_4cm_20261025_143945.pngBlack_4cm_20261025_143945"/>
          <p:cNvPicPr>
            <a:picLocks noChangeAspect="1"/>
          </p:cNvPicPr>
          <p:nvPr/>
        </p:nvPicPr>
        <p:blipFill>
          <a:blip r:embed="rId2"/>
          <a:srcRect t="3030" b="3447"/>
          <a:stretch>
            <a:fillRect/>
          </a:stretch>
        </p:blipFill>
        <p:spPr>
          <a:xfrm>
            <a:off x="3332480" y="2372995"/>
            <a:ext cx="5539740" cy="2119630"/>
          </a:xfrm>
          <a:prstGeom prst="rect">
            <a:avLst/>
          </a:prstGeom>
        </p:spPr>
      </p:pic>
      <p:pic>
        <p:nvPicPr>
          <p:cNvPr id="5" name="图片 4" descr="C:/MineApp/Code/Multimodal_Imitation_Learning/Data/D3/Result/distance_mlp_lstm_window5_20261025_192900_391049/validation_predictions/Black_4cm_20261025_144025.pngBlack_4cm_20261025_144025"/>
          <p:cNvPicPr>
            <a:picLocks noChangeAspect="1"/>
          </p:cNvPicPr>
          <p:nvPr/>
        </p:nvPicPr>
        <p:blipFill>
          <a:blip r:embed="rId3"/>
          <a:srcRect t="1224" b="5252"/>
          <a:stretch>
            <a:fillRect/>
          </a:stretch>
        </p:blipFill>
        <p:spPr>
          <a:xfrm>
            <a:off x="3332480" y="4492625"/>
            <a:ext cx="5539740" cy="21196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83845" y="379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Fast Example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validation_metrics_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4590" y="0"/>
            <a:ext cx="657606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500" y="99060"/>
            <a:ext cx="2811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Detailed Validation Results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WPS 演示</Application>
  <PresentationFormat>Converted Presentation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MS PGothic</vt:lpstr>
      <vt:lpstr>Times New Roman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59</cp:revision>
  <dcterms:created xsi:type="dcterms:W3CDTF">2026-09-29T07:20:00Z</dcterms:created>
  <dcterms:modified xsi:type="dcterms:W3CDTF">2026-10-25T12:41:39Z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