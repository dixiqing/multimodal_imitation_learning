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3"/>
    <p:sldId id="318" r:id="rId5"/>
    <p:sldId id="304" r:id="rId6"/>
    <p:sldId id="306" r:id="rId7"/>
    <p:sldId id="307" r:id="rId8"/>
    <p:sldId id="310" r:id="rId9"/>
    <p:sldId id="311" r:id="rId10"/>
    <p:sldId id="314" r:id="rId11"/>
    <p:sldId id="315" r:id="rId12"/>
    <p:sldId id="316" r:id="rId13"/>
    <p:sldId id="317" r:id="rId1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2828"/>
    <a:srgbClr val="F7D6D6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ustomXml" Target="../customXml/item3.xml"/><Relationship Id="rId2" Type="http://schemas.openxmlformats.org/officeDocument/2006/relationships/theme" Target="theme/theme1.xml"/><Relationship Id="rId19" Type="http://schemas.openxmlformats.org/officeDocument/2006/relationships/customXml" Target="../customXml/item2.xml"/><Relationship Id="rId18" Type="http://schemas.openxmlformats.org/officeDocument/2006/relationships/customXml" Target="../customXml/item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F00E456-75B8-4C92-99E8-A0CAB60115A8}" type="slidenum">
              <a:rPr lang="ja-JP" altLang="en-US" smtClean="0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4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image" Target="../media/image8.jpe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9.png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jpeg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tags" Target="../tags/tag21.xml"/><Relationship Id="rId3" Type="http://schemas.openxmlformats.org/officeDocument/2006/relationships/image" Target="../media/image25.jpeg"/><Relationship Id="rId2" Type="http://schemas.openxmlformats.org/officeDocument/2006/relationships/tags" Target="../tags/tag20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image" Target="../media/image31.png"/><Relationship Id="rId5" Type="http://schemas.openxmlformats.org/officeDocument/2006/relationships/tags" Target="../tags/tag27.xml"/><Relationship Id="rId4" Type="http://schemas.openxmlformats.org/officeDocument/2006/relationships/image" Target="../media/image30.jpe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0.xml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4530" y="1376045"/>
            <a:ext cx="7775575" cy="1163320"/>
          </a:xfrm>
        </p:spPr>
        <p:txBody>
          <a:bodyPr>
            <a:noAutofit/>
          </a:bodyPr>
          <a:lstStyle/>
          <a:p>
            <a:pPr algn="ctr"/>
            <a:r>
              <a:rPr kumimoji="1" lang="en-US" altLang="zh-CN" sz="3200" dirty="0">
                <a:latin typeface="Calibri" panose="020F0502020204030204" charset="0"/>
                <a:cs typeface="Calibri" panose="020F0502020204030204" charset="0"/>
              </a:rPr>
              <a:t>Prosthetic Hand Control Based on Muscle</a:t>
            </a:r>
            <a:br>
              <a:rPr kumimoji="1" lang="en-US" altLang="zh-CN" sz="3200" dirty="0">
                <a:latin typeface="Calibri" panose="020F0502020204030204" charset="0"/>
                <a:cs typeface="Calibri" panose="020F0502020204030204" charset="0"/>
              </a:rPr>
            </a:br>
            <a:r>
              <a:rPr kumimoji="1" lang="en-US" altLang="zh-CN" sz="3200" dirty="0">
                <a:latin typeface="Calibri" panose="020F0502020204030204" charset="0"/>
                <a:cs typeface="Calibri" panose="020F0502020204030204" charset="0"/>
              </a:rPr>
              <a:t>Synergy</a:t>
            </a:r>
            <a:endParaRPr kumimoji="1" lang="en-US" altLang="zh-CN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07770" y="4070350"/>
            <a:ext cx="6729095" cy="1550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ja-JP" sz="2400" b="0" i="0" u="none" strike="noStrike" dirty="0">
                <a:solidFill>
                  <a:srgbClr val="000000"/>
                </a:solidFill>
                <a:effectLst/>
                <a:latin typeface="Calibri" panose="020F0502020204030204" charset="0"/>
              </a:rPr>
              <a:t>Saga University</a:t>
            </a:r>
            <a:endParaRPr lang="en-US" altLang="ja-JP" sz="2400" b="0" i="0" u="none" strike="noStrike" dirty="0">
              <a:solidFill>
                <a:srgbClr val="000000"/>
              </a:solidFill>
              <a:effectLst/>
              <a:latin typeface="Calibri" panose="020F0502020204030204" charset="0"/>
            </a:endParaRPr>
          </a:p>
          <a:p>
            <a:pPr algn="ctr"/>
            <a:r>
              <a:rPr lang="en-US" altLang="zh-CN" sz="2400" dirty="0">
                <a:solidFill>
                  <a:srgbClr val="000000"/>
                </a:solidFill>
                <a:latin typeface="Calibri" panose="020F0502020204030204" charset="0"/>
              </a:rPr>
              <a:t>Computer Science &amp; Information Techology</a:t>
            </a:r>
            <a:endParaRPr lang="en-US" altLang="zh-CN" sz="2400" dirty="0">
              <a:solidFill>
                <a:srgbClr val="000000"/>
              </a:solidFill>
              <a:latin typeface="Calibri" panose="020F0502020204030204" charset="0"/>
            </a:endParaRPr>
          </a:p>
          <a:p>
            <a:pPr algn="ctr"/>
            <a:r>
              <a:rPr lang="en-US" altLang="ja-JP" sz="2400" b="0" i="0" u="none" strike="noStrike" dirty="0">
                <a:solidFill>
                  <a:srgbClr val="000000"/>
                </a:solidFill>
                <a:effectLst/>
                <a:latin typeface="Calibri" panose="020F0502020204030204" charset="0"/>
              </a:rPr>
              <a:t>25742102 DI XIQING</a:t>
            </a:r>
            <a:endParaRPr lang="en-US" altLang="ja-JP" sz="2400" b="0" i="0" u="none" strike="noStrike" dirty="0">
              <a:solidFill>
                <a:srgbClr val="000000"/>
              </a:solidFill>
              <a:effectLst/>
              <a:latin typeface="Calibri" panose="020F0502020204030204" charset="0"/>
            </a:endParaRPr>
          </a:p>
          <a:p>
            <a:pPr algn="ctr"/>
            <a:r>
              <a:rPr lang="en-US" altLang="ja-JP" sz="2400" dirty="0">
                <a:solidFill>
                  <a:srgbClr val="000000"/>
                </a:solidFill>
                <a:latin typeface="Calibri" panose="020F0502020204030204" charset="0"/>
              </a:rPr>
              <a:t>Professor Osamu Fukuda</a:t>
            </a:r>
            <a:r>
              <a:rPr lang="ja-JP" altLang="ja-JP" sz="2400" dirty="0">
                <a:solidFill>
                  <a:srgbClr val="000000"/>
                </a:solidFill>
                <a:latin typeface="Calibri" panose="020F0502020204030204" charset="0"/>
              </a:rPr>
              <a:t>，</a:t>
            </a:r>
            <a:r>
              <a:rPr lang="en-US" altLang="ja-JP" sz="2400" dirty="0">
                <a:solidFill>
                  <a:srgbClr val="000000"/>
                </a:solidFill>
                <a:latin typeface="Calibri" panose="020F0502020204030204" charset="0"/>
              </a:rPr>
              <a:t>Yeoh Wen Liang</a:t>
            </a:r>
            <a:endParaRPr lang="en-US" altLang="ja-JP" sz="2400" dirty="0">
              <a:solidFill>
                <a:srgbClr val="000000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Background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3360" y="1102995"/>
            <a:ext cx="4253230" cy="116522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ja-JP" sz="2400">
                <a:solidFill>
                  <a:srgbClr val="FF0000"/>
                </a:solidFill>
              </a:rPr>
              <a:t>577 million</a:t>
            </a:r>
            <a:r>
              <a:rPr lang="en-US" altLang="ja-JP" sz="1600"/>
              <a:t> people in world</a:t>
            </a:r>
            <a:endParaRPr lang="en-US" altLang="ja-JP" sz="1600"/>
          </a:p>
          <a:p>
            <a:pPr algn="ctr"/>
            <a:r>
              <a:rPr lang="en-US" altLang="ja-JP" sz="1600"/>
              <a:t> who had lost an upper limb.</a:t>
            </a:r>
            <a:endParaRPr lang="en-US" altLang="ja-JP" sz="1600"/>
          </a:p>
          <a:p>
            <a:pPr algn="ctr"/>
            <a:endParaRPr lang="en-US" altLang="zh-CN" sz="1600"/>
          </a:p>
        </p:txBody>
      </p:sp>
      <p:pic>
        <p:nvPicPr>
          <p:cNvPr id="14" name="图片 13" descr="1_mjyzc8D6TcAV1VyAmiboD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" y="4163695"/>
            <a:ext cx="3311525" cy="24866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280660" y="4097655"/>
            <a:ext cx="191071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2800"/>
              <a:t>Challenges</a:t>
            </a:r>
            <a:endParaRPr lang="en-US" altLang="ja-JP" sz="2800"/>
          </a:p>
        </p:txBody>
      </p:sp>
      <p:pic>
        <p:nvPicPr>
          <p:cNvPr id="18" name="图片 17" descr="unnam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55" y="695960"/>
            <a:ext cx="3518535" cy="1764665"/>
          </a:xfrm>
          <a:prstGeom prst="rect">
            <a:avLst/>
          </a:prstGeom>
        </p:spPr>
      </p:pic>
      <p:grpSp>
        <p:nvGrpSpPr>
          <p:cNvPr id="4" name="组合 3"/>
          <p:cNvGrpSpPr/>
          <p:nvPr>
            <p:custDataLst>
              <p:tags r:id="rId3"/>
            </p:custDataLst>
          </p:nvPr>
        </p:nvGrpSpPr>
        <p:grpSpPr>
          <a:xfrm>
            <a:off x="3686810" y="4718050"/>
            <a:ext cx="5198110" cy="415290"/>
            <a:chOff x="5806" y="7430"/>
            <a:chExt cx="8458" cy="654"/>
          </a:xfrm>
        </p:grpSpPr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6264" y="7492"/>
              <a:ext cx="8000" cy="592"/>
            </a:xfrm>
            <a:prstGeom prst="rect">
              <a:avLst/>
            </a:prstGeom>
          </p:spPr>
          <p:txBody>
            <a:bodyPr>
              <a:noAutofit/>
            </a:bodyPr>
            <a:p>
              <a:pPr indent="0">
                <a:buFont typeface="Wingdings" panose="05000000000000000000" charset="0"/>
                <a:buNone/>
              </a:pPr>
              <a:r>
                <a:rPr lang="en-US" altLang="ja-JP" sz="1600"/>
                <a:t> The required training dataset increases.</a:t>
              </a:r>
              <a:endParaRPr lang="en-US" altLang="ja-JP" sz="1600"/>
            </a:p>
          </p:txBody>
        </p:sp>
        <p:pic>
          <p:nvPicPr>
            <p:cNvPr id="3" name="图片 2" descr="icons8-方块-4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5806" y="7430"/>
              <a:ext cx="593" cy="593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3686810" y="5334000"/>
            <a:ext cx="5198110" cy="415290"/>
            <a:chOff x="5806" y="7430"/>
            <a:chExt cx="8458" cy="654"/>
          </a:xfrm>
        </p:grpSpPr>
        <p:sp>
          <p:nvSpPr>
            <p:cNvPr id="8" name="文本框 7"/>
            <p:cNvSpPr txBox="1"/>
            <p:nvPr>
              <p:custDataLst>
                <p:tags r:id="rId8"/>
              </p:custDataLst>
            </p:nvPr>
          </p:nvSpPr>
          <p:spPr>
            <a:xfrm>
              <a:off x="6264" y="7492"/>
              <a:ext cx="8000" cy="592"/>
            </a:xfrm>
            <a:prstGeom prst="rect">
              <a:avLst/>
            </a:prstGeom>
          </p:spPr>
          <p:txBody>
            <a:bodyPr>
              <a:noAutofit/>
            </a:bodyPr>
            <a:p>
              <a:pPr indent="0">
                <a:buFont typeface="Wingdings" panose="05000000000000000000" charset="0"/>
                <a:buNone/>
              </a:pPr>
              <a:r>
                <a:rPr lang="en-US" altLang="ja-JP" sz="1600"/>
                <a:t> N</a:t>
              </a:r>
              <a:r>
                <a:rPr lang="en-US" altLang="ja-JP" sz="1600">
                  <a:sym typeface="+mn-ea"/>
                </a:rPr>
                <a:t>eed to collect EMG signals for all </a:t>
              </a:r>
              <a:r>
                <a:rPr lang="en-US" altLang="ja-JP" sz="1600">
                  <a:sym typeface="+mn-ea"/>
                </a:rPr>
                <a:t>motion</a:t>
              </a:r>
              <a:r>
                <a:rPr lang="en-US" altLang="ja-JP" sz="1600">
                  <a:sym typeface="+mn-ea"/>
                </a:rPr>
                <a:t> in advance.</a:t>
              </a:r>
              <a:endParaRPr lang="en-US" altLang="ja-JP" sz="1600"/>
            </a:p>
          </p:txBody>
        </p:sp>
        <p:pic>
          <p:nvPicPr>
            <p:cNvPr id="9" name="图片 8" descr="icons8-方块-48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5806" y="7430"/>
              <a:ext cx="593" cy="593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3686810" y="5946775"/>
            <a:ext cx="5198110" cy="415290"/>
            <a:chOff x="5806" y="7430"/>
            <a:chExt cx="8458" cy="654"/>
          </a:xfrm>
        </p:grpSpPr>
        <p:sp>
          <p:nvSpPr>
            <p:cNvPr id="12" name="文本框 11"/>
            <p:cNvSpPr txBox="1"/>
            <p:nvPr>
              <p:custDataLst>
                <p:tags r:id="rId11"/>
              </p:custDataLst>
            </p:nvPr>
          </p:nvSpPr>
          <p:spPr>
            <a:xfrm>
              <a:off x="6264" y="7492"/>
              <a:ext cx="8000" cy="592"/>
            </a:xfrm>
            <a:prstGeom prst="rect">
              <a:avLst/>
            </a:prstGeom>
          </p:spPr>
          <p:txBody>
            <a:bodyPr>
              <a:noAutofit/>
            </a:bodyPr>
            <a:p>
              <a:pPr indent="0">
                <a:buFont typeface="Wingdings" panose="05000000000000000000" charset="0"/>
                <a:buNone/>
              </a:pPr>
              <a:r>
                <a:rPr lang="en-US" altLang="ja-JP" sz="1600">
                  <a:sym typeface="+mn-ea"/>
                </a:rPr>
                <a:t>Re-collection and retraining are required </a:t>
              </a:r>
              <a:r>
                <a:rPr lang="en-US" altLang="zh-CN" sz="1600">
                  <a:sym typeface="+mn-ea"/>
                </a:rPr>
                <a:t>when improve</a:t>
              </a:r>
              <a:r>
                <a:rPr lang="en-US" altLang="ja-JP" sz="1600">
                  <a:sym typeface="+mn-ea"/>
                </a:rPr>
                <a:t>.</a:t>
              </a:r>
              <a:endParaRPr lang="en-US" altLang="ja-JP" sz="1600"/>
            </a:p>
          </p:txBody>
        </p:sp>
        <p:pic>
          <p:nvPicPr>
            <p:cNvPr id="15" name="图片 14" descr="icons8-方块-48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5806" y="7430"/>
              <a:ext cx="593" cy="593"/>
            </a:xfrm>
            <a:prstGeom prst="rect">
              <a:avLst/>
            </a:prstGeom>
          </p:spPr>
        </p:pic>
      </p:grpSp>
      <p:pic>
        <p:nvPicPr>
          <p:cNvPr id="13" name="图片 12" descr="年代发展图.drawio (1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7045" y="2645410"/>
            <a:ext cx="5629275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Differences in recognition methods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0" name="图片 9" descr="未命名绘图.drawio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555" y="1796415"/>
            <a:ext cx="2486025" cy="4400550"/>
          </a:xfrm>
          <a:prstGeom prst="rect">
            <a:avLst/>
          </a:prstGeom>
        </p:spPr>
      </p:pic>
      <p:pic>
        <p:nvPicPr>
          <p:cNvPr id="12" name="图片 11" descr="未命名绘图2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755" y="708025"/>
            <a:ext cx="4755515" cy="6010910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>
            <a:off x="3437255" y="895985"/>
            <a:ext cx="34925" cy="553593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589655" y="895985"/>
            <a:ext cx="4511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MS PMincho" panose="02020600040205080304" charset="-128"/>
                <a:cs typeface="Times New Roman" panose="02020603050405020304" charset="0"/>
              </a:rPr>
              <a:t>Muscle Synergy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Combine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90500" y="895985"/>
            <a:ext cx="4511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ea typeface="MS PMincho" panose="02020600040205080304" charset="-128"/>
                <a:cs typeface="Times New Roman" panose="02020603050405020304" charset="0"/>
              </a:rPr>
              <a:t>Pattern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Recognition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Muscle Synergy Vector</a:t>
            </a:r>
            <a:endParaRPr lang="zh-CN" altLang="en-US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" name="图片 1" descr="QQ20251210-1812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7505" y="1076960"/>
            <a:ext cx="3279140" cy="48768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567940" y="2245995"/>
            <a:ext cx="13455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1600">
                <a:sym typeface="+mn-ea"/>
              </a:rPr>
              <a:t>M1:Thumb</a:t>
            </a:r>
            <a:r>
              <a:rPr lang="en-US" altLang="zh-CN" sz="1600">
                <a:ea typeface="宋体" panose="02010600030101010101" pitchFamily="2" charset="-122"/>
              </a:rPr>
              <a:t> 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94915" y="3329305"/>
            <a:ext cx="60763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 [0.05,     0.31,     0.31,       0.33]</a:t>
            </a:r>
            <a:endParaRPr lang="en-US" altLang="zh-CN" sz="3200"/>
          </a:p>
        </p:txBody>
      </p:sp>
      <p:sp>
        <p:nvSpPr>
          <p:cNvPr id="7" name="下箭头 6"/>
          <p:cNvSpPr/>
          <p:nvPr>
            <p:custDataLst>
              <p:tags r:id="rId3"/>
            </p:custDataLst>
          </p:nvPr>
        </p:nvSpPr>
        <p:spPr>
          <a:xfrm>
            <a:off x="3021965" y="2696845"/>
            <a:ext cx="302260" cy="549910"/>
          </a:xfrm>
          <a:prstGeom prst="downArrow">
            <a:avLst/>
          </a:pr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C:/Users/xiqing/Desktop/3B6F20AD5401C99A43B18827FA0AD823.jpg3B6F20AD5401C99A43B18827FA0AD8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71"/>
          <a:stretch>
            <a:fillRect/>
          </a:stretch>
        </p:blipFill>
        <p:spPr>
          <a:xfrm>
            <a:off x="521970" y="2217420"/>
            <a:ext cx="1625600" cy="162571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3634740" y="2249170"/>
            <a:ext cx="18211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M2:Index Finger</a:t>
            </a:r>
            <a:r>
              <a:rPr lang="en-US" altLang="zh-CN" sz="1600">
                <a:ea typeface="宋体" panose="02010600030101010101" pitchFamily="2" charset="-122"/>
              </a:rPr>
              <a:t> 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5" name="下箭头 14"/>
          <p:cNvSpPr/>
          <p:nvPr>
            <p:custDataLst>
              <p:tags r:id="rId7"/>
            </p:custDataLst>
          </p:nvPr>
        </p:nvSpPr>
        <p:spPr>
          <a:xfrm>
            <a:off x="4367530" y="2696845"/>
            <a:ext cx="302260" cy="549910"/>
          </a:xfrm>
          <a:prstGeom prst="downArrow">
            <a:avLst/>
          </a:pr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5167630" y="2245995"/>
            <a:ext cx="18478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M3:</a:t>
            </a:r>
            <a:r>
              <a:rPr lang="en-US" altLang="zh-CN" sz="1600">
                <a:sym typeface="+mn-ea"/>
              </a:rPr>
              <a:t>Middle</a:t>
            </a:r>
            <a:r>
              <a:rPr lang="en-US" altLang="zh-CN" sz="1600">
                <a:sym typeface="+mn-ea"/>
              </a:rPr>
              <a:t> Finger</a:t>
            </a:r>
            <a:r>
              <a:rPr lang="en-US" altLang="zh-CN" sz="1600">
                <a:ea typeface="宋体" panose="02010600030101010101" pitchFamily="2" charset="-122"/>
                <a:sym typeface="+mn-ea"/>
              </a:rPr>
              <a:t> 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8" name="下箭头 17"/>
          <p:cNvSpPr/>
          <p:nvPr>
            <p:custDataLst>
              <p:tags r:id="rId9"/>
            </p:custDataLst>
          </p:nvPr>
        </p:nvSpPr>
        <p:spPr>
          <a:xfrm>
            <a:off x="5685155" y="2696845"/>
            <a:ext cx="302260" cy="549910"/>
          </a:xfrm>
          <a:prstGeom prst="downArrow">
            <a:avLst/>
          </a:pr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6885305" y="2245995"/>
            <a:ext cx="1576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M4:</a:t>
            </a:r>
            <a:r>
              <a:rPr lang="en-US" altLang="zh-CN" sz="1600">
                <a:sym typeface="+mn-ea"/>
              </a:rPr>
              <a:t>Ring&amp;Little 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0" name="下箭头 19"/>
          <p:cNvSpPr/>
          <p:nvPr>
            <p:custDataLst>
              <p:tags r:id="rId11"/>
            </p:custDataLst>
          </p:nvPr>
        </p:nvSpPr>
        <p:spPr>
          <a:xfrm>
            <a:off x="7268210" y="2696845"/>
            <a:ext cx="302260" cy="549910"/>
          </a:xfrm>
          <a:prstGeom prst="downArrow">
            <a:avLst/>
          </a:pr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93700" y="17068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Example</a:t>
            </a:r>
            <a:endParaRPr lang="en-US" altLang="zh-CN"/>
          </a:p>
        </p:txBody>
      </p:sp>
      <p:pic>
        <p:nvPicPr>
          <p:cNvPr id="8" name="图片 7" descr="PPT流程图1.drawi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700" y="4489450"/>
            <a:ext cx="8286750" cy="21717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75590" y="42405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Flowchart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未命名绘图12_12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3013710"/>
            <a:ext cx="2295525" cy="1724025"/>
          </a:xfrm>
          <a:prstGeom prst="rect">
            <a:avLst/>
          </a:prstGeom>
        </p:spPr>
      </p:pic>
      <p:pic>
        <p:nvPicPr>
          <p:cNvPr id="3" name="图片 2" descr="QQ20251212-1518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890" y="3159760"/>
            <a:ext cx="3561715" cy="1504315"/>
          </a:xfrm>
          <a:prstGeom prst="rect">
            <a:avLst/>
          </a:prstGeom>
        </p:spPr>
      </p:pic>
      <p:pic>
        <p:nvPicPr>
          <p:cNvPr id="4" name="图片 3" descr="QQ20251213-1536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0" y="5612130"/>
            <a:ext cx="3400425" cy="1000125"/>
          </a:xfrm>
          <a:prstGeom prst="rect">
            <a:avLst/>
          </a:prstGeom>
        </p:spPr>
      </p:pic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2290445" y="622935"/>
            <a:ext cx="4425950" cy="1487170"/>
            <a:chOff x="2821" y="1072"/>
            <a:chExt cx="7950" cy="2671"/>
          </a:xfrm>
        </p:grpSpPr>
        <p:pic>
          <p:nvPicPr>
            <p:cNvPr id="7" name="图片 6" descr="PPT流程图2.drawi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1" y="1072"/>
              <a:ext cx="7950" cy="267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5310" y="2017"/>
              <a:ext cx="2536" cy="1727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lumMod val="75000"/>
                  <a:alpha val="63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0510" y="25219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ja-JP" sz="1600"/>
              <a:t>Mapping Relationship</a:t>
            </a:r>
            <a:endParaRPr lang="en-US" altLang="ja-JP" sz="1600"/>
          </a:p>
        </p:txBody>
      </p:sp>
      <p:sp>
        <p:nvSpPr>
          <p:cNvPr id="12" name="文本框 11"/>
          <p:cNvSpPr txBox="1"/>
          <p:nvPr/>
        </p:nvSpPr>
        <p:spPr>
          <a:xfrm>
            <a:off x="270510" y="51825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ja-JP" sz="1600"/>
              <a:t>Transformation Formula</a:t>
            </a:r>
            <a:endParaRPr lang="en-US" altLang="ja-JP" sz="1600"/>
          </a:p>
        </p:txBody>
      </p:sp>
      <p:pic>
        <p:nvPicPr>
          <p:cNvPr id="17" name="图片 16" descr="icons8-前进箭头-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520000">
            <a:off x="4655185" y="5007610"/>
            <a:ext cx="1410335" cy="948055"/>
          </a:xfrm>
          <a:prstGeom prst="rect">
            <a:avLst/>
          </a:prstGeom>
        </p:spPr>
      </p:pic>
      <p:pic>
        <p:nvPicPr>
          <p:cNvPr id="18" name="图片 17" descr="icons8-向下-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300" y="2110740"/>
            <a:ext cx="1169670" cy="749935"/>
          </a:xfrm>
          <a:prstGeom prst="rect">
            <a:avLst/>
          </a:prstGeom>
        </p:spPr>
      </p:pic>
      <p:pic>
        <p:nvPicPr>
          <p:cNvPr id="19" name="图片 18" descr="icons8-右-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2475" y="3435350"/>
            <a:ext cx="1133475" cy="10083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Muscle Synergy Extraction Model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800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Synergy Distribution in </a:t>
            </a:r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Test Data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7" name="图片 16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090" y="908685"/>
            <a:ext cx="6336030" cy="2716530"/>
          </a:xfrm>
          <a:prstGeom prst="rect">
            <a:avLst/>
          </a:prstGeom>
        </p:spPr>
      </p:pic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524510" y="1341755"/>
            <a:ext cx="1482725" cy="1681177"/>
            <a:chOff x="690" y="1038"/>
            <a:chExt cx="1411" cy="1635"/>
          </a:xfrm>
        </p:grpSpPr>
        <p:pic>
          <p:nvPicPr>
            <p:cNvPr id="19" name="图片 18" descr="DB50FE74AC83FB0139AAC6FE1E5B8C7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" y="1038"/>
              <a:ext cx="1411" cy="1411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690" y="2449"/>
              <a:ext cx="1410" cy="22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ja-JP" sz="900"/>
                <a:t>M1:Thumb Flexion</a:t>
              </a:r>
              <a:endParaRPr lang="en-US" altLang="ja-JP" sz="900"/>
            </a:p>
          </p:txBody>
        </p:sp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>
            <a:off x="524510" y="4457065"/>
            <a:ext cx="1455420" cy="1685367"/>
            <a:chOff x="690" y="1038"/>
            <a:chExt cx="1411" cy="1634"/>
          </a:xfrm>
        </p:grpSpPr>
        <p:pic>
          <p:nvPicPr>
            <p:cNvPr id="22" name="图片 21" descr="C:/Users/xiqing/Desktop/9FFBE9217056770A80C73598E6A8B04F.jpg9FFBE9217056770A80C73598E6A8B04F"/>
            <p:cNvPicPr>
              <a:picLocks noChangeAspect="1"/>
            </p:cNvPicPr>
            <p:nvPr/>
          </p:nvPicPr>
          <p:blipFill>
            <a:blip r:embed="rId3"/>
            <a:srcRect t="71"/>
            <a:stretch>
              <a:fillRect/>
            </a:stretch>
          </p:blipFill>
          <p:spPr>
            <a:xfrm>
              <a:off x="690" y="1038"/>
              <a:ext cx="1411" cy="1411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690" y="2449"/>
              <a:ext cx="1410" cy="22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900"/>
                <a:t>M2:Index Finger F</a:t>
              </a:r>
              <a:r>
                <a:rPr lang="en-US" altLang="ja-JP" sz="900">
                  <a:sym typeface="+mn-ea"/>
                </a:rPr>
                <a:t>lexion</a:t>
              </a:r>
              <a:endParaRPr lang="en-US" altLang="zh-CN" sz="900"/>
            </a:p>
          </p:txBody>
        </p:sp>
      </p:grpSp>
      <p:pic>
        <p:nvPicPr>
          <p:cNvPr id="24" name="图片 23" descr="Figure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090" y="3826510"/>
            <a:ext cx="6338570" cy="2716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92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Synergy Distribution in </a:t>
            </a:r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Test Data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8" name="图片 7" descr="Figure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090" y="866775"/>
            <a:ext cx="6350635" cy="2721610"/>
          </a:xfrm>
          <a:prstGeom prst="rect">
            <a:avLst/>
          </a:prstGeom>
        </p:spPr>
      </p:pic>
      <p:pic>
        <p:nvPicPr>
          <p:cNvPr id="10" name="图片 9" descr="Figure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90" y="3908425"/>
            <a:ext cx="6350635" cy="2721610"/>
          </a:xfrm>
          <a:prstGeom prst="rect">
            <a:avLst/>
          </a:prstGeom>
        </p:spPr>
      </p:pic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526415" y="1500505"/>
            <a:ext cx="1453515" cy="1683283"/>
            <a:chOff x="690" y="1038"/>
            <a:chExt cx="1411" cy="1634"/>
          </a:xfrm>
        </p:grpSpPr>
        <p:pic>
          <p:nvPicPr>
            <p:cNvPr id="3" name="图片 2" descr="C:/Users/xiqing/Desktop/869F45B56F335F651BDCA14BE4AA5354.jpg869F45B56F335F651BDCA14BE4AA5354"/>
            <p:cNvPicPr>
              <a:picLocks noChangeAspect="1"/>
            </p:cNvPicPr>
            <p:nvPr/>
          </p:nvPicPr>
          <p:blipFill>
            <a:blip r:embed="rId3"/>
            <a:srcRect t="71"/>
            <a:stretch>
              <a:fillRect/>
            </a:stretch>
          </p:blipFill>
          <p:spPr>
            <a:xfrm>
              <a:off x="690" y="1038"/>
              <a:ext cx="1411" cy="1411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690" y="2449"/>
              <a:ext cx="1410" cy="22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900"/>
                <a:t>M3:Middle Finger Flexion</a:t>
              </a:r>
              <a:endParaRPr lang="en-US" altLang="zh-CN" sz="900"/>
            </a:p>
          </p:txBody>
        </p:sp>
      </p:grp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485775" y="4539615"/>
            <a:ext cx="1458595" cy="1827133"/>
            <a:chOff x="690" y="1038"/>
            <a:chExt cx="1411" cy="1767"/>
          </a:xfrm>
        </p:grpSpPr>
        <p:pic>
          <p:nvPicPr>
            <p:cNvPr id="5" name="图片 4" descr="C:/Users/xiqing/Desktop/6AD64C70D8F1F1A0A54700377F7841D2.jpg6AD64C70D8F1F1A0A54700377F7841D2"/>
            <p:cNvPicPr>
              <a:picLocks noChangeAspect="1"/>
            </p:cNvPicPr>
            <p:nvPr/>
          </p:nvPicPr>
          <p:blipFill>
            <a:blip r:embed="rId4"/>
            <a:srcRect t="71"/>
            <a:stretch>
              <a:fillRect/>
            </a:stretch>
          </p:blipFill>
          <p:spPr>
            <a:xfrm>
              <a:off x="690" y="1038"/>
              <a:ext cx="1411" cy="1411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690" y="2449"/>
              <a:ext cx="1410" cy="35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900"/>
                <a:t>M4:Ring&amp;Little Finger Flexion</a:t>
              </a:r>
              <a:endParaRPr lang="en-US" altLang="zh-CN" sz="9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680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Synergy Distribution in </a:t>
            </a:r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Test Data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25" name="组合 24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62890" y="4347845"/>
            <a:ext cx="1347470" cy="1716636"/>
            <a:chOff x="690" y="1038"/>
            <a:chExt cx="1411" cy="1797"/>
          </a:xfrm>
        </p:grpSpPr>
        <p:pic>
          <p:nvPicPr>
            <p:cNvPr id="26" name="图片 25" descr="C:/Users/xiqing/Desktop/34738992B316E6870AE0B535B9DBE742.jpg34738992B316E6870AE0B535B9DBE74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rcRect t="71"/>
            <a:stretch>
              <a:fillRect/>
            </a:stretch>
          </p:blipFill>
          <p:spPr>
            <a:xfrm>
              <a:off x="690" y="1038"/>
              <a:ext cx="1411" cy="1411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>
              <p:custDataLst>
                <p:tags r:id="rId4"/>
              </p:custDataLst>
            </p:nvPr>
          </p:nvSpPr>
          <p:spPr>
            <a:xfrm>
              <a:off x="690" y="2449"/>
              <a:ext cx="1410" cy="38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ja-JP" sz="900"/>
                <a:t>M6:</a:t>
              </a:r>
              <a:r>
                <a:rPr lang="en-US" altLang="ja-JP" sz="900">
                  <a:sym typeface="+mn-ea"/>
                </a:rPr>
                <a:t>Thumb+</a:t>
              </a:r>
              <a:r>
                <a:rPr lang="en-US" altLang="zh-CN" sz="900">
                  <a:sym typeface="+mn-ea"/>
                </a:rPr>
                <a:t>Ring&amp;Little </a:t>
              </a:r>
              <a:r>
                <a:rPr lang="en-US" altLang="zh-CN" sz="900">
                  <a:sym typeface="+mn-ea"/>
                </a:rPr>
                <a:t>Finger</a:t>
              </a:r>
              <a:endParaRPr lang="zh-CN" altLang="en-US" sz="900">
                <a:ea typeface="宋体" panose="02010600030101010101" pitchFamily="2" charset="-122"/>
              </a:endParaRPr>
            </a:p>
          </p:txBody>
        </p:sp>
      </p:grpSp>
      <p:pic>
        <p:nvPicPr>
          <p:cNvPr id="11" name="图片 10" descr="Figure_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2765" y="3830955"/>
            <a:ext cx="6216650" cy="266446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215515" y="4714875"/>
            <a:ext cx="5632450" cy="1043940"/>
          </a:xfrm>
          <a:prstGeom prst="rect">
            <a:avLst/>
          </a:prstGeom>
          <a:solidFill>
            <a:srgbClr val="E6E6E6">
              <a:alpha val="1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7903210" y="4990465"/>
            <a:ext cx="540385" cy="476250"/>
          </a:xfrm>
          <a:custGeom>
            <a:avLst/>
            <a:gdLst>
              <a:gd name="connisteX0" fmla="*/ 0 w 540385"/>
              <a:gd name="connsiteY0" fmla="*/ 476250 h 476250"/>
              <a:gd name="connisteX1" fmla="*/ 311150 w 540385"/>
              <a:gd name="connsiteY1" fmla="*/ 274320 h 476250"/>
              <a:gd name="connisteX2" fmla="*/ 265430 w 540385"/>
              <a:gd name="connsiteY2" fmla="*/ 54610 h 476250"/>
              <a:gd name="connisteX3" fmla="*/ 540385 w 540385"/>
              <a:gd name="connsiteY3" fmla="*/ 0 h 476250"/>
              <a:gd name="connisteX4" fmla="*/ 604520 w 540385"/>
              <a:gd name="connsiteY4" fmla="*/ -27305 h 476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40385" h="476250">
                <a:moveTo>
                  <a:pt x="0" y="476250"/>
                </a:moveTo>
                <a:cubicBezTo>
                  <a:pt x="62865" y="440055"/>
                  <a:pt x="257810" y="358775"/>
                  <a:pt x="311150" y="274320"/>
                </a:cubicBezTo>
                <a:cubicBezTo>
                  <a:pt x="364490" y="189865"/>
                  <a:pt x="219710" y="109220"/>
                  <a:pt x="265430" y="54610"/>
                </a:cubicBezTo>
                <a:cubicBezTo>
                  <a:pt x="311150" y="0"/>
                  <a:pt x="472440" y="16510"/>
                  <a:pt x="540385" y="0"/>
                </a:cubicBezTo>
              </a:path>
            </a:pathLst>
          </a:custGeom>
          <a:noFill/>
          <a:ln>
            <a:solidFill>
              <a:srgbClr val="F62828">
                <a:alpha val="7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53120" y="4714875"/>
            <a:ext cx="721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rgbClr val="FF0000"/>
                </a:solidFill>
              </a:rPr>
              <a:t>Error Result</a:t>
            </a:r>
            <a:endParaRPr lang="en-US" altLang="zh-CN" sz="1200">
              <a:solidFill>
                <a:srgbClr val="FF0000"/>
              </a:solidFill>
            </a:endParaRPr>
          </a:p>
        </p:txBody>
      </p:sp>
      <p:pic>
        <p:nvPicPr>
          <p:cNvPr id="9" name="图片 8" descr="Figure_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5625" y="908685"/>
            <a:ext cx="6195695" cy="2655570"/>
          </a:xfrm>
          <a:prstGeom prst="rect">
            <a:avLst/>
          </a:prstGeom>
        </p:spPr>
      </p:pic>
      <p:grpSp>
        <p:nvGrpSpPr>
          <p:cNvPr id="28" name="组合 27"/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330835" y="1340485"/>
            <a:ext cx="1279525" cy="1647837"/>
            <a:chOff x="690" y="1038"/>
            <a:chExt cx="1411" cy="1817"/>
          </a:xfrm>
        </p:grpSpPr>
        <p:pic>
          <p:nvPicPr>
            <p:cNvPr id="29" name="图片 28" descr="C:/Users/xiqing/Desktop/EFD4F06A9F7C360F6BEBCC301B7B32C0.jpgEFD4F06A9F7C360F6BEBCC301B7B32C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rcRect t="71"/>
            <a:stretch>
              <a:fillRect/>
            </a:stretch>
          </p:blipFill>
          <p:spPr>
            <a:xfrm>
              <a:off x="690" y="1038"/>
              <a:ext cx="1411" cy="1411"/>
            </a:xfrm>
            <a:prstGeom prst="rect">
              <a:avLst/>
            </a:prstGeom>
          </p:spPr>
        </p:pic>
        <p:sp>
          <p:nvSpPr>
            <p:cNvPr id="30" name="文本框 29"/>
            <p:cNvSpPr txBox="1"/>
            <p:nvPr>
              <p:custDataLst>
                <p:tags r:id="rId10"/>
              </p:custDataLst>
            </p:nvPr>
          </p:nvSpPr>
          <p:spPr>
            <a:xfrm>
              <a:off x="690" y="2449"/>
              <a:ext cx="1410" cy="40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900"/>
                <a:t>M5:</a:t>
              </a:r>
              <a:r>
                <a:rPr lang="en-US" altLang="ja-JP" sz="900">
                  <a:sym typeface="+mn-ea"/>
                </a:rPr>
                <a:t>Thumb+</a:t>
              </a:r>
              <a:r>
                <a:rPr lang="en-US" altLang="zh-CN" sz="900">
                  <a:sym typeface="+mn-ea"/>
                </a:rPr>
                <a:t>Index Finger</a:t>
              </a:r>
              <a:endParaRPr lang="en-US" altLang="zh-CN" sz="9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92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Synergy Distribution in </a:t>
            </a:r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Test Data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3" name="图片 12" descr="Figure_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090" y="945515"/>
            <a:ext cx="6505575" cy="2788285"/>
          </a:xfrm>
          <a:prstGeom prst="rect">
            <a:avLst/>
          </a:prstGeom>
        </p:spPr>
      </p:pic>
      <p:grpSp>
        <p:nvGrpSpPr>
          <p:cNvPr id="9" name="组合 8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20040" y="1287145"/>
            <a:ext cx="1625600" cy="1994404"/>
            <a:chOff x="690" y="1038"/>
            <a:chExt cx="1411" cy="1731"/>
          </a:xfrm>
        </p:grpSpPr>
        <p:pic>
          <p:nvPicPr>
            <p:cNvPr id="11" name="图片 10" descr="C:/Users/xiqing/Desktop/2B269BFC5A9871A03E6209E251C7C189.jpg2B269BFC5A9871A03E6209E251C7C189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-35" t="35" r="35" b="35"/>
            <a:stretch>
              <a:fillRect/>
            </a:stretch>
          </p:blipFill>
          <p:spPr>
            <a:xfrm>
              <a:off x="690" y="1038"/>
              <a:ext cx="1411" cy="1411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>
              <p:custDataLst>
                <p:tags r:id="rId5"/>
              </p:custDataLst>
            </p:nvPr>
          </p:nvSpPr>
          <p:spPr>
            <a:xfrm>
              <a:off x="690" y="2449"/>
              <a:ext cx="1410" cy="32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ja-JP" sz="900"/>
                <a:t>M7:</a:t>
              </a:r>
              <a:r>
                <a:rPr lang="en-US" altLang="zh-CN" sz="900">
                  <a:sym typeface="+mn-ea"/>
                </a:rPr>
                <a:t>Middle+Ring&amp;Little Finger</a:t>
              </a:r>
              <a:endParaRPr lang="en-US" altLang="ja-JP" sz="900"/>
            </a:p>
          </p:txBody>
        </p:sp>
      </p:grpSp>
      <p:pic>
        <p:nvPicPr>
          <p:cNvPr id="15" name="图片 14" descr="Figure_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455" y="3947795"/>
            <a:ext cx="6506845" cy="2788285"/>
          </a:xfrm>
          <a:prstGeom prst="rect">
            <a:avLst/>
          </a:prstGeom>
        </p:spPr>
      </p:pic>
      <p:grpSp>
        <p:nvGrpSpPr>
          <p:cNvPr id="14" name="组合 13"/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320040" y="4528820"/>
            <a:ext cx="1625600" cy="1994404"/>
            <a:chOff x="690" y="1038"/>
            <a:chExt cx="1411" cy="1731"/>
          </a:xfrm>
        </p:grpSpPr>
        <p:pic>
          <p:nvPicPr>
            <p:cNvPr id="17" name="图片 16" descr="C:/Users/xiqing/Desktop/3B6F20AD5401C99A43B18827FA0AD823.jpg3B6F20AD5401C99A43B18827FA0AD82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rcRect t="71"/>
            <a:stretch>
              <a:fillRect/>
            </a:stretch>
          </p:blipFill>
          <p:spPr>
            <a:xfrm>
              <a:off x="690" y="1038"/>
              <a:ext cx="1411" cy="1411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>
              <p:custDataLst>
                <p:tags r:id="rId10"/>
              </p:custDataLst>
            </p:nvPr>
          </p:nvSpPr>
          <p:spPr>
            <a:xfrm>
              <a:off x="690" y="2449"/>
              <a:ext cx="1410" cy="32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ja-JP" sz="900">
                  <a:sym typeface="+mn-ea"/>
                </a:rPr>
                <a:t>M8:</a:t>
              </a:r>
              <a:r>
                <a:rPr lang="en-US" altLang="zh-CN" sz="900">
                  <a:sym typeface="+mn-ea"/>
                </a:rPr>
                <a:t>Index+</a:t>
              </a:r>
              <a:r>
                <a:rPr lang="en-US" altLang="zh-CN" sz="900">
                  <a:sym typeface="+mn-ea"/>
                </a:rPr>
                <a:t>Middle+ Ring&amp;Little Finger</a:t>
              </a:r>
              <a:endParaRPr lang="en-US" altLang="ja-JP" sz="9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535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Summary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6860" y="2372995"/>
            <a:ext cx="8523605" cy="3188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1600">
                <a:ea typeface="宋体" panose="02010600030101010101" pitchFamily="2" charset="-122"/>
                <a:sym typeface="+mn-ea"/>
              </a:rPr>
              <a:t>-    </a:t>
            </a:r>
            <a:r>
              <a:rPr lang="en-US" altLang="zh-CN" sz="1600">
                <a:ea typeface="宋体" panose="02010600030101010101" pitchFamily="2" charset="-122"/>
                <a:sym typeface="+mn-ea"/>
              </a:rPr>
              <a:t>To accomplish the motion generation model.</a:t>
            </a:r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1600">
                <a:ea typeface="宋体" panose="02010600030101010101" pitchFamily="2" charset="-122"/>
                <a:sym typeface="+mn-ea"/>
              </a:rPr>
              <a:t>-    To find the novelty.</a:t>
            </a:r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1600">
                <a:ea typeface="宋体" panose="02010600030101010101" pitchFamily="2" charset="-122"/>
                <a:sym typeface="+mn-ea"/>
              </a:rPr>
              <a:t>-    Modify the </a:t>
            </a:r>
            <a:r>
              <a:rPr lang="en-US" altLang="zh-CN" sz="1600">
                <a:ea typeface="宋体" panose="02010600030101010101" pitchFamily="2" charset="-122"/>
                <a:sym typeface="+mn-ea"/>
              </a:rPr>
              <a:t>extraction model</a:t>
            </a:r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1600">
                <a:ea typeface="宋体" panose="02010600030101010101" pitchFamily="2" charset="-122"/>
                <a:sym typeface="+mn-ea"/>
              </a:rPr>
              <a:t>-    Invite more participants to verify the theory.</a:t>
            </a:r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1600">
                <a:ea typeface="宋体" panose="02010600030101010101" pitchFamily="2" charset="-122"/>
                <a:sym typeface="+mn-ea"/>
              </a:rPr>
              <a:t>-    </a:t>
            </a:r>
            <a:r>
              <a:rPr lang="en-US" altLang="zh-CN" sz="1600">
                <a:ea typeface="宋体" panose="02010600030101010101" pitchFamily="2" charset="-122"/>
                <a:sym typeface="+mn-ea"/>
              </a:rPr>
              <a:t>Achieve real-time performance.</a:t>
            </a:r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indent="457200"/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2590" y="855980"/>
            <a:ext cx="83159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 sz="1600">
                <a:ea typeface="宋体" panose="02010600030101010101" pitchFamily="2" charset="-122"/>
              </a:rPr>
              <a:t>I think this is a good preliminary result. I successfully reproduces the muscle synergy theory at an initial stage.</a:t>
            </a: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860" y="1762760"/>
            <a:ext cx="8522970" cy="535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Future Plan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92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1005205"/>
            <a:ext cx="8529955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</a:t>
            </a: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Farag H O, Gaber M M, Awad M I, et al. Myoelectric Prosthetic Hands: A Review of Muscle Synergy, Machine Learning and Edge Computing[J]. ACM Computing Surveys, 2025, 57(12): 1-33.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</a:t>
            </a: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Furui A, Eto S, Nakagaki K, et al. A myoelectric prosthetic hand with muscle synergy–based motion determination and impedance model–based biomimetic control[J]. Science Robotics, 2019, 4(31): eaaw6339.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ja-JP" sz="1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[3] </a:t>
            </a: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d'Avella A, Saltiel P, Bizzi E. Combinations of muscle synergies in the construction of a natural motor behavior[J]. Nature neuroscience, 2003, 6(3): 300-308.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9.45,&quot;left&quot;:290.3,&quot;top&quot;:371.5,&quot;width&quot;:409.3}"/>
</p:tagLst>
</file>

<file path=ppt/tags/tag2.xml><?xml version="1.0" encoding="utf-8"?>
<p:tagLst xmlns:p="http://schemas.openxmlformats.org/presentationml/2006/main">
  <p:tag name="KSO_WM_DIAGRAM_VIRTUALLY_FRAME" val="{&quot;height&quot;:129.45,&quot;left&quot;:290.3,&quot;top&quot;:371.5,&quot;width&quot;:409.3}"/>
</p:tagLst>
</file>

<file path=ppt/tags/tag3.xml><?xml version="1.0" encoding="utf-8"?>
<p:tagLst xmlns:p="http://schemas.openxmlformats.org/presentationml/2006/main">
  <p:tag name="KSO_WM_DIAGRAM_VIRTUALLY_FRAME" val="{&quot;height&quot;:129.45,&quot;left&quot;:290.3,&quot;top&quot;:371.5,&quot;width&quot;:409.3}"/>
</p:tagLst>
</file>

<file path=ppt/tags/tag4.xml><?xml version="1.0" encoding="utf-8"?>
<p:tagLst xmlns:p="http://schemas.openxmlformats.org/presentationml/2006/main">
  <p:tag name="KSO_WM_DIAGRAM_VIRTUALLY_FRAME" val="{&quot;height&quot;:129.45,&quot;left&quot;:290.3,&quot;top&quot;:371.5,&quot;width&quot;:409.3}"/>
</p:tagLst>
</file>

<file path=ppt/tags/tag5.xml><?xml version="1.0" encoding="utf-8"?>
<p:tagLst xmlns:p="http://schemas.openxmlformats.org/presentationml/2006/main">
  <p:tag name="KSO_WM_DIAGRAM_VIRTUALLY_FRAME" val="{&quot;height&quot;:129.45,&quot;left&quot;:290.3,&quot;top&quot;:371.5,&quot;width&quot;:409.3}"/>
</p:tagLst>
</file>

<file path=ppt/tags/tag6.xml><?xml version="1.0" encoding="utf-8"?>
<p:tagLst xmlns:p="http://schemas.openxmlformats.org/presentationml/2006/main">
  <p:tag name="KSO_WM_DIAGRAM_VIRTUALLY_FRAME" val="{&quot;height&quot;:129.45,&quot;left&quot;:290.3,&quot;top&quot;:371.5,&quot;width&quot;:409.3}"/>
</p:tagLst>
</file>

<file path=ppt/tags/tag7.xml><?xml version="1.0" encoding="utf-8"?>
<p:tagLst xmlns:p="http://schemas.openxmlformats.org/presentationml/2006/main">
  <p:tag name="KSO_WM_DIAGRAM_VIRTUALLY_FRAME" val="{&quot;height&quot;:129.45,&quot;left&quot;:290.3,&quot;top&quot;:371.5,&quot;width&quot;:409.3}"/>
</p:tagLst>
</file>

<file path=ppt/tags/tag8.xml><?xml version="1.0" encoding="utf-8"?>
<p:tagLst xmlns:p="http://schemas.openxmlformats.org/presentationml/2006/main">
  <p:tag name="KSO_WM_DIAGRAM_VIRTUALLY_FRAME" val="{&quot;height&quot;:129.45,&quot;left&quot;:290.3,&quot;top&quot;:371.5,&quot;width&quot;:409.3}"/>
</p:tagLst>
</file>

<file path=ppt/tags/tag9.xml><?xml version="1.0" encoding="utf-8"?>
<p:tagLst xmlns:p="http://schemas.openxmlformats.org/presentationml/2006/main">
  <p:tag name="KSO_WM_DIAGRAM_VIRTUALLY_FRAME" val="{&quot;height&quot;:129.45,&quot;left&quot;:290.3,&quot;top&quot;:371.5,&quot;width&quot;:409.3}"/>
</p:tagLst>
</file>

<file path=ppt/tags/tag10.xml><?xml version="1.0" encoding="utf-8"?>
<p:tagLst xmlns:p="http://schemas.openxmlformats.org/presentationml/2006/main">
  <p:tag name="KSO_WM_DIAGRAM_VIRTUALLY_FRAME" val="{&quot;height&quot;:85.3,&quot;left&quot;:210.8,&quot;top&quot;:210.7,&quot;width&quot;:487.9}"/>
</p:tagLst>
</file>

<file path=ppt/tags/tag11.xml><?xml version="1.0" encoding="utf-8"?>
<p:tagLst xmlns:p="http://schemas.openxmlformats.org/presentationml/2006/main">
  <p:tag name="KSO_WM_DIAGRAM_VIRTUALLY_FRAME" val="{&quot;height&quot;:85.3,&quot;left&quot;:210.8,&quot;top&quot;:210.7,&quot;width&quot;:487.9}"/>
</p:tagLst>
</file>

<file path=ppt/tags/tag12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ags/tag13.xml><?xml version="1.0" encoding="utf-8"?>
<p:tagLst xmlns:p="http://schemas.openxmlformats.org/presentationml/2006/main">
  <p:tag name="KSO_WM_DIAGRAM_VIRTUALLY_FRAME" val="{&quot;height&quot;:85.3,&quot;left&quot;:210.8,&quot;top&quot;:210.7,&quot;width&quot;:487.9}"/>
</p:tagLst>
</file>

<file path=ppt/tags/tag14.xml><?xml version="1.0" encoding="utf-8"?>
<p:tagLst xmlns:p="http://schemas.openxmlformats.org/presentationml/2006/main">
  <p:tag name="KSO_WM_DIAGRAM_VIRTUALLY_FRAME" val="{&quot;height&quot;:85.3,&quot;left&quot;:210.8,&quot;top&quot;:210.7,&quot;width&quot;:487.9}"/>
</p:tagLst>
</file>

<file path=ppt/tags/tag15.xml><?xml version="1.0" encoding="utf-8"?>
<p:tagLst xmlns:p="http://schemas.openxmlformats.org/presentationml/2006/main">
  <p:tag name="KSO_WM_DIAGRAM_VIRTUALLY_FRAME" val="{&quot;height&quot;:85.3,&quot;left&quot;:210.8,&quot;top&quot;:210.7,&quot;width&quot;:487.9}"/>
</p:tagLst>
</file>

<file path=ppt/tags/tag16.xml><?xml version="1.0" encoding="utf-8"?>
<p:tagLst xmlns:p="http://schemas.openxmlformats.org/presentationml/2006/main">
  <p:tag name="KSO_WM_DIAGRAM_VIRTUALLY_FRAME" val="{&quot;height&quot;:85.3,&quot;left&quot;:210.8,&quot;top&quot;:210.7,&quot;width&quot;:487.9}"/>
</p:tagLst>
</file>

<file path=ppt/tags/tag17.xml><?xml version="1.0" encoding="utf-8"?>
<p:tagLst xmlns:p="http://schemas.openxmlformats.org/presentationml/2006/main">
  <p:tag name="KSO_WM_DIAGRAM_VIRTUALLY_FRAME" val="{&quot;height&quot;:85.3,&quot;left&quot;:210.8,&quot;top&quot;:210.7,&quot;width&quot;:487.9}"/>
</p:tagLst>
</file>

<file path=ppt/tags/tag18.xml><?xml version="1.0" encoding="utf-8"?>
<p:tagLst xmlns:p="http://schemas.openxmlformats.org/presentationml/2006/main">
  <p:tag name="KSO_WM_DIAGRAM_VIRTUALLY_FRAME" val="{&quot;height&quot;:85.3,&quot;left&quot;:210.8,&quot;top&quot;:210.7,&quot;width&quot;:487.9}"/>
</p:tagLst>
</file>

<file path=ppt/tags/tag19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ags/tag20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ags/tag21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ags/tag22.xml><?xml version="1.0" encoding="utf-8"?>
<p:tagLst xmlns:p="http://schemas.openxmlformats.org/presentationml/2006/main">
  <p:tag name="KSO_WM_DIAGRAM_VIRTUALLY_FRAME" val="{&quot;height&quot;:302.05,&quot;left&quot;:457.65,&quot;top&quot;:53.45,&quot;width&quot;:237.6}"/>
</p:tagLst>
</file>

<file path=ppt/tags/tag23.xml><?xml version="1.0" encoding="utf-8"?>
<p:tagLst xmlns:p="http://schemas.openxmlformats.org/presentationml/2006/main">
  <p:tag name="KSO_WM_DIAGRAM_VIRTUALLY_FRAME" val="{&quot;height&quot;:302.05,&quot;left&quot;:457.65,&quot;top&quot;:53.45,&quot;width&quot;:237.6}"/>
</p:tagLst>
</file>

<file path=ppt/tags/tag24.xml><?xml version="1.0" encoding="utf-8"?>
<p:tagLst xmlns:p="http://schemas.openxmlformats.org/presentationml/2006/main">
  <p:tag name="KSO_WM_DIAGRAM_VIRTUALLY_FRAME" val="{&quot;height&quot;:302.05,&quot;left&quot;:457.65,&quot;top&quot;:53.45,&quot;width&quot;:237.6}"/>
</p:tagLst>
</file>

<file path=ppt/tags/tag25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ags/tag26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ags/tag27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ags/tag28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ags/tag29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ags/tag30.xml><?xml version="1.0" encoding="utf-8"?>
<p:tagLst xmlns:p="http://schemas.openxmlformats.org/presentationml/2006/main">
  <p:tag name="KSO_WM_DIAGRAM_VIRTUALLY_FRAME" val="{&quot;height&quot;:302.05,&quot;left&quot;:341.55,&quot;top&quot;:53.45,&quot;width&quot;:353.7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195f4af887e8b02337b1b142d1f847de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81e6449237d2fc142489e0904e1e716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1.xml><?xml version="1.0" encoding="utf-8"?>
<ds:datastoreItem xmlns:ds="http://schemas.openxmlformats.org/officeDocument/2006/customXml" ds:itemID="{D3FA7E84-7FC5-4C41-A4F9-8872414BB2F4}">
  <ds:schemaRefs/>
</ds:datastoreItem>
</file>

<file path=customXml/itemProps32.xml><?xml version="1.0" encoding="utf-8"?>
<ds:datastoreItem xmlns:ds="http://schemas.openxmlformats.org/officeDocument/2006/customXml" ds:itemID="{0E5148B6-4531-42C7-8EF9-49C77F467C6E}">
  <ds:schemaRefs/>
</ds:datastoreItem>
</file>

<file path=customXml/itemProps33.xml><?xml version="1.0" encoding="utf-8"?>
<ds:datastoreItem xmlns:ds="http://schemas.openxmlformats.org/officeDocument/2006/customXml" ds:itemID="{9FF3F963-4824-4617-9390-F81F48A450C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1896</Words>
  <Application>WPS 演示</Application>
  <PresentationFormat>画面に合わせる (4:3)</PresentationFormat>
  <Paragraphs>102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Times New Roman</vt:lpstr>
      <vt:lpstr>Wingdings</vt:lpstr>
      <vt:lpstr>MS PMincho</vt:lpstr>
      <vt:lpstr>MS PGothic</vt:lpstr>
      <vt:lpstr>微软雅黑</vt:lpstr>
      <vt:lpstr>Arial Unicode MS</vt:lpstr>
      <vt:lpstr>Office テーマ</vt:lpstr>
      <vt:lpstr>Prosthetic Hand Control Based on Muscle Synergy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24742101 石津七海</dc:creator>
  <cp:lastModifiedBy>down down down down down</cp:lastModifiedBy>
  <cp:revision>215</cp:revision>
  <dcterms:created xsi:type="dcterms:W3CDTF">2025-10-02T04:01:00Z</dcterms:created>
  <dcterms:modified xsi:type="dcterms:W3CDTF">2025-12-23T14:36:39Z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ICV">
    <vt:lpwstr>B70015103C7249FE8210DA285DD4FDE3_12</vt:lpwstr>
  </property>
  <property fmtid="{D5CDD505-2E9C-101B-9397-08002B2CF9AE}" pid="4" name="KSOProductBuildVer">
    <vt:lpwstr>2052-12.1.0.24034</vt:lpwstr>
  </property>
</Properties>
</file>