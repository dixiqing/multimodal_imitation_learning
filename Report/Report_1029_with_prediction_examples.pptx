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7" r:id="rId3"/>
    <p:sldId id="359" r:id="rId5"/>
    <p:sldId id="360" r:id="rId9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6E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モデルを比べる前に、まずデータを確認します。立方体ごとに100試行の d–l 曲線を重ね描きし、試行間で一貫しているか、最大開口がどこで現れるか、サイズや速さでどう変わるかを見ます。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主な結果として、各モデル・各サイズの誤差を示します。RMSE と R² は補足スライドに入れます。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</a:rPr>
              <a:t>Title</a:t>
            </a: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</a:rPr>
              <a:t>Saga University </a:t>
            </a:r>
            <a:r>
              <a:rPr lang="en-US" sz="1000" dirty="0">
                <a:solidFill>
                  <a:schemeClr val="accent3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  <a:sym typeface="+mn-ea"/>
              </a:rPr>
              <a:t>Fukuda Laboratory</a:t>
            </a:r>
            <a:endParaRPr lang="en-US" sz="1000" dirty="0">
              <a:solidFill>
                <a:schemeClr val="accent3"/>
              </a:solidFill>
              <a:latin typeface="Meiryo UI" panose="020B0604030504040204" charset="-128"/>
              <a:ea typeface="Meiryo UI" panose="020B0604030504040204" pitchFamily="34" charset="-122"/>
              <a:cs typeface="Meiryo UI" panose="020B060403050404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4.png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image" Target="../media/image5.png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image" Target="../media/image6.png"/><Relationship Id="rId9" Type="http://schemas.openxmlformats.org/officeDocument/2006/relationships/tags" Target="../tags/tag6.xml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zh-CN" sz="2400">
                <a:latin typeface="+mj-lt"/>
                <a:cs typeface="+mj-lt"/>
              </a:rPr>
              <a:t>Overlaid Curves from 100 Trials for Each Cube Size</a:t>
            </a:r>
            <a:endParaRPr lang="en-US" altLang="zh-CN" sz="2400">
              <a:latin typeface="+mj-lt"/>
              <a:cs typeface="+mj-lt"/>
            </a:endParaRPr>
          </a:p>
        </p:txBody>
      </p:sp>
      <p:sp>
        <p:nvSpPr>
          <p:cNvPr id="10" name="text_261"/>
          <p:cNvSpPr txBox="1"/>
          <p:nvPr/>
        </p:nvSpPr>
        <p:spPr>
          <a:xfrm>
            <a:off x="457200" y="5224145"/>
            <a:ext cx="8229600" cy="7315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zh-CN" altLang="en-US"/>
              <a:t>距离处理：初始点设为了</a:t>
            </a:r>
            <a:r>
              <a:rPr lang="en-US" altLang="zh-CN"/>
              <a:t>1</a:t>
            </a:r>
            <a:r>
              <a:rPr lang="zh-CN" altLang="en-US">
                <a:ea typeface="SimSun" panose="02010600030101010101" pitchFamily="2" charset="-122"/>
              </a:rPr>
              <a:t>。</a:t>
            </a:r>
            <a:endParaRPr lang="zh-CN" altLang="en-US"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ea typeface="SimSun" panose="02010600030101010101" pitchFamily="2" charset="-122"/>
              </a:rPr>
              <a:t>将食指根部设为手的点计算距离。</a:t>
            </a:r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0" y="1170305"/>
            <a:ext cx="9144000" cy="3767455"/>
            <a:chOff x="0" y="1470"/>
            <a:chExt cx="14400" cy="5933"/>
          </a:xfrm>
        </p:grpSpPr>
        <p:pic>
          <p:nvPicPr>
            <p:cNvPr id="11" name="图片 10" descr="20mm_overlay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957"/>
              <a:ext cx="4585" cy="5446"/>
            </a:xfrm>
            <a:prstGeom prst="rect">
              <a:avLst/>
            </a:prstGeom>
          </p:spPr>
        </p:pic>
        <p:pic>
          <p:nvPicPr>
            <p:cNvPr id="14" name="图片 13" descr="C:/MineApp/Code/Multimodal_Imitation_Learning/Data/1029_D1/report_overlay_figures/clean/initial_distance_normalized/30mm_overlay.png30mm_overlay"/>
            <p:cNvPicPr>
              <a:picLocks noChangeAspect="1"/>
            </p:cNvPicPr>
            <p:nvPr/>
          </p:nvPicPr>
          <p:blipFill>
            <a:blip r:embed="rId2"/>
            <a:srcRect l="11" r="11"/>
            <a:stretch>
              <a:fillRect/>
            </a:stretch>
          </p:blipFill>
          <p:spPr>
            <a:xfrm>
              <a:off x="4889" y="1957"/>
              <a:ext cx="4585" cy="5446"/>
            </a:xfrm>
            <a:prstGeom prst="rect">
              <a:avLst/>
            </a:prstGeom>
          </p:spPr>
        </p:pic>
        <p:pic>
          <p:nvPicPr>
            <p:cNvPr id="15" name="图片 14" descr="C:/MineApp/Code/Multimodal_Imitation_Learning/Data/1029_D1/report_overlay_figures/clean/initial_distance_normalized/40mm_overlay.png40mm_overlay"/>
            <p:cNvPicPr>
              <a:picLocks noChangeAspect="1"/>
            </p:cNvPicPr>
            <p:nvPr/>
          </p:nvPicPr>
          <p:blipFill>
            <a:blip r:embed="rId3"/>
            <a:srcRect l="23"/>
            <a:stretch>
              <a:fillRect/>
            </a:stretch>
          </p:blipFill>
          <p:spPr>
            <a:xfrm>
              <a:off x="9702" y="1957"/>
              <a:ext cx="4585" cy="5446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0" y="1470"/>
              <a:ext cx="50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20mm</a:t>
              </a:r>
              <a:endParaRPr lang="en-US" altLang="zh-CN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040" y="1470"/>
              <a:ext cx="50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30mm</a:t>
              </a:r>
              <a:endParaRPr lang="en-US" altLang="zh-CN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702" y="1470"/>
              <a:ext cx="46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40mm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</a:rPr>
              <a:t>結果②：推定誤差</a:t>
            </a:r>
            <a:endParaRPr lang="en-US" sz="2600" dirty="0"/>
          </a:p>
        </p:txBody>
      </p:sp>
      <p:graphicFrame>
        <p:nvGraphicFramePr>
          <p:cNvPr id="15" name="tableResults"/>
          <p:cNvGraphicFramePr>
            <a:graphicFrameLocks noGrp="1"/>
          </p:cNvGraphicFramePr>
          <p:nvPr/>
        </p:nvGraphicFramePr>
        <p:xfrm>
          <a:off x="457200" y="1188720"/>
          <a:ext cx="8229600" cy="1755648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anose="020B0604030504040204" charset="-128"/>
                          <a:ea typeface="Meiryo UI" panose="020B0604030504040204" pitchFamily="34" charset="-122"/>
                          <a:cs typeface="Meiryo UI" panose="020B0604030504040204" pitchFamily="34" charset="-120"/>
                        </a:rPr>
                        <a:t>MAE [mm]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anose="020B0604030504040204" charset="-128"/>
                          <a:ea typeface="Meiryo UI" panose="020B0604030504040204" pitchFamily="34" charset="-122"/>
                          <a:cs typeface="Meiryo UI" panose="020B0604030504040204" pitchFamily="34" charset="-120"/>
                        </a:rPr>
                        <a:t>20 mm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anose="020B0604030504040204" charset="-128"/>
                          <a:ea typeface="Meiryo UI" panose="020B0604030504040204" pitchFamily="34" charset="-122"/>
                          <a:cs typeface="Meiryo UI" panose="020B0604030504040204" pitchFamily="34" charset="-120"/>
                        </a:rPr>
                        <a:t>30 mm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anose="020B0604030504040204" charset="-128"/>
                          <a:ea typeface="Meiryo UI" panose="020B0604030504040204" pitchFamily="34" charset="-122"/>
                          <a:cs typeface="Meiryo UI" panose="020B0604030504040204" pitchFamily="34" charset="-120"/>
                        </a:rPr>
                        <a:t>40 mm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Function Approximation</a:t>
                      </a:r>
                      <a:endParaRPr lang="en-US" altLang="zh-CN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8.06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7.34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7.71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MLP (5 Frame)</a:t>
                      </a:r>
                      <a:endParaRPr lang="en-US" altLang="zh-CN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7.93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7.83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7.93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LSTM (Full </a:t>
                      </a: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  <a:sym typeface="+mn-ea"/>
                        </a:rPr>
                        <a:t>Frame</a:t>
                      </a: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)</a:t>
                      </a:r>
                      <a:endParaRPr lang="en-US" altLang="zh-CN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5.68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6.04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6.31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6" name="图片 15" descr="C:/MineApp/Code/Multimodal_Imitation_Learning/Data/1029_D1/report_metric_figures/clean/R2.pngR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20"/>
          <a:stretch>
            <a:fillRect/>
          </a:stretch>
        </p:blipFill>
        <p:spPr>
          <a:xfrm>
            <a:off x="6158865" y="3529965"/>
            <a:ext cx="2985135" cy="257556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6158865" y="3280410"/>
            <a:ext cx="298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1" algn="ctr"/>
            <a:r>
              <a:rPr lang="en-US" altLang="zh-CN">
                <a:sym typeface="+mn-ea"/>
              </a:rPr>
              <a:t>R²</a:t>
            </a:r>
            <a:endParaRPr lang="en-US" altLang="zh-CN"/>
          </a:p>
        </p:txBody>
      </p:sp>
      <p:pic>
        <p:nvPicPr>
          <p:cNvPr id="9" name="图片 8" descr="MAE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4276"/>
          <a:stretch>
            <a:fillRect/>
          </a:stretch>
        </p:blipFill>
        <p:spPr>
          <a:xfrm>
            <a:off x="1905" y="3529965"/>
            <a:ext cx="2857500" cy="257556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635" y="3280410"/>
            <a:ext cx="298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MAE [mm]</a:t>
            </a:r>
            <a:endParaRPr lang="en-US" altLang="zh-CN"/>
          </a:p>
        </p:txBody>
      </p:sp>
      <p:pic>
        <p:nvPicPr>
          <p:cNvPr id="13" name="图片 12" descr="C:/MineApp/Code/Multimodal_Imitation_Learning/Data/1029_D1/report_metric_figures/clean/RMSE.pngRMS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0" b="10"/>
          <a:stretch>
            <a:fillRect/>
          </a:stretch>
        </p:blipFill>
        <p:spPr>
          <a:xfrm>
            <a:off x="3016250" y="3529965"/>
            <a:ext cx="2985135" cy="257556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3173730" y="3280410"/>
            <a:ext cx="298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RMSE [mm]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049"/>
                </a:solidFill>
              </a:rPr>
              <a:t>Prediction Examples Across Cube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268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3049"/>
                </a:solidFill>
              </a:rPr>
              <a:t>20 mm</a:t>
            </a:r>
          </a:p>
        </p:txBody>
      </p:sp>
      <p:pic>
        <p:nvPicPr>
          <p:cNvPr id="4" name="Picture 3" descr="20mm_grasp_090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2682240" cy="268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0880" y="1097280"/>
            <a:ext cx="268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3049"/>
                </a:solidFill>
              </a:rPr>
              <a:t>30 mm</a:t>
            </a:r>
          </a:p>
        </p:txBody>
      </p:sp>
      <p:pic>
        <p:nvPicPr>
          <p:cNvPr id="6" name="Picture 5" descr="30mm_grasp_100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880" y="1508760"/>
            <a:ext cx="2682240" cy="2682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50280" y="1097280"/>
            <a:ext cx="268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3049"/>
                </a:solidFill>
              </a:rPr>
              <a:t>40 mm</a:t>
            </a:r>
          </a:p>
        </p:txBody>
      </p:sp>
      <p:pic>
        <p:nvPicPr>
          <p:cNvPr id="8" name="Picture 7" descr="40mm_grasp_092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280" y="1508760"/>
            <a:ext cx="2682240" cy="268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373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3049"/>
                </a:solidFill>
              </a:rPr>
              <a:t>Measured aperture and predictions from the three models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2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3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4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5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6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  <a:prstDash val="solid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WPS 演示</Application>
  <PresentationFormat>Converted Presentation</PresentationFormat>
  <Paragraphs>55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SimSun</vt:lpstr>
      <vt:lpstr>Wingdings</vt:lpstr>
      <vt:lpstr>Arial</vt:lpstr>
      <vt:lpstr>Meiryo UI</vt:lpstr>
      <vt:lpstr>Meiryo UI</vt:lpstr>
      <vt:lpstr>Meiryo UI</vt:lpstr>
      <vt:lpstr>Times New Roman</vt:lpstr>
      <vt:lpstr>MS PGothic</vt:lpstr>
      <vt:lpstr>Microsoft YaHei</vt:lpstr>
      <vt:lpstr>Arial Unicode MS</vt:lpstr>
      <vt:lpstr>Calibri</vt:lpstr>
      <vt:lpstr>Office テーマ</vt:lpstr>
      <vt:lpstr>Overlaid Curves from 100 Trials for Each Cube Size</vt:lpstr>
      <vt:lpstr>結果②：推定誤差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75</cp:revision>
  <dcterms:created xsi:type="dcterms:W3CDTF">2026-09-29T07:20:00Z</dcterms:created>
  <dcterms:modified xsi:type="dcterms:W3CDTF">2026-10-29T09:58:12Z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