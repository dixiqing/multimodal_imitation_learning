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7"/>
  </p:notesMasterIdLst>
  <p:sldIdLst>
    <p:sldId id="256" r:id="rId3"/>
    <p:sldId id="564" r:id="rId4"/>
    <p:sldId id="565" r:id="rId5"/>
    <p:sldId id="566" r:id="rId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8090F"/>
    <a:srgbClr val="E40D0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B4CCE7-0FC9-4530-99D9-387BB353FE33}" type="datetimeFigureOut">
              <a:rPr kumimoji="1" lang="ja-JP" altLang="en-US" smtClean="0"/>
              <a:t>2025/5/15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E25247-BA80-4874-A379-0474C37CDF2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E46F7-A3F6-4AF6-B63A-2D7F1ABB9B99}" type="datetimeFigureOut">
              <a:rPr kumimoji="1" lang="ja-JP" altLang="en-US" smtClean="0"/>
              <a:t>2025/5/15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6F205-CF13-4B12-A0D7-1A77B98EE9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E46F7-A3F6-4AF6-B63A-2D7F1ABB9B99}" type="datetimeFigureOut">
              <a:rPr kumimoji="1" lang="ja-JP" altLang="en-US" smtClean="0"/>
              <a:t>2025/5/15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6F205-CF13-4B12-A0D7-1A77B98EE9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E46F7-A3F6-4AF6-B63A-2D7F1ABB9B99}" type="datetimeFigureOut">
              <a:rPr kumimoji="1" lang="ja-JP" altLang="en-US" smtClean="0"/>
              <a:t>2025/5/15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6F205-CF13-4B12-A0D7-1A77B98EE9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E46F7-A3F6-4AF6-B63A-2D7F1ABB9B99}" type="datetimeFigureOut">
              <a:rPr kumimoji="1" lang="ja-JP" altLang="en-US" smtClean="0"/>
              <a:t>2025/5/15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6F205-CF13-4B12-A0D7-1A77B98EE9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E46F7-A3F6-4AF6-B63A-2D7F1ABB9B99}" type="datetimeFigureOut">
              <a:rPr kumimoji="1" lang="ja-JP" altLang="en-US" smtClean="0"/>
              <a:t>2025/5/15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6F205-CF13-4B12-A0D7-1A77B98EE9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E46F7-A3F6-4AF6-B63A-2D7F1ABB9B99}" type="datetimeFigureOut">
              <a:rPr kumimoji="1" lang="ja-JP" altLang="en-US" smtClean="0"/>
              <a:t>2025/5/15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6F205-CF13-4B12-A0D7-1A77B98EE9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E46F7-A3F6-4AF6-B63A-2D7F1ABB9B99}" type="datetimeFigureOut">
              <a:rPr kumimoji="1" lang="ja-JP" altLang="en-US" smtClean="0"/>
              <a:t>2025/5/15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6F205-CF13-4B12-A0D7-1A77B98EE9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E46F7-A3F6-4AF6-B63A-2D7F1ABB9B99}" type="datetimeFigureOut">
              <a:rPr kumimoji="1" lang="ja-JP" altLang="en-US" smtClean="0"/>
              <a:t>2025/5/15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6F205-CF13-4B12-A0D7-1A77B98EE9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E46F7-A3F6-4AF6-B63A-2D7F1ABB9B99}" type="datetimeFigureOut">
              <a:rPr kumimoji="1" lang="ja-JP" altLang="en-US" smtClean="0"/>
              <a:t>2025/5/15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6F205-CF13-4B12-A0D7-1A77B98EE9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E46F7-A3F6-4AF6-B63A-2D7F1ABB9B99}" type="datetimeFigureOut">
              <a:rPr kumimoji="1" lang="ja-JP" altLang="en-US" smtClean="0"/>
              <a:t>2025/5/15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6F205-CF13-4B12-A0D7-1A77B98EE9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E46F7-A3F6-4AF6-B63A-2D7F1ABB9B99}" type="datetimeFigureOut">
              <a:rPr kumimoji="1" lang="ja-JP" altLang="en-US" smtClean="0"/>
              <a:t>2025/5/15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6F205-CF13-4B12-A0D7-1A77B98EE9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E46F7-A3F6-4AF6-B63A-2D7F1ABB9B99}" type="datetimeFigureOut">
              <a:rPr kumimoji="1" lang="ja-JP" altLang="en-US" smtClean="0"/>
              <a:t>2025/5/15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6F205-CF13-4B12-A0D7-1A77B98EE9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E46F7-A3F6-4AF6-B63A-2D7F1ABB9B99}" type="datetimeFigureOut">
              <a:rPr kumimoji="1" lang="ja-JP" altLang="en-US" smtClean="0"/>
              <a:t>2025/5/15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6F205-CF13-4B12-A0D7-1A77B98EE9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E46F7-A3F6-4AF6-B63A-2D7F1ABB9B99}" type="datetimeFigureOut">
              <a:rPr kumimoji="1" lang="ja-JP" altLang="en-US" smtClean="0"/>
              <a:t>2025/5/15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6F205-CF13-4B12-A0D7-1A77B98EE9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E46F7-A3F6-4AF6-B63A-2D7F1ABB9B99}" type="datetimeFigureOut">
              <a:rPr kumimoji="1" lang="ja-JP" altLang="en-US" smtClean="0"/>
              <a:t>2025/5/15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6F205-CF13-4B12-A0D7-1A77B98EE9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E46F7-A3F6-4AF6-B63A-2D7F1ABB9B99}" type="datetimeFigureOut">
              <a:rPr kumimoji="1" lang="ja-JP" altLang="en-US" smtClean="0"/>
              <a:t>2025/5/15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6F205-CF13-4B12-A0D7-1A77B98EE9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E46F7-A3F6-4AF6-B63A-2D7F1ABB9B99}" type="datetimeFigureOut">
              <a:rPr kumimoji="1" lang="ja-JP" altLang="en-US" smtClean="0"/>
              <a:t>2025/5/15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6F205-CF13-4B12-A0D7-1A77B98EE9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E46F7-A3F6-4AF6-B63A-2D7F1ABB9B99}" type="datetimeFigureOut">
              <a:rPr kumimoji="1" lang="ja-JP" altLang="en-US" smtClean="0"/>
              <a:t>2025/5/15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6F205-CF13-4B12-A0D7-1A77B98EE9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E46F7-A3F6-4AF6-B63A-2D7F1ABB9B99}" type="datetimeFigureOut">
              <a:rPr kumimoji="1" lang="ja-JP" altLang="en-US" smtClean="0"/>
              <a:t>2025/5/15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6F205-CF13-4B12-A0D7-1A77B98EE9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E46F7-A3F6-4AF6-B63A-2D7F1ABB9B99}" type="datetimeFigureOut">
              <a:rPr kumimoji="1" lang="ja-JP" altLang="en-US" smtClean="0"/>
              <a:t>2025/5/15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6F205-CF13-4B12-A0D7-1A77B98EE9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E46F7-A3F6-4AF6-B63A-2D7F1ABB9B99}" type="datetimeFigureOut">
              <a:rPr kumimoji="1" lang="ja-JP" altLang="en-US" smtClean="0"/>
              <a:t>2025/5/15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6F205-CF13-4B12-A0D7-1A77B98EE9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E46F7-A3F6-4AF6-B63A-2D7F1ABB9B99}" type="datetimeFigureOut">
              <a:rPr kumimoji="1" lang="ja-JP" altLang="en-US" smtClean="0"/>
              <a:t>2025/5/15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6F205-CF13-4B12-A0D7-1A77B98EE9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DE46F7-A3F6-4AF6-B63A-2D7F1ABB9B99}" type="datetimeFigureOut">
              <a:rPr kumimoji="1" lang="ja-JP" altLang="en-US" smtClean="0"/>
              <a:t>2025/5/15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C6F205-CF13-4B12-A0D7-1A77B98EE9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DE46F7-A3F6-4AF6-B63A-2D7F1ABB9B99}" type="datetimeFigureOut">
              <a:rPr kumimoji="1" lang="ja-JP" altLang="en-US" smtClean="0"/>
              <a:t>2025/5/15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C6F205-CF13-4B12-A0D7-1A77B98EE9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video" Target="../media/media1.mp4"/><Relationship Id="rId7" Type="http://schemas.openxmlformats.org/officeDocument/2006/relationships/image" Target="../media/image3.png"/><Relationship Id="rId2" Type="http://schemas.microsoft.com/office/2007/relationships/media" Target="../media/media1.mp4"/><Relationship Id="rId1" Type="http://schemas.openxmlformats.org/officeDocument/2006/relationships/tags" Target="../tags/tag2.xml"/><Relationship Id="rId6" Type="http://schemas.openxmlformats.org/officeDocument/2006/relationships/image" Target="../media/image2.png"/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764144" y="1089890"/>
            <a:ext cx="8663709" cy="1572563"/>
          </a:xfrm>
        </p:spPr>
        <p:txBody>
          <a:bodyPr>
            <a:normAutofit/>
          </a:bodyPr>
          <a:lstStyle/>
          <a:p>
            <a:r>
              <a:rPr lang="en-US" altLang="zh-CN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Prosthetic Hand Control System depends on Eye Tracking, Computer Vision, and EMG</a:t>
            </a:r>
            <a:endParaRPr kumimoji="1" lang="ja-JP" alt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2489199" y="3786370"/>
            <a:ext cx="7213600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26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Saga University</a:t>
            </a:r>
          </a:p>
          <a:p>
            <a:pPr algn="ctr"/>
            <a:r>
              <a:rPr lang="en-US" altLang="zh-CN" sz="2600" dirty="0">
                <a:solidFill>
                  <a:srgbClr val="000000"/>
                </a:solidFill>
                <a:latin typeface="Calibri" panose="020F0502020204030204" pitchFamily="34" charset="0"/>
              </a:rPr>
              <a:t>Computer Science &amp; Information Techology</a:t>
            </a:r>
          </a:p>
          <a:p>
            <a:pPr algn="ctr"/>
            <a:r>
              <a:rPr lang="en-US" altLang="ja-JP" sz="26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25742102 DI XIQING</a:t>
            </a:r>
          </a:p>
          <a:p>
            <a:pPr algn="ctr"/>
            <a:r>
              <a:rPr lang="en-US" altLang="ja-JP" sz="2600" dirty="0">
                <a:solidFill>
                  <a:srgbClr val="000000"/>
                </a:solidFill>
                <a:latin typeface="Calibri" panose="020F0502020204030204" pitchFamily="34" charset="0"/>
              </a:rPr>
              <a:t>Professor Osamu Fukuda</a:t>
            </a:r>
            <a:r>
              <a:rPr lang="ja-JP" altLang="ja-JP" sz="2600" dirty="0">
                <a:solidFill>
                  <a:srgbClr val="000000"/>
                </a:solidFill>
                <a:latin typeface="Calibri" panose="020F0502020204030204" pitchFamily="34" charset="0"/>
              </a:rPr>
              <a:t>，</a:t>
            </a:r>
            <a:r>
              <a:rPr lang="en-US" altLang="ja-JP" sz="2600" dirty="0">
                <a:solidFill>
                  <a:srgbClr val="000000"/>
                </a:solidFill>
                <a:latin typeface="Calibri" panose="020F0502020204030204" pitchFamily="34" charset="0"/>
              </a:rPr>
              <a:t>Yeoh Wen Liang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ダイアグラム&#10;&#10;AI によって生成されたコンテンツは間違っている可能性があります。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589" y="823285"/>
            <a:ext cx="11638915" cy="3742429"/>
          </a:xfrm>
          <a:prstGeom prst="rect">
            <a:avLst/>
          </a:prstGeom>
        </p:spPr>
      </p:pic>
      <p:grpSp>
        <p:nvGrpSpPr>
          <p:cNvPr id="2" name="组合 1"/>
          <p:cNvGrpSpPr/>
          <p:nvPr/>
        </p:nvGrpSpPr>
        <p:grpSpPr>
          <a:xfrm rot="10800000" flipH="1">
            <a:off x="275809" y="327218"/>
            <a:ext cx="355381" cy="88900"/>
            <a:chOff x="4381719" y="-1168400"/>
            <a:chExt cx="355381" cy="88900"/>
          </a:xfrm>
        </p:grpSpPr>
        <p:cxnSp>
          <p:nvCxnSpPr>
            <p:cNvPr id="32" name="直接连接符 31"/>
            <p:cNvCxnSpPr/>
            <p:nvPr/>
          </p:nvCxnSpPr>
          <p:spPr>
            <a:xfrm>
              <a:off x="4483100" y="-1168400"/>
              <a:ext cx="254000" cy="0"/>
            </a:xfrm>
            <a:prstGeom prst="line">
              <a:avLst/>
            </a:prstGeom>
            <a:ln w="28575" cap="rnd">
              <a:solidFill>
                <a:srgbClr val="3FA4DE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/>
          </p:nvCxnSpPr>
          <p:spPr>
            <a:xfrm>
              <a:off x="4381719" y="-1079500"/>
              <a:ext cx="355381" cy="0"/>
            </a:xfrm>
            <a:prstGeom prst="line">
              <a:avLst/>
            </a:prstGeom>
            <a:ln w="28575" cap="rnd">
              <a:solidFill>
                <a:srgbClr val="3FA4DE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" name="直接连接符 6"/>
          <p:cNvCxnSpPr/>
          <p:nvPr/>
        </p:nvCxnSpPr>
        <p:spPr>
          <a:xfrm flipV="1">
            <a:off x="275590" y="636270"/>
            <a:ext cx="11638915" cy="31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275589" y="5052179"/>
            <a:ext cx="7667684" cy="1183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MS PMincho" panose="02020600040205080304" charset="-128"/>
                <a:ea typeface="MS PMincho" panose="02020600040205080304" charset="-128"/>
                <a:cs typeface="MS PMincho" panose="02020600040205080304" charset="-128"/>
                <a:sym typeface="+mn-ea"/>
              </a:rPr>
              <a:t>Current work :</a:t>
            </a:r>
          </a:p>
          <a:p>
            <a:endParaRPr lang="en-US" altLang="zh-CN" b="1" dirty="0">
              <a:latin typeface="MS PMincho" panose="02020600040205080304" charset="-128"/>
              <a:ea typeface="MS PMincho" panose="02020600040205080304" charset="-128"/>
              <a:cs typeface="MS PMincho" panose="02020600040205080304" charset="-128"/>
              <a:sym typeface="+mn-ea"/>
            </a:endParaRPr>
          </a:p>
          <a:p>
            <a:r>
              <a:rPr lang="en-US" altLang="zh-CN" dirty="0">
                <a:latin typeface="MS PMincho" panose="02020600040205080304" charset="-128"/>
                <a:ea typeface="MS PMincho" panose="02020600040205080304" charset="-128"/>
                <a:cs typeface="MS PMincho" panose="02020600040205080304" charset="-128"/>
                <a:sym typeface="+mn-ea"/>
              </a:rPr>
              <a:t>1.coding program</a:t>
            </a:r>
            <a:r>
              <a:rPr lang="zh-CN" altLang="en-US" dirty="0">
                <a:latin typeface="MS PMincho" panose="02020600040205080304" charset="-128"/>
                <a:ea typeface="MS PMincho" panose="02020600040205080304" charset="-128"/>
                <a:cs typeface="MS PMincho" panose="02020600040205080304" charset="-128"/>
                <a:sym typeface="+mn-ea"/>
              </a:rPr>
              <a:t>：</a:t>
            </a:r>
            <a:r>
              <a:rPr lang="en-US" altLang="zh-CN" dirty="0">
                <a:latin typeface="MS PMincho" panose="02020600040205080304" charset="-128"/>
                <a:ea typeface="MS PMincho" panose="02020600040205080304" charset="-128"/>
                <a:cs typeface="MS PMincho" panose="02020600040205080304" charset="-128"/>
                <a:sym typeface="+mn-ea"/>
              </a:rPr>
              <a:t>Gaze Target Estimation</a:t>
            </a:r>
          </a:p>
          <a:p>
            <a:endParaRPr lang="en-US" altLang="zh-CN" sz="1700" dirty="0">
              <a:latin typeface="MS PMincho" panose="02020600040205080304" charset="-128"/>
              <a:ea typeface="MS PMincho" panose="02020600040205080304" charset="-128"/>
              <a:cs typeface="MS PMincho" panose="02020600040205080304" charset="-128"/>
            </a:endParaRPr>
          </a:p>
        </p:txBody>
      </p:sp>
      <p:sp>
        <p:nvSpPr>
          <p:cNvPr id="6" name="文本框 152" descr="e7d195523061f1c09e9d68d7cf438b91ef959ecb14fc25d26BBA7F7DBC18E55DFF4014AF651F0BF2569D4B6C1DA7F1A4683A481403BD872FC687266AD13265C1DE7C373772FD8728ABDD69ADD03BFF5BE2862BC891DBB79EC0B81FB75486405D5064442904236646CF49102BEE5E1B895458B641CA0D6C7889FDD78D23C2B1BC47745F4B67C4FF437063ECD1606ECED6"/>
          <p:cNvSpPr txBox="1"/>
          <p:nvPr/>
        </p:nvSpPr>
        <p:spPr>
          <a:xfrm>
            <a:off x="631190" y="167233"/>
            <a:ext cx="74536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accent1"/>
                </a:solidFill>
                <a:latin typeface="+mj-lt"/>
                <a:ea typeface="+mj-ea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>
                <a:latin typeface="MS PMincho" panose="02020600040205080304" charset="-128"/>
                <a:ea typeface="MS PMincho" panose="02020600040205080304" charset="-128"/>
                <a:sym typeface="+mn-ea"/>
              </a:rPr>
              <a:t>Current work</a:t>
            </a:r>
            <a:endParaRPr lang="ja-JP" altLang="en-US" dirty="0">
              <a:latin typeface="MS PMincho" panose="02020600040205080304" charset="-128"/>
              <a:ea typeface="MS PMincho" panose="02020600040205080304" charset="-128"/>
              <a:sym typeface="+mn-ea"/>
            </a:endParaRPr>
          </a:p>
        </p:txBody>
      </p:sp>
      <p:cxnSp>
        <p:nvCxnSpPr>
          <p:cNvPr id="8" name="直線矢印コネクタ 7"/>
          <p:cNvCxnSpPr/>
          <p:nvPr/>
        </p:nvCxnSpPr>
        <p:spPr>
          <a:xfrm>
            <a:off x="2133600" y="2096655"/>
            <a:ext cx="0" cy="285297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 rot="10800000" flipH="1">
            <a:off x="275809" y="327218"/>
            <a:ext cx="355381" cy="88900"/>
            <a:chOff x="4381719" y="-1168400"/>
            <a:chExt cx="355381" cy="88900"/>
          </a:xfrm>
        </p:grpSpPr>
        <p:cxnSp>
          <p:nvCxnSpPr>
            <p:cNvPr id="32" name="直接连接符 31"/>
            <p:cNvCxnSpPr/>
            <p:nvPr/>
          </p:nvCxnSpPr>
          <p:spPr>
            <a:xfrm>
              <a:off x="4483100" y="-1168400"/>
              <a:ext cx="254000" cy="0"/>
            </a:xfrm>
            <a:prstGeom prst="line">
              <a:avLst/>
            </a:prstGeom>
            <a:ln w="28575" cap="rnd">
              <a:solidFill>
                <a:srgbClr val="3FA4DE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/>
          </p:nvCxnSpPr>
          <p:spPr>
            <a:xfrm>
              <a:off x="4381719" y="-1079500"/>
              <a:ext cx="355381" cy="0"/>
            </a:xfrm>
            <a:prstGeom prst="line">
              <a:avLst/>
            </a:prstGeom>
            <a:ln w="28575" cap="rnd">
              <a:solidFill>
                <a:srgbClr val="3FA4DE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" name="直接连接符 6"/>
          <p:cNvCxnSpPr/>
          <p:nvPr/>
        </p:nvCxnSpPr>
        <p:spPr>
          <a:xfrm flipV="1">
            <a:off x="275590" y="636270"/>
            <a:ext cx="11638915" cy="31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文本框 152" descr="e7d195523061f1c09e9d68d7cf438b91ef959ecb14fc25d26BBA7F7DBC18E55DFF4014AF651F0BF2569D4B6C1DA7F1A4683A481403BD872FC687266AD13265C1DE7C373772FD8728ABDD69ADD03BFF5BE2862BC891DBB79EC0B81FB75486405D5064442904236646CF49102BEE5E1B895458B641CA0D6C7889FDD78D23C2B1BC47745F4B67C4FF437063ECD1606ECED6"/>
          <p:cNvSpPr txBox="1"/>
          <p:nvPr/>
        </p:nvSpPr>
        <p:spPr>
          <a:xfrm>
            <a:off x="631189" y="167233"/>
            <a:ext cx="86790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accent1"/>
                </a:solidFill>
                <a:latin typeface="+mj-lt"/>
                <a:ea typeface="+mj-ea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ja-JP" dirty="0">
                <a:latin typeface="MS PMincho" panose="02020600040205080304" charset="-128"/>
                <a:ea typeface="MS PMincho" panose="02020600040205080304" charset="-128"/>
              </a:rPr>
              <a:t>Gaze-LLE: Gaze Target Estimation via Large-Scale Learned Encoders</a:t>
            </a:r>
            <a:endParaRPr lang="ja-JP" altLang="en-US" dirty="0">
              <a:latin typeface="MS PMincho" panose="02020600040205080304" charset="-128"/>
              <a:ea typeface="MS PMincho" panose="02020600040205080304" charset="-128"/>
              <a:sym typeface="+mn-ea"/>
            </a:endParaRPr>
          </a:p>
        </p:txBody>
      </p:sp>
      <p:pic>
        <p:nvPicPr>
          <p:cNvPr id="12" name="図 11" descr="テキスト&#10;&#10;AI によって生成されたコンテンツは間違っている可能性があります。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590" y="1094330"/>
            <a:ext cx="4240992" cy="1649275"/>
          </a:xfrm>
          <a:prstGeom prst="rect">
            <a:avLst/>
          </a:prstGeom>
        </p:spPr>
      </p:pic>
      <p:pic>
        <p:nvPicPr>
          <p:cNvPr id="5" name="図 4" descr="テキスト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75218ACE-9741-BF84-A2B7-536DCB4C272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590" y="3584619"/>
            <a:ext cx="4240992" cy="3034275"/>
          </a:xfrm>
          <a:prstGeom prst="rect">
            <a:avLst/>
          </a:prstGeom>
        </p:spPr>
      </p:pic>
      <p:sp>
        <p:nvSpPr>
          <p:cNvPr id="9" name="文本框 15">
            <a:extLst>
              <a:ext uri="{FF2B5EF4-FFF2-40B4-BE49-F238E27FC236}">
                <a16:creationId xmlns:a16="http://schemas.microsoft.com/office/drawing/2014/main" id="{358E5FDF-44FB-72DD-6FAF-66D093190949}"/>
              </a:ext>
            </a:extLst>
          </p:cNvPr>
          <p:cNvSpPr txBox="1"/>
          <p:nvPr/>
        </p:nvSpPr>
        <p:spPr>
          <a:xfrm>
            <a:off x="275590" y="656242"/>
            <a:ext cx="3114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MS PMincho" panose="02020600040205080304" charset="-128"/>
                <a:ea typeface="MS PMincho" panose="02020600040205080304" charset="-128"/>
                <a:cs typeface="MS PMincho" panose="02020600040205080304" charset="-128"/>
                <a:sym typeface="+mn-ea"/>
              </a:rPr>
              <a:t>Input :</a:t>
            </a:r>
            <a:endParaRPr lang="en-US" altLang="zh-CN" dirty="0">
              <a:latin typeface="MS PMincho" panose="02020600040205080304" charset="-128"/>
              <a:ea typeface="MS PMincho" panose="02020600040205080304" charset="-128"/>
              <a:cs typeface="MS PMincho" panose="02020600040205080304" charset="-128"/>
              <a:sym typeface="+mn-ea"/>
            </a:endParaRPr>
          </a:p>
        </p:txBody>
      </p:sp>
      <p:sp>
        <p:nvSpPr>
          <p:cNvPr id="10" name="文本框 15">
            <a:extLst>
              <a:ext uri="{FF2B5EF4-FFF2-40B4-BE49-F238E27FC236}">
                <a16:creationId xmlns:a16="http://schemas.microsoft.com/office/drawing/2014/main" id="{777EA2C2-49DD-A604-DF34-8AA3C0522479}"/>
              </a:ext>
            </a:extLst>
          </p:cNvPr>
          <p:cNvSpPr txBox="1"/>
          <p:nvPr/>
        </p:nvSpPr>
        <p:spPr>
          <a:xfrm>
            <a:off x="275589" y="3088715"/>
            <a:ext cx="3114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MS PMincho" panose="02020600040205080304" charset="-128"/>
                <a:ea typeface="MS PMincho" panose="02020600040205080304" charset="-128"/>
                <a:cs typeface="MS PMincho" panose="02020600040205080304" charset="-128"/>
                <a:sym typeface="+mn-ea"/>
              </a:rPr>
              <a:t>Output :</a:t>
            </a:r>
            <a:endParaRPr lang="en-US" altLang="zh-CN" dirty="0">
              <a:latin typeface="MS PMincho" panose="02020600040205080304" charset="-128"/>
              <a:ea typeface="MS PMincho" panose="02020600040205080304" charset="-128"/>
              <a:cs typeface="MS PMincho" panose="02020600040205080304" charset="-128"/>
              <a:sym typeface="+mn-ea"/>
            </a:endParaRPr>
          </a:p>
        </p:txBody>
      </p:sp>
      <p:pic>
        <p:nvPicPr>
          <p:cNvPr id="3" name="output_v4">
            <a:hlinkClick r:id="" action="ppaction://media"/>
            <a:extLst>
              <a:ext uri="{FF2B5EF4-FFF2-40B4-BE49-F238E27FC236}">
                <a16:creationId xmlns:a16="http://schemas.microsoft.com/office/drawing/2014/main" id="{CB86BEE0-3123-DC99-A01B-EDDC74D37F96}"/>
              </a:ext>
            </a:extLst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8488218" y="708372"/>
            <a:ext cx="3426287" cy="6091176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67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 rot="10800000" flipH="1">
            <a:off x="275809" y="327218"/>
            <a:ext cx="355381" cy="88900"/>
            <a:chOff x="4381719" y="-1168400"/>
            <a:chExt cx="355381" cy="88900"/>
          </a:xfrm>
        </p:grpSpPr>
        <p:cxnSp>
          <p:nvCxnSpPr>
            <p:cNvPr id="32" name="直接连接符 31"/>
            <p:cNvCxnSpPr/>
            <p:nvPr/>
          </p:nvCxnSpPr>
          <p:spPr>
            <a:xfrm>
              <a:off x="4483100" y="-1168400"/>
              <a:ext cx="254000" cy="0"/>
            </a:xfrm>
            <a:prstGeom prst="line">
              <a:avLst/>
            </a:prstGeom>
            <a:ln w="28575" cap="rnd">
              <a:solidFill>
                <a:srgbClr val="3FA4DE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/>
          </p:nvCxnSpPr>
          <p:spPr>
            <a:xfrm>
              <a:off x="4381719" y="-1079500"/>
              <a:ext cx="355381" cy="0"/>
            </a:xfrm>
            <a:prstGeom prst="line">
              <a:avLst/>
            </a:prstGeom>
            <a:ln w="28575" cap="rnd">
              <a:solidFill>
                <a:srgbClr val="3FA4DE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" name="直接连接符 6"/>
          <p:cNvCxnSpPr/>
          <p:nvPr/>
        </p:nvCxnSpPr>
        <p:spPr>
          <a:xfrm flipV="1">
            <a:off x="275590" y="636270"/>
            <a:ext cx="11638915" cy="31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文本框 152" descr="e7d195523061f1c09e9d68d7cf438b91ef959ecb14fc25d26BBA7F7DBC18E55DFF4014AF651F0BF2569D4B6C1DA7F1A4683A481403BD872FC687266AD13265C1DE7C373772FD8728ABDD69ADD03BFF5BE2862BC891DBB79EC0B81FB75486405D5064442904236646CF49102BEE5E1B895458B641CA0D6C7889FDD78D23C2B1BC47745F4B67C4FF437063ECD1606ECED6"/>
          <p:cNvSpPr txBox="1"/>
          <p:nvPr/>
        </p:nvSpPr>
        <p:spPr>
          <a:xfrm>
            <a:off x="631189" y="167233"/>
            <a:ext cx="86790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accent1"/>
                </a:solidFill>
                <a:latin typeface="+mj-lt"/>
                <a:ea typeface="+mj-ea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ja-JP" dirty="0">
                <a:latin typeface="MS PMincho" panose="02020600040205080304" charset="-128"/>
                <a:ea typeface="MS PMincho" panose="02020600040205080304" charset="-128"/>
              </a:rPr>
              <a:t>Current problem</a:t>
            </a:r>
            <a:endParaRPr lang="ja-JP" altLang="en-US" dirty="0">
              <a:latin typeface="MS PMincho" panose="02020600040205080304" charset="-128"/>
              <a:ea typeface="MS PMincho" panose="02020600040205080304" charset="-128"/>
              <a:sym typeface="+mn-ea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275590" y="948690"/>
            <a:ext cx="11750155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3200" dirty="0">
                <a:solidFill>
                  <a:srgbClr val="E40D08"/>
                </a:solidFill>
                <a:latin typeface="ＭＳ 明朝" panose="02020609040205080304" pitchFamily="17" charset="-128"/>
                <a:ea typeface="ＭＳ 明朝" panose="02020609040205080304" pitchFamily="17" charset="-128"/>
                <a:cs typeface="MS PMincho" panose="02020600040205080304" charset="-128"/>
              </a:rPr>
              <a:t>Current problem</a:t>
            </a:r>
            <a:r>
              <a:rPr lang="en-US" altLang="zh-CN" sz="3200" dirty="0">
                <a:solidFill>
                  <a:srgbClr val="E40D08"/>
                </a:solidFill>
                <a:latin typeface="ＭＳ 明朝" panose="02020609040205080304" pitchFamily="17" charset="-128"/>
                <a:ea typeface="ＭＳ 明朝" panose="02020609040205080304" pitchFamily="17" charset="-128"/>
                <a:cs typeface="MS PMincho" panose="02020600040205080304" charset="-128"/>
              </a:rPr>
              <a:t> : </a:t>
            </a:r>
            <a:r>
              <a:rPr lang="en-US" altLang="zh-CN" sz="3200" b="1" u="sng" dirty="0">
                <a:solidFill>
                  <a:srgbClr val="D8090F"/>
                </a:solidFill>
                <a:latin typeface="ＭＳ 明朝" panose="02020609040205080304" pitchFamily="17" charset="-128"/>
                <a:ea typeface="ＭＳ 明朝" panose="02020609040205080304" pitchFamily="17" charset="-128"/>
                <a:cs typeface="MS PMincho" panose="02020600040205080304" charset="-128"/>
              </a:rPr>
              <a:t>real-time</a:t>
            </a:r>
            <a:r>
              <a:rPr lang="en-US" altLang="zh-CN" sz="3200" dirty="0">
                <a:solidFill>
                  <a:srgbClr val="E40D08"/>
                </a:solidFill>
                <a:latin typeface="ＭＳ 明朝" panose="02020609040205080304" pitchFamily="17" charset="-128"/>
                <a:ea typeface="ＭＳ 明朝" panose="02020609040205080304" pitchFamily="17" charset="-128"/>
                <a:cs typeface="MS PMincho" panose="02020600040205080304" charset="-128"/>
              </a:rPr>
              <a:t> gaze estimation</a:t>
            </a:r>
          </a:p>
          <a:p>
            <a:endParaRPr lang="en-US" altLang="zh-CN" b="1" dirty="0">
              <a:latin typeface="ＭＳ 明朝" panose="02020609040205080304" pitchFamily="17" charset="-128"/>
              <a:ea typeface="ＭＳ 明朝" panose="02020609040205080304" pitchFamily="17" charset="-128"/>
              <a:cs typeface="MS PMincho" panose="02020600040205080304" charset="-128"/>
              <a:sym typeface="+mn-ea"/>
            </a:endParaRPr>
          </a:p>
          <a:p>
            <a:pPr indent="457200"/>
            <a:r>
              <a:rPr lang="en-US" altLang="zh-CN" dirty="0">
                <a:latin typeface="ＭＳ 明朝" panose="02020609040205080304" pitchFamily="17" charset="-128"/>
                <a:ea typeface="ＭＳ 明朝" panose="02020609040205080304" pitchFamily="17" charset="-128"/>
                <a:cs typeface="MS PMincho" panose="02020600040205080304" charset="-128"/>
                <a:sym typeface="+mn-ea"/>
              </a:rPr>
              <a:t>1.Study Gaze-LLE model</a:t>
            </a:r>
          </a:p>
          <a:p>
            <a:pPr indent="457200"/>
            <a:endParaRPr lang="en-US" altLang="zh-CN" dirty="0">
              <a:latin typeface="ＭＳ 明朝" panose="02020609040205080304" pitchFamily="17" charset="-128"/>
              <a:ea typeface="ＭＳ 明朝" panose="02020609040205080304" pitchFamily="17" charset="-128"/>
              <a:cs typeface="MS PMincho" panose="02020600040205080304" charset="-128"/>
              <a:sym typeface="+mn-ea"/>
            </a:endParaRPr>
          </a:p>
          <a:p>
            <a:pPr indent="457200"/>
            <a:r>
              <a:rPr lang="en-US" altLang="zh-CN" dirty="0">
                <a:latin typeface="ＭＳ 明朝" panose="02020609040205080304" pitchFamily="17" charset="-128"/>
                <a:ea typeface="ＭＳ 明朝" panose="02020609040205080304" pitchFamily="17" charset="-128"/>
                <a:cs typeface="MS PMincho" panose="02020600040205080304" charset="-128"/>
                <a:sym typeface="+mn-ea"/>
              </a:rPr>
              <a:t>	I will study the structure of the model ,but I think that is difficult currently to modify model</a:t>
            </a:r>
          </a:p>
          <a:p>
            <a:pPr indent="457200"/>
            <a:endParaRPr lang="en-US" altLang="zh-CN" dirty="0">
              <a:latin typeface="ＭＳ 明朝" panose="02020609040205080304" pitchFamily="17" charset="-128"/>
              <a:ea typeface="ＭＳ 明朝" panose="02020609040205080304" pitchFamily="17" charset="-128"/>
              <a:cs typeface="MS PMincho" panose="02020600040205080304" charset="-128"/>
              <a:sym typeface="+mn-ea"/>
            </a:endParaRPr>
          </a:p>
          <a:p>
            <a:pPr indent="457200"/>
            <a:r>
              <a:rPr lang="en-US" altLang="zh-CN" dirty="0">
                <a:latin typeface="ＭＳ 明朝" panose="02020609040205080304" pitchFamily="17" charset="-128"/>
                <a:ea typeface="ＭＳ 明朝" panose="02020609040205080304" pitchFamily="17" charset="-128"/>
                <a:cs typeface="MS PMincho" panose="02020600040205080304" charset="-128"/>
                <a:sym typeface="+mn-ea"/>
              </a:rPr>
              <a:t>2.Look at research of gaze estimation with depth camera</a:t>
            </a:r>
          </a:p>
          <a:p>
            <a:pPr indent="457200"/>
            <a:r>
              <a:rPr lang="en-US" altLang="zh-CN" dirty="0">
                <a:latin typeface="ＭＳ 明朝" panose="02020609040205080304" pitchFamily="17" charset="-128"/>
                <a:ea typeface="ＭＳ 明朝" panose="02020609040205080304" pitchFamily="17" charset="-128"/>
                <a:cs typeface="MS PMincho" panose="02020600040205080304" charset="-128"/>
                <a:sym typeface="+mn-ea"/>
              </a:rPr>
              <a:t>	</a:t>
            </a:r>
          </a:p>
          <a:p>
            <a:pPr indent="457200"/>
            <a:r>
              <a:rPr lang="en-US" altLang="zh-CN" dirty="0">
                <a:latin typeface="ＭＳ 明朝" panose="02020609040205080304" pitchFamily="17" charset="-128"/>
                <a:ea typeface="ＭＳ 明朝" panose="02020609040205080304" pitchFamily="17" charset="-128"/>
                <a:cs typeface="MS PMincho" panose="02020600040205080304" charset="-128"/>
                <a:sym typeface="+mn-ea"/>
              </a:rPr>
              <a:t>	Recently I search some real-time gaze estimation papers, that use depth camera .I will look at related research.</a:t>
            </a:r>
          </a:p>
          <a:p>
            <a:pPr indent="457200"/>
            <a:endParaRPr lang="en-US" altLang="zh-CN" dirty="0">
              <a:latin typeface="ＭＳ 明朝" panose="02020609040205080304" pitchFamily="17" charset="-128"/>
              <a:ea typeface="ＭＳ 明朝" panose="02020609040205080304" pitchFamily="17" charset="-128"/>
              <a:cs typeface="MS PMincho" panose="02020600040205080304" charset="-128"/>
              <a:sym typeface="+mn-ea"/>
            </a:endParaRPr>
          </a:p>
          <a:p>
            <a:pPr indent="457200"/>
            <a:r>
              <a:rPr lang="en-US" altLang="zh-CN" dirty="0">
                <a:latin typeface="ＭＳ 明朝" panose="02020609040205080304" pitchFamily="17" charset="-128"/>
                <a:ea typeface="ＭＳ 明朝" panose="02020609040205080304" pitchFamily="17" charset="-128"/>
                <a:cs typeface="MS PMincho" panose="02020600040205080304" charset="-128"/>
                <a:sym typeface="+mn-ea"/>
              </a:rPr>
              <a:t>3.Look at Labo’s prosthetic hand research</a:t>
            </a:r>
          </a:p>
          <a:p>
            <a:pPr indent="457200"/>
            <a:r>
              <a:rPr lang="en-US" altLang="zh-CN" dirty="0">
                <a:latin typeface="ＭＳ 明朝" panose="02020609040205080304" pitchFamily="17" charset="-128"/>
                <a:ea typeface="ＭＳ 明朝" panose="02020609040205080304" pitchFamily="17" charset="-128"/>
                <a:cs typeface="MS PMincho" panose="02020600040205080304" charset="-128"/>
                <a:sym typeface="+mn-ea"/>
              </a:rPr>
              <a:t>	</a:t>
            </a:r>
          </a:p>
          <a:p>
            <a:pPr indent="457200"/>
            <a:r>
              <a:rPr lang="en-US" altLang="zh-CN" dirty="0">
                <a:latin typeface="ＭＳ 明朝" panose="02020609040205080304" pitchFamily="17" charset="-128"/>
                <a:ea typeface="ＭＳ 明朝" panose="02020609040205080304" pitchFamily="17" charset="-128"/>
                <a:cs typeface="MS PMincho" panose="02020600040205080304" charset="-128"/>
                <a:sym typeface="+mn-ea"/>
              </a:rPr>
              <a:t>	Labo’s </a:t>
            </a:r>
            <a:r>
              <a:rPr lang="en-US" altLang="ja-JP" dirty="0">
                <a:latin typeface="ＭＳ 明朝" panose="02020609040205080304" pitchFamily="17" charset="-128"/>
                <a:ea typeface="ＭＳ 明朝" panose="02020609040205080304" pitchFamily="17" charset="-128"/>
              </a:rPr>
              <a:t>previous</a:t>
            </a:r>
            <a:r>
              <a:rPr lang="en-US" altLang="zh-CN" dirty="0">
                <a:latin typeface="ＭＳ 明朝" panose="02020609040205080304" pitchFamily="17" charset="-128"/>
                <a:ea typeface="ＭＳ 明朝" panose="02020609040205080304" pitchFamily="17" charset="-128"/>
                <a:cs typeface="MS PMincho" panose="02020600040205080304" charset="-128"/>
                <a:sym typeface="+mn-ea"/>
              </a:rPr>
              <a:t> prosthetic hand research whether </a:t>
            </a:r>
            <a:r>
              <a:rPr lang="en-US" altLang="ja-JP" dirty="0">
                <a:latin typeface="ＭＳ 明朝" panose="02020609040205080304" pitchFamily="17" charset="-128"/>
                <a:ea typeface="ＭＳ 明朝" panose="02020609040205080304" pitchFamily="17" charset="-128"/>
              </a:rPr>
              <a:t>deal with real-time problem</a:t>
            </a:r>
            <a:endParaRPr lang="en-US" altLang="zh-CN" dirty="0">
              <a:latin typeface="ＭＳ 明朝" panose="02020609040205080304" pitchFamily="17" charset="-128"/>
              <a:ea typeface="ＭＳ 明朝" panose="02020609040205080304" pitchFamily="17" charset="-128"/>
              <a:cs typeface="MS PMincho" panose="02020600040205080304" charset="-128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246</TotalTime>
  <Words>144</Words>
  <Application>Microsoft Office PowerPoint</Application>
  <PresentationFormat>ワイド画面</PresentationFormat>
  <Paragraphs>26</Paragraphs>
  <Slides>4</Slides>
  <Notes>3</Notes>
  <HiddenSlides>0</HiddenSlides>
  <MMClips>1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4</vt:i4>
      </vt:variant>
    </vt:vector>
  </HeadingPairs>
  <TitlesOfParts>
    <vt:vector size="12" baseType="lpstr">
      <vt:lpstr>MS PMincho</vt:lpstr>
      <vt:lpstr>ＭＳ 明朝</vt:lpstr>
      <vt:lpstr>游ゴシック</vt:lpstr>
      <vt:lpstr>游ゴシック Light</vt:lpstr>
      <vt:lpstr>Arial</vt:lpstr>
      <vt:lpstr>Calibri</vt:lpstr>
      <vt:lpstr>Office テーマ</vt:lpstr>
      <vt:lpstr>1_Office テーマ</vt:lpstr>
      <vt:lpstr>Prosthetic Hand Control System depends on Eye Tracking, Computer Vision, and EMG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25742102 ディシチン</dc:creator>
  <cp:lastModifiedBy>25742102 ディシチン</cp:lastModifiedBy>
  <cp:revision>8</cp:revision>
  <dcterms:created xsi:type="dcterms:W3CDTF">2025-05-10T07:41:00Z</dcterms:created>
  <dcterms:modified xsi:type="dcterms:W3CDTF">2025-05-15T06:57:00Z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0E634CF534D7483DB84EA17BA8B34D0D_12</vt:lpwstr>
  </property>
  <property fmtid="{D5CDD505-2E9C-101B-9397-08002B2CF9AE}" pid="3" name="KSOProductBuildVer">
    <vt:lpwstr>2052-12.1.0.21171</vt:lpwstr>
  </property>
</Properties>
</file>