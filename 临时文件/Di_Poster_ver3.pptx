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</p:sldIdLst>
  <p:sldSz cx="21383625" cy="30274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AFB9AC9-849A-46B5-8791-5A4776CB4721}">
          <p14:sldIdLst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704021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83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A3C2-EFA0-436B-B6F2-D154FB18DCD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9340" indent="0" algn="ctr">
              <a:buNone/>
              <a:defRPr sz="4675"/>
            </a:lvl2pPr>
            <a:lvl3pPr marL="2138045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4770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9340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8045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477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5"/>
            </a:lvl1pPr>
            <a:lvl2pPr>
              <a:defRPr sz="6550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340" indent="0">
              <a:buNone/>
              <a:defRPr sz="6550"/>
            </a:lvl2pPr>
            <a:lvl3pPr marL="2138045" indent="0">
              <a:buNone/>
              <a:defRPr sz="5610"/>
            </a:lvl3pPr>
            <a:lvl4pPr marL="3207385" indent="0">
              <a:buNone/>
              <a:defRPr sz="4675"/>
            </a:lvl4pPr>
            <a:lvl5pPr marL="4276725" indent="0">
              <a:buNone/>
              <a:defRPr sz="4675"/>
            </a:lvl5pPr>
            <a:lvl6pPr marL="5346065" indent="0">
              <a:buNone/>
              <a:defRPr sz="4675"/>
            </a:lvl6pPr>
            <a:lvl7pPr marL="6414770" indent="0">
              <a:buNone/>
              <a:defRPr sz="4675"/>
            </a:lvl7pPr>
            <a:lvl8pPr marL="7484110" indent="0">
              <a:buNone/>
              <a:defRPr sz="4675"/>
            </a:lvl8pPr>
            <a:lvl9pPr marL="8553450" indent="0">
              <a:buNone/>
              <a:defRPr sz="467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045" rtl="0" eaLnBrk="1" latinLnBrk="0" hangingPunct="1">
        <a:lnSpc>
          <a:spcPct val="90000"/>
        </a:lnSpc>
        <a:spcBef>
          <a:spcPct val="0"/>
        </a:spcBef>
        <a:buNone/>
        <a:defRPr kumimoji="1" sz="102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0" indent="-534670" algn="l" defTabSz="213804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kumimoji="1" sz="6550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271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205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139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010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4944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04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477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/>
          <p:cNvSpPr/>
          <p:nvPr/>
        </p:nvSpPr>
        <p:spPr>
          <a:xfrm>
            <a:off x="0" y="-6627"/>
            <a:ext cx="21383625" cy="32451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3</a:t>
            </a:r>
            <a:endParaRPr kumimoji="1" lang="ja-JP" altLang="en-US" sz="1400" dirty="0"/>
          </a:p>
        </p:txBody>
      </p:sp>
      <p:sp>
        <p:nvSpPr>
          <p:cNvPr id="4" name="正方形/長方形 3"/>
          <p:cNvSpPr/>
          <p:nvPr/>
        </p:nvSpPr>
        <p:spPr>
          <a:xfrm>
            <a:off x="2743199" y="-275713"/>
            <a:ext cx="18514478" cy="3868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Vision-Motion Regression Model for Prosthetic Hand Control</a:t>
            </a:r>
            <a:endParaRPr kumimoji="1" lang="en-US" altLang="zh-CN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0" y="1"/>
            <a:ext cx="2743199" cy="3238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>
                  <a:lumMod val="75000"/>
                </a:schemeClr>
              </a:solidFill>
              <a:highlight>
                <a:srgbClr val="0000FF"/>
              </a:highligh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5620" y="3592195"/>
            <a:ext cx="20318095" cy="5269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2185" y="3587750"/>
            <a:ext cx="19431000" cy="3904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5400"/>
              <a:t>This study investigates the relationship between hand motion, object size, and fingertip aperture during </a:t>
            </a:r>
            <a:r>
              <a:rPr kumimoji="1" lang="en-US" altLang="zh-CN" sz="5400" dirty="0">
                <a:sym typeface="+mn-ea"/>
              </a:rPr>
              <a:t>reach-to-grasp movements</a:t>
            </a:r>
            <a:r>
              <a:rPr lang="en-US" altLang="zh-CN" sz="5400"/>
              <a:t>. A camera and 3-axis accelerometer were used to collect synchronized motion and visual data. A regression model was developed to predict fingertip aperture from hand </a:t>
            </a:r>
            <a:r>
              <a:rPr lang="en-US" altLang="zh-CN" sz="5400">
                <a:sym typeface="+mn-ea"/>
              </a:rPr>
              <a:t>velocity</a:t>
            </a:r>
            <a:r>
              <a:rPr lang="en-US" altLang="zh-CN" sz="5400"/>
              <a:t> and object size, providing a potential approach for real-time prosthetic hand control.</a:t>
            </a:r>
            <a:endParaRPr lang="en-US" altLang="zh-CN" sz="540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943297" y="1074976"/>
            <a:ext cx="819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タスク</a:t>
            </a:r>
            <a:endParaRPr kumimoji="1" lang="ja-JP" altLang="en-US" sz="2000"/>
          </a:p>
        </p:txBody>
      </p:sp>
      <p:grpSp>
        <p:nvGrpSpPr>
          <p:cNvPr id="31" name="グループ化 30"/>
          <p:cNvGrpSpPr/>
          <p:nvPr/>
        </p:nvGrpSpPr>
        <p:grpSpPr>
          <a:xfrm>
            <a:off x="806449" y="9216000"/>
            <a:ext cx="9885680" cy="6724015"/>
            <a:chOff x="806449" y="8398905"/>
            <a:chExt cx="9885680" cy="6724015"/>
          </a:xfrm>
        </p:grpSpPr>
        <p:sp>
          <p:nvSpPr>
            <p:cNvPr id="17" name="正方形/長方形 16"/>
            <p:cNvSpPr/>
            <p:nvPr/>
          </p:nvSpPr>
          <p:spPr>
            <a:xfrm>
              <a:off x="847724" y="9586355"/>
              <a:ext cx="9844405" cy="55365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zh-CN" sz="5200" dirty="0">
                  <a:solidFill>
                    <a:schemeClr val="tx1"/>
                  </a:solidFill>
                </a:rPr>
                <a:t>In reach-to-grasp movements, hand </a:t>
              </a:r>
              <a:r>
                <a:rPr lang="en-US" altLang="zh-CN" sz="5200">
                  <a:sym typeface="+mn-ea"/>
                </a:rPr>
                <a:t>velocity </a:t>
              </a:r>
              <a:r>
                <a:rPr kumimoji="1" lang="en-US" altLang="zh-CN" sz="5200" dirty="0">
                  <a:solidFill>
                    <a:schemeClr val="tx1"/>
                  </a:solidFill>
                </a:rPr>
                <a:t>and object size closely relate to fingertip aperture. This study quantifies that relationship to build a prosthetic control model driven only by vision and acceleration sensors.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806449" y="8398905"/>
              <a:ext cx="344170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6600">
                  <a:solidFill>
                    <a:schemeClr val="bg1"/>
                  </a:solidFill>
                </a:rPr>
                <a:t>Objective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806450" y="16308000"/>
            <a:ext cx="9885680" cy="6630035"/>
            <a:chOff x="806448" y="16406592"/>
            <a:chExt cx="9575800" cy="6362901"/>
          </a:xfrm>
        </p:grpSpPr>
        <p:sp>
          <p:nvSpPr>
            <p:cNvPr id="16" name="正方形/長方形 15"/>
            <p:cNvSpPr/>
            <p:nvPr/>
          </p:nvSpPr>
          <p:spPr>
            <a:xfrm>
              <a:off x="806448" y="17692457"/>
              <a:ext cx="9575800" cy="5077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altLang="zh-CN" sz="5200"/>
                <a:t>A camera and 3-axis accelerometer mounted on the hand record </a:t>
              </a:r>
              <a:r>
                <a:rPr kumimoji="1" lang="en-US" altLang="zh-CN" sz="5200" dirty="0">
                  <a:solidFill>
                    <a:schemeClr val="tx1"/>
                  </a:solidFill>
                  <a:sym typeface="+mn-ea"/>
                </a:rPr>
                <a:t>reach-to-grasp</a:t>
              </a:r>
              <a:r>
                <a:rPr lang="en-US" altLang="zh-CN" sz="5200"/>
                <a:t> movements. Hand velocity is derived from acceleration; </a:t>
              </a:r>
              <a:r>
                <a:rPr kumimoji="1" lang="en-US" altLang="zh-CN" sz="5200" dirty="0">
                  <a:solidFill>
                    <a:schemeClr val="tx1"/>
                  </a:solidFill>
                  <a:sym typeface="+mn-ea"/>
                </a:rPr>
                <a:t>object size</a:t>
              </a:r>
              <a:r>
                <a:rPr lang="en-US" altLang="zh-CN" sz="5200"/>
                <a:t> and </a:t>
              </a:r>
              <a:r>
                <a:rPr lang="en-US" altLang="zh-CN" sz="5200">
                  <a:sym typeface="+mn-ea"/>
                </a:rPr>
                <a:t>fingertip aperture</a:t>
              </a:r>
              <a:r>
                <a:rPr lang="en-US" altLang="zh-CN" sz="5200"/>
                <a:t> are extracted from video and synchr-onized in normalized time.</a:t>
              </a:r>
              <a:endParaRPr lang="en-US" altLang="zh-CN" sz="520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806448" y="16406592"/>
              <a:ext cx="3100694" cy="111522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noAutofit/>
            </a:bodyPr>
            <a:lstStyle/>
            <a:p>
              <a:r>
                <a:rPr kumimoji="1" lang="en-US" altLang="zh-CN" sz="6600">
                  <a:solidFill>
                    <a:schemeClr val="bg1"/>
                  </a:solidFill>
                </a:rPr>
                <a:t>Methods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グループ化 4"/>
          <p:cNvGrpSpPr/>
          <p:nvPr/>
        </p:nvGrpSpPr>
        <p:grpSpPr>
          <a:xfrm>
            <a:off x="806450" y="23400000"/>
            <a:ext cx="9885045" cy="6499225"/>
            <a:chOff x="847819" y="21510380"/>
            <a:chExt cx="9885045" cy="6499225"/>
          </a:xfrm>
        </p:grpSpPr>
        <p:sp>
          <p:nvSpPr>
            <p:cNvPr id="19" name="正方形/長方形 18"/>
            <p:cNvSpPr/>
            <p:nvPr/>
          </p:nvSpPr>
          <p:spPr>
            <a:xfrm>
              <a:off x="847819" y="22739740"/>
              <a:ext cx="9885045" cy="526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kumimoji="1" lang="en-US" altLang="zh-CN" sz="5200" dirty="0">
                  <a:solidFill>
                    <a:schemeClr val="tx1"/>
                  </a:solidFill>
                </a:rPr>
                <a:t>A regression model uses hand vel-ocity and object size as independent variables, fingertip aperture as the dependent variable. Embedded in real-time prosthetic control, it predicts natural grasping motion from sensor data alone.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847819" y="21510380"/>
              <a:ext cx="232537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6600" dirty="0">
                  <a:solidFill>
                    <a:schemeClr val="bg1"/>
                  </a:solidFill>
                </a:rPr>
                <a:t>Result</a:t>
              </a:r>
              <a:endParaRPr kumimoji="1" lang="en-US" altLang="zh-CN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550525" y="15494000"/>
            <a:ext cx="10282555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kumimoji="1" lang="en-US" altLang="zh-CN" sz="4000" dirty="0">
                <a:sym typeface="+mn-ea"/>
              </a:rPr>
              <a:t> Reach-to-Grasp Movements</a:t>
            </a:r>
            <a:endParaRPr lang="en-US" altLang="zh-CN" sz="4000"/>
          </a:p>
        </p:txBody>
      </p:sp>
      <p:pic>
        <p:nvPicPr>
          <p:cNvPr id="2" name="图片 1" descr="7090a7177f6801e8c71e6266308aa727"/>
          <p:cNvPicPr/>
          <p:nvPr/>
        </p:nvPicPr>
        <p:blipFill>
          <a:blip r:embed="rId1"/>
          <a:stretch>
            <a:fillRect/>
          </a:stretch>
        </p:blipFill>
        <p:spPr>
          <a:xfrm>
            <a:off x="10550525" y="9373870"/>
            <a:ext cx="10595610" cy="612013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625455" y="23651998"/>
            <a:ext cx="10758170" cy="5874385"/>
            <a:chOff x="16733" y="37834"/>
            <a:chExt cx="16942" cy="9251"/>
          </a:xfrm>
        </p:grpSpPr>
        <p:pic>
          <p:nvPicPr>
            <p:cNvPr id="27" name="图片 26" descr="finger_tracking_3d_surface"/>
            <p:cNvPicPr>
              <a:picLocks noChangeAspect="1"/>
            </p:cNvPicPr>
            <p:nvPr/>
          </p:nvPicPr>
          <p:blipFill>
            <a:blip r:embed="rId2"/>
            <a:srcRect r="6086"/>
            <a:stretch>
              <a:fillRect/>
            </a:stretch>
          </p:blipFill>
          <p:spPr>
            <a:xfrm>
              <a:off x="23341" y="37834"/>
              <a:ext cx="10334" cy="9251"/>
            </a:xfrm>
            <a:prstGeom prst="rect">
              <a:avLst/>
            </a:prstGeom>
          </p:spPr>
        </p:pic>
        <p:pic>
          <p:nvPicPr>
            <p:cNvPr id="6" name="图片 5" descr="rwzpw-kkt0d-0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33" y="37834"/>
              <a:ext cx="6915" cy="9076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10464165" y="16402685"/>
            <a:ext cx="10681335" cy="6374222"/>
            <a:chOff x="16479" y="27792"/>
            <a:chExt cx="16821" cy="8773"/>
          </a:xfrm>
        </p:grpSpPr>
        <p:pic>
          <p:nvPicPr>
            <p:cNvPr id="14" name="图片 13" descr="a5le6-8l4c8-00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79" y="28078"/>
              <a:ext cx="10182" cy="8045"/>
            </a:xfrm>
            <a:prstGeom prst="rect">
              <a:avLst/>
            </a:prstGeom>
          </p:spPr>
        </p:pic>
        <p:pic>
          <p:nvPicPr>
            <p:cNvPr id="18" name="图片 17" descr="grasp_comparison_clean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68" y="27792"/>
              <a:ext cx="6432" cy="8773"/>
            </a:xfrm>
            <a:prstGeom prst="rect">
              <a:avLst/>
            </a:prstGeom>
          </p:spPr>
        </p:pic>
      </p:grpSp>
      <p:sp>
        <p:nvSpPr>
          <p:cNvPr id="29" name="文本框 28"/>
          <p:cNvSpPr txBox="1"/>
          <p:nvPr/>
        </p:nvSpPr>
        <p:spPr>
          <a:xfrm>
            <a:off x="10464165" y="22608000"/>
            <a:ext cx="1068133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/>
              <a:t> 			   System Architecture 			      Data Types</a:t>
            </a:r>
            <a:endParaRPr lang="en-US" altLang="zh-CN" sz="4000"/>
          </a:p>
        </p:txBody>
      </p:sp>
      <p:sp>
        <p:nvSpPr>
          <p:cNvPr id="33" name="文本框 32"/>
          <p:cNvSpPr txBox="1"/>
          <p:nvPr/>
        </p:nvSpPr>
        <p:spPr>
          <a:xfrm>
            <a:off x="10464165" y="29415105"/>
            <a:ext cx="10681335" cy="859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algn="ctr"/>
            <a:r>
              <a:rPr lang="en-US" altLang="zh-CN" sz="4000"/>
              <a:t>Regression Model 		      Data Relationships</a:t>
            </a:r>
            <a:endParaRPr lang="en-US" altLang="zh-CN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ゼミ用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4f038ffa0c726833972f2af68c46cc30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187025544e01ff297cbf3bf0307fb9a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20DB92-DE40-4CC4-943F-262A99D6EC75}">
  <ds:schemaRefs/>
</ds:datastoreItem>
</file>

<file path=customXml/itemProps2.xml><?xml version="1.0" encoding="utf-8"?>
<ds:datastoreItem xmlns:ds="http://schemas.openxmlformats.org/officeDocument/2006/customXml" ds:itemID="{5BFF5254-6677-40D1-9AC5-708BD99A5F2F}">
  <ds:schemaRefs/>
</ds:datastoreItem>
</file>

<file path=customXml/itemProps3.xml><?xml version="1.0" encoding="utf-8"?>
<ds:datastoreItem xmlns:ds="http://schemas.openxmlformats.org/officeDocument/2006/customXml" ds:itemID="{421482C2-62AA-49D5-A8C6-3B11DBF976A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演示</Application>
  <PresentationFormat>ユーザー設定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MS PGothic</vt:lpstr>
      <vt:lpstr>微软雅黑</vt:lpstr>
      <vt:lpstr>Arial Unicode MS</vt:lpstr>
      <vt:lpstr>Yu Gothic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19704021</dc:creator>
  <cp:lastModifiedBy>down down down down down</cp:lastModifiedBy>
  <cp:revision>13</cp:revision>
  <dcterms:created xsi:type="dcterms:W3CDTF">2020-05-28T10:29:00Z</dcterms:created>
  <dcterms:modified xsi:type="dcterms:W3CDTF">2026-09-19T15:27:00Z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MediaServiceImageTags">
    <vt:lpwstr/>
  </property>
  <property fmtid="{D5CDD505-2E9C-101B-9397-08002B2CF9AE}" pid="4" name="KSOProductBuildVer">
    <vt:lpwstr>2052-12.1.0.28505</vt:lpwstr>
  </property>
  <property fmtid="{D5CDD505-2E9C-101B-9397-08002B2CF9AE}" pid="5" name="ICV">
    <vt:lpwstr>D5846C5C13A94B38A80437D250824E60_12</vt:lpwstr>
  </property>
</Properties>
</file>