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8" r:id="rId3"/>
    <p:sldId id="301" r:id="rId5"/>
    <p:sldId id="302" r:id="rId6"/>
    <p:sldId id="300" r:id="rId7"/>
    <p:sldId id="303" r:id="rId8"/>
    <p:sldId id="299" r:id="rId9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Real-Time Experiment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01725" y="1490980"/>
            <a:ext cx="1868170" cy="1159510"/>
            <a:chOff x="4230" y="2456"/>
            <a:chExt cx="2942" cy="1826"/>
          </a:xfrm>
        </p:grpSpPr>
        <p:sp>
          <p:nvSpPr>
            <p:cNvPr id="5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箭头连接符 23"/>
          <p:cNvCxnSpPr/>
          <p:nvPr/>
        </p:nvCxnSpPr>
        <p:spPr>
          <a:xfrm flipV="1">
            <a:off x="5327650" y="2106930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055370" y="165671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Distance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082665" y="1583055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3118485" y="1320800"/>
            <a:ext cx="2145030" cy="1884045"/>
            <a:chOff x="2243" y="1465"/>
            <a:chExt cx="8060" cy="5346"/>
          </a:xfrm>
        </p:grpSpPr>
        <p:sp>
          <p:nvSpPr>
            <p:cNvPr id="114" name="Google Shape;500;p25"/>
            <p:cNvSpPr/>
            <p:nvPr/>
          </p:nvSpPr>
          <p:spPr>
            <a:xfrm>
              <a:off x="2243" y="2689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03;p25"/>
            <p:cNvSpPr/>
            <p:nvPr/>
          </p:nvSpPr>
          <p:spPr>
            <a:xfrm>
              <a:off x="9455" y="3359"/>
              <a:ext cx="849" cy="87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16" name="Google Shape;510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250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512;p25"/>
            <p:cNvCxnSpPr>
              <a:endCxn id="115" idx="2"/>
            </p:cNvCxnSpPr>
            <p:nvPr/>
          </p:nvCxnSpPr>
          <p:spPr>
            <a:xfrm>
              <a:off x="7887" y="3166"/>
              <a:ext cx="1568" cy="63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514;p25"/>
            <p:cNvCxnSpPr>
              <a:endCxn id="115" idx="2"/>
            </p:cNvCxnSpPr>
            <p:nvPr/>
          </p:nvCxnSpPr>
          <p:spPr>
            <a:xfrm>
              <a:off x="7887" y="1947"/>
              <a:ext cx="1568" cy="18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516;p25"/>
            <p:cNvCxnSpPr>
              <a:stCxn id="120" idx="6"/>
              <a:endCxn id="124" idx="2"/>
            </p:cNvCxnSpPr>
            <p:nvPr/>
          </p:nvCxnSpPr>
          <p:spPr>
            <a:xfrm>
              <a:off x="5658" y="1947"/>
              <a:ext cx="1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" name="Google Shape;517;p25"/>
            <p:cNvSpPr/>
            <p:nvPr/>
          </p:nvSpPr>
          <p:spPr>
            <a:xfrm>
              <a:off x="4724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200" baseline="-25000"/>
            </a:p>
          </p:txBody>
        </p:sp>
        <p:sp>
          <p:nvSpPr>
            <p:cNvPr id="121" name="Google Shape;519;p25"/>
            <p:cNvSpPr/>
            <p:nvPr/>
          </p:nvSpPr>
          <p:spPr>
            <a:xfrm>
              <a:off x="4714" y="2684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2" name="Google Shape;520;p25"/>
            <p:cNvSpPr/>
            <p:nvPr/>
          </p:nvSpPr>
          <p:spPr>
            <a:xfrm>
              <a:off x="4724" y="390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3" name="Google Shape;521;p25"/>
            <p:cNvSpPr/>
            <p:nvPr/>
          </p:nvSpPr>
          <p:spPr>
            <a:xfrm>
              <a:off x="4724" y="5849"/>
              <a:ext cx="925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>
                <a:solidFill>
                  <a:srgbClr val="000000"/>
                </a:solidFill>
              </a:endParaRPr>
            </a:p>
          </p:txBody>
        </p:sp>
        <p:sp>
          <p:nvSpPr>
            <p:cNvPr id="124" name="Google Shape;518;p25"/>
            <p:cNvSpPr/>
            <p:nvPr/>
          </p:nvSpPr>
          <p:spPr>
            <a:xfrm>
              <a:off x="6840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/>
            </a:p>
          </p:txBody>
        </p:sp>
        <p:sp>
          <p:nvSpPr>
            <p:cNvPr id="125" name="Google Shape;522;p25"/>
            <p:cNvSpPr/>
            <p:nvPr/>
          </p:nvSpPr>
          <p:spPr>
            <a:xfrm>
              <a:off x="6840" y="274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6" name="Google Shape;523;p25"/>
            <p:cNvSpPr/>
            <p:nvPr/>
          </p:nvSpPr>
          <p:spPr>
            <a:xfrm>
              <a:off x="6840" y="3946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7" name="Google Shape;524;p25"/>
            <p:cNvSpPr/>
            <p:nvPr/>
          </p:nvSpPr>
          <p:spPr>
            <a:xfrm>
              <a:off x="6840" y="5849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28" name="Google Shape;526;p25"/>
            <p:cNvCxnSpPr/>
            <p:nvPr/>
          </p:nvCxnSpPr>
          <p:spPr>
            <a:xfrm flipH="1">
              <a:off x="5186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530;p25"/>
            <p:cNvSpPr/>
            <p:nvPr/>
          </p:nvSpPr>
          <p:spPr>
            <a:xfrm>
              <a:off x="2243" y="5113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30" name="Google Shape;531;p25"/>
            <p:cNvCxnSpPr>
              <a:endCxn id="120" idx="2"/>
            </p:cNvCxnSpPr>
            <p:nvPr/>
          </p:nvCxnSpPr>
          <p:spPr>
            <a:xfrm rot="10800000" flipH="1">
              <a:off x="2378" y="1947"/>
              <a:ext cx="2346" cy="8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" name="Google Shape;532;p25"/>
            <p:cNvCxnSpPr>
              <a:stCxn id="114" idx="5"/>
              <a:endCxn id="121" idx="2"/>
            </p:cNvCxnSpPr>
            <p:nvPr/>
          </p:nvCxnSpPr>
          <p:spPr>
            <a:xfrm>
              <a:off x="2350" y="2781"/>
              <a:ext cx="2365" cy="3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2" name="Google Shape;533;p25"/>
            <p:cNvCxnSpPr>
              <a:stCxn id="114" idx="5"/>
              <a:endCxn id="122" idx="2"/>
            </p:cNvCxnSpPr>
            <p:nvPr/>
          </p:nvCxnSpPr>
          <p:spPr>
            <a:xfrm>
              <a:off x="2350" y="2781"/>
              <a:ext cx="2374" cy="160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Google Shape;534;p25"/>
            <p:cNvCxnSpPr>
              <a:stCxn id="114" idx="5"/>
              <a:endCxn id="123" idx="2"/>
            </p:cNvCxnSpPr>
            <p:nvPr/>
          </p:nvCxnSpPr>
          <p:spPr>
            <a:xfrm>
              <a:off x="2350" y="2781"/>
              <a:ext cx="2374" cy="355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Google Shape;555;p25"/>
            <p:cNvCxnSpPr>
              <a:stCxn id="129" idx="5"/>
              <a:endCxn id="120" idx="2"/>
            </p:cNvCxnSpPr>
            <p:nvPr/>
          </p:nvCxnSpPr>
          <p:spPr>
            <a:xfrm rot="10800000" flipH="1">
              <a:off x="2350" y="1947"/>
              <a:ext cx="2374" cy="325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Google Shape;556;p25"/>
            <p:cNvCxnSpPr>
              <a:stCxn id="129" idx="5"/>
              <a:endCxn id="121" idx="2"/>
            </p:cNvCxnSpPr>
            <p:nvPr/>
          </p:nvCxnSpPr>
          <p:spPr>
            <a:xfrm rot="10800000" flipH="1">
              <a:off x="2350" y="3166"/>
              <a:ext cx="2365" cy="20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Google Shape;557;p25"/>
            <p:cNvCxnSpPr>
              <a:stCxn id="129" idx="5"/>
              <a:endCxn id="122" idx="2"/>
            </p:cNvCxnSpPr>
            <p:nvPr/>
          </p:nvCxnSpPr>
          <p:spPr>
            <a:xfrm rot="10800000" flipH="1">
              <a:off x="2350" y="4385"/>
              <a:ext cx="2374" cy="8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Google Shape;558;p25"/>
            <p:cNvCxnSpPr>
              <a:stCxn id="129" idx="5"/>
              <a:endCxn id="123" idx="2"/>
            </p:cNvCxnSpPr>
            <p:nvPr/>
          </p:nvCxnSpPr>
          <p:spPr>
            <a:xfrm>
              <a:off x="2350" y="5205"/>
              <a:ext cx="2374" cy="112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Google Shape;559;p25"/>
            <p:cNvCxnSpPr>
              <a:stCxn id="120" idx="6"/>
              <a:endCxn id="125" idx="2"/>
            </p:cNvCxnSpPr>
            <p:nvPr/>
          </p:nvCxnSpPr>
          <p:spPr>
            <a:xfrm>
              <a:off x="5658" y="1947"/>
              <a:ext cx="1182" cy="127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Google Shape;560;p25"/>
            <p:cNvCxnSpPr>
              <a:stCxn id="120" idx="6"/>
              <a:endCxn id="126" idx="2"/>
            </p:cNvCxnSpPr>
            <p:nvPr/>
          </p:nvCxnSpPr>
          <p:spPr>
            <a:xfrm>
              <a:off x="5658" y="1947"/>
              <a:ext cx="1182" cy="248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Google Shape;561;p25"/>
            <p:cNvCxnSpPr>
              <a:stCxn id="120" idx="6"/>
              <a:endCxn id="127" idx="2"/>
            </p:cNvCxnSpPr>
            <p:nvPr/>
          </p:nvCxnSpPr>
          <p:spPr>
            <a:xfrm>
              <a:off x="5658" y="1947"/>
              <a:ext cx="1182" cy="438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562;p25"/>
            <p:cNvCxnSpPr>
              <a:stCxn id="121" idx="6"/>
              <a:endCxn id="124" idx="2"/>
            </p:cNvCxnSpPr>
            <p:nvPr/>
          </p:nvCxnSpPr>
          <p:spPr>
            <a:xfrm rot="10800000" flipH="1">
              <a:off x="5648" y="1946"/>
              <a:ext cx="1191" cy="12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Google Shape;563;p25"/>
            <p:cNvCxnSpPr>
              <a:stCxn id="121" idx="6"/>
              <a:endCxn id="125" idx="2"/>
            </p:cNvCxnSpPr>
            <p:nvPr/>
          </p:nvCxnSpPr>
          <p:spPr>
            <a:xfrm>
              <a:off x="5648" y="3166"/>
              <a:ext cx="1191" cy="5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" name="Google Shape;564;p25"/>
            <p:cNvCxnSpPr>
              <a:stCxn id="121" idx="6"/>
              <a:endCxn id="126" idx="2"/>
            </p:cNvCxnSpPr>
            <p:nvPr/>
          </p:nvCxnSpPr>
          <p:spPr>
            <a:xfrm>
              <a:off x="5648" y="3166"/>
              <a:ext cx="1191" cy="126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" name="Google Shape;565;p25"/>
            <p:cNvCxnSpPr>
              <a:stCxn id="121" idx="6"/>
              <a:endCxn id="127" idx="2"/>
            </p:cNvCxnSpPr>
            <p:nvPr/>
          </p:nvCxnSpPr>
          <p:spPr>
            <a:xfrm>
              <a:off x="5648" y="3166"/>
              <a:ext cx="1191" cy="316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5" name="Google Shape;566;p25"/>
            <p:cNvCxnSpPr>
              <a:stCxn id="122" idx="6"/>
              <a:endCxn id="124" idx="2"/>
            </p:cNvCxnSpPr>
            <p:nvPr/>
          </p:nvCxnSpPr>
          <p:spPr>
            <a:xfrm rot="10800000" flipH="1">
              <a:off x="5658" y="1947"/>
              <a:ext cx="1182" cy="243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567;p25"/>
            <p:cNvCxnSpPr>
              <a:stCxn id="122" idx="6"/>
              <a:endCxn id="125" idx="2"/>
            </p:cNvCxnSpPr>
            <p:nvPr/>
          </p:nvCxnSpPr>
          <p:spPr>
            <a:xfrm rot="10800000" flipH="1">
              <a:off x="5658" y="3224"/>
              <a:ext cx="1182" cy="11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" name="Google Shape;568;p25"/>
            <p:cNvCxnSpPr>
              <a:stCxn id="122" idx="6"/>
              <a:endCxn id="126" idx="2"/>
            </p:cNvCxnSpPr>
            <p:nvPr/>
          </p:nvCxnSpPr>
          <p:spPr>
            <a:xfrm>
              <a:off x="5658" y="4385"/>
              <a:ext cx="1182" cy="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569;p25"/>
            <p:cNvCxnSpPr>
              <a:stCxn id="122" idx="6"/>
              <a:endCxn id="127" idx="2"/>
            </p:cNvCxnSpPr>
            <p:nvPr/>
          </p:nvCxnSpPr>
          <p:spPr>
            <a:xfrm>
              <a:off x="5658" y="4385"/>
              <a:ext cx="1182" cy="194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" name="Google Shape;570;p25"/>
            <p:cNvCxnSpPr>
              <a:endCxn id="124" idx="2"/>
            </p:cNvCxnSpPr>
            <p:nvPr/>
          </p:nvCxnSpPr>
          <p:spPr>
            <a:xfrm rot="10800000" flipH="1">
              <a:off x="5658" y="1947"/>
              <a:ext cx="1182" cy="44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" name="Google Shape;571;p25"/>
            <p:cNvCxnSpPr>
              <a:stCxn id="123" idx="6"/>
              <a:endCxn id="125" idx="2"/>
            </p:cNvCxnSpPr>
            <p:nvPr/>
          </p:nvCxnSpPr>
          <p:spPr>
            <a:xfrm rot="10800000" flipH="1">
              <a:off x="5649" y="3224"/>
              <a:ext cx="1191" cy="31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" name="Google Shape;572;p25"/>
            <p:cNvCxnSpPr>
              <a:stCxn id="123" idx="6"/>
              <a:endCxn id="126" idx="2"/>
            </p:cNvCxnSpPr>
            <p:nvPr/>
          </p:nvCxnSpPr>
          <p:spPr>
            <a:xfrm rot="10800000" flipH="1">
              <a:off x="5649" y="4428"/>
              <a:ext cx="1191" cy="19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" name="Google Shape;573;p25"/>
            <p:cNvCxnSpPr>
              <a:stCxn id="123" idx="6"/>
              <a:endCxn id="127" idx="2"/>
            </p:cNvCxnSpPr>
            <p:nvPr/>
          </p:nvCxnSpPr>
          <p:spPr>
            <a:xfrm>
              <a:off x="5649" y="6331"/>
              <a:ext cx="1191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3" name="Google Shape;591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5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Google Shape;593;p25"/>
            <p:cNvCxnSpPr/>
            <p:nvPr/>
          </p:nvCxnSpPr>
          <p:spPr>
            <a:xfrm flipH="1">
              <a:off x="7302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文本框 155"/>
          <p:cNvSpPr txBox="1"/>
          <p:nvPr/>
        </p:nvSpPr>
        <p:spPr>
          <a:xfrm>
            <a:off x="3260090" y="977265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5-frame window MLP</a:t>
            </a:r>
            <a:endParaRPr lang="en-US" altLang="zh-CN" sz="1600" b="1"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3016250" y="3205480"/>
            <a:ext cx="40709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2 hidden layer, each with 32 neurons.</a:t>
            </a:r>
            <a:endParaRPr lang="en-US" altLang="zh-CN" sz="1600" b="1"/>
          </a:p>
        </p:txBody>
      </p:sp>
      <p:sp>
        <p:nvSpPr>
          <p:cNvPr id="3" name="任意多边形 2"/>
          <p:cNvSpPr/>
          <p:nvPr/>
        </p:nvSpPr>
        <p:spPr>
          <a:xfrm>
            <a:off x="3154680" y="1148715"/>
            <a:ext cx="281940" cy="434975"/>
          </a:xfrm>
          <a:custGeom>
            <a:avLst/>
            <a:gdLst>
              <a:gd name="connisteX0" fmla="*/ 0 w 380365"/>
              <a:gd name="connsiteY0" fmla="*/ 887730 h 887730"/>
              <a:gd name="connisteX1" fmla="*/ 0 w 380365"/>
              <a:gd name="connsiteY1" fmla="*/ 0 h 887730"/>
              <a:gd name="connisteX2" fmla="*/ 380365 w 380365"/>
              <a:gd name="connsiteY2" fmla="*/ 0 h 8877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0365" h="887730">
                <a:moveTo>
                  <a:pt x="0" y="887730"/>
                </a:moveTo>
                <a:lnTo>
                  <a:pt x="0" y="0"/>
                </a:lnTo>
                <a:lnTo>
                  <a:pt x="380365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3169285" y="3115945"/>
            <a:ext cx="1451610" cy="2346325"/>
          </a:xfrm>
          <a:custGeom>
            <a:avLst/>
            <a:gdLst>
              <a:gd name="connisteX0" fmla="*/ 0 w 2300605"/>
              <a:gd name="connsiteY0" fmla="*/ 0 h 2346325"/>
              <a:gd name="connisteX1" fmla="*/ 8890 w 2300605"/>
              <a:gd name="connsiteY1" fmla="*/ 2346325 h 2346325"/>
              <a:gd name="connisteX2" fmla="*/ 2300605 w 2300605"/>
              <a:gd name="connsiteY2" fmla="*/ 2337435 h 23463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300605" h="2346325">
                <a:moveTo>
                  <a:pt x="0" y="0"/>
                </a:moveTo>
                <a:lnTo>
                  <a:pt x="8890" y="2346325"/>
                </a:lnTo>
                <a:lnTo>
                  <a:pt x="2300605" y="2337435"/>
                </a:lnTo>
              </a:path>
            </a:pathLst>
          </a:custGeom>
          <a:noFill/>
          <a:ln>
            <a:solidFill>
              <a:srgbClr val="14B8A6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0260" y="52533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训练目标</a:t>
            </a:r>
            <a:r>
              <a:rPr lang="en-US" altLang="zh-CN"/>
              <a:t>:MAE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20895" y="57330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输入</a:t>
            </a:r>
            <a:r>
              <a:rPr lang="zh-CN" sz="1600">
                <a:ea typeface="SimSun" panose="02010600030101010101" pitchFamily="2" charset="-122"/>
              </a:rPr>
              <a:t>进行了归一化</a:t>
            </a:r>
            <a:endParaRPr lang="zh-CN" sz="160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Trail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0" name="grasp_video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97100" y="2560320"/>
            <a:ext cx="48768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validation_metrics_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06195"/>
            <a:ext cx="9144000" cy="4244975"/>
          </a:xfrm>
          <a:prstGeom prst="rect">
            <a:avLst/>
          </a:prstGeom>
        </p:spPr>
      </p:pic>
      <p:pic>
        <p:nvPicPr>
          <p:cNvPr id="3" name="图片 2" descr="validation_model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9590"/>
            <a:ext cx="9144000" cy="3429000"/>
          </a:xfrm>
          <a:prstGeom prst="rect">
            <a:avLst/>
          </a:prstGeom>
        </p:spPr>
      </p:pic>
      <p:pic>
        <p:nvPicPr>
          <p:cNvPr id="4" name="图片 3" descr="validation_phase_erro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29915" y="3514090"/>
            <a:ext cx="7315200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Real-Time Experiment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图片 4" descr="02_trial_metric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29330"/>
            <a:ext cx="9144000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Real-Time Experiment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03_phase_erro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4190"/>
            <a:ext cx="7315200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WPS 演示</Application>
  <PresentationFormat>Converted Presentation</PresentationFormat>
  <Paragraphs>31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Times New Roman</vt:lpstr>
      <vt:lpstr>Microsoft YaHei</vt:lpstr>
      <vt:lpstr>Arial Unicode MS</vt:lpstr>
      <vt:lpstr>MS PGothic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35</cp:revision>
  <dcterms:created xsi:type="dcterms:W3CDTF">2026-09-29T07:20:00Z</dcterms:created>
  <dcterms:modified xsi:type="dcterms:W3CDTF">2026-10-18T14:10:29Z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